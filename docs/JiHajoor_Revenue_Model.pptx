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8dad63f7-59db-a972-2b77-cd6202d0507f}">
          <p14:sldIdLst>
            <p14:sldId id="256"/>
          </p14:sldIdLst>
        </p14:section>
        <p14:section name="How it works" id="{c022f721-b7d7-c30d-23ad-5408085379fc}">
          <p14:sldIdLst>
            <p14:sldId id="257"/>
            <p14:sldId id="258"/>
            <p14:sldId id="259"/>
          </p14:sldIdLst>
        </p14:section>
        <p14:section name="Streams and economics" id="{d9785296-b216-140c-7a16-bc40fd85aae7}">
          <p14:sldIdLst>
            <p14:sldId id="260"/>
            <p14:sldId id="261"/>
            <p14:sldId id="262"/>
            <p14:sldId id="263"/>
            <p14:sldId id="264"/>
          </p14:sldIdLst>
        </p14:section>
        <p14:section name="Close" id="{355746bd-bc86-3b05-4d31-4d35ec0ec494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Ji-Hajoor</c:v>
                </c:pt>
              </c:strCache>
            </c:strRef>
          </c:tx>
          <c:spPr>
            <a:solidFill>
              <a:srgbClr val="F2A516"/>
            </a:solidFill>
            <a:effectLst/>
          </c:spPr>
          <c:invertIfNegative val="0"/>
          <c:dLbls>
            <c:numFmt formatCode="₹#,##0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Agency worker</c:v>
                  </c:pt>
                  <c:pt idx="1">
                    <c:v>Independent worker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Agency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₹#,##0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Agency worker</c:v>
                  </c:pt>
                  <c:pt idx="1">
                    <c:v>Independent worker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90</c:v>
                </c:pt>
                <c:pt idx="1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Worker</c:v>
                </c:pt>
              </c:strCache>
            </c:strRef>
          </c:tx>
          <c:spPr>
            <a:solidFill>
              <a:srgbClr val="2251D1"/>
            </a:solidFill>
            <a:effectLst/>
          </c:spPr>
          <c:invertIfNegative val="0"/>
          <c:dLbls>
            <c:numFmt formatCode="₹#,##0;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Agency worker</c:v>
                  </c:pt>
                  <c:pt idx="1">
                    <c:v>Independent worker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810</c:v>
                </c:pt>
                <c:pt idx="1">
                  <c:v>900</c:v>
                </c:pt>
              </c:numCache>
            </c:numRef>
          </c:val>
        </c:ser>
        <c:dLbls>
          <c:numFmt formatCode="₹#,##0;;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D293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Platform fee</c:v>
                </c:pt>
              </c:strCache>
            </c:strRef>
          </c:tx>
          <c:spPr>
            <a:solidFill>
              <a:srgbClr val="2251D1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jobs / day</c:v>
                  </c:pt>
                  <c:pt idx="1">
                    <c:v>500 jobs / day</c:v>
                  </c:pt>
                  <c:pt idx="2">
                    <c:v>2,000 jobs / day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1.67</c:v>
                </c:pt>
                <c:pt idx="1">
                  <c:v>8.33</c:v>
                </c:pt>
                <c:pt idx="2">
                  <c:v>33.3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Contribution</c:v>
                </c:pt>
              </c:strCache>
            </c:strRef>
          </c:tx>
          <c:spPr>
            <a:solidFill>
              <a:srgbClr val="F2A516"/>
            </a:solidFill>
            <a:effectLst/>
          </c:spPr>
          <c:invertIfNegative val="0"/>
          <c:dLbls>
            <c:numFmt formatCode="0.0#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D293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100 jobs / day</c:v>
                  </c:pt>
                  <c:pt idx="1">
                    <c:v>500 jobs / day</c:v>
                  </c:pt>
                  <c:pt idx="2">
                    <c:v>2,000 jobs / day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0.93</c:v>
                </c:pt>
                <c:pt idx="1">
                  <c:v>4.67</c:v>
                </c:pt>
                <c:pt idx="2">
                  <c:v>18.7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b="0" i="0" strike="noStrike" sz="1200" u="none">
                  <a:solidFill>
                    <a:srgbClr val="1D293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B7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customer pays once through Razorpay. The worker’s share goes to their wallet; Ji-Hajoor keeps the platform fee; GST is paid to the government; an agency share applies only to agency workers.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can change any of these per service without a release.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agency share is taken from the worker’s net, never from the customer. It is set per agency between 0 and 50%.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today: platform fee, higher-value jobs and cancellation fees. Next: proposals for the coming quarters.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Assumptions: ₹555 average service charges (mean of the eight starter services), 10% fee, payment cost about 2% of the ₹720 charged, ₹50 coupon on one job in five.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Thirty days a month at the per-job figures on the previous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these weekly alongside bookings and ratings.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configuration and policy decisions, not missing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394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3949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F2A51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60520"/>
            <a:ext cx="5943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D6E0FA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SECTION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417320"/>
            <a:ext cx="804672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F2A51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74520"/>
            <a:ext cx="804672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291840"/>
            <a:ext cx="7315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A2B3"/>
                </a:solidFill>
              </a:rPr>
              <a:t>Ji-Hajoor · Verified Help. Anytime. Anywhere. · Powered by Condigence LLP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H_CLOSING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0FA"/>
                </a:solidFill>
              </a:rPr>
              <a:t>© 2026 Ji-Hajoor. Verified Help. Anytime. Anywhere. Powered by Condigence LLP.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0F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Revenue Model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F2A516"/>
                </a:solidFill>
              </a:rPr>
              <a:t>How Ji-Hajoor earns on every job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16052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E0FA"/>
                </a:solidFill>
              </a:rPr>
              <a:t>Updated 30 October 2026 · Live figures and illustrative plans</a:t>
            </a:r>
            <a:endParaRPr lang="en-US" sz="1200" dirty="0"/>
          </a:p>
        </p:txBody>
      </p:sp>
      <p:sp>
        <p:nvSpPr>
          <p:cNvPr id="5" name="hero-circle"/>
          <p:cNvSpPr/>
          <p:nvPr/>
        </p:nvSpPr>
        <p:spPr>
          <a:xfrm>
            <a:off x="6263640" y="1051560"/>
            <a:ext cx="2377440" cy="23774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645920"/>
            <a:ext cx="1188720" cy="1188720"/>
          </a:xfrm>
          <a:prstGeom prst="rect">
            <a:avLst/>
          </a:prstGeom>
        </p:spPr>
      </p:pic>
      <p:sp>
        <p:nvSpPr>
          <p:cNvPr id="7" name="hero-dot"/>
          <p:cNvSpPr/>
          <p:nvPr/>
        </p:nvSpPr>
        <p:spPr>
          <a:xfrm>
            <a:off x="8001000" y="3063240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hero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5592" y="3227832"/>
            <a:ext cx="310896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money moves on every job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One payment from the customer, split four ways</a:t>
            </a:r>
            <a:endParaRPr lang="en-US" sz="1400" dirty="0"/>
          </a:p>
        </p:txBody>
      </p:sp>
      <p:sp>
        <p:nvSpPr>
          <p:cNvPr id="5" name="box-170"/>
          <p:cNvSpPr/>
          <p:nvPr/>
        </p:nvSpPr>
        <p:spPr>
          <a:xfrm>
            <a:off x="457200" y="2423160"/>
            <a:ext cx="18288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box-text-171"/>
          <p:cNvSpPr txBox="1"/>
          <p:nvPr/>
        </p:nvSpPr>
        <p:spPr>
          <a:xfrm>
            <a:off x="530352" y="2423160"/>
            <a:ext cx="1682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Customer pays ₹388.10</a:t>
            </a:r>
            <a:endParaRPr lang="en-US" sz="1400" dirty="0"/>
          </a:p>
        </p:txBody>
      </p:sp>
      <p:sp>
        <p:nvSpPr>
          <p:cNvPr id="7" name="arrow-172"/>
          <p:cNvSpPr/>
          <p:nvPr/>
        </p:nvSpPr>
        <p:spPr>
          <a:xfrm>
            <a:off x="2331720" y="2880360"/>
            <a:ext cx="548640" cy="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8" name="box-173"/>
          <p:cNvSpPr/>
          <p:nvPr/>
        </p:nvSpPr>
        <p:spPr>
          <a:xfrm>
            <a:off x="2926080" y="2423160"/>
            <a:ext cx="1737360" cy="914400"/>
          </a:xfrm>
          <a:prstGeom prst="roundRect">
            <a:avLst>
              <a:gd name="adj" fmla="val 8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box-text-174"/>
          <p:cNvSpPr txBox="1"/>
          <p:nvPr/>
        </p:nvSpPr>
        <p:spPr>
          <a:xfrm>
            <a:off x="2999232" y="2423160"/>
            <a:ext cx="1591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Razorpay</a:t>
            </a:r>
            <a:endParaRPr lang="en-US" sz="1400" dirty="0"/>
          </a:p>
        </p:txBody>
      </p:sp>
      <p:sp>
        <p:nvSpPr>
          <p:cNvPr id="10" name="arrow-175"/>
          <p:cNvSpPr/>
          <p:nvPr/>
        </p:nvSpPr>
        <p:spPr>
          <a:xfrm flipV="1">
            <a:off x="4709160" y="1828800"/>
            <a:ext cx="685800" cy="105156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1" name="arrow-176"/>
          <p:cNvSpPr/>
          <p:nvPr/>
        </p:nvSpPr>
        <p:spPr>
          <a:xfrm>
            <a:off x="4709160" y="2880360"/>
            <a:ext cx="685800" cy="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2" name="arrow-177"/>
          <p:cNvSpPr/>
          <p:nvPr/>
        </p:nvSpPr>
        <p:spPr>
          <a:xfrm>
            <a:off x="4709160" y="2880360"/>
            <a:ext cx="685800" cy="1051560"/>
          </a:xfrm>
          <a:prstGeom prst="line">
            <a:avLst/>
          </a:prstGeom>
          <a:noFill/>
          <a:ln w="25400">
            <a:solidFill>
              <a:srgbClr val="8EA4E6"/>
            </a:solidFill>
            <a:prstDash val="solid"/>
            <a:tailEnd type="triangle"/>
          </a:ln>
        </p:spPr>
      </p:sp>
      <p:sp>
        <p:nvSpPr>
          <p:cNvPr id="13" name="card-178"/>
          <p:cNvSpPr/>
          <p:nvPr/>
        </p:nvSpPr>
        <p:spPr>
          <a:xfrm>
            <a:off x="5440680" y="1417320"/>
            <a:ext cx="3246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card-title-179"/>
          <p:cNvSpPr txBox="1"/>
          <p:nvPr/>
        </p:nvSpPr>
        <p:spPr>
          <a:xfrm>
            <a:off x="5623560" y="1600200"/>
            <a:ext cx="288036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Worker · ₹299.00</a:t>
            </a:r>
            <a:endParaRPr lang="en-US" sz="1600" dirty="0"/>
          </a:p>
        </p:txBody>
      </p:sp>
      <p:sp>
        <p:nvSpPr>
          <p:cNvPr id="15" name="card-body-180"/>
          <p:cNvSpPr txBox="1"/>
          <p:nvPr/>
        </p:nvSpPr>
        <p:spPr>
          <a:xfrm>
            <a:off x="5623560" y="1999488"/>
            <a:ext cx="2880360" cy="14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Service charges, to the wallet</a:t>
            </a:r>
            <a:endParaRPr lang="en-US" sz="1400" dirty="0"/>
          </a:p>
        </p:txBody>
      </p:sp>
      <p:sp>
        <p:nvSpPr>
          <p:cNvPr id="16" name="card-181"/>
          <p:cNvSpPr/>
          <p:nvPr/>
        </p:nvSpPr>
        <p:spPr>
          <a:xfrm>
            <a:off x="5440680" y="2468880"/>
            <a:ext cx="3246120" cy="868680"/>
          </a:xfrm>
          <a:prstGeom prst="roundRect">
            <a:avLst>
              <a:gd name="adj" fmla="val 8421"/>
            </a:avLst>
          </a:prstGeom>
          <a:solidFill>
            <a:srgbClr val="FFF6E2"/>
          </a:solidFill>
          <a:ln w="12700">
            <a:solidFill>
              <a:srgbClr val="FFF6E2"/>
            </a:solidFill>
            <a:prstDash val="solid"/>
          </a:ln>
        </p:spPr>
      </p:sp>
      <p:sp>
        <p:nvSpPr>
          <p:cNvPr id="17" name="card-title-182"/>
          <p:cNvSpPr txBox="1"/>
          <p:nvPr/>
        </p:nvSpPr>
        <p:spPr>
          <a:xfrm>
            <a:off x="5623560" y="2651760"/>
            <a:ext cx="288036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Ji-Hajoor · ₹29.90</a:t>
            </a:r>
            <a:endParaRPr lang="en-US" sz="1600" dirty="0"/>
          </a:p>
        </p:txBody>
      </p:sp>
      <p:sp>
        <p:nvSpPr>
          <p:cNvPr id="18" name="card-body-183"/>
          <p:cNvSpPr txBox="1"/>
          <p:nvPr/>
        </p:nvSpPr>
        <p:spPr>
          <a:xfrm>
            <a:off x="5623560" y="3051048"/>
            <a:ext cx="2880360" cy="14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Platform fee (10%)</a:t>
            </a:r>
            <a:endParaRPr lang="en-US" sz="1400" dirty="0"/>
          </a:p>
        </p:txBody>
      </p:sp>
      <p:sp>
        <p:nvSpPr>
          <p:cNvPr id="19" name="card-184"/>
          <p:cNvSpPr/>
          <p:nvPr/>
        </p:nvSpPr>
        <p:spPr>
          <a:xfrm>
            <a:off x="5440680" y="3520440"/>
            <a:ext cx="32461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rd-title-185"/>
          <p:cNvSpPr txBox="1"/>
          <p:nvPr/>
        </p:nvSpPr>
        <p:spPr>
          <a:xfrm>
            <a:off x="5623560" y="3703320"/>
            <a:ext cx="2880360" cy="353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· ₹59.20</a:t>
            </a:r>
            <a:endParaRPr lang="en-US" sz="1600" dirty="0"/>
          </a:p>
        </p:txBody>
      </p:sp>
      <p:sp>
        <p:nvSpPr>
          <p:cNvPr id="21" name="card-body-186"/>
          <p:cNvSpPr txBox="1"/>
          <p:nvPr/>
        </p:nvSpPr>
        <p:spPr>
          <a:xfrm>
            <a:off x="5623560" y="4102608"/>
            <a:ext cx="2880360" cy="14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GST at 18%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Every price is itemised before booking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Starter values, set per service in Pricing Configuration</a:t>
            </a:r>
            <a:endParaRPr lang="en-US" sz="1400" dirty="0"/>
          </a:p>
        </p:txBody>
      </p:sp>
      <p:graphicFrame>
        <p:nvGraphicFramePr>
          <p:cNvPr id="4" name="table-18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 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keeps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₹299 to ₹1,499 per service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 per km, capped at ₹150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 / weekend surcharge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₹100 / ₹75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2× the base 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of service charges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Ji-Hajoor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or % off, capped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Paid by Ji-Hajoor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Agencies earn from their workers’ jobs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 ₹1,000 job with a 10% fee and a 10% agency share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17320"/>
          <a:ext cx="822960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llout-188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6E2"/>
          </a:solidFill>
          <a:ln w="12700">
            <a:solidFill>
              <a:srgbClr val="FFF6E2"/>
            </a:solidFill>
            <a:prstDash val="solid"/>
          </a:ln>
        </p:spPr>
      </p:sp>
      <p:sp>
        <p:nvSpPr>
          <p:cNvPr id="7" name="callout-text-189"/>
          <p:cNvSpPr txBox="1"/>
          <p:nvPr/>
        </p:nvSpPr>
        <p:spPr>
          <a:xfrm>
            <a:off x="685800" y="4023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4100"/>
                </a:solidFill>
              </a:rPr>
              <a:t>Agencies bring teams without Ji-Hajoor paying for recruitment; workers choose to join and can leave.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Revenue streams: live today and next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 next four reuse parts that are already built</a:t>
            </a:r>
            <a:endParaRPr lang="en-US" sz="1400" dirty="0"/>
          </a:p>
        </p:txBody>
      </p:sp>
      <p:sp>
        <p:nvSpPr>
          <p:cNvPr id="5" name="card-190"/>
          <p:cNvSpPr/>
          <p:nvPr/>
        </p:nvSpPr>
        <p:spPr>
          <a:xfrm>
            <a:off x="457200" y="1463040"/>
            <a:ext cx="39776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icon-circle-191"/>
          <p:cNvSpPr/>
          <p:nvPr/>
        </p:nvSpPr>
        <p:spPr>
          <a:xfrm>
            <a:off x="640080" y="1645920"/>
            <a:ext cx="502920" cy="50292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7" name="icon-19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839" y="1776679"/>
            <a:ext cx="241402" cy="241402"/>
          </a:xfrm>
          <a:prstGeom prst="rect">
            <a:avLst/>
          </a:prstGeom>
        </p:spPr>
      </p:pic>
      <p:sp>
        <p:nvSpPr>
          <p:cNvPr id="8" name="kicker-193"/>
          <p:cNvSpPr txBox="1"/>
          <p:nvPr/>
        </p:nvSpPr>
        <p:spPr>
          <a:xfrm>
            <a:off x="640080" y="2286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LIVE TODAY</a:t>
            </a:r>
            <a:endParaRPr lang="en-US" sz="1100" dirty="0"/>
          </a:p>
        </p:txBody>
      </p:sp>
      <p:sp>
        <p:nvSpPr>
          <p:cNvPr id="9" name="card-title-194"/>
          <p:cNvSpPr txBox="1"/>
          <p:nvPr/>
        </p:nvSpPr>
        <p:spPr>
          <a:xfrm>
            <a:off x="640080" y="25603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Earning now</a:t>
            </a:r>
            <a:endParaRPr lang="en-US" sz="1800" dirty="0"/>
          </a:p>
        </p:txBody>
      </p:sp>
      <p:sp>
        <p:nvSpPr>
          <p:cNvPr id="10" name="card-body-195"/>
          <p:cNvSpPr txBox="1"/>
          <p:nvPr/>
        </p:nvSpPr>
        <p:spPr>
          <a:xfrm>
            <a:off x="640080" y="2990088"/>
            <a:ext cx="36118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Platform fee on every paid job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Emergency (2× base), night and weekend jobs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Cancellation fees once a pro is on the way</a:t>
            </a:r>
            <a:endParaRPr lang="en-US" sz="1500" dirty="0"/>
          </a:p>
        </p:txBody>
      </p:sp>
      <p:sp>
        <p:nvSpPr>
          <p:cNvPr id="11" name="card-196"/>
          <p:cNvSpPr/>
          <p:nvPr/>
        </p:nvSpPr>
        <p:spPr>
          <a:xfrm>
            <a:off x="4709160" y="1463040"/>
            <a:ext cx="3977640" cy="3063240"/>
          </a:xfrm>
          <a:prstGeom prst="roundRect">
            <a:avLst>
              <a:gd name="adj" fmla="val 238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icon-circle-197"/>
          <p:cNvSpPr/>
          <p:nvPr/>
        </p:nvSpPr>
        <p:spPr>
          <a:xfrm>
            <a:off x="4892040" y="16459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icon-19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799" y="1776679"/>
            <a:ext cx="241402" cy="241402"/>
          </a:xfrm>
          <a:prstGeom prst="rect">
            <a:avLst/>
          </a:prstGeom>
        </p:spPr>
      </p:pic>
      <p:sp>
        <p:nvSpPr>
          <p:cNvPr id="14" name="kicker-199"/>
          <p:cNvSpPr txBox="1"/>
          <p:nvPr/>
        </p:nvSpPr>
        <p:spPr>
          <a:xfrm>
            <a:off x="4892040" y="2286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NEXT</a:t>
            </a:r>
            <a:endParaRPr lang="en-US" sz="1100" dirty="0"/>
          </a:p>
        </p:txBody>
      </p:sp>
      <p:sp>
        <p:nvSpPr>
          <p:cNvPr id="15" name="card-title-200"/>
          <p:cNvSpPr txBox="1"/>
          <p:nvPr/>
        </p:nvSpPr>
        <p:spPr>
          <a:xfrm>
            <a:off x="4892040" y="256032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</a:t>
            </a:r>
            <a:endParaRPr lang="en-US" sz="1800" dirty="0"/>
          </a:p>
        </p:txBody>
      </p:sp>
      <p:sp>
        <p:nvSpPr>
          <p:cNvPr id="16" name="card-body-201"/>
          <p:cNvSpPr txBox="1"/>
          <p:nvPr/>
        </p:nvSpPr>
        <p:spPr>
          <a:xfrm>
            <a:off x="4892040" y="2990088"/>
            <a:ext cx="361188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Featured professionals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Agency plans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Maintenance plans (AMC)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Parts margin and business accounts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About ₹31 per job after costs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Illustrative, at starter pricing</a:t>
            </a:r>
            <a:endParaRPr lang="en-US" sz="1400" dirty="0"/>
          </a:p>
        </p:txBody>
      </p:sp>
      <p:graphicFrame>
        <p:nvGraphicFramePr>
          <p:cNvPr id="7" name="table-20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4572000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1097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job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 fee (10% of ₹555)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gateway (≈2% of ₹720)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Coupons (₹50 × 20%)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−10.00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Contribution per job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6" name="stat-203"/>
          <p:cNvSpPr txBox="1"/>
          <p:nvPr/>
        </p:nvSpPr>
        <p:spPr>
          <a:xfrm>
            <a:off x="5486400" y="14630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₹55.50</a:t>
            </a:r>
            <a:endParaRPr lang="en-US" sz="4000" dirty="0"/>
          </a:p>
        </p:txBody>
      </p:sp>
      <p:sp>
        <p:nvSpPr>
          <p:cNvPr id="7" name="stat-label-204"/>
          <p:cNvSpPr txBox="1"/>
          <p:nvPr/>
        </p:nvSpPr>
        <p:spPr>
          <a:xfrm>
            <a:off x="548640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platform fee on an average job</a:t>
            </a:r>
            <a:endParaRPr lang="en-US" sz="1400" dirty="0"/>
          </a:p>
        </p:txBody>
      </p:sp>
      <p:sp>
        <p:nvSpPr>
          <p:cNvPr id="8" name="stat-205"/>
          <p:cNvSpPr txBox="1"/>
          <p:nvPr/>
        </p:nvSpPr>
        <p:spPr>
          <a:xfrm>
            <a:off x="5486400" y="283464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≈56%</a:t>
            </a:r>
            <a:endParaRPr lang="en-US" sz="4000" dirty="0"/>
          </a:p>
        </p:txBody>
      </p:sp>
      <p:sp>
        <p:nvSpPr>
          <p:cNvPr id="9" name="stat-label-206"/>
          <p:cNvSpPr txBox="1"/>
          <p:nvPr/>
        </p:nvSpPr>
        <p:spPr>
          <a:xfrm>
            <a:off x="5486400" y="3566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 fee left after payment and coupon costs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Contribution grows with volume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Per month, ₹ lakh (illustrative)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82296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Four levers we control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All four are settings in Ji-Hajoor Admin</a:t>
            </a:r>
            <a:endParaRPr lang="en-US" sz="1400" dirty="0"/>
          </a:p>
        </p:txBody>
      </p:sp>
      <p:sp>
        <p:nvSpPr>
          <p:cNvPr id="5" name="icon-circle-207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on-208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651406"/>
            <a:ext cx="263347" cy="263347"/>
          </a:xfrm>
          <a:prstGeom prst="rect">
            <a:avLst/>
          </a:prstGeom>
        </p:spPr>
      </p:pic>
      <p:sp>
        <p:nvSpPr>
          <p:cNvPr id="7" name="grid-title-209"/>
          <p:cNvSpPr txBox="1"/>
          <p:nvPr/>
        </p:nvSpPr>
        <p:spPr>
          <a:xfrm>
            <a:off x="11887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 rate per service</a:t>
            </a:r>
            <a:endParaRPr lang="en-US" sz="1700" dirty="0"/>
          </a:p>
        </p:txBody>
      </p:sp>
      <p:sp>
        <p:nvSpPr>
          <p:cNvPr id="8" name="grid-body-210"/>
          <p:cNvSpPr txBox="1"/>
          <p:nvPr/>
        </p:nvSpPr>
        <p:spPr>
          <a:xfrm>
            <a:off x="1188720" y="18928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Higher on specialist jobs, lower where price-sensitive.</a:t>
            </a:r>
            <a:endParaRPr lang="en-US" sz="1400" dirty="0"/>
          </a:p>
        </p:txBody>
      </p:sp>
      <p:sp>
        <p:nvSpPr>
          <p:cNvPr id="9" name="icon-circle-211"/>
          <p:cNvSpPr/>
          <p:nvPr/>
        </p:nvSpPr>
        <p:spPr>
          <a:xfrm>
            <a:off x="475488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21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26" y="1651406"/>
            <a:ext cx="263347" cy="263347"/>
          </a:xfrm>
          <a:prstGeom prst="rect">
            <a:avLst/>
          </a:prstGeom>
        </p:spPr>
      </p:pic>
      <p:sp>
        <p:nvSpPr>
          <p:cNvPr id="11" name="grid-title-213"/>
          <p:cNvSpPr txBox="1"/>
          <p:nvPr/>
        </p:nvSpPr>
        <p:spPr>
          <a:xfrm>
            <a:off x="54864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share</a:t>
            </a:r>
            <a:endParaRPr lang="en-US" sz="1700" dirty="0"/>
          </a:p>
        </p:txBody>
      </p:sp>
      <p:sp>
        <p:nvSpPr>
          <p:cNvPr id="12" name="grid-body-214"/>
          <p:cNvSpPr txBox="1"/>
          <p:nvPr/>
        </p:nvSpPr>
        <p:spPr>
          <a:xfrm>
            <a:off x="5486400" y="18928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Emergency jobs earn twice the fee in rupees.</a:t>
            </a:r>
            <a:endParaRPr lang="en-US" sz="1400" dirty="0"/>
          </a:p>
        </p:txBody>
      </p:sp>
      <p:sp>
        <p:nvSpPr>
          <p:cNvPr id="13" name="icon-circle-215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4" name="icon-216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114446"/>
            <a:ext cx="263347" cy="263347"/>
          </a:xfrm>
          <a:prstGeom prst="rect">
            <a:avLst/>
          </a:prstGeom>
        </p:spPr>
      </p:pic>
      <p:sp>
        <p:nvSpPr>
          <p:cNvPr id="15" name="grid-title-217"/>
          <p:cNvSpPr txBox="1"/>
          <p:nvPr/>
        </p:nvSpPr>
        <p:spPr>
          <a:xfrm>
            <a:off x="118872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value mix</a:t>
            </a:r>
            <a:endParaRPr lang="en-US" sz="1700" dirty="0"/>
          </a:p>
        </p:txBody>
      </p:sp>
      <p:sp>
        <p:nvSpPr>
          <p:cNvPr id="16" name="grid-body-218"/>
          <p:cNvSpPr txBox="1"/>
          <p:nvPr/>
        </p:nvSpPr>
        <p:spPr>
          <a:xfrm>
            <a:off x="1188720" y="33558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Deep cleaning and AC jobs lift the average.</a:t>
            </a:r>
            <a:endParaRPr lang="en-US" sz="1400" dirty="0"/>
          </a:p>
        </p:txBody>
      </p:sp>
      <p:sp>
        <p:nvSpPr>
          <p:cNvPr id="17" name="icon-circle-219"/>
          <p:cNvSpPr/>
          <p:nvPr/>
        </p:nvSpPr>
        <p:spPr>
          <a:xfrm>
            <a:off x="4754880" y="297180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icon-22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26" y="3114446"/>
            <a:ext cx="263347" cy="263347"/>
          </a:xfrm>
          <a:prstGeom prst="rect">
            <a:avLst/>
          </a:prstGeom>
        </p:spPr>
      </p:pic>
      <p:sp>
        <p:nvSpPr>
          <p:cNvPr id="19" name="grid-title-221"/>
          <p:cNvSpPr txBox="1"/>
          <p:nvPr/>
        </p:nvSpPr>
        <p:spPr>
          <a:xfrm>
            <a:off x="54864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Coupon spend</a:t>
            </a:r>
            <a:endParaRPr lang="en-US" sz="1700" dirty="0"/>
          </a:p>
        </p:txBody>
      </p:sp>
      <p:sp>
        <p:nvSpPr>
          <p:cNvPr id="20" name="grid-body-222"/>
          <p:cNvSpPr txBox="1"/>
          <p:nvPr/>
        </p:nvSpPr>
        <p:spPr>
          <a:xfrm>
            <a:off x="5486400" y="33558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Caps, limits and expiry on every coupon.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 settle before taking real money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3268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Decisions for the founders</a:t>
            </a:r>
            <a:endParaRPr lang="en-US" sz="1400" dirty="0"/>
          </a:p>
        </p:txBody>
      </p:sp>
      <p:sp>
        <p:nvSpPr>
          <p:cNvPr id="5" name="icon-circle-223"/>
          <p:cNvSpPr/>
          <p:nvPr/>
        </p:nvSpPr>
        <p:spPr>
          <a:xfrm>
            <a:off x="457200" y="150876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con-22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651406"/>
            <a:ext cx="263347" cy="263347"/>
          </a:xfrm>
          <a:prstGeom prst="rect">
            <a:avLst/>
          </a:prstGeom>
        </p:spPr>
      </p:pic>
      <p:sp>
        <p:nvSpPr>
          <p:cNvPr id="7" name="grid-title-225"/>
          <p:cNvSpPr txBox="1"/>
          <p:nvPr/>
        </p:nvSpPr>
        <p:spPr>
          <a:xfrm>
            <a:off x="118872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 the fee</a:t>
            </a:r>
            <a:endParaRPr lang="en-US" sz="1700" dirty="0"/>
          </a:p>
        </p:txBody>
      </p:sp>
      <p:sp>
        <p:nvSpPr>
          <p:cNvPr id="8" name="grid-body-226"/>
          <p:cNvSpPr txBox="1"/>
          <p:nvPr/>
        </p:nvSpPr>
        <p:spPr>
          <a:xfrm>
            <a:off x="1188720" y="18928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Payment takes 20% of the total; estimates show 10%. Pick one.</a:t>
            </a:r>
            <a:endParaRPr lang="en-US" sz="1400" dirty="0"/>
          </a:p>
        </p:txBody>
      </p:sp>
      <p:sp>
        <p:nvSpPr>
          <p:cNvPr id="9" name="icon-circle-227"/>
          <p:cNvSpPr/>
          <p:nvPr/>
        </p:nvSpPr>
        <p:spPr>
          <a:xfrm>
            <a:off x="4754880" y="150876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con-22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526" y="1651406"/>
            <a:ext cx="263347" cy="263347"/>
          </a:xfrm>
          <a:prstGeom prst="rect">
            <a:avLst/>
          </a:prstGeom>
        </p:spPr>
      </p:pic>
      <p:sp>
        <p:nvSpPr>
          <p:cNvPr id="11" name="grid-title-229"/>
          <p:cNvSpPr txBox="1"/>
          <p:nvPr/>
        </p:nvSpPr>
        <p:spPr>
          <a:xfrm>
            <a:off x="5486400" y="1508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GST treatment</a:t>
            </a:r>
            <a:endParaRPr lang="en-US" sz="1700" dirty="0"/>
          </a:p>
        </p:txBody>
      </p:sp>
      <p:sp>
        <p:nvSpPr>
          <p:cNvPr id="12" name="grid-body-230"/>
          <p:cNvSpPr txBox="1"/>
          <p:nvPr/>
        </p:nvSpPr>
        <p:spPr>
          <a:xfrm>
            <a:off x="5486400" y="189280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Confirm with your accountant who collects and pays it.</a:t>
            </a:r>
            <a:endParaRPr lang="en-US" sz="1400" dirty="0"/>
          </a:p>
        </p:txBody>
      </p:sp>
      <p:sp>
        <p:nvSpPr>
          <p:cNvPr id="13" name="icon-circle-231"/>
          <p:cNvSpPr/>
          <p:nvPr/>
        </p:nvSpPr>
        <p:spPr>
          <a:xfrm>
            <a:off x="457200" y="29718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on-23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3114446"/>
            <a:ext cx="263347" cy="263347"/>
          </a:xfrm>
          <a:prstGeom prst="rect">
            <a:avLst/>
          </a:prstGeom>
        </p:spPr>
      </p:pic>
      <p:sp>
        <p:nvSpPr>
          <p:cNvPr id="15" name="grid-title-233"/>
          <p:cNvSpPr txBox="1"/>
          <p:nvPr/>
        </p:nvSpPr>
        <p:spPr>
          <a:xfrm>
            <a:off x="118872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live on Razorpay</a:t>
            </a:r>
            <a:endParaRPr lang="en-US" sz="1700" dirty="0"/>
          </a:p>
        </p:txBody>
      </p:sp>
      <p:sp>
        <p:nvSpPr>
          <p:cNvPr id="16" name="grid-body-234"/>
          <p:cNvSpPr txBox="1"/>
          <p:nvPr/>
        </p:nvSpPr>
        <p:spPr>
          <a:xfrm>
            <a:off x="1188720" y="33558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Add live keys and switch the payment simulator off.</a:t>
            </a:r>
            <a:endParaRPr lang="en-US" sz="1400" dirty="0"/>
          </a:p>
        </p:txBody>
      </p:sp>
      <p:sp>
        <p:nvSpPr>
          <p:cNvPr id="17" name="icon-circle-235"/>
          <p:cNvSpPr/>
          <p:nvPr/>
        </p:nvSpPr>
        <p:spPr>
          <a:xfrm>
            <a:off x="4754880" y="29718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icon-23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7526" y="3114446"/>
            <a:ext cx="263347" cy="263347"/>
          </a:xfrm>
          <a:prstGeom prst="rect">
            <a:avLst/>
          </a:prstGeom>
        </p:spPr>
      </p:pic>
      <p:sp>
        <p:nvSpPr>
          <p:cNvPr id="19" name="grid-title-237"/>
          <p:cNvSpPr txBox="1"/>
          <p:nvPr/>
        </p:nvSpPr>
        <p:spPr>
          <a:xfrm>
            <a:off x="54864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Agency payouts</a:t>
            </a:r>
            <a:endParaRPr lang="en-US" sz="1700" dirty="0"/>
          </a:p>
        </p:txBody>
      </p:sp>
      <p:sp>
        <p:nvSpPr>
          <p:cNvPr id="20" name="grid-body-238"/>
          <p:cNvSpPr txBox="1"/>
          <p:nvPr/>
        </p:nvSpPr>
        <p:spPr>
          <a:xfrm>
            <a:off x="5486400" y="3355848"/>
            <a:ext cx="3200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agency share is a ledger today; pay it out monthly.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8A2B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 transparent fee that grows with every trusted job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Full model: docs/REVENUE_MODEL.md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Market sources: Redseer via Outlook Business (Sept 2025)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i-Hajoor">
  <a:themeElements>
    <a:clrScheme name="Ji-Hajoor">
      <a:dk1>
        <a:srgbClr val="1D2939"/>
      </a:dk1>
      <a:lt1>
        <a:srgbClr val="FFFFFF"/>
      </a:lt1>
      <a:dk2>
        <a:srgbClr val="0F2A6E"/>
      </a:dk2>
      <a:lt2>
        <a:srgbClr val="F2F5FC"/>
      </a:lt2>
      <a:accent1>
        <a:srgbClr val="2251D1"/>
      </a:accent1>
      <a:accent2>
        <a:srgbClr val="F2A516"/>
      </a:accent2>
      <a:accent3>
        <a:srgbClr val="0F766E"/>
      </a:accent3>
      <a:accent4>
        <a:srgbClr val="12875A"/>
      </a:accent4>
      <a:accent5>
        <a:srgbClr val="D92D20"/>
      </a:accent5>
      <a:accent6>
        <a:srgbClr val="5F6B7E"/>
      </a:accent6>
      <a:hlink>
        <a:srgbClr val="2251D1"/>
      </a:hlink>
      <a:folHlink>
        <a:srgbClr val="1A3FA6"/>
      </a:folHlink>
    </a:clrScheme>
    <a:fontScheme name="Ji-Hajoo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Condigence LLP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Ji-Hajoor — Revenue Model</dc:title>
  <dc:subject>PptxGenJS Presentation</dc:subject>
  <dc:creator>Ji-Hajoor</dc:creator>
  <cp:lastModifiedBy>Ji-Hajoor</cp:lastModifiedBy>
  <cp:revision>1</cp:revision>
  <dcterms:created xsi:type="dcterms:W3CDTF">2026-10-30T09:16:09Z</dcterms:created>
  <dcterms:modified xsi:type="dcterms:W3CDTF">2026-10-30T09:16:09Z</dcterms:modified>
</cp:coreProperties>
</file>