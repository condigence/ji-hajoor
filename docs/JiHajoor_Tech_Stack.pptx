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cac66b9-576c-3942-f51f-ec8a09ffc7ca}">
          <p14:sldIdLst>
            <p14:sldId id="256"/>
          </p14:sldIdLst>
        </p14:section>
        <p14:section name="Platform" id="{4281085c-0247-62f8-043b-c59c42e24abf}">
          <p14:sldIdLst>
            <p14:sldId id="257"/>
            <p14:sldId id="258"/>
            <p14:sldId id="259"/>
          </p14:sldIdLst>
        </p14:section>
        <p14:section name="Security" id="{ef59a4c3-902d-c68d-033a-25e42f09cf52}">
          <p14:sldIdLst>
            <p14:sldId id="260"/>
            <p14:sldId id="261"/>
            <p14:sldId id="262"/>
          </p14:sldIdLst>
        </p14:section>
        <p14:section name="Reviews engine" id="{a8e5dd6f-fbdc-7e8d-3b5e-22f6a673d0c5}">
          <p14:sldIdLst>
            <p14:sldId id="263"/>
            <p14:sldId id="264"/>
          </p14:sldIdLst>
        </p14:section>
        <p14:section name="Delivery" id="{c64cc6d3-efd1-804f-bb5b-135b703525fb}">
          <p14:sldIdLst>
            <p14:sldId id="265"/>
            <p14:sldId id="266"/>
          </p14:sldIdLst>
        </p14:section>
        <p14:section name="Close" id="{6a55b8e4-b888-7830-5129-ed441f0fec5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from the repository on 30 October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deployable is one JVM hosting several services, each with its own schema. Services talk over HTTP and Kafka with a transactional outbox.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Chosen for hiring ease and long-term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after the 30 October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fix has tests, and the end-to-end booking flow passed on main before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completes, rating-review-service opens a prompt for the customer, the apps surface it, and one reminder goes out after 24 hours through the outbox and notification-service.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are enforced by RbacEnforcementFilter in each service and by the gateway allow-list for public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Failing tests are annotated one by one in CI so fixes are quick.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are environment settings or policy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394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394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2A51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60520"/>
            <a:ext cx="5943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D6E0FA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F2A51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0F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</a:rPr>
              <a:t>Ji-Hajoor · Verified Help. Anytime. Anywhere. · Powered by Condigence LLP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0FA"/>
                </a:solidFill>
              </a:rPr>
              <a:t>© 2026 Ji-Hajoor. Verified Help. Anytime. Anywhere. Powered by Condigence LLP.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0F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Technology &amp; Security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2A516"/>
                </a:solidFill>
              </a:rPr>
              <a:t>How Ji-Hajoor is built and protected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60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0FA"/>
                </a:solidFill>
              </a:rPr>
              <a:t>Updated 30 October 2026 · Tech stack, security review and reviews engine</a:t>
            </a:r>
            <a:endParaRPr lang="en-US" sz="1200" dirty="0"/>
          </a:p>
        </p:txBody>
      </p:sp>
      <p:sp>
        <p:nvSpPr>
          <p:cNvPr id="5" name="hero-circle"/>
          <p:cNvSpPr/>
          <p:nvPr/>
        </p:nvSpPr>
        <p:spPr>
          <a:xfrm>
            <a:off x="6263640" y="1051560"/>
            <a:ext cx="2377440" cy="2377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ero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45920"/>
            <a:ext cx="1188720" cy="1188720"/>
          </a:xfrm>
          <a:prstGeom prst="rect">
            <a:avLst/>
          </a:prstGeom>
        </p:spPr>
      </p:pic>
      <p:sp>
        <p:nvSpPr>
          <p:cNvPr id="7" name="hero-dot"/>
          <p:cNvSpPr/>
          <p:nvPr/>
        </p:nvSpPr>
        <p:spPr>
          <a:xfrm>
            <a:off x="8001000" y="3063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hero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322783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At a glance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An event-driven marketplace on Railway, ready for AWS</a:t>
            </a:r>
            <a:endParaRPr lang="en-US" sz="1400" dirty="0"/>
          </a:p>
        </p:txBody>
      </p:sp>
      <p:sp>
        <p:nvSpPr>
          <p:cNvPr id="5" name="stat-239"/>
          <p:cNvSpPr txBox="1"/>
          <p:nvPr/>
        </p:nvSpPr>
        <p:spPr>
          <a:xfrm>
            <a:off x="45720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stat-label-240"/>
          <p:cNvSpPr txBox="1"/>
          <p:nvPr/>
        </p:nvSpPr>
        <p:spPr>
          <a:xfrm>
            <a:off x="45720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apps: web, Android, iOS</a:t>
            </a:r>
            <a:endParaRPr lang="en-US" sz="1400" dirty="0"/>
          </a:p>
        </p:txBody>
      </p:sp>
      <p:sp>
        <p:nvSpPr>
          <p:cNvPr id="7" name="stat-241"/>
          <p:cNvSpPr txBox="1"/>
          <p:nvPr/>
        </p:nvSpPr>
        <p:spPr>
          <a:xfrm>
            <a:off x="256032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8" name="stat-label-242"/>
          <p:cNvSpPr txBox="1"/>
          <p:nvPr/>
        </p:nvSpPr>
        <p:spPr>
          <a:xfrm>
            <a:off x="256032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services in 5 deployables</a:t>
            </a:r>
            <a:endParaRPr lang="en-US" sz="1400" dirty="0"/>
          </a:p>
        </p:txBody>
      </p:sp>
      <p:sp>
        <p:nvSpPr>
          <p:cNvPr id="9" name="stat-243"/>
          <p:cNvSpPr txBox="1"/>
          <p:nvPr/>
        </p:nvSpPr>
        <p:spPr>
          <a:xfrm>
            <a:off x="466344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10" name="stat-label-244"/>
          <p:cNvSpPr txBox="1"/>
          <p:nvPr/>
        </p:nvSpPr>
        <p:spPr>
          <a:xfrm>
            <a:off x="466344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event types, via Kafka</a:t>
            </a:r>
            <a:endParaRPr lang="en-US" sz="1400" dirty="0"/>
          </a:p>
        </p:txBody>
      </p:sp>
      <p:sp>
        <p:nvSpPr>
          <p:cNvPr id="11" name="stat-245"/>
          <p:cNvSpPr txBox="1"/>
          <p:nvPr/>
        </p:nvSpPr>
        <p:spPr>
          <a:xfrm>
            <a:off x="676656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2" name="stat-label-246"/>
          <p:cNvSpPr txBox="1"/>
          <p:nvPr/>
        </p:nvSpPr>
        <p:spPr>
          <a:xfrm>
            <a:off x="676656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 workflows</a:t>
            </a:r>
            <a:endParaRPr lang="en-US" sz="1400" dirty="0"/>
          </a:p>
        </p:txBody>
      </p:sp>
      <p:sp>
        <p:nvSpPr>
          <p:cNvPr id="13" name="icon-circle-247"/>
          <p:cNvSpPr/>
          <p:nvPr/>
        </p:nvSpPr>
        <p:spPr>
          <a:xfrm>
            <a:off x="457200" y="2743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-24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2885846"/>
            <a:ext cx="263347" cy="263347"/>
          </a:xfrm>
          <a:prstGeom prst="rect">
            <a:avLst/>
          </a:prstGeom>
        </p:spPr>
      </p:pic>
      <p:sp>
        <p:nvSpPr>
          <p:cNvPr id="15" name="grid-title-249"/>
          <p:cNvSpPr txBox="1"/>
          <p:nvPr/>
        </p:nvSpPr>
        <p:spPr>
          <a:xfrm>
            <a:off x="118872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on Railway</a:t>
            </a:r>
            <a:endParaRPr lang="en-US" sz="1700" dirty="0"/>
          </a:p>
        </p:txBody>
      </p:sp>
      <p:sp>
        <p:nvSpPr>
          <p:cNvPr id="16" name="grid-body-250"/>
          <p:cNvSpPr txBox="1"/>
          <p:nvPr/>
        </p:nvSpPr>
        <p:spPr>
          <a:xfrm>
            <a:off x="1188720" y="31272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app and service deploys from one repository on each merge.</a:t>
            </a:r>
            <a:endParaRPr lang="en-US" sz="1400" dirty="0"/>
          </a:p>
        </p:txBody>
      </p:sp>
      <p:sp>
        <p:nvSpPr>
          <p:cNvPr id="17" name="icon-circle-251"/>
          <p:cNvSpPr/>
          <p:nvPr/>
        </p:nvSpPr>
        <p:spPr>
          <a:xfrm>
            <a:off x="4754880" y="2743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-25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26" y="2885846"/>
            <a:ext cx="263347" cy="263347"/>
          </a:xfrm>
          <a:prstGeom prst="rect">
            <a:avLst/>
          </a:prstGeom>
        </p:spPr>
      </p:pic>
      <p:sp>
        <p:nvSpPr>
          <p:cNvPr id="19" name="grid-title-253"/>
          <p:cNvSpPr txBox="1"/>
          <p:nvPr/>
        </p:nvSpPr>
        <p:spPr>
          <a:xfrm>
            <a:off x="548640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AWS</a:t>
            </a:r>
            <a:endParaRPr lang="en-US" sz="1700" dirty="0"/>
          </a:p>
        </p:txBody>
      </p:sp>
      <p:sp>
        <p:nvSpPr>
          <p:cNvPr id="20" name="grid-body-254"/>
          <p:cNvSpPr txBox="1"/>
          <p:nvPr/>
        </p:nvSpPr>
        <p:spPr>
          <a:xfrm>
            <a:off x="5486400" y="31272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EKS, RDS and MSK prepared in Terraform and Helm.</a:t>
            </a:r>
            <a:endParaRPr lang="en-US" sz="1400" dirty="0"/>
          </a:p>
        </p:txBody>
      </p:sp>
      <p:sp>
        <p:nvSpPr>
          <p:cNvPr id="21" name="callout-255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EF2FD"/>
          </a:solidFill>
          <a:ln w="12700">
            <a:solidFill>
              <a:srgbClr val="EEF2FD"/>
            </a:solidFill>
            <a:prstDash val="solid"/>
          </a:ln>
        </p:spPr>
      </p:sp>
      <p:sp>
        <p:nvSpPr>
          <p:cNvPr id="22" name="callout-text-256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6E"/>
                </a:solidFill>
              </a:rPr>
              <a:t>Every change runs unit tests, lint, security scans and a full booking-to-review test before production.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gateway in, four deployables behind it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Apps → nginx → api-gateway → services → data</a:t>
            </a:r>
            <a:endParaRPr lang="en-US" sz="1400" dirty="0"/>
          </a:p>
        </p:txBody>
      </p:sp>
      <p:sp>
        <p:nvSpPr>
          <p:cNvPr id="5" name="box-257"/>
          <p:cNvSpPr/>
          <p:nvPr/>
        </p:nvSpPr>
        <p:spPr>
          <a:xfrm>
            <a:off x="457200" y="1417320"/>
            <a:ext cx="16459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ox-text-258"/>
          <p:cNvSpPr txBox="1"/>
          <p:nvPr/>
        </p:nvSpPr>
        <p:spPr>
          <a:xfrm>
            <a:off x="530352" y="141732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Ji-Hajoor</a:t>
            </a:r>
            <a:endParaRPr lang="en-US" sz="1300" dirty="0"/>
          </a:p>
        </p:txBody>
      </p:sp>
      <p:sp>
        <p:nvSpPr>
          <p:cNvPr id="7" name="box-259"/>
          <p:cNvSpPr/>
          <p:nvPr/>
        </p:nvSpPr>
        <p:spPr>
          <a:xfrm>
            <a:off x="457200" y="2103120"/>
            <a:ext cx="164592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box-text-260"/>
          <p:cNvSpPr txBox="1"/>
          <p:nvPr/>
        </p:nvSpPr>
        <p:spPr>
          <a:xfrm>
            <a:off x="530352" y="210312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Ji-Hajoor Pro</a:t>
            </a:r>
            <a:endParaRPr lang="en-US" sz="1300" dirty="0"/>
          </a:p>
        </p:txBody>
      </p:sp>
      <p:sp>
        <p:nvSpPr>
          <p:cNvPr id="9" name="box-261"/>
          <p:cNvSpPr/>
          <p:nvPr/>
        </p:nvSpPr>
        <p:spPr>
          <a:xfrm>
            <a:off x="457200" y="2788920"/>
            <a:ext cx="16459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box-text-262"/>
          <p:cNvSpPr txBox="1"/>
          <p:nvPr/>
        </p:nvSpPr>
        <p:spPr>
          <a:xfrm>
            <a:off x="530352" y="278892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Ji-Hajoor Admin</a:t>
            </a:r>
            <a:endParaRPr lang="en-US" sz="1300" dirty="0"/>
          </a:p>
        </p:txBody>
      </p:sp>
      <p:sp>
        <p:nvSpPr>
          <p:cNvPr id="11" name="arrow-263"/>
          <p:cNvSpPr/>
          <p:nvPr/>
        </p:nvSpPr>
        <p:spPr>
          <a:xfrm>
            <a:off x="2148840" y="2194560"/>
            <a:ext cx="411480" cy="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12" name="box-264"/>
          <p:cNvSpPr/>
          <p:nvPr/>
        </p:nvSpPr>
        <p:spPr>
          <a:xfrm>
            <a:off x="2606040" y="1417320"/>
            <a:ext cx="1371600" cy="192024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box-text-265"/>
          <p:cNvSpPr txBox="1"/>
          <p:nvPr/>
        </p:nvSpPr>
        <p:spPr>
          <a:xfrm>
            <a:off x="2679192" y="1417320"/>
            <a:ext cx="1225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400"/>
                </a:solidFill>
              </a:rPr>
              <a:t>api-gateway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2400"/>
                </a:solidFill>
              </a:rPr>
              <a:t>JWT · WAF · rate limits</a:t>
            </a:r>
            <a:endParaRPr lang="en-US" sz="1300" dirty="0"/>
          </a:p>
        </p:txBody>
      </p:sp>
      <p:sp>
        <p:nvSpPr>
          <p:cNvPr id="14" name="arrow-266"/>
          <p:cNvSpPr/>
          <p:nvPr/>
        </p:nvSpPr>
        <p:spPr>
          <a:xfrm>
            <a:off x="4023360" y="2194560"/>
            <a:ext cx="411480" cy="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15" name="box-267"/>
          <p:cNvSpPr/>
          <p:nvPr/>
        </p:nvSpPr>
        <p:spPr>
          <a:xfrm>
            <a:off x="4480560" y="1371600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ox-text-268"/>
          <p:cNvSpPr txBox="1"/>
          <p:nvPr/>
        </p:nvSpPr>
        <p:spPr>
          <a:xfrm>
            <a:off x="4553712" y="1371600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identity-app  ·  auth, customers, workers, verification</a:t>
            </a:r>
            <a:endParaRPr lang="en-US" sz="1200" dirty="0"/>
          </a:p>
        </p:txBody>
      </p:sp>
      <p:sp>
        <p:nvSpPr>
          <p:cNvPr id="17" name="box-269"/>
          <p:cNvSpPr/>
          <p:nvPr/>
        </p:nvSpPr>
        <p:spPr>
          <a:xfrm>
            <a:off x="4480560" y="1901952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ox-text-270"/>
          <p:cNvSpPr txBox="1"/>
          <p:nvPr/>
        </p:nvSpPr>
        <p:spPr>
          <a:xfrm>
            <a:off x="4553712" y="1901952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jobs-app  ·  booking, dispatch, pricing, chat</a:t>
            </a:r>
            <a:endParaRPr lang="en-US" sz="1200" dirty="0"/>
          </a:p>
        </p:txBody>
      </p:sp>
      <p:sp>
        <p:nvSpPr>
          <p:cNvPr id="19" name="box-271"/>
          <p:cNvSpPr/>
          <p:nvPr/>
        </p:nvSpPr>
        <p:spPr>
          <a:xfrm>
            <a:off x="4480560" y="2432304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ox-text-272"/>
          <p:cNvSpPr txBox="1"/>
          <p:nvPr/>
        </p:nvSpPr>
        <p:spPr>
          <a:xfrm>
            <a:off x="4553712" y="2432304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money-app  ·  payments, invoices</a:t>
            </a:r>
            <a:endParaRPr lang="en-US" sz="1200" dirty="0"/>
          </a:p>
        </p:txBody>
      </p:sp>
      <p:sp>
        <p:nvSpPr>
          <p:cNvPr id="21" name="box-273"/>
          <p:cNvSpPr/>
          <p:nvPr/>
        </p:nvSpPr>
        <p:spPr>
          <a:xfrm>
            <a:off x="4480560" y="2962656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ox-text-274"/>
          <p:cNvSpPr txBox="1"/>
          <p:nvPr/>
        </p:nvSpPr>
        <p:spPr>
          <a:xfrm>
            <a:off x="4553712" y="2962656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engagement-app  ·  notify, ratings, complaints, admin</a:t>
            </a:r>
            <a:endParaRPr lang="en-US" sz="1200" dirty="0"/>
          </a:p>
        </p:txBody>
      </p:sp>
      <p:sp>
        <p:nvSpPr>
          <p:cNvPr id="23" name="box-275"/>
          <p:cNvSpPr/>
          <p:nvPr/>
        </p:nvSpPr>
        <p:spPr>
          <a:xfrm>
            <a:off x="4480560" y="3611880"/>
            <a:ext cx="13258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box-text-276"/>
          <p:cNvSpPr txBox="1"/>
          <p:nvPr/>
        </p:nvSpPr>
        <p:spPr>
          <a:xfrm>
            <a:off x="4553712" y="361188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25" name="box-277"/>
          <p:cNvSpPr/>
          <p:nvPr/>
        </p:nvSpPr>
        <p:spPr>
          <a:xfrm>
            <a:off x="5916168" y="3611880"/>
            <a:ext cx="13258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box-text-278"/>
          <p:cNvSpPr txBox="1"/>
          <p:nvPr/>
        </p:nvSpPr>
        <p:spPr>
          <a:xfrm>
            <a:off x="5989320" y="361188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Redis</a:t>
            </a:r>
            <a:endParaRPr lang="en-US" sz="1200" dirty="0"/>
          </a:p>
        </p:txBody>
      </p:sp>
      <p:sp>
        <p:nvSpPr>
          <p:cNvPr id="27" name="box-279"/>
          <p:cNvSpPr/>
          <p:nvPr/>
        </p:nvSpPr>
        <p:spPr>
          <a:xfrm>
            <a:off x="7360920" y="3611880"/>
            <a:ext cx="13258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box-text-280"/>
          <p:cNvSpPr txBox="1"/>
          <p:nvPr/>
        </p:nvSpPr>
        <p:spPr>
          <a:xfrm>
            <a:off x="7434072" y="361188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Kafka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Partners: Razorpay · MSG91 SMS · Google and Apple sign-in · Email (SES) · S3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Tech stack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Mainstream, well-supported choices at every layer</a:t>
            </a:r>
            <a:endParaRPr lang="en-US" sz="1400" dirty="0"/>
          </a:p>
        </p:txBody>
      </p:sp>
      <p:graphicFrame>
        <p:nvGraphicFramePr>
          <p:cNvPr id="5" name="table-2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19, TypeScript, MUI, Vite; Capacitor for Android and 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25, Spring Boot 4.1, Spring Cloud Gateway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(a schema per service, Flyway), Redis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with a transactional outbox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(Docker) today; AWS EKS, RDS, MSK ready in Terraform and Helm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Actions; gitleaks, Trivy and npm audit on every 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Razorpay, MSG91, Google and Apple sign-in, SES email, S3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A516"/>
                </a:solidFill>
              </a:rPr>
              <a:t>SECURITY REVIEW · 30 OCTOBER 2026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Secure by design, checked on every change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Defence in depth from the browser to the database. No system can promise it cannot be hacked; this is how we make it hard.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0F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Security in four layers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What protects users today</a:t>
            </a:r>
            <a:endParaRPr lang="en-US" sz="1400" dirty="0"/>
          </a:p>
        </p:txBody>
      </p:sp>
      <p:sp>
        <p:nvSpPr>
          <p:cNvPr id="5" name="card-282"/>
          <p:cNvSpPr/>
          <p:nvPr/>
        </p:nvSpPr>
        <p:spPr>
          <a:xfrm>
            <a:off x="457200" y="1417320"/>
            <a:ext cx="1920240" cy="3154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-283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28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30959"/>
            <a:ext cx="241402" cy="241402"/>
          </a:xfrm>
          <a:prstGeom prst="rect">
            <a:avLst/>
          </a:prstGeom>
        </p:spPr>
      </p:pic>
      <p:sp>
        <p:nvSpPr>
          <p:cNvPr id="8" name="card-title-285"/>
          <p:cNvSpPr txBox="1"/>
          <p:nvPr/>
        </p:nvSpPr>
        <p:spPr>
          <a:xfrm>
            <a:off x="640080" y="2240280"/>
            <a:ext cx="155448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and browser</a:t>
            </a:r>
            <a:endParaRPr lang="en-US" sz="1600" dirty="0"/>
          </a:p>
        </p:txBody>
      </p:sp>
      <p:sp>
        <p:nvSpPr>
          <p:cNvPr id="9" name="card-body-286"/>
          <p:cNvSpPr txBox="1"/>
          <p:nvPr/>
        </p:nvSpPr>
        <p:spPr>
          <a:xfrm>
            <a:off x="640080" y="2883408"/>
            <a:ext cx="1554480" cy="1551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HTTPS + HSTS, strict CSP, no framing, WAF, IP rate limits, logs without query strings.</a:t>
            </a:r>
            <a:endParaRPr lang="en-US" sz="1400" dirty="0"/>
          </a:p>
        </p:txBody>
      </p:sp>
      <p:sp>
        <p:nvSpPr>
          <p:cNvPr id="10" name="card-287"/>
          <p:cNvSpPr/>
          <p:nvPr/>
        </p:nvSpPr>
        <p:spPr>
          <a:xfrm>
            <a:off x="2560320" y="1417320"/>
            <a:ext cx="1920240" cy="3154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circle-288"/>
          <p:cNvSpPr/>
          <p:nvPr/>
        </p:nvSpPr>
        <p:spPr>
          <a:xfrm>
            <a:off x="2743200" y="16002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28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959" y="1730959"/>
            <a:ext cx="241402" cy="241402"/>
          </a:xfrm>
          <a:prstGeom prst="rect">
            <a:avLst/>
          </a:prstGeom>
        </p:spPr>
      </p:pic>
      <p:sp>
        <p:nvSpPr>
          <p:cNvPr id="13" name="card-title-290"/>
          <p:cNvSpPr txBox="1"/>
          <p:nvPr/>
        </p:nvSpPr>
        <p:spPr>
          <a:xfrm>
            <a:off x="2743200" y="2240280"/>
            <a:ext cx="15544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600" dirty="0"/>
          </a:p>
        </p:txBody>
      </p:sp>
      <p:sp>
        <p:nvSpPr>
          <p:cNvPr id="14" name="card-body-291"/>
          <p:cNvSpPr txBox="1"/>
          <p:nvPr/>
        </p:nvSpPr>
        <p:spPr>
          <a:xfrm>
            <a:off x="2743200" y="2639568"/>
            <a:ext cx="1554480" cy="1795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Short-lived JWT checked twice, role rules on every endpoint, refresh token in an HttpOnly cookie.</a:t>
            </a:r>
            <a:endParaRPr lang="en-US" sz="1400" dirty="0"/>
          </a:p>
        </p:txBody>
      </p:sp>
      <p:sp>
        <p:nvSpPr>
          <p:cNvPr id="15" name="card-292"/>
          <p:cNvSpPr/>
          <p:nvPr/>
        </p:nvSpPr>
        <p:spPr>
          <a:xfrm>
            <a:off x="4663440" y="1417320"/>
            <a:ext cx="1920240" cy="3154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circle-293"/>
          <p:cNvSpPr/>
          <p:nvPr/>
        </p:nvSpPr>
        <p:spPr>
          <a:xfrm>
            <a:off x="4846320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-29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1730959"/>
            <a:ext cx="241402" cy="241402"/>
          </a:xfrm>
          <a:prstGeom prst="rect">
            <a:avLst/>
          </a:prstGeom>
        </p:spPr>
      </p:pic>
      <p:sp>
        <p:nvSpPr>
          <p:cNvPr id="18" name="card-title-295"/>
          <p:cNvSpPr txBox="1"/>
          <p:nvPr/>
        </p:nvSpPr>
        <p:spPr>
          <a:xfrm>
            <a:off x="4846320" y="2240280"/>
            <a:ext cx="15544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19" name="card-body-296"/>
          <p:cNvSpPr txBox="1"/>
          <p:nvPr/>
        </p:nvSpPr>
        <p:spPr>
          <a:xfrm>
            <a:off x="4846320" y="2639568"/>
            <a:ext cx="1554480" cy="1795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BCrypt passwords, strong password policy, schema per service, uploads checked by content.</a:t>
            </a:r>
            <a:endParaRPr lang="en-US" sz="1400" dirty="0"/>
          </a:p>
        </p:txBody>
      </p:sp>
      <p:sp>
        <p:nvSpPr>
          <p:cNvPr id="20" name="card-297"/>
          <p:cNvSpPr/>
          <p:nvPr/>
        </p:nvSpPr>
        <p:spPr>
          <a:xfrm>
            <a:off x="6766560" y="1417320"/>
            <a:ext cx="1920240" cy="3154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-circle-298"/>
          <p:cNvSpPr/>
          <p:nvPr/>
        </p:nvSpPr>
        <p:spPr>
          <a:xfrm>
            <a:off x="6949440" y="160020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on-29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199" y="1730959"/>
            <a:ext cx="241402" cy="241402"/>
          </a:xfrm>
          <a:prstGeom prst="rect">
            <a:avLst/>
          </a:prstGeom>
        </p:spPr>
      </p:pic>
      <p:sp>
        <p:nvSpPr>
          <p:cNvPr id="23" name="card-title-300"/>
          <p:cNvSpPr txBox="1"/>
          <p:nvPr/>
        </p:nvSpPr>
        <p:spPr>
          <a:xfrm>
            <a:off x="6949440" y="2240280"/>
            <a:ext cx="1554480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and supply chain</a:t>
            </a:r>
            <a:endParaRPr lang="en-US" sz="1600" dirty="0"/>
          </a:p>
        </p:txBody>
      </p:sp>
      <p:sp>
        <p:nvSpPr>
          <p:cNvPr id="24" name="card-body-301"/>
          <p:cNvSpPr txBox="1"/>
          <p:nvPr/>
        </p:nvSpPr>
        <p:spPr>
          <a:xfrm>
            <a:off x="6949440" y="2883408"/>
            <a:ext cx="1554480" cy="1551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Razorpay signatures, credited once; secret scanning, dependency and image scans.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30 October review fixed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Six findings, all fixed and deployed</a:t>
            </a:r>
            <a:endParaRPr lang="en-US" sz="1400" dirty="0"/>
          </a:p>
        </p:txBody>
      </p:sp>
      <p:graphicFrame>
        <p:nvGraphicFramePr>
          <p:cNvPr id="8" name="table-3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token readable by page scripts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HttpOnly, Secure, SameSite=Strict cookie scoped to /api/auth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passwords accepted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chars, letter and digit; no common, leet, sequence or personal passwords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limits keyed on a spoofable header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Railway’s X-Real-IP, then the last proxy hop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and icon links unchecked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https:// or same-site paths; no javascript: or data: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Codes and tokens in web-server logs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strings masked in nginx access logs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npm vulnerabilities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Updated: 0 in all three apps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reviews engine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New on 30 October: more reviews, more trust, more bookings</a:t>
            </a:r>
            <a:endParaRPr lang="en-US" sz="1400" dirty="0"/>
          </a:p>
        </p:txBody>
      </p:sp>
      <p:sp>
        <p:nvSpPr>
          <p:cNvPr id="5" name="flow-arrow-303"/>
          <p:cNvSpPr/>
          <p:nvPr/>
        </p:nvSpPr>
        <p:spPr>
          <a:xfrm>
            <a:off x="1673352" y="1920240"/>
            <a:ext cx="85953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6" name="flow-dot-304"/>
          <p:cNvSpPr/>
          <p:nvPr/>
        </p:nvSpPr>
        <p:spPr>
          <a:xfrm>
            <a:off x="96012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ow-num-305"/>
          <p:cNvSpPr txBox="1"/>
          <p:nvPr/>
        </p:nvSpPr>
        <p:spPr>
          <a:xfrm>
            <a:off x="9601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flow-title-306"/>
          <p:cNvSpPr txBox="1"/>
          <p:nvPr/>
        </p:nvSpPr>
        <p:spPr>
          <a:xfrm>
            <a:off x="50292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</a:t>
            </a:r>
            <a:endParaRPr lang="en-US" sz="1700" dirty="0"/>
          </a:p>
        </p:txBody>
      </p:sp>
      <p:sp>
        <p:nvSpPr>
          <p:cNvPr id="9" name="flow-body-307"/>
          <p:cNvSpPr txBox="1"/>
          <p:nvPr/>
        </p:nvSpPr>
        <p:spPr>
          <a:xfrm>
            <a:off x="530352" y="2788920"/>
            <a:ext cx="14996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PaymentCompleted opens a review prompt</a:t>
            </a:r>
            <a:endParaRPr lang="en-US" sz="1400" dirty="0"/>
          </a:p>
        </p:txBody>
      </p:sp>
      <p:sp>
        <p:nvSpPr>
          <p:cNvPr id="10" name="flow-arrow-308"/>
          <p:cNvSpPr/>
          <p:nvPr/>
        </p:nvSpPr>
        <p:spPr>
          <a:xfrm>
            <a:off x="3319272" y="1920240"/>
            <a:ext cx="85953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11" name="flow-dot-309"/>
          <p:cNvSpPr/>
          <p:nvPr/>
        </p:nvSpPr>
        <p:spPr>
          <a:xfrm>
            <a:off x="260604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flow-num-310"/>
          <p:cNvSpPr txBox="1"/>
          <p:nvPr/>
        </p:nvSpPr>
        <p:spPr>
          <a:xfrm>
            <a:off x="26060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flow-title-311"/>
          <p:cNvSpPr txBox="1"/>
          <p:nvPr/>
        </p:nvSpPr>
        <p:spPr>
          <a:xfrm>
            <a:off x="214884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Asked</a:t>
            </a:r>
            <a:endParaRPr lang="en-US" sz="1700" dirty="0"/>
          </a:p>
        </p:txBody>
      </p:sp>
      <p:sp>
        <p:nvSpPr>
          <p:cNvPr id="14" name="flow-body-312"/>
          <p:cNvSpPr txBox="1"/>
          <p:nvPr/>
        </p:nvSpPr>
        <p:spPr>
          <a:xfrm>
            <a:off x="2176272" y="2788920"/>
            <a:ext cx="14996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Receipt, Rate card and Home banner</a:t>
            </a:r>
            <a:endParaRPr lang="en-US" sz="1400" dirty="0"/>
          </a:p>
        </p:txBody>
      </p:sp>
      <p:sp>
        <p:nvSpPr>
          <p:cNvPr id="15" name="flow-arrow-313"/>
          <p:cNvSpPr/>
          <p:nvPr/>
        </p:nvSpPr>
        <p:spPr>
          <a:xfrm>
            <a:off x="4965192" y="1920240"/>
            <a:ext cx="85953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16" name="flow-dot-314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flow-num-315"/>
          <p:cNvSpPr txBox="1"/>
          <p:nvPr/>
        </p:nvSpPr>
        <p:spPr>
          <a:xfrm>
            <a:off x="42519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flow-title-316"/>
          <p:cNvSpPr txBox="1"/>
          <p:nvPr/>
        </p:nvSpPr>
        <p:spPr>
          <a:xfrm>
            <a:off x="379476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Reminded</a:t>
            </a:r>
            <a:endParaRPr lang="en-US" sz="1700" dirty="0"/>
          </a:p>
        </p:txBody>
      </p:sp>
      <p:sp>
        <p:nvSpPr>
          <p:cNvPr id="19" name="flow-body-317"/>
          <p:cNvSpPr txBox="1"/>
          <p:nvPr/>
        </p:nvSpPr>
        <p:spPr>
          <a:xfrm>
            <a:off x="3822192" y="2788920"/>
            <a:ext cx="14996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Once, after 24 h, by push, SMS and in-app</a:t>
            </a:r>
            <a:endParaRPr lang="en-US" sz="1400" dirty="0"/>
          </a:p>
        </p:txBody>
      </p:sp>
      <p:sp>
        <p:nvSpPr>
          <p:cNvPr id="20" name="flow-arrow-318"/>
          <p:cNvSpPr/>
          <p:nvPr/>
        </p:nvSpPr>
        <p:spPr>
          <a:xfrm>
            <a:off x="6611112" y="1920240"/>
            <a:ext cx="85953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21" name="flow-dot-319"/>
          <p:cNvSpPr/>
          <p:nvPr/>
        </p:nvSpPr>
        <p:spPr>
          <a:xfrm>
            <a:off x="589788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flow-num-320"/>
          <p:cNvSpPr txBox="1"/>
          <p:nvPr/>
        </p:nvSpPr>
        <p:spPr>
          <a:xfrm>
            <a:off x="58978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flow-title-321"/>
          <p:cNvSpPr txBox="1"/>
          <p:nvPr/>
        </p:nvSpPr>
        <p:spPr>
          <a:xfrm>
            <a:off x="54406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</a:t>
            </a:r>
            <a:endParaRPr lang="en-US" sz="1700" dirty="0"/>
          </a:p>
        </p:txBody>
      </p:sp>
      <p:sp>
        <p:nvSpPr>
          <p:cNvPr id="24" name="flow-body-322"/>
          <p:cNvSpPr txBox="1"/>
          <p:nvPr/>
        </p:nvSpPr>
        <p:spPr>
          <a:xfrm>
            <a:off x="5468112" y="2788920"/>
            <a:ext cx="14996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Fraud checks hold doubtful reviews for staff</a:t>
            </a:r>
            <a:endParaRPr lang="en-US" sz="1400" dirty="0"/>
          </a:p>
        </p:txBody>
      </p:sp>
      <p:sp>
        <p:nvSpPr>
          <p:cNvPr id="25" name="flow-dot-323"/>
          <p:cNvSpPr/>
          <p:nvPr/>
        </p:nvSpPr>
        <p:spPr>
          <a:xfrm>
            <a:off x="754380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flow-num-324"/>
          <p:cNvSpPr txBox="1"/>
          <p:nvPr/>
        </p:nvSpPr>
        <p:spPr>
          <a:xfrm>
            <a:off x="75438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flow-title-325"/>
          <p:cNvSpPr txBox="1"/>
          <p:nvPr/>
        </p:nvSpPr>
        <p:spPr>
          <a:xfrm>
            <a:off x="708660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</a:t>
            </a:r>
            <a:endParaRPr lang="en-US" sz="1700" dirty="0"/>
          </a:p>
        </p:txBody>
      </p:sp>
      <p:sp>
        <p:nvSpPr>
          <p:cNvPr id="28" name="flow-body-326"/>
          <p:cNvSpPr txBox="1"/>
          <p:nvPr/>
        </p:nvSpPr>
        <p:spPr>
          <a:xfrm>
            <a:off x="7114032" y="2788920"/>
            <a:ext cx="14996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Shown on the worker’s page; the worker replies</a:t>
            </a:r>
            <a:endParaRPr lang="en-US" sz="1400" dirty="0"/>
          </a:p>
        </p:txBody>
      </p:sp>
      <p:sp>
        <p:nvSpPr>
          <p:cNvPr id="29" name="callout-327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EF2FD"/>
          </a:solidFill>
          <a:ln w="12700">
            <a:solidFill>
              <a:srgbClr val="EEF2FD"/>
            </a:solidFill>
            <a:prstDash val="solid"/>
          </a:ln>
        </p:spPr>
      </p:sp>
      <p:sp>
        <p:nvSpPr>
          <p:cNvPr id="30" name="callout-text-328"/>
          <p:cNvSpPr txBox="1"/>
          <p:nvPr/>
        </p:nvSpPr>
        <p:spPr>
          <a:xfrm>
            <a:off x="68580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A6E"/>
                </a:solidFill>
              </a:rPr>
              <a:t>Public pages never show who wrote a review, and exist only for verified workers.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New endpoints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All behind the gateway; public ones are read-only</a:t>
            </a:r>
            <a:endParaRPr lang="en-US" sz="1400" dirty="0"/>
          </a:p>
        </p:txBody>
      </p:sp>
      <p:graphicFrame>
        <p:nvGraphicFramePr>
          <p:cNvPr id="10" name="table-3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/reviews/prompts/mine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Customer, worker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waiting for my rating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/reviews/received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I received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/reviews/{id}/reply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(reviewee)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 publicly, up to 500 chars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/public/workers/{id}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worker’s public 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/public/workers/{id}/reviews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summary and reviews, paged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commit to production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Every push to main deploys all services on Railway</a:t>
            </a:r>
            <a:endParaRPr lang="en-US" sz="1400" dirty="0"/>
          </a:p>
        </p:txBody>
      </p:sp>
      <p:sp>
        <p:nvSpPr>
          <p:cNvPr id="5" name="flow-arrow-330"/>
          <p:cNvSpPr/>
          <p:nvPr/>
        </p:nvSpPr>
        <p:spPr>
          <a:xfrm>
            <a:off x="1673352" y="1920240"/>
            <a:ext cx="85953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6" name="flow-dot-331"/>
          <p:cNvSpPr/>
          <p:nvPr/>
        </p:nvSpPr>
        <p:spPr>
          <a:xfrm>
            <a:off x="96012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flow-num-332"/>
          <p:cNvSpPr txBox="1"/>
          <p:nvPr/>
        </p:nvSpPr>
        <p:spPr>
          <a:xfrm>
            <a:off x="9601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flow-title-333"/>
          <p:cNvSpPr txBox="1"/>
          <p:nvPr/>
        </p:nvSpPr>
        <p:spPr>
          <a:xfrm>
            <a:off x="50292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700" dirty="0"/>
          </a:p>
        </p:txBody>
      </p:sp>
      <p:sp>
        <p:nvSpPr>
          <p:cNvPr id="9" name="flow-body-334"/>
          <p:cNvSpPr txBox="1"/>
          <p:nvPr/>
        </p:nvSpPr>
        <p:spPr>
          <a:xfrm>
            <a:off x="530352" y="278892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and unit tests; each failure annotated</a:t>
            </a:r>
            <a:endParaRPr lang="en-US" sz="1400" dirty="0"/>
          </a:p>
        </p:txBody>
      </p:sp>
      <p:sp>
        <p:nvSpPr>
          <p:cNvPr id="10" name="flow-arrow-335"/>
          <p:cNvSpPr/>
          <p:nvPr/>
        </p:nvSpPr>
        <p:spPr>
          <a:xfrm>
            <a:off x="3319272" y="1920240"/>
            <a:ext cx="85953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11" name="flow-dot-336"/>
          <p:cNvSpPr/>
          <p:nvPr/>
        </p:nvSpPr>
        <p:spPr>
          <a:xfrm>
            <a:off x="260604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flow-num-337"/>
          <p:cNvSpPr txBox="1"/>
          <p:nvPr/>
        </p:nvSpPr>
        <p:spPr>
          <a:xfrm>
            <a:off x="26060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flow-title-338"/>
          <p:cNvSpPr txBox="1"/>
          <p:nvPr/>
        </p:nvSpPr>
        <p:spPr>
          <a:xfrm>
            <a:off x="214884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700" dirty="0"/>
          </a:p>
        </p:txBody>
      </p:sp>
      <p:sp>
        <p:nvSpPr>
          <p:cNvPr id="14" name="flow-body-339"/>
          <p:cNvSpPr txBox="1"/>
          <p:nvPr/>
        </p:nvSpPr>
        <p:spPr>
          <a:xfrm>
            <a:off x="2176272" y="278892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Lint, types, gitleaks, Trivy, npm audit</a:t>
            </a:r>
            <a:endParaRPr lang="en-US" sz="1400" dirty="0"/>
          </a:p>
        </p:txBody>
      </p:sp>
      <p:sp>
        <p:nvSpPr>
          <p:cNvPr id="15" name="flow-arrow-340"/>
          <p:cNvSpPr/>
          <p:nvPr/>
        </p:nvSpPr>
        <p:spPr>
          <a:xfrm>
            <a:off x="4965192" y="1920240"/>
            <a:ext cx="85953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16" name="flow-dot-341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flow-num-342"/>
          <p:cNvSpPr txBox="1"/>
          <p:nvPr/>
        </p:nvSpPr>
        <p:spPr>
          <a:xfrm>
            <a:off x="42519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flow-title-343"/>
          <p:cNvSpPr txBox="1"/>
          <p:nvPr/>
        </p:nvSpPr>
        <p:spPr>
          <a:xfrm>
            <a:off x="379476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1700" dirty="0"/>
          </a:p>
        </p:txBody>
      </p:sp>
      <p:sp>
        <p:nvSpPr>
          <p:cNvPr id="19" name="flow-body-344"/>
          <p:cNvSpPr txBox="1"/>
          <p:nvPr/>
        </p:nvSpPr>
        <p:spPr>
          <a:xfrm>
            <a:off x="3822192" y="278892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Booking flow: sign-in to payment to review</a:t>
            </a:r>
            <a:endParaRPr lang="en-US" sz="1400" dirty="0"/>
          </a:p>
        </p:txBody>
      </p:sp>
      <p:sp>
        <p:nvSpPr>
          <p:cNvPr id="20" name="flow-arrow-345"/>
          <p:cNvSpPr/>
          <p:nvPr/>
        </p:nvSpPr>
        <p:spPr>
          <a:xfrm>
            <a:off x="6611112" y="1920240"/>
            <a:ext cx="859536" cy="0"/>
          </a:xfrm>
          <a:prstGeom prst="line">
            <a:avLst/>
          </a:prstGeom>
          <a:noFill/>
          <a:ln w="25400">
            <a:solidFill>
              <a:srgbClr val="B4C3EE"/>
            </a:solidFill>
            <a:prstDash val="solid"/>
            <a:tailEnd type="triangle"/>
          </a:ln>
        </p:spPr>
      </p:sp>
      <p:sp>
        <p:nvSpPr>
          <p:cNvPr id="21" name="flow-dot-346"/>
          <p:cNvSpPr/>
          <p:nvPr/>
        </p:nvSpPr>
        <p:spPr>
          <a:xfrm>
            <a:off x="589788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flow-num-347"/>
          <p:cNvSpPr txBox="1"/>
          <p:nvPr/>
        </p:nvSpPr>
        <p:spPr>
          <a:xfrm>
            <a:off x="58978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flow-title-348"/>
          <p:cNvSpPr txBox="1"/>
          <p:nvPr/>
        </p:nvSpPr>
        <p:spPr>
          <a:xfrm>
            <a:off x="54406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700" dirty="0"/>
          </a:p>
        </p:txBody>
      </p:sp>
      <p:sp>
        <p:nvSpPr>
          <p:cNvPr id="24" name="flow-body-349"/>
          <p:cNvSpPr txBox="1"/>
          <p:nvPr/>
        </p:nvSpPr>
        <p:spPr>
          <a:xfrm>
            <a:off x="5468112" y="278892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Merge to main; Railway deploys all services</a:t>
            </a:r>
            <a:endParaRPr lang="en-US" sz="1400" dirty="0"/>
          </a:p>
        </p:txBody>
      </p:sp>
      <p:sp>
        <p:nvSpPr>
          <p:cNvPr id="25" name="flow-dot-350"/>
          <p:cNvSpPr/>
          <p:nvPr/>
        </p:nvSpPr>
        <p:spPr>
          <a:xfrm>
            <a:off x="7543800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flow-num-351"/>
          <p:cNvSpPr txBox="1"/>
          <p:nvPr/>
        </p:nvSpPr>
        <p:spPr>
          <a:xfrm>
            <a:off x="75438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flow-title-352"/>
          <p:cNvSpPr txBox="1"/>
          <p:nvPr/>
        </p:nvSpPr>
        <p:spPr>
          <a:xfrm>
            <a:off x="708660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28" name="flow-body-353"/>
          <p:cNvSpPr txBox="1"/>
          <p:nvPr/>
        </p:nvSpPr>
        <p:spPr>
          <a:xfrm>
            <a:off x="7114032" y="2788920"/>
            <a:ext cx="149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Smoke test against the live site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Decisions still open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Owned by the founders; none changed without approval</a:t>
            </a:r>
            <a:endParaRPr lang="en-US" sz="1400" dirty="0"/>
          </a:p>
        </p:txBody>
      </p:sp>
      <p:sp>
        <p:nvSpPr>
          <p:cNvPr id="5" name="icon-circle-354"/>
          <p:cNvSpPr/>
          <p:nvPr/>
        </p:nvSpPr>
        <p:spPr>
          <a:xfrm>
            <a:off x="457200" y="1508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con-35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651406"/>
            <a:ext cx="263347" cy="263347"/>
          </a:xfrm>
          <a:prstGeom prst="rect">
            <a:avLst/>
          </a:prstGeom>
        </p:spPr>
      </p:pic>
      <p:sp>
        <p:nvSpPr>
          <p:cNvPr id="7" name="grid-title-356"/>
          <p:cNvSpPr txBox="1"/>
          <p:nvPr/>
        </p:nvSpPr>
        <p:spPr>
          <a:xfrm>
            <a:off x="11887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 on payments</a:t>
            </a:r>
            <a:endParaRPr lang="en-US" sz="1700" dirty="0"/>
          </a:p>
        </p:txBody>
      </p:sp>
      <p:sp>
        <p:nvSpPr>
          <p:cNvPr id="8" name="grid-body-357"/>
          <p:cNvSpPr txBox="1"/>
          <p:nvPr/>
        </p:nvSpPr>
        <p:spPr>
          <a:xfrm>
            <a:off x="1188720" y="189280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Switch the simulator off; add Razorpay live keys.</a:t>
            </a:r>
            <a:endParaRPr lang="en-US" sz="1400" dirty="0"/>
          </a:p>
        </p:txBody>
      </p:sp>
      <p:sp>
        <p:nvSpPr>
          <p:cNvPr id="9" name="icon-circle-358"/>
          <p:cNvSpPr/>
          <p:nvPr/>
        </p:nvSpPr>
        <p:spPr>
          <a:xfrm>
            <a:off x="475488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35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26" y="1651406"/>
            <a:ext cx="263347" cy="263347"/>
          </a:xfrm>
          <a:prstGeom prst="rect">
            <a:avLst/>
          </a:prstGeom>
        </p:spPr>
      </p:pic>
      <p:sp>
        <p:nvSpPr>
          <p:cNvPr id="11" name="grid-title-360"/>
          <p:cNvSpPr txBox="1"/>
          <p:nvPr/>
        </p:nvSpPr>
        <p:spPr>
          <a:xfrm>
            <a:off x="548640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the fixed OTP</a:t>
            </a:r>
            <a:endParaRPr lang="en-US" sz="1700" dirty="0"/>
          </a:p>
        </p:txBody>
      </p:sp>
      <p:sp>
        <p:nvSpPr>
          <p:cNvPr id="12" name="grid-body-361"/>
          <p:cNvSpPr txBox="1"/>
          <p:nvPr/>
        </p:nvSpPr>
        <p:spPr>
          <a:xfrm>
            <a:off x="5486400" y="189280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Once MSG91 delivery is confirmed.</a:t>
            </a:r>
            <a:endParaRPr lang="en-US" sz="1400" dirty="0"/>
          </a:p>
        </p:txBody>
      </p:sp>
      <p:sp>
        <p:nvSpPr>
          <p:cNvPr id="13" name="icon-circle-362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-36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114446"/>
            <a:ext cx="263347" cy="263347"/>
          </a:xfrm>
          <a:prstGeom prst="rect">
            <a:avLst/>
          </a:prstGeom>
        </p:spPr>
      </p:pic>
      <p:sp>
        <p:nvSpPr>
          <p:cNvPr id="15" name="grid-title-364"/>
          <p:cNvSpPr txBox="1"/>
          <p:nvPr/>
        </p:nvSpPr>
        <p:spPr>
          <a:xfrm>
            <a:off x="118872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Rotate secrets</a:t>
            </a:r>
            <a:endParaRPr lang="en-US" sz="1700" dirty="0"/>
          </a:p>
        </p:txBody>
      </p:sp>
      <p:sp>
        <p:nvSpPr>
          <p:cNvPr id="16" name="grid-body-365"/>
          <p:cNvSpPr txBox="1"/>
          <p:nvPr/>
        </p:nvSpPr>
        <p:spPr>
          <a:xfrm>
            <a:off x="1188720" y="33558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JWT_SECRET and the test staff password.</a:t>
            </a:r>
            <a:endParaRPr lang="en-US" sz="1400" dirty="0"/>
          </a:p>
        </p:txBody>
      </p:sp>
      <p:sp>
        <p:nvSpPr>
          <p:cNvPr id="17" name="icon-circle-366"/>
          <p:cNvSpPr/>
          <p:nvPr/>
        </p:nvSpPr>
        <p:spPr>
          <a:xfrm>
            <a:off x="4754880" y="29718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con-36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526" y="3114446"/>
            <a:ext cx="263347" cy="263347"/>
          </a:xfrm>
          <a:prstGeom prst="rect">
            <a:avLst/>
          </a:prstGeom>
        </p:spPr>
      </p:pic>
      <p:sp>
        <p:nvSpPr>
          <p:cNvPr id="19" name="grid-title-368"/>
          <p:cNvSpPr txBox="1"/>
          <p:nvPr/>
        </p:nvSpPr>
        <p:spPr>
          <a:xfrm>
            <a:off x="548640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the platform fee</a:t>
            </a:r>
            <a:endParaRPr lang="en-US" sz="1700" dirty="0"/>
          </a:p>
        </p:txBody>
      </p:sp>
      <p:sp>
        <p:nvSpPr>
          <p:cNvPr id="20" name="grid-body-369"/>
          <p:cNvSpPr txBox="1"/>
          <p:nvPr/>
        </p:nvSpPr>
        <p:spPr>
          <a:xfrm>
            <a:off x="5486400" y="33558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Payment uses 20% of total; estimates show 10%.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Built to be trusted, tested on every change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Architecture detail: docs/ARCHITECTURE.md and JiHajoor_Architecture.pptx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API reference: docs/API_CONTRACTS.md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i-Hajoor">
  <a:themeElements>
    <a:clrScheme name="Ji-Hajoor">
      <a:dk1>
        <a:srgbClr val="1D2939"/>
      </a:dk1>
      <a:lt1>
        <a:srgbClr val="FFFFFF"/>
      </a:lt1>
      <a:dk2>
        <a:srgbClr val="0F2A6E"/>
      </a:dk2>
      <a:lt2>
        <a:srgbClr val="F2F5FC"/>
      </a:lt2>
      <a:accent1>
        <a:srgbClr val="2251D1"/>
      </a:accent1>
      <a:accent2>
        <a:srgbClr val="F2A516"/>
      </a:accent2>
      <a:accent3>
        <a:srgbClr val="0F766E"/>
      </a:accent3>
      <a:accent4>
        <a:srgbClr val="12875A"/>
      </a:accent4>
      <a:accent5>
        <a:srgbClr val="D92D20"/>
      </a:accent5>
      <a:accent6>
        <a:srgbClr val="5F6B7E"/>
      </a:accent6>
      <a:hlink>
        <a:srgbClr val="2251D1"/>
      </a:hlink>
      <a:folHlink>
        <a:srgbClr val="1A3FA6"/>
      </a:folHlink>
    </a:clrScheme>
    <a:fontScheme name="Ji-Hajo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Condigence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Ji-Hajoor — Technology and Security</dc:title>
  <dc:subject>PptxGenJS Presentation</dc:subject>
  <dc:creator>Ji-Hajoor</dc:creator>
  <cp:lastModifiedBy>Ji-Hajoor</cp:lastModifiedBy>
  <cp:revision>1</cp:revision>
  <dcterms:created xsi:type="dcterms:W3CDTF">2026-10-30T09:16:10Z</dcterms:created>
  <dcterms:modified xsi:type="dcterms:W3CDTF">2026-10-30T09:16:10Z</dcterms:modified>
</cp:coreProperties>
</file>