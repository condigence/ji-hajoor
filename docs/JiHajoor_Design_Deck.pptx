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9" r:id="rId40"/>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repository as it stands on 11 October 2026. Architecture (unified and per area), sequence diagrams for the three key flows, the booking state machine, the logical data model, local and production deployment diagrams with step-by-step runbooks, and a security review with a prioritised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ap-south-1 (Mumbai). Users: customers, service providers, agencies (tenants) and five staff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four client surfaces; the edge (nginx sends /api/auth straight to auth-service, everything else goes through the Spring Cloud Gateway); twenty services grouped by domain; the shared data and event plane; external partners on the right. Service-to-service calls use /internal/** with X-Internal-Api-Key and are never routed by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services are Java 25 / Spring Boot 4.1, hosted several per JVM in five deployables (identity-app, jobs-app, money-app, engagement-app, api-gateway), each with its own Postgres schema (17 in all) and Flyway migrations at startup. Shared Maven libraries: jihajoor-shared-observability, -security, -resilience, -outbox, -config, plus jihajoor-service-host.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 endpoints: POST /auth/register/otp and /auth/register/verify, POST /auth/login/password, POST /auth/login/social, POST /auth/token/refresh, POST /auth/logout. The gateway calls GET /auth/introspect with the bearer token and caches positive results briefly. Redis keys: auth:otp:session:{phone} (5-minute TTL), auth:otp:lock:{phone}, auth:refresh:{sha256}, auth:family:{id}, auth:pwd:fail and lock keys. Logout revokes the refresh family; access JWTs stay valid until they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booking-service validates the subcategory with catalog-service and prices it with pricing-engine (coupons via promotion-service), then writes BookingCreated to the outbox in the same transaction. dispatch-engine consumes it, fetches eligible APPROVED providers and the address coordinates, scores them and offers the job to one provider at a time through Redis (dispatch:offer:booking:{id}, dispatch:lock:provider:{id}). On accept it calls POST /internal/bookings/{id}/provider-accepted. If nobody accepts, booking-service routes to an ACTIVE agency (AWAITING_ASSIGNMENT) or ends in SEARCHING_FAILED.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/payments takes only bookingId and method; amount, customer and provider come from booking-service. payment-service creates a Razorpay order in paise, the app opens Checkout, then POST /payments/{id}/razorpay/verify checks the HMAC of order_id|payment_id and re-fetches the payment (order, paise amount, INR). The webhook POST /payments/webhooks/razorpay is verified over the raw body; events older than 72 h are rejected and replays are idempotent. PaymentCompleted is consumed by booking, invoice, rating-review, chat and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are named after event types: BookingCreated, ProviderAssigned, ProviderAccepted, ProviderRejected, ProviderArriving, ProviderArrived, JobStarted, JobCompleted, PaymentCompleted, BookingCancelled, ReviewSubmitted, ComplaintCreated, ComplaintStatusChanged; fallback topic domain-events. The relay holds a 2-minute lease per batch and adds an eventId header. Consumers record (consumer_group, event_id) in outbox.processed_event to deduplicate, retry 3 times 5 s apart, then publish to topic.DLT.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OTP: the code is hashed in auth:otp:session:{phone} with a 5-minute TTL; 5 wrong tries lock the phone for 30 minutes. Verify returns a 15-minute access JWT and a 30-day opaque refresh token. Every API call carries the bearer token; the gateway introspects it with auth-service (positive results cached briefly) and checks account status, then the service runs its own JWT filter, RBAC rules and ownership checks. Refresh rotates the token; reusing an old one revokes the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app calls go through the API gateway (omitted for clarity). The booking is CREATED by the first call and moves to SEARCHING_PROVIDER on confirmation, which writes BookingCreated to the outbox. dispatch-engine writes a 60-second offer to Redis for the best-scored provider; a decline or timeout publishes ProviderRejected and the next provider is tried, widening the radius when the pool runs out. Accept is a Redis compare-and-set, then an internal call walks the booking to PROVIDER_ACCEPTED.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checks the HMAC of order_id|payment_id with the key secret, then re-fetches the payment from Razorpay and compares order id, paise amount and currency. Step 8 may arrive before or after step 7; whichever lands first settles the transaction and the other is an idempotent no-op. On success payment-service also credits the provider wallet (one JOB_CREDIT per booking) and invoice, rating-review, chat and notification consume PaymentCompleted.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BookingStatus has 19 values: CREATED, SEARCHING_PROVIDER, AWAITING_ASSIGNMENT, SEARCHING_FAILED, PROVIDER_ASSIGNED, PROVIDER_ACCEPTED, PROVIDER_ON_THE_WAY, PROVIDER_ARRIVED, JOB_STARTED, JOB_PAUSED, ADDITIONAL_QUOTE_REQUIRED, CUSTOMER_APPROVAL_PENDING, JOB_COMPLETED, CUSTOMER_CONFIRMED, PAYMENT_PENDING, PAYMENT_COMPLETED, DISPUTED, REFUNDED, CANCELLED. PROVIDER_ASSIGNED is passed through on accept. Terminal: SEARCHING_FAILED, CANCELLED, REFUNDED. Gap: no sweeper rescues a booking stuck in SEARCHING_PROVIDER.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Postgres database, one schema per service; cross-service references are plain uuid columns with no foreign key. Also in these schemas: auth.social_identity_link (GOOGLE/APPLE subject per user), auth.staff_invitation (token hash, role, expiry), customer.deletion_request, provider.availability_slot, provider_skill_tag, provider_category_selection and subcategory selection, provider.settlement (wallet withdrawals). The wallet is provider_profile.wallet_balance plus the provider_earning ledger, with one JOB_CREDIT per booking enforced by a unique partial index. Bank details live encrypted on provider_profile.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 booking: booking_audit (every state change with actor), job_interval (WORK and PAUSE spans), parts_line_item, saga_step, booking_tenant_candidate. chat_channel is 1:1 with a booking (its primary key is booking_id). A booking can have up to 10 payment attempts. payment.payment_settlement records provider payouts. rating.review_prompt opens a 7-day window after PaymentCompleted. promotion.coupon_usage counts per user (unique coupon_id, user_id), but nothing calls redeem today. Other schemas: location.location_history, dispatch.pending_acceptance, notification.delivery_log and notification_template, admin.audit_log and system_setting, invoice.invoice_sequence.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17 service schemas plus the shared outbox schema, Flyway migrations per service, Hibernate ddl-auto validate. Redis (ElastiCache in production): OTP sessions and lockouts, refresh-token families, dispatch offers and locks, latest provider position, payment idempotency, pricing and catalog caches, gateway rate limits. Kafka (MSK in production): 13 event topics plus domain-events and per-topic .DLT; only the outbox relay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then: StalledSearchSweeper recovers searches stuck in SEARCHING_PROVIDER, the provider app has onboarding screens (services, service area, availability, documents), complaint refunds move money through payment-service and reviews set provider ratings. Still untested: native builds. Since the last review, location reads gained an ownership check and the payment callback is fully signature-bound.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docker-compose.core.yml starts five Java containers (896, 1280, 640, 1152 and 448 MB; SerialGC; 180 s health grace, 300 s for the gateway) and three nginx web apps. They reach Postgres, Redis and Kafka on the Windows host through host.docker.internal. Kafka needs a DOCKER listener advertised as host.docker.internal:9094, log.retention.hours=-1 and log.cleaner.enable=false so Windows never deletes segments. A full C: drive breaks both Kafka and Docker; prune the build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.env keys: DB_PASSWORD, JWT_SECRET (32 bytes or more), KMS_DATA_KEY, KMS_LOCAL_DATA_KEY, RAZORPAY_WEBHOOK_SECRET, INTERNAL_API_KEY. Optional: RAZORPAY_KEY_ID and SECRET with PAYMENT_DEFAULT_GATEWAY=razorpay for real Checkout; GOOGLE_CLIENT_ID; DEV_SEED_ENABLED and DEV_SEED_PASSWORD. Generate secrets with openssl rand -base64 48. Flyway migrations run when each service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profiles and the agency seed both need the catalog first. The demo agency is Ara Home Services, covering 20 km around Ara. OTPs land in docker/dev-sms and emails in docker/dev-mail/dev-mail.log. Compose publishes every port on 0.0.0.0 and local Redis has no password: bind to 127.0.0.1 on shared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modules: vpc, security_groups, kms, eks, iam, rds, msk, elasticache, s3, waf, api_gateway, secrets_manager, k8s_namespaces. Dashed orange items do not exist yet: no ALB/NLB or VPC Link, no ingress template, no CloudFront or SPA hosting, no ECR repositories, no GitHub OIDC roles, no ACM or Route53. RDS is Postgres 15.5 db.r6g.xlarge Multi-AZ; MSK is 3 kafka.m5.xlarge brokers; ElastiCache is Redis 7.1 cluster mode with 3 shards. EKS 1.29 is past standard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init: terraform init -backend-config bucket=jihajoor-terraform-state, key=jihajoor/production/terraform.tfstate, region=ap-south-1, dynamodb_table=jihajoor-terraform-locks, encrypt=true. Phase 1 targets module.kms, vpc, security_groups, eks, rds, msk, elasticache, s3, waf, api_gateway, secrets_manager. Steps 2, 5 and 6 are not automated today, and secret key names differ between Terraform and Helm.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8 to 10 exist as GitHub Actions (ci.yml, build-services.yml, deploy-services.yml, cd-production.yml). Steps 7 and 11 are manual or missing. cd-production checks the SHA had a green CI run, waits for the production environment's reviewers, deploys up to 5 services in parallel and tags a production-N release. Helm --atomic rolls back a failed service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 pr-checks.yml, lint-delivery.yml, build-services.yml (matrix mvn verify, JaCoCo, Buildx, Trivy 0.28.0 failing on fixable CRITICAL, ECR push via OIDC), ci.yml, deploy-services.yml, cd-production.yml, frontend-ci.yml (builds images, never pushes). Actions are pinned by tag, not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before launch: version drift (RDS 15.5 vs Postgres 16/18 locally, MSK 3.6 vs Kafka 4.1), plaintext 9092 and 2181 in the MSK security group, .gitignore missing *.tfstate and .terraform/, and API Gateway CORS allowing every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itself expired on 2026-09-10 and is harmless. The secret is the problem: the same JWT_SECRET value appears in the leaked compose file, in .env.example line 25 and in the local .env. Fix: a new random secret of 64 bytes or more per environment from Secrets Manager, a startup check that refuses known dev values, and optionally git filter-repo plus a force-push to purge 1b5656d. Treat every default in that commit as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hold a 15-minute access JWT in memory and a 30-day refresh token in localStorage. The edge (Spring Cloud Gateway) introspects every token and rate-limits per user, but nothing limits password or OTP attempts per IP, and the Terraform WAF cannot attach to an HTTP API stage. Services enforce RBAC and ownership and protect /internal/** with a constant-time key, but every service shares one HMAC signing key and one internal key. Data is encrypted with KMS and Redis and MSK require TLS, but RDS does not force TLS and every pod's IAM role can read every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verified: no SQL injection (Spring Data, parameterised JPQL, escaped LIKE); jjwt 0.12.6 rejects alg none; staff invitations are 32 random bytes stored as SHA-256, single use, 7-day expiry; dev SMS, email and seed adapters are off by default; no AWS keys, private keys or live Razorpay keys in the tree or history; frontend lockfiles are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.env.example:25; shared JwtValidationFilter.java:56-58 and 81-97 (signature and expiry only, no iss or aud); TokenService.java:50-51; PasswordLoginService.java:90-106 (lockout per username only); RegistrationService.java:78 (OTP limit per phone); RateLimitGatewayFilter.java:58 (authenticated callers only); auth-service pom.xml:26 spring-boot.version 3.2.5, including CVE-2024-38821 relevant to the WebFlux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nothing calls POST /coupons/redeem; /coupons/cancel lowers counters with no booking (CouponService.java:209). Complaint refunds now go through payment-service (HttpRefundAdapter, POST /internal/payments/refunds) and SUPPORT_AGENT can approve them (ComplaintRbacConfig). The Stripe stub was removed on 18 October; the payment simulator is gated by PAYMENT_SIMULATOR_ENABLED. Payouts: PaymentService.java:1019-1059. Ownership: ComplaintService.java:153-165, BookingService.java:226-229, TenantTeamService.java:106-118.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eks/main.tf:84-85; iam/main.tf:87-123 (secrets read on name_prefix/*); compose ports on all interfaces with DEV_SEED_ENABLED=true and a known password; rds parameter group without rds.force_ssl; no launch template on node groups; empty S3 backend in versions.tf; prometheus-values.yaml:222 and 249. Security groups only expose 443 and 80 on the ALB, which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CSP needs script-src 'self' checkout.razorpay.com. Uploads: VerificationController.java:64-71 and MediaService.java:72; once S3 is real, serve files from a separate domain with Content-Disposition attachment. hs_err_pid20844.log leaks the Windows username and local paths. CSRF is disabled, which is fine while tokens travel in the Authorization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removes the only Critical and is about an hour of work. Steps 2 to 4 close the High identity and network findings and overlap with the production blockers. Step 6 is product logic and needs the booking, promotion, complaint and payment owners. Step 8 should cover the payment flow end to end with Razorpay test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README.md, docs/ARCHITECTURE.md, docs/API_CONTRACTS.md, docs/LOCAL_ACCESS.md, CODEBASE_REVIEW.md, Flyway migrations and entities, the Terraform, Helm and workflow files, and a read-only code review on 11 October 2026, re-checked against the source on 18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slideLayout" Target="../slideLayouts/slideLayout1.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slideLayout" Target="../slideLayouts/slideLayout1.xml"/><Relationship Id="rId2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54794" y="952476"/>
            <a:ext cx="3301917" cy="3301917"/>
          </a:xfrm>
          <a:prstGeom prst="ellipse">
            <a:avLst/>
          </a:prstGeom>
          <a:solidFill>
            <a:srgbClr val="FFFFFF">
              <a:alpha val="8000"/>
            </a:srgbClr>
          </a:solidFill>
          <a:ln/>
        </p:spPr>
        <p:txBody>
          <a:bodyPr/>
          <a:p/>
        </p:txBody>
      </p:sp>
      <p:sp>
        <p:nvSpPr>
          <p:cNvPr id="3" name="Shape 1"/>
          <p:cNvSpPr/>
          <p:nvPr/>
        </p:nvSpPr>
        <p:spPr>
          <a:xfrm>
            <a:off x="9016775" y="3873403"/>
            <a:ext cx="1904952" cy="1904952"/>
          </a:xfrm>
          <a:prstGeom prst="ellipse">
            <a:avLst/>
          </a:prstGeom>
          <a:solidFill>
            <a:srgbClr val="FFFFFF">
              <a:alpha val="10000"/>
            </a:srgbClr>
          </a:solidFill>
          <a:ln/>
        </p:spPr>
        <p:txBody>
          <a:bodyPr/>
          <a:p/>
        </p:txBody>
      </p:sp>
      <p:sp>
        <p:nvSpPr>
          <p:cNvPr id="4" name="Shape 2"/>
          <p:cNvSpPr/>
          <p:nvPr/>
        </p:nvSpPr>
        <p:spPr>
          <a:xfrm>
            <a:off x="9143771" y="1841454"/>
            <a:ext cx="1523962" cy="1523962"/>
          </a:xfrm>
          <a:prstGeom prst="ellipse">
            <a:avLst/>
          </a:prstGeom>
          <a:solidFill>
            <a:srgbClr val="FFFFFF">
              <a:alpha val="16000"/>
            </a:srgbClr>
          </a:solidFill>
          <a:ln/>
        </p:spPr>
        <p:txBody>
          <a:bodyPr/>
          <a:p/>
        </p:txBody>
      </p:sp>
      <p:pic>
        <p:nvPicPr>
          <p:cNvPr id="5" name="Image 0" descr="preencoded.png">    </p:cNvPr>
          <p:cNvPicPr>
            <a:picLocks noChangeAspect="1"/>
          </p:cNvPicPr>
          <p:nvPr/>
        </p:nvPicPr>
        <p:blipFill>
          <a:blip r:embed="rId2"/>
          <a:stretch>
            <a:fillRect/>
          </a:stretch>
        </p:blipFill>
        <p:spPr>
          <a:xfrm>
            <a:off x="9493013" y="2190695"/>
            <a:ext cx="825479" cy="825479"/>
          </a:xfrm>
          <a:prstGeom prst="rect">
            <a:avLst/>
          </a:prstGeom>
        </p:spPr>
      </p:pic>
      <p:sp>
        <p:nvSpPr>
          <p:cNvPr id="6" name="Shape 3"/>
          <p:cNvSpPr/>
          <p:nvPr/>
        </p:nvSpPr>
        <p:spPr>
          <a:xfrm>
            <a:off x="9524762" y="4381390"/>
            <a:ext cx="888978" cy="888978"/>
          </a:xfrm>
          <a:prstGeom prst="ellipse">
            <a:avLst/>
          </a:prstGeom>
          <a:solidFill>
            <a:srgbClr val="FFFFFF">
              <a:alpha val="18000"/>
            </a:srgbClr>
          </a:solidFill>
          <a:ln/>
        </p:spPr>
        <p:txBody>
          <a:bodyPr/>
          <a:p/>
        </p:txBody>
      </p:sp>
      <p:pic>
        <p:nvPicPr>
          <p:cNvPr id="7" name="Image 1" descr="preencoded.png">    </p:cNvPr>
          <p:cNvPicPr>
            <a:picLocks noChangeAspect="1"/>
          </p:cNvPicPr>
          <p:nvPr/>
        </p:nvPicPr>
        <p:blipFill>
          <a:blip r:embed="rId3"/>
          <a:stretch>
            <a:fillRect/>
          </a:stretch>
        </p:blipFill>
        <p:spPr>
          <a:xfrm>
            <a:off x="9740656" y="4597285"/>
            <a:ext cx="457189" cy="457189"/>
          </a:xfrm>
          <a:prstGeom prst="rect">
            <a:avLst/>
          </a:prstGeom>
        </p:spPr>
      </p:pic>
      <p:sp>
        <p:nvSpPr>
          <p:cNvPr id="8" name="Shape 4"/>
          <p:cNvSpPr/>
          <p:nvPr/>
        </p:nvSpPr>
        <p:spPr>
          <a:xfrm>
            <a:off x="8191295" y="3555911"/>
            <a:ext cx="698483" cy="698483"/>
          </a:xfrm>
          <a:prstGeom prst="ellipse">
            <a:avLst/>
          </a:prstGeom>
          <a:solidFill>
            <a:srgbClr val="FFFFFF">
              <a:alpha val="18000"/>
            </a:srgbClr>
          </a:solidFill>
          <a:ln/>
        </p:spPr>
        <p:txBody>
          <a:bodyPr/>
          <a:p/>
        </p:txBody>
      </p:sp>
      <p:pic>
        <p:nvPicPr>
          <p:cNvPr id="9" name="Image 2" descr="preencoded.png">    </p:cNvPr>
          <p:cNvPicPr>
            <a:picLocks noChangeAspect="1"/>
          </p:cNvPicPr>
          <p:nvPr/>
        </p:nvPicPr>
        <p:blipFill>
          <a:blip r:embed="rId4"/>
          <a:stretch>
            <a:fillRect/>
          </a:stretch>
        </p:blipFill>
        <p:spPr>
          <a:xfrm>
            <a:off x="8362741" y="3727357"/>
            <a:ext cx="355591" cy="355591"/>
          </a:xfrm>
          <a:prstGeom prst="rect">
            <a:avLst/>
          </a:prstGeom>
        </p:spPr>
      </p:pic>
      <p:sp>
        <p:nvSpPr>
          <p:cNvPr id="10" name="Text 5"/>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50" kern="0" dirty="0">
                <a:solidFill>
                  <a:srgbClr val="F8FAFF"/>
                </a:solidFill>
                <a:latin typeface="Courier New" pitchFamily="34" charset="0"/>
                <a:ea typeface="Courier New" pitchFamily="34" charset="-122"/>
                <a:cs typeface="Courier New" pitchFamily="34" charset="-120"/>
              </a:rPr>
              <a:t>DESIGN REVIEW · UPDATED 18 OCTOBER 2026</a:t>
            </a:r>
            <a:endParaRPr lang="en-US" sz="1200" dirty="0"/>
          </a:p>
        </p:txBody>
      </p:sp>
      <p:sp>
        <p:nvSpPr>
          <p:cNvPr id="11" name="Text 6"/>
          <p:cNvSpPr txBox="1"/>
          <p:nvPr/>
        </p:nvSpPr>
        <p:spPr>
          <a:xfrm>
            <a:off x="812780" y="2416809"/>
            <a:ext cx="8178596" cy="952476"/>
          </a:xfrm>
          <a:prstGeom prst="rect">
            <a:avLst/>
          </a:prstGeom>
          <a:noFill/>
          <a:ln/>
        </p:spPr>
        <p:txBody>
          <a:bodyPr wrap="square" lIns="0" tIns="0" rIns="0" bIns="0" rtlCol="0" anchor="t"/>
          <a:lstStyle/>
          <a:p>
            <a:pPr algn="l" indent="0" marL="0">
              <a:lnSpc>
                <a:spcPct val="83333"/>
              </a:lnSpc>
              <a:buNone/>
            </a:pPr>
            <a:r>
              <a:rPr lang="en-US" sz="7500" b="1" dirty="0">
                <a:solidFill>
                  <a:srgbClr val="F8FAFF"/>
                </a:solidFill>
                <a:latin typeface="Calibri" pitchFamily="34" charset="0"/>
                <a:ea typeface="Calibri" pitchFamily="34" charset="-122"/>
                <a:cs typeface="Calibri" pitchFamily="34" charset="-120"/>
              </a:rPr>
              <a:t>Ji-Hajoor</a:t>
            </a:r>
            <a:endParaRPr lang="en-US" sz="7500" dirty="0"/>
          </a:p>
        </p:txBody>
      </p:sp>
      <p:sp>
        <p:nvSpPr>
          <p:cNvPr id="12" name="Text 7"/>
          <p:cNvSpPr txBox="1"/>
          <p:nvPr/>
        </p:nvSpPr>
        <p:spPr>
          <a:xfrm>
            <a:off x="812780" y="3547081"/>
            <a:ext cx="8178596" cy="876278"/>
          </a:xfrm>
          <a:prstGeom prst="rect">
            <a:avLst/>
          </a:prstGeom>
          <a:noFill/>
          <a:ln/>
        </p:spPr>
        <p:txBody>
          <a:bodyPr wrap="square" lIns="0" tIns="0" rIns="0" bIns="0" rtlCol="0" anchor="t"/>
          <a:lstStyle/>
          <a:p>
            <a:pPr algn="l" indent="0" marL="0">
              <a:lnSpc>
                <a:spcPct val="95833"/>
              </a:lnSpc>
              <a:buNone/>
            </a:pPr>
            <a:r>
              <a:rPr lang="en-US" sz="3000" dirty="0">
                <a:solidFill>
                  <a:srgbClr val="F8FAFF"/>
                </a:solidFill>
                <a:latin typeface="Calibri" pitchFamily="34" charset="0"/>
                <a:ea typeface="Calibri" pitchFamily="34" charset="-122"/>
                <a:cs typeface="Calibri" pitchFamily="34" charset="-120"/>
              </a:rPr>
              <a:t>Architecture, data, deployment and security in pictures</a:t>
            </a:r>
            <a:endParaRPr lang="en-US" sz="3000" dirty="0"/>
          </a:p>
        </p:txBody>
      </p:sp>
      <p:sp>
        <p:nvSpPr>
          <p:cNvPr id="13" name="Text 8"/>
          <p:cNvSpPr txBox="1"/>
          <p:nvPr/>
        </p:nvSpPr>
        <p:spPr>
          <a:xfrm>
            <a:off x="812780" y="5813974"/>
            <a:ext cx="11834072" cy="231134"/>
          </a:xfrm>
          <a:prstGeom prst="rect">
            <a:avLst/>
          </a:prstGeom>
          <a:noFill/>
          <a:ln/>
        </p:spPr>
        <p:txBody>
          <a:bodyPr wrap="square" lIns="0" tIns="0" rIns="0" bIns="0" rtlCol="0" anchor="t"/>
          <a:lstStyle/>
          <a:p>
            <a:pPr algn="l" indent="0" marL="0">
              <a:lnSpc>
                <a:spcPct val="116667"/>
              </a:lnSpc>
              <a:buNone/>
            </a:pPr>
            <a:r>
              <a:rPr lang="en-US" sz="1300" dirty="0">
                <a:solidFill>
                  <a:srgbClr val="F8FAFF"/>
                </a:solidFill>
                <a:latin typeface="Calibri" pitchFamily="34" charset="0"/>
                <a:ea typeface="Calibri" pitchFamily="34" charset="-122"/>
                <a:cs typeface="Calibri" pitchFamily="34" charset="-120"/>
              </a:rPr>
              <a:t>On-demand home-services marketplace · branch review/2026-10-18-open-items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AT A GLANCE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An event-driven platform: Railway today, AWS-ready</a:t>
            </a:r>
            <a:endParaRPr lang="en-US" sz="3000" dirty="0"/>
          </a:p>
        </p:txBody>
      </p:sp>
      <p:sp>
        <p:nvSpPr>
          <p:cNvPr id="4" name="Shape 2"/>
          <p:cNvSpPr/>
          <p:nvPr/>
        </p:nvSpPr>
        <p:spPr>
          <a:xfrm>
            <a:off x="812780" y="1775376"/>
            <a:ext cx="2508187" cy="2303603"/>
          </a:xfrm>
          <a:prstGeom prst="roundRect">
            <a:avLst>
              <a:gd name="adj" fmla="val 5513"/>
            </a:avLst>
          </a:prstGeom>
          <a:solidFill>
            <a:srgbClr val="FCFDFF"/>
          </a:solidFill>
          <a:ln w="6350">
            <a:solidFill>
              <a:srgbClr val="D5DEEC"/>
            </a:solidFill>
            <a:prstDash val="solid"/>
          </a:ln>
        </p:spPr>
        <p:txBody>
          <a:bodyPr/>
          <a:p/>
        </p:txBody>
      </p:sp>
      <p:sp>
        <p:nvSpPr>
          <p:cNvPr id="5" name="Shape 3"/>
          <p:cNvSpPr/>
          <p:nvPr/>
        </p:nvSpPr>
        <p:spPr>
          <a:xfrm>
            <a:off x="1022324" y="1984921"/>
            <a:ext cx="457189" cy="457189"/>
          </a:xfrm>
          <a:prstGeom prst="ellipse">
            <a:avLst/>
          </a:prstGeom>
          <a:solidFill>
            <a:srgbClr val="E3EBFA"/>
          </a:solidFill>
          <a:ln/>
        </p:spPr>
        <p:txBody>
          <a:bodyPr/>
          <a:p/>
        </p:txBody>
      </p:sp>
      <p:pic>
        <p:nvPicPr>
          <p:cNvPr id="6" name="Image 0" descr="preencoded.png">    </p:cNvPr>
          <p:cNvPicPr>
            <a:picLocks noChangeAspect="1"/>
          </p:cNvPicPr>
          <p:nvPr/>
        </p:nvPicPr>
        <p:blipFill>
          <a:blip r:embed="rId1"/>
          <a:stretch>
            <a:fillRect/>
          </a:stretch>
        </p:blipFill>
        <p:spPr>
          <a:xfrm>
            <a:off x="1130272" y="2092868"/>
            <a:ext cx="241294" cy="241294"/>
          </a:xfrm>
          <a:prstGeom prst="rect">
            <a:avLst/>
          </a:prstGeom>
        </p:spPr>
      </p:pic>
      <p:sp>
        <p:nvSpPr>
          <p:cNvPr id="7" name="Text 4"/>
          <p:cNvSpPr txBox="1"/>
          <p:nvPr/>
        </p:nvSpPr>
        <p:spPr>
          <a:xfrm>
            <a:off x="1022324" y="2543707"/>
            <a:ext cx="2339790" cy="761981"/>
          </a:xfrm>
          <a:prstGeom prst="rect">
            <a:avLst/>
          </a:prstGeom>
          <a:noFill/>
          <a:ln/>
        </p:spPr>
        <p:txBody>
          <a:bodyPr wrap="square" lIns="0" tIns="0" rIns="0" bIns="0" rtlCol="0" anchor="t"/>
          <a:lstStyle/>
          <a:p>
            <a:pPr algn="l" indent="0" marL="0">
              <a:lnSpc>
                <a:spcPct val="83333"/>
              </a:lnSpc>
              <a:buNone/>
            </a:pPr>
            <a:r>
              <a:rPr lang="en-US" sz="6000" b="1" dirty="0">
                <a:solidFill>
                  <a:srgbClr val="2454C5"/>
                </a:solidFill>
                <a:latin typeface="Calibri" pitchFamily="34" charset="0"/>
                <a:ea typeface="Calibri" pitchFamily="34" charset="-122"/>
                <a:cs typeface="Calibri" pitchFamily="34" charset="-120"/>
              </a:rPr>
              <a:t>20</a:t>
            </a:r>
            <a:endParaRPr lang="en-US" sz="6000" dirty="0"/>
          </a:p>
        </p:txBody>
      </p:sp>
      <p:sp>
        <p:nvSpPr>
          <p:cNvPr id="8" name="Text 5"/>
          <p:cNvSpPr txBox="1"/>
          <p:nvPr/>
        </p:nvSpPr>
        <p:spPr>
          <a:xfrm>
            <a:off x="1022324" y="3407285"/>
            <a:ext cx="2339790"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services in 5 Java 25 / Boot 4.1 JVMs</a:t>
            </a:r>
            <a:endParaRPr lang="en-US" sz="1300" dirty="0"/>
          </a:p>
        </p:txBody>
      </p:sp>
      <p:sp>
        <p:nvSpPr>
          <p:cNvPr id="9" name="Shape 6"/>
          <p:cNvSpPr/>
          <p:nvPr/>
        </p:nvSpPr>
        <p:spPr>
          <a:xfrm>
            <a:off x="3498763" y="1775376"/>
            <a:ext cx="2508187" cy="2303603"/>
          </a:xfrm>
          <a:prstGeom prst="roundRect">
            <a:avLst>
              <a:gd name="adj" fmla="val 5513"/>
            </a:avLst>
          </a:prstGeom>
          <a:solidFill>
            <a:srgbClr val="FCFDFF"/>
          </a:solidFill>
          <a:ln w="6350">
            <a:solidFill>
              <a:srgbClr val="D5DEEC"/>
            </a:solidFill>
            <a:prstDash val="solid"/>
          </a:ln>
        </p:spPr>
        <p:txBody>
          <a:bodyPr/>
          <a:p/>
        </p:txBody>
      </p:sp>
      <p:sp>
        <p:nvSpPr>
          <p:cNvPr id="10" name="Shape 7"/>
          <p:cNvSpPr/>
          <p:nvPr/>
        </p:nvSpPr>
        <p:spPr>
          <a:xfrm>
            <a:off x="3708307" y="1984921"/>
            <a:ext cx="457189" cy="457189"/>
          </a:xfrm>
          <a:prstGeom prst="ellipse">
            <a:avLst/>
          </a:prstGeom>
          <a:solidFill>
            <a:srgbClr val="DDF2EF"/>
          </a:solidFill>
          <a:ln/>
        </p:spPr>
        <p:txBody>
          <a:bodyPr/>
          <a:p/>
        </p:txBody>
      </p:sp>
      <p:pic>
        <p:nvPicPr>
          <p:cNvPr id="11" name="Image 1" descr="preencoded.png">    </p:cNvPr>
          <p:cNvPicPr>
            <a:picLocks noChangeAspect="1"/>
          </p:cNvPicPr>
          <p:nvPr/>
        </p:nvPicPr>
        <p:blipFill>
          <a:blip r:embed="rId2"/>
          <a:stretch>
            <a:fillRect/>
          </a:stretch>
        </p:blipFill>
        <p:spPr>
          <a:xfrm>
            <a:off x="3816255" y="2092868"/>
            <a:ext cx="241294" cy="241294"/>
          </a:xfrm>
          <a:prstGeom prst="rect">
            <a:avLst/>
          </a:prstGeom>
        </p:spPr>
      </p:pic>
      <p:sp>
        <p:nvSpPr>
          <p:cNvPr id="12" name="Text 8"/>
          <p:cNvSpPr txBox="1"/>
          <p:nvPr/>
        </p:nvSpPr>
        <p:spPr>
          <a:xfrm>
            <a:off x="3708307" y="2543707"/>
            <a:ext cx="2339790" cy="761981"/>
          </a:xfrm>
          <a:prstGeom prst="rect">
            <a:avLst/>
          </a:prstGeom>
          <a:noFill/>
          <a:ln/>
        </p:spPr>
        <p:txBody>
          <a:bodyPr wrap="square" lIns="0" tIns="0" rIns="0" bIns="0" rtlCol="0" anchor="t"/>
          <a:lstStyle/>
          <a:p>
            <a:pPr algn="l" indent="0" marL="0">
              <a:lnSpc>
                <a:spcPct val="83333"/>
              </a:lnSpc>
              <a:buNone/>
            </a:pPr>
            <a:r>
              <a:rPr lang="en-US" sz="6000" b="1" dirty="0">
                <a:solidFill>
                  <a:srgbClr val="0B7F74"/>
                </a:solidFill>
                <a:latin typeface="Calibri" pitchFamily="34" charset="0"/>
                <a:ea typeface="Calibri" pitchFamily="34" charset="-122"/>
                <a:cs typeface="Calibri" pitchFamily="34" charset="-120"/>
              </a:rPr>
              <a:t>3+2</a:t>
            </a:r>
            <a:endParaRPr lang="en-US" sz="6000" dirty="0"/>
          </a:p>
        </p:txBody>
      </p:sp>
      <p:sp>
        <p:nvSpPr>
          <p:cNvPr id="13" name="Text 9"/>
          <p:cNvSpPr txBox="1"/>
          <p:nvPr/>
        </p:nvSpPr>
        <p:spPr>
          <a:xfrm>
            <a:off x="3708307" y="3407285"/>
            <a:ext cx="2339790"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React web apps plus iOS and Android shells</a:t>
            </a:r>
            <a:endParaRPr lang="en-US" sz="1300" dirty="0"/>
          </a:p>
        </p:txBody>
      </p:sp>
      <p:sp>
        <p:nvSpPr>
          <p:cNvPr id="14" name="Shape 10"/>
          <p:cNvSpPr/>
          <p:nvPr/>
        </p:nvSpPr>
        <p:spPr>
          <a:xfrm>
            <a:off x="6184745" y="1775376"/>
            <a:ext cx="2508187" cy="2303603"/>
          </a:xfrm>
          <a:prstGeom prst="roundRect">
            <a:avLst>
              <a:gd name="adj" fmla="val 5513"/>
            </a:avLst>
          </a:prstGeom>
          <a:solidFill>
            <a:srgbClr val="FCFDFF"/>
          </a:solidFill>
          <a:ln w="6350">
            <a:solidFill>
              <a:srgbClr val="D5DEEC"/>
            </a:solidFill>
            <a:prstDash val="solid"/>
          </a:ln>
        </p:spPr>
        <p:txBody>
          <a:bodyPr/>
          <a:p/>
        </p:txBody>
      </p:sp>
      <p:sp>
        <p:nvSpPr>
          <p:cNvPr id="15" name="Shape 11"/>
          <p:cNvSpPr/>
          <p:nvPr/>
        </p:nvSpPr>
        <p:spPr>
          <a:xfrm>
            <a:off x="6394290" y="1984921"/>
            <a:ext cx="457189" cy="457189"/>
          </a:xfrm>
          <a:prstGeom prst="ellipse">
            <a:avLst/>
          </a:prstGeom>
          <a:solidFill>
            <a:srgbClr val="E7E7F6"/>
          </a:solidFill>
          <a:ln/>
        </p:spPr>
        <p:txBody>
          <a:bodyPr/>
          <a:p/>
        </p:txBody>
      </p:sp>
      <p:pic>
        <p:nvPicPr>
          <p:cNvPr id="16" name="Image 2" descr="preencoded.png">    </p:cNvPr>
          <p:cNvPicPr>
            <a:picLocks noChangeAspect="1"/>
          </p:cNvPicPr>
          <p:nvPr/>
        </p:nvPicPr>
        <p:blipFill>
          <a:blip r:embed="rId3"/>
          <a:stretch>
            <a:fillRect/>
          </a:stretch>
        </p:blipFill>
        <p:spPr>
          <a:xfrm>
            <a:off x="6502237" y="2092868"/>
            <a:ext cx="241294" cy="241294"/>
          </a:xfrm>
          <a:prstGeom prst="rect">
            <a:avLst/>
          </a:prstGeom>
        </p:spPr>
      </p:pic>
      <p:sp>
        <p:nvSpPr>
          <p:cNvPr id="17" name="Text 12"/>
          <p:cNvSpPr txBox="1"/>
          <p:nvPr/>
        </p:nvSpPr>
        <p:spPr>
          <a:xfrm>
            <a:off x="6394290" y="2543707"/>
            <a:ext cx="2339790" cy="761981"/>
          </a:xfrm>
          <a:prstGeom prst="rect">
            <a:avLst/>
          </a:prstGeom>
          <a:noFill/>
          <a:ln/>
        </p:spPr>
        <p:txBody>
          <a:bodyPr wrap="square" lIns="0" tIns="0" rIns="0" bIns="0" rtlCol="0" anchor="t"/>
          <a:lstStyle/>
          <a:p>
            <a:pPr algn="l" indent="0" marL="0">
              <a:lnSpc>
                <a:spcPct val="83333"/>
              </a:lnSpc>
              <a:buNone/>
            </a:pPr>
            <a:r>
              <a:rPr lang="en-US" sz="6000" b="1" dirty="0">
                <a:solidFill>
                  <a:srgbClr val="4B4B9A"/>
                </a:solidFill>
                <a:latin typeface="Calibri" pitchFamily="34" charset="0"/>
                <a:ea typeface="Calibri" pitchFamily="34" charset="-122"/>
                <a:cs typeface="Calibri" pitchFamily="34" charset="-120"/>
              </a:rPr>
              <a:t>13</a:t>
            </a:r>
            <a:endParaRPr lang="en-US" sz="6000" dirty="0"/>
          </a:p>
        </p:txBody>
      </p:sp>
      <p:sp>
        <p:nvSpPr>
          <p:cNvPr id="18" name="Text 13"/>
          <p:cNvSpPr txBox="1"/>
          <p:nvPr/>
        </p:nvSpPr>
        <p:spPr>
          <a:xfrm>
            <a:off x="6394290" y="3407285"/>
            <a:ext cx="2339790"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Kafka topics fed by a transactional outbox</a:t>
            </a:r>
            <a:endParaRPr lang="en-US" sz="1300" dirty="0"/>
          </a:p>
        </p:txBody>
      </p:sp>
      <p:sp>
        <p:nvSpPr>
          <p:cNvPr id="19" name="Shape 14"/>
          <p:cNvSpPr/>
          <p:nvPr/>
        </p:nvSpPr>
        <p:spPr>
          <a:xfrm>
            <a:off x="8870728" y="1775376"/>
            <a:ext cx="2508187" cy="2303603"/>
          </a:xfrm>
          <a:prstGeom prst="roundRect">
            <a:avLst>
              <a:gd name="adj" fmla="val 5513"/>
            </a:avLst>
          </a:prstGeom>
          <a:solidFill>
            <a:srgbClr val="FCFDFF"/>
          </a:solidFill>
          <a:ln w="6350">
            <a:solidFill>
              <a:srgbClr val="D5DEEC"/>
            </a:solidFill>
            <a:prstDash val="solid"/>
          </a:ln>
        </p:spPr>
        <p:txBody>
          <a:bodyPr/>
          <a:p/>
        </p:txBody>
      </p:sp>
      <p:sp>
        <p:nvSpPr>
          <p:cNvPr id="20" name="Shape 15"/>
          <p:cNvSpPr/>
          <p:nvPr/>
        </p:nvSpPr>
        <p:spPr>
          <a:xfrm>
            <a:off x="9080273" y="1984921"/>
            <a:ext cx="457189" cy="457189"/>
          </a:xfrm>
          <a:prstGeom prst="ellipse">
            <a:avLst/>
          </a:prstGeom>
          <a:solidFill>
            <a:srgbClr val="E2EAF6"/>
          </a:solidFill>
          <a:ln/>
        </p:spPr>
        <p:txBody>
          <a:bodyPr/>
          <a:p/>
        </p:txBody>
      </p:sp>
      <p:pic>
        <p:nvPicPr>
          <p:cNvPr id="21" name="Image 3" descr="preencoded.png">    </p:cNvPr>
          <p:cNvPicPr>
            <a:picLocks noChangeAspect="1"/>
          </p:cNvPicPr>
          <p:nvPr/>
        </p:nvPicPr>
        <p:blipFill>
          <a:blip r:embed="rId4"/>
          <a:stretch>
            <a:fillRect/>
          </a:stretch>
        </p:blipFill>
        <p:spPr>
          <a:xfrm>
            <a:off x="9188220" y="2092868"/>
            <a:ext cx="241294" cy="241294"/>
          </a:xfrm>
          <a:prstGeom prst="rect">
            <a:avLst/>
          </a:prstGeom>
        </p:spPr>
      </p:pic>
      <p:sp>
        <p:nvSpPr>
          <p:cNvPr id="22" name="Text 16"/>
          <p:cNvSpPr txBox="1"/>
          <p:nvPr/>
        </p:nvSpPr>
        <p:spPr>
          <a:xfrm>
            <a:off x="9080273" y="2543707"/>
            <a:ext cx="2339790" cy="761981"/>
          </a:xfrm>
          <a:prstGeom prst="rect">
            <a:avLst/>
          </a:prstGeom>
          <a:noFill/>
          <a:ln/>
        </p:spPr>
        <p:txBody>
          <a:bodyPr wrap="square" lIns="0" tIns="0" rIns="0" bIns="0" rtlCol="0" anchor="t"/>
          <a:lstStyle/>
          <a:p>
            <a:pPr algn="l" indent="0" marL="0">
              <a:lnSpc>
                <a:spcPct val="83333"/>
              </a:lnSpc>
              <a:buNone/>
            </a:pPr>
            <a:r>
              <a:rPr lang="en-US" sz="6000" b="1" dirty="0">
                <a:solidFill>
                  <a:srgbClr val="2F5C9A"/>
                </a:solidFill>
                <a:latin typeface="Calibri" pitchFamily="34" charset="0"/>
                <a:ea typeface="Calibri" pitchFamily="34" charset="-122"/>
                <a:cs typeface="Calibri" pitchFamily="34" charset="-120"/>
              </a:rPr>
              <a:t>17</a:t>
            </a:r>
            <a:endParaRPr lang="en-US" sz="6000" dirty="0"/>
          </a:p>
        </p:txBody>
      </p:sp>
      <p:sp>
        <p:nvSpPr>
          <p:cNvPr id="23" name="Text 17"/>
          <p:cNvSpPr txBox="1"/>
          <p:nvPr/>
        </p:nvSpPr>
        <p:spPr>
          <a:xfrm>
            <a:off x="9080273" y="3407285"/>
            <a:ext cx="2339790"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Postgres schemas, one per service</a:t>
            </a:r>
            <a:endParaRPr lang="en-US" sz="1300" dirty="0"/>
          </a:p>
        </p:txBody>
      </p:sp>
      <p:sp>
        <p:nvSpPr>
          <p:cNvPr id="24" name="Shape 18"/>
          <p:cNvSpPr/>
          <p:nvPr/>
        </p:nvSpPr>
        <p:spPr>
          <a:xfrm>
            <a:off x="812780" y="4332973"/>
            <a:ext cx="10566136" cy="766942"/>
          </a:xfrm>
          <a:prstGeom prst="roundRect">
            <a:avLst>
              <a:gd name="adj" fmla="val 13247"/>
            </a:avLst>
          </a:prstGeom>
          <a:solidFill>
            <a:srgbClr val="E3EBFA"/>
          </a:solidFill>
          <a:ln/>
        </p:spPr>
        <p:txBody>
          <a:bodyPr/>
          <a:p/>
        </p:txBody>
      </p:sp>
      <p:pic>
        <p:nvPicPr>
          <p:cNvPr id="25" name="Image 4" descr="preencoded.png">    </p:cNvPr>
          <p:cNvPicPr>
            <a:picLocks noChangeAspect="1"/>
          </p:cNvPicPr>
          <p:nvPr/>
        </p:nvPicPr>
        <p:blipFill>
          <a:blip r:embed="rId5"/>
          <a:stretch>
            <a:fillRect/>
          </a:stretch>
        </p:blipFill>
        <p:spPr>
          <a:xfrm>
            <a:off x="1015975" y="4589447"/>
            <a:ext cx="253994" cy="253994"/>
          </a:xfrm>
          <a:prstGeom prst="rect">
            <a:avLst/>
          </a:prstGeom>
        </p:spPr>
      </p:pic>
      <p:sp>
        <p:nvSpPr>
          <p:cNvPr id="26" name="Text 19"/>
          <p:cNvSpPr txBox="1"/>
          <p:nvPr/>
        </p:nvSpPr>
        <p:spPr>
          <a:xfrm>
            <a:off x="1396965" y="4485369"/>
            <a:ext cx="10952206" cy="462149"/>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Live:</a:t>
            </a:r>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 Razorpay (test mode), Google/Apple, MSG91 OTP, SMTP email, S3. </a:t>
            </a:r>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Stubs:</a:t>
            </a:r>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 push, notice SMS, background checks, geocoding.</a:t>
            </a:r>
            <a:endParaRPr lang="en-US" sz="1300" dirty="0"/>
          </a:p>
        </p:txBody>
      </p:sp>
      <p:sp>
        <p:nvSpPr>
          <p:cNvPr id="27" name="Text 2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Overview</a:t>
            </a:r>
            <a:endParaRPr lang="en-US" sz="1200" dirty="0"/>
          </a:p>
        </p:txBody>
      </p:sp>
      <p:sp>
        <p:nvSpPr>
          <p:cNvPr id="28" name="Text 2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UNIFIED VIEW</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One picture: apps, edge, six domains, data, partners</a:t>
            </a:r>
            <a:endParaRPr lang="en-US" sz="3000" dirty="0"/>
          </a:p>
        </p:txBody>
      </p:sp>
      <p:sp>
        <p:nvSpPr>
          <p:cNvPr id="4" name="Shape 2"/>
          <p:cNvSpPr/>
          <p:nvPr/>
        </p:nvSpPr>
        <p:spPr>
          <a:xfrm>
            <a:off x="812780" y="1777956"/>
            <a:ext cx="2095448" cy="507987"/>
          </a:xfrm>
          <a:prstGeom prst="roundRect">
            <a:avLst>
              <a:gd name="adj" fmla="val 50000"/>
            </a:avLst>
          </a:prstGeom>
          <a:solidFill>
            <a:srgbClr val="E3EBFA"/>
          </a:solidFill>
          <a:ln/>
        </p:spPr>
        <p:txBody>
          <a:bodyPr/>
          <a:p/>
        </p:txBody>
      </p:sp>
      <p:pic>
        <p:nvPicPr>
          <p:cNvPr id="5" name="Image 0" descr="preencoded.png">    </p:cNvPr>
          <p:cNvPicPr>
            <a:picLocks noChangeAspect="1"/>
          </p:cNvPicPr>
          <p:nvPr/>
        </p:nvPicPr>
        <p:blipFill>
          <a:blip r:embed="rId1"/>
          <a:stretch>
            <a:fillRect/>
          </a:stretch>
        </p:blipFill>
        <p:spPr>
          <a:xfrm>
            <a:off x="952476" y="1936702"/>
            <a:ext cx="190495" cy="190495"/>
          </a:xfrm>
          <a:prstGeom prst="rect">
            <a:avLst/>
          </a:prstGeom>
        </p:spPr>
      </p:pic>
      <p:sp>
        <p:nvSpPr>
          <p:cNvPr id="6" name="Text 3"/>
          <p:cNvSpPr txBox="1"/>
          <p:nvPr/>
        </p:nvSpPr>
        <p:spPr>
          <a:xfrm>
            <a:off x="1219170" y="1925292"/>
            <a:ext cx="1631496"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 app :5173</a:t>
            </a:r>
            <a:endParaRPr lang="en-US" sz="1200" dirty="0"/>
          </a:p>
        </p:txBody>
      </p:sp>
      <p:sp>
        <p:nvSpPr>
          <p:cNvPr id="7" name="Shape 4"/>
          <p:cNvSpPr/>
          <p:nvPr/>
        </p:nvSpPr>
        <p:spPr>
          <a:xfrm>
            <a:off x="3060623" y="1777956"/>
            <a:ext cx="2095448" cy="507987"/>
          </a:xfrm>
          <a:prstGeom prst="roundRect">
            <a:avLst>
              <a:gd name="adj" fmla="val 50000"/>
            </a:avLst>
          </a:prstGeom>
          <a:solidFill>
            <a:srgbClr val="DDF2EF"/>
          </a:solidFill>
          <a:ln/>
        </p:spPr>
        <p:txBody>
          <a:bodyPr/>
          <a:p/>
        </p:txBody>
      </p:sp>
      <p:pic>
        <p:nvPicPr>
          <p:cNvPr id="8" name="Image 1" descr="preencoded.png">    </p:cNvPr>
          <p:cNvPicPr>
            <a:picLocks noChangeAspect="1"/>
          </p:cNvPicPr>
          <p:nvPr/>
        </p:nvPicPr>
        <p:blipFill>
          <a:blip r:embed="rId2"/>
          <a:stretch>
            <a:fillRect/>
          </a:stretch>
        </p:blipFill>
        <p:spPr>
          <a:xfrm>
            <a:off x="3200320" y="1936702"/>
            <a:ext cx="190495" cy="190495"/>
          </a:xfrm>
          <a:prstGeom prst="rect">
            <a:avLst/>
          </a:prstGeom>
        </p:spPr>
      </p:pic>
      <p:sp>
        <p:nvSpPr>
          <p:cNvPr id="9" name="Text 5"/>
          <p:cNvSpPr txBox="1"/>
          <p:nvPr/>
        </p:nvSpPr>
        <p:spPr>
          <a:xfrm>
            <a:off x="3467013" y="1925292"/>
            <a:ext cx="1527375"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 app :5174</a:t>
            </a:r>
            <a:endParaRPr lang="en-US" sz="1200" dirty="0"/>
          </a:p>
        </p:txBody>
      </p:sp>
      <p:sp>
        <p:nvSpPr>
          <p:cNvPr id="10" name="Shape 6"/>
          <p:cNvSpPr/>
          <p:nvPr/>
        </p:nvSpPr>
        <p:spPr>
          <a:xfrm>
            <a:off x="5308467" y="1777956"/>
            <a:ext cx="2095448" cy="507987"/>
          </a:xfrm>
          <a:prstGeom prst="roundRect">
            <a:avLst>
              <a:gd name="adj" fmla="val 50000"/>
            </a:avLst>
          </a:prstGeom>
          <a:solidFill>
            <a:srgbClr val="E6EBF3"/>
          </a:solidFill>
          <a:ln/>
        </p:spPr>
        <p:txBody>
          <a:bodyPr/>
          <a:p/>
        </p:txBody>
      </p:sp>
      <p:pic>
        <p:nvPicPr>
          <p:cNvPr id="11" name="Image 2" descr="preencoded.png">    </p:cNvPr>
          <p:cNvPicPr>
            <a:picLocks noChangeAspect="1"/>
          </p:cNvPicPr>
          <p:nvPr/>
        </p:nvPicPr>
        <p:blipFill>
          <a:blip r:embed="rId3"/>
          <a:stretch>
            <a:fillRect/>
          </a:stretch>
        </p:blipFill>
        <p:spPr>
          <a:xfrm>
            <a:off x="5448164" y="1936702"/>
            <a:ext cx="190495" cy="190495"/>
          </a:xfrm>
          <a:prstGeom prst="rect">
            <a:avLst/>
          </a:prstGeom>
        </p:spPr>
      </p:pic>
      <p:sp>
        <p:nvSpPr>
          <p:cNvPr id="12" name="Text 7"/>
          <p:cNvSpPr txBox="1"/>
          <p:nvPr/>
        </p:nvSpPr>
        <p:spPr>
          <a:xfrm>
            <a:off x="5714857" y="1925292"/>
            <a:ext cx="1536487"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Admin portal :5175</a:t>
            </a:r>
            <a:endParaRPr lang="en-US" sz="1200" dirty="0"/>
          </a:p>
        </p:txBody>
      </p:sp>
      <p:sp>
        <p:nvSpPr>
          <p:cNvPr id="13" name="Shape 8"/>
          <p:cNvSpPr/>
          <p:nvPr/>
        </p:nvSpPr>
        <p:spPr>
          <a:xfrm>
            <a:off x="7556311" y="1777956"/>
            <a:ext cx="2095448" cy="507987"/>
          </a:xfrm>
          <a:prstGeom prst="roundRect">
            <a:avLst>
              <a:gd name="adj" fmla="val 50000"/>
            </a:avLst>
          </a:prstGeom>
          <a:solidFill>
            <a:srgbClr val="FAE3ED"/>
          </a:solidFill>
          <a:ln/>
        </p:spPr>
        <p:txBody>
          <a:bodyPr/>
          <a:p/>
        </p:txBody>
      </p:sp>
      <p:pic>
        <p:nvPicPr>
          <p:cNvPr id="14" name="Image 3" descr="preencoded.png">    </p:cNvPr>
          <p:cNvPicPr>
            <a:picLocks noChangeAspect="1"/>
          </p:cNvPicPr>
          <p:nvPr/>
        </p:nvPicPr>
        <p:blipFill>
          <a:blip r:embed="rId4"/>
          <a:stretch>
            <a:fillRect/>
          </a:stretch>
        </p:blipFill>
        <p:spPr>
          <a:xfrm>
            <a:off x="7696008" y="1936702"/>
            <a:ext cx="190495" cy="190495"/>
          </a:xfrm>
          <a:prstGeom prst="rect">
            <a:avLst/>
          </a:prstGeom>
        </p:spPr>
      </p:pic>
      <p:sp>
        <p:nvSpPr>
          <p:cNvPr id="15" name="Text 9"/>
          <p:cNvSpPr txBox="1"/>
          <p:nvPr/>
        </p:nvSpPr>
        <p:spPr>
          <a:xfrm>
            <a:off x="7962701" y="1925292"/>
            <a:ext cx="134013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iOS and Android</a:t>
            </a:r>
            <a:endParaRPr lang="en-US" sz="1200" dirty="0"/>
          </a:p>
        </p:txBody>
      </p:sp>
      <p:sp>
        <p:nvSpPr>
          <p:cNvPr id="16" name="Shape 10"/>
          <p:cNvSpPr/>
          <p:nvPr/>
        </p:nvSpPr>
        <p:spPr>
          <a:xfrm>
            <a:off x="812780" y="2539937"/>
            <a:ext cx="2539937" cy="571486"/>
          </a:xfrm>
          <a:prstGeom prst="roundRect">
            <a:avLst>
              <a:gd name="adj" fmla="val 15556"/>
            </a:avLst>
          </a:prstGeom>
          <a:solidFill>
            <a:srgbClr val="FCFDFF"/>
          </a:solidFill>
          <a:ln w="12700">
            <a:solidFill>
              <a:srgbClr val="3F5F95"/>
            </a:solidFill>
            <a:prstDash val="solid"/>
          </a:ln>
        </p:spPr>
        <p:txBody>
          <a:bodyPr/>
          <a:p/>
        </p:txBody>
      </p:sp>
      <p:sp>
        <p:nvSpPr>
          <p:cNvPr id="17" name="Shape 11"/>
          <p:cNvSpPr/>
          <p:nvPr/>
        </p:nvSpPr>
        <p:spPr>
          <a:xfrm>
            <a:off x="812780" y="2539937"/>
            <a:ext cx="50799" cy="571486"/>
          </a:xfrm>
          <a:prstGeom prst="roundRect">
            <a:avLst>
              <a:gd name="adj" fmla="val 50000"/>
            </a:avLst>
          </a:prstGeom>
          <a:solidFill>
            <a:srgbClr val="3F5F95"/>
          </a:solidFill>
          <a:ln/>
        </p:spPr>
        <p:txBody>
          <a:bodyPr/>
          <a:p/>
        </p:txBody>
      </p:sp>
      <p:sp>
        <p:nvSpPr>
          <p:cNvPr id="18" name="Text 12"/>
          <p:cNvSpPr txBox="1"/>
          <p:nvPr/>
        </p:nvSpPr>
        <p:spPr>
          <a:xfrm>
            <a:off x="977876" y="2616135"/>
            <a:ext cx="2517585"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nginx / Vite proxy</a:t>
            </a:r>
            <a:endParaRPr lang="en-US" sz="1200" dirty="0"/>
          </a:p>
        </p:txBody>
      </p:sp>
      <p:sp>
        <p:nvSpPr>
          <p:cNvPr id="19" name="Text 13"/>
          <p:cNvSpPr txBox="1"/>
          <p:nvPr/>
        </p:nvSpPr>
        <p:spPr>
          <a:xfrm>
            <a:off x="977876" y="2798990"/>
            <a:ext cx="2517585"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/api/auth → auth-service</a:t>
            </a:r>
            <a:endParaRPr lang="en-US" sz="1200" dirty="0"/>
          </a:p>
        </p:txBody>
      </p:sp>
      <p:sp>
        <p:nvSpPr>
          <p:cNvPr id="20" name="Shape 14"/>
          <p:cNvSpPr/>
          <p:nvPr/>
        </p:nvSpPr>
        <p:spPr>
          <a:xfrm>
            <a:off x="3606710" y="2539937"/>
            <a:ext cx="6045049" cy="571486"/>
          </a:xfrm>
          <a:prstGeom prst="roundRect">
            <a:avLst>
              <a:gd name="adj" fmla="val 15556"/>
            </a:avLst>
          </a:prstGeom>
          <a:solidFill>
            <a:srgbClr val="FCFDFF"/>
          </a:solidFill>
          <a:ln w="12700">
            <a:solidFill>
              <a:srgbClr val="3F5F95"/>
            </a:solidFill>
            <a:prstDash val="solid"/>
          </a:ln>
        </p:spPr>
        <p:txBody>
          <a:bodyPr/>
          <a:p/>
        </p:txBody>
      </p:sp>
      <p:sp>
        <p:nvSpPr>
          <p:cNvPr id="21" name="Shape 15"/>
          <p:cNvSpPr/>
          <p:nvPr/>
        </p:nvSpPr>
        <p:spPr>
          <a:xfrm>
            <a:off x="3606710" y="2539937"/>
            <a:ext cx="50799" cy="571486"/>
          </a:xfrm>
          <a:prstGeom prst="roundRect">
            <a:avLst>
              <a:gd name="adj" fmla="val 50000"/>
            </a:avLst>
          </a:prstGeom>
          <a:solidFill>
            <a:srgbClr val="3F5F95"/>
          </a:solidFill>
          <a:ln/>
        </p:spPr>
        <p:txBody>
          <a:bodyPr/>
          <a:p/>
        </p:txBody>
      </p:sp>
      <p:sp>
        <p:nvSpPr>
          <p:cNvPr id="22" name="Text 16"/>
          <p:cNvSpPr txBox="1"/>
          <p:nvPr/>
        </p:nvSpPr>
        <p:spPr>
          <a:xfrm>
            <a:off x="3771806" y="2616135"/>
            <a:ext cx="6443311"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API gateway :8080</a:t>
            </a:r>
            <a:endParaRPr lang="en-US" sz="1200" dirty="0"/>
          </a:p>
        </p:txBody>
      </p:sp>
      <p:sp>
        <p:nvSpPr>
          <p:cNvPr id="23" name="Text 17"/>
          <p:cNvSpPr txBox="1"/>
          <p:nvPr/>
        </p:nvSpPr>
        <p:spPr>
          <a:xfrm>
            <a:off x="3771806" y="2798990"/>
            <a:ext cx="6443311"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introspection · per-user rate limit · WAF regex</a:t>
            </a:r>
            <a:endParaRPr lang="en-US" sz="1200" dirty="0"/>
          </a:p>
        </p:txBody>
      </p:sp>
      <p:sp>
        <p:nvSpPr>
          <p:cNvPr id="24" name="Shape 18"/>
          <p:cNvSpPr/>
          <p:nvPr/>
        </p:nvSpPr>
        <p:spPr>
          <a:xfrm>
            <a:off x="812780" y="3301917"/>
            <a:ext cx="1384265" cy="1587460"/>
          </a:xfrm>
          <a:prstGeom prst="roundRect">
            <a:avLst>
              <a:gd name="adj" fmla="val 6422"/>
            </a:avLst>
          </a:prstGeom>
          <a:solidFill>
            <a:srgbClr val="E3EBFA"/>
          </a:solidFill>
          <a:ln/>
        </p:spPr>
        <p:txBody>
          <a:bodyPr/>
          <a:p/>
        </p:txBody>
      </p:sp>
      <p:sp>
        <p:nvSpPr>
          <p:cNvPr id="25" name="Shape 19"/>
          <p:cNvSpPr/>
          <p:nvPr/>
        </p:nvSpPr>
        <p:spPr>
          <a:xfrm>
            <a:off x="812780" y="3301917"/>
            <a:ext cx="1384265" cy="50799"/>
          </a:xfrm>
          <a:prstGeom prst="roundRect">
            <a:avLst>
              <a:gd name="adj" fmla="val 50000"/>
            </a:avLst>
          </a:prstGeom>
          <a:solidFill>
            <a:srgbClr val="2454C5"/>
          </a:solidFill>
          <a:ln/>
        </p:spPr>
        <p:txBody>
          <a:bodyPr/>
          <a:p/>
        </p:txBody>
      </p:sp>
      <p:sp>
        <p:nvSpPr>
          <p:cNvPr id="26" name="Text 20"/>
          <p:cNvSpPr txBox="1"/>
          <p:nvPr/>
        </p:nvSpPr>
        <p:spPr>
          <a:xfrm>
            <a:off x="914377"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2454C5"/>
                </a:solidFill>
                <a:latin typeface="Calibri" pitchFamily="34" charset="0"/>
                <a:ea typeface="Calibri" pitchFamily="34" charset="-122"/>
                <a:cs typeface="Calibri" pitchFamily="34" charset="-120"/>
              </a:rPr>
              <a:t>Identity</a:t>
            </a:r>
            <a:endParaRPr lang="en-US" sz="1300" dirty="0"/>
          </a:p>
        </p:txBody>
      </p:sp>
      <p:sp>
        <p:nvSpPr>
          <p:cNvPr id="27" name="Text 21"/>
          <p:cNvSpPr txBox="1"/>
          <p:nvPr/>
        </p:nvSpPr>
        <p:spPr>
          <a:xfrm>
            <a:off x="914377"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auth</a:t>
            </a:r>
            <a:endParaRPr lang="en-US" sz="1200" dirty="0"/>
          </a:p>
        </p:txBody>
      </p:sp>
      <p:sp>
        <p:nvSpPr>
          <p:cNvPr id="28" name="Text 22"/>
          <p:cNvSpPr txBox="1"/>
          <p:nvPr/>
        </p:nvSpPr>
        <p:spPr>
          <a:xfrm>
            <a:off x="914377"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customer</a:t>
            </a:r>
            <a:endParaRPr lang="en-US" sz="1200" dirty="0"/>
          </a:p>
        </p:txBody>
      </p:sp>
      <p:sp>
        <p:nvSpPr>
          <p:cNvPr id="29" name="Text 23"/>
          <p:cNvSpPr txBox="1"/>
          <p:nvPr/>
        </p:nvSpPr>
        <p:spPr>
          <a:xfrm>
            <a:off x="914377" y="4160237"/>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provider</a:t>
            </a:r>
            <a:endParaRPr lang="en-US" sz="1200" dirty="0"/>
          </a:p>
        </p:txBody>
      </p:sp>
      <p:sp>
        <p:nvSpPr>
          <p:cNvPr id="30" name="Text 24"/>
          <p:cNvSpPr txBox="1"/>
          <p:nvPr/>
        </p:nvSpPr>
        <p:spPr>
          <a:xfrm>
            <a:off x="914377" y="4391312"/>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verification</a:t>
            </a:r>
            <a:endParaRPr lang="en-US" sz="1200" dirty="0"/>
          </a:p>
        </p:txBody>
      </p:sp>
      <p:sp>
        <p:nvSpPr>
          <p:cNvPr id="31" name="Shape 25"/>
          <p:cNvSpPr/>
          <p:nvPr/>
        </p:nvSpPr>
        <p:spPr>
          <a:xfrm>
            <a:off x="2304992" y="3301917"/>
            <a:ext cx="1384265" cy="1587460"/>
          </a:xfrm>
          <a:prstGeom prst="roundRect">
            <a:avLst>
              <a:gd name="adj" fmla="val 6422"/>
            </a:avLst>
          </a:prstGeom>
          <a:solidFill>
            <a:srgbClr val="DDF2EF"/>
          </a:solidFill>
          <a:ln/>
        </p:spPr>
        <p:txBody>
          <a:bodyPr/>
          <a:p/>
        </p:txBody>
      </p:sp>
      <p:sp>
        <p:nvSpPr>
          <p:cNvPr id="32" name="Shape 26"/>
          <p:cNvSpPr/>
          <p:nvPr/>
        </p:nvSpPr>
        <p:spPr>
          <a:xfrm>
            <a:off x="2304992" y="3301917"/>
            <a:ext cx="1384265" cy="50799"/>
          </a:xfrm>
          <a:prstGeom prst="roundRect">
            <a:avLst>
              <a:gd name="adj" fmla="val 50000"/>
            </a:avLst>
          </a:prstGeom>
          <a:solidFill>
            <a:srgbClr val="0B7F74"/>
          </a:solidFill>
          <a:ln/>
        </p:spPr>
        <p:txBody>
          <a:bodyPr/>
          <a:p/>
        </p:txBody>
      </p:sp>
      <p:sp>
        <p:nvSpPr>
          <p:cNvPr id="33" name="Text 27"/>
          <p:cNvSpPr txBox="1"/>
          <p:nvPr/>
        </p:nvSpPr>
        <p:spPr>
          <a:xfrm>
            <a:off x="2406590"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0B7F74"/>
                </a:solidFill>
                <a:latin typeface="Calibri" pitchFamily="34" charset="0"/>
                <a:ea typeface="Calibri" pitchFamily="34" charset="-122"/>
                <a:cs typeface="Calibri" pitchFamily="34" charset="-120"/>
              </a:rPr>
              <a:t>Jobs</a:t>
            </a:r>
            <a:endParaRPr lang="en-US" sz="1300" dirty="0"/>
          </a:p>
        </p:txBody>
      </p:sp>
      <p:sp>
        <p:nvSpPr>
          <p:cNvPr id="34" name="Text 28"/>
          <p:cNvSpPr txBox="1"/>
          <p:nvPr/>
        </p:nvSpPr>
        <p:spPr>
          <a:xfrm>
            <a:off x="2406590"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booking</a:t>
            </a:r>
            <a:endParaRPr lang="en-US" sz="1200" dirty="0"/>
          </a:p>
        </p:txBody>
      </p:sp>
      <p:sp>
        <p:nvSpPr>
          <p:cNvPr id="35" name="Text 29"/>
          <p:cNvSpPr txBox="1"/>
          <p:nvPr/>
        </p:nvSpPr>
        <p:spPr>
          <a:xfrm>
            <a:off x="2406590"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dispatch</a:t>
            </a:r>
            <a:endParaRPr lang="en-US" sz="1200" dirty="0"/>
          </a:p>
        </p:txBody>
      </p:sp>
      <p:sp>
        <p:nvSpPr>
          <p:cNvPr id="36" name="Text 30"/>
          <p:cNvSpPr txBox="1"/>
          <p:nvPr/>
        </p:nvSpPr>
        <p:spPr>
          <a:xfrm>
            <a:off x="2406590" y="4160237"/>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location</a:t>
            </a:r>
            <a:endParaRPr lang="en-US" sz="1200" dirty="0"/>
          </a:p>
        </p:txBody>
      </p:sp>
      <p:sp>
        <p:nvSpPr>
          <p:cNvPr id="37" name="Text 31"/>
          <p:cNvSpPr txBox="1"/>
          <p:nvPr/>
        </p:nvSpPr>
        <p:spPr>
          <a:xfrm>
            <a:off x="2406590" y="4391312"/>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chat</a:t>
            </a:r>
            <a:endParaRPr lang="en-US" sz="1200" dirty="0"/>
          </a:p>
        </p:txBody>
      </p:sp>
      <p:sp>
        <p:nvSpPr>
          <p:cNvPr id="38" name="Shape 32"/>
          <p:cNvSpPr/>
          <p:nvPr/>
        </p:nvSpPr>
        <p:spPr>
          <a:xfrm>
            <a:off x="3797205" y="3301917"/>
            <a:ext cx="1384265" cy="1587460"/>
          </a:xfrm>
          <a:prstGeom prst="roundRect">
            <a:avLst>
              <a:gd name="adj" fmla="val 6422"/>
            </a:avLst>
          </a:prstGeom>
          <a:solidFill>
            <a:srgbClr val="ECE5FA"/>
          </a:solidFill>
          <a:ln/>
        </p:spPr>
        <p:txBody>
          <a:bodyPr/>
          <a:p/>
        </p:txBody>
      </p:sp>
      <p:sp>
        <p:nvSpPr>
          <p:cNvPr id="39" name="Shape 33"/>
          <p:cNvSpPr/>
          <p:nvPr/>
        </p:nvSpPr>
        <p:spPr>
          <a:xfrm>
            <a:off x="3797205" y="3301917"/>
            <a:ext cx="1384265" cy="50799"/>
          </a:xfrm>
          <a:prstGeom prst="roundRect">
            <a:avLst>
              <a:gd name="adj" fmla="val 50000"/>
            </a:avLst>
          </a:prstGeom>
          <a:solidFill>
            <a:srgbClr val="6A3FC0"/>
          </a:solidFill>
          <a:ln/>
        </p:spPr>
        <p:txBody>
          <a:bodyPr/>
          <a:p/>
        </p:txBody>
      </p:sp>
      <p:sp>
        <p:nvSpPr>
          <p:cNvPr id="40" name="Text 34"/>
          <p:cNvSpPr txBox="1"/>
          <p:nvPr/>
        </p:nvSpPr>
        <p:spPr>
          <a:xfrm>
            <a:off x="3898803"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6A3FC0"/>
                </a:solidFill>
                <a:latin typeface="Calibri" pitchFamily="34" charset="0"/>
                <a:ea typeface="Calibri" pitchFamily="34" charset="-122"/>
                <a:cs typeface="Calibri" pitchFamily="34" charset="-120"/>
              </a:rPr>
              <a:t>Catalog</a:t>
            </a:r>
            <a:endParaRPr lang="en-US" sz="1300" dirty="0"/>
          </a:p>
        </p:txBody>
      </p:sp>
      <p:sp>
        <p:nvSpPr>
          <p:cNvPr id="41" name="Text 35"/>
          <p:cNvSpPr txBox="1"/>
          <p:nvPr/>
        </p:nvSpPr>
        <p:spPr>
          <a:xfrm>
            <a:off x="3898803"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catalog</a:t>
            </a:r>
            <a:endParaRPr lang="en-US" sz="1200" dirty="0"/>
          </a:p>
        </p:txBody>
      </p:sp>
      <p:sp>
        <p:nvSpPr>
          <p:cNvPr id="42" name="Text 36"/>
          <p:cNvSpPr txBox="1"/>
          <p:nvPr/>
        </p:nvSpPr>
        <p:spPr>
          <a:xfrm>
            <a:off x="3898803"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pricing</a:t>
            </a:r>
            <a:endParaRPr lang="en-US" sz="1200" dirty="0"/>
          </a:p>
        </p:txBody>
      </p:sp>
      <p:sp>
        <p:nvSpPr>
          <p:cNvPr id="43" name="Text 37"/>
          <p:cNvSpPr txBox="1"/>
          <p:nvPr/>
        </p:nvSpPr>
        <p:spPr>
          <a:xfrm>
            <a:off x="3898803" y="4160237"/>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promotion</a:t>
            </a:r>
            <a:endParaRPr lang="en-US" sz="1200" dirty="0"/>
          </a:p>
        </p:txBody>
      </p:sp>
      <p:sp>
        <p:nvSpPr>
          <p:cNvPr id="44" name="Shape 38"/>
          <p:cNvSpPr/>
          <p:nvPr/>
        </p:nvSpPr>
        <p:spPr>
          <a:xfrm>
            <a:off x="5283068" y="3301917"/>
            <a:ext cx="1384265" cy="1587460"/>
          </a:xfrm>
          <a:prstGeom prst="roundRect">
            <a:avLst>
              <a:gd name="adj" fmla="val 6422"/>
            </a:avLst>
          </a:prstGeom>
          <a:solidFill>
            <a:srgbClr val="FCEBDD"/>
          </a:solidFill>
          <a:ln/>
        </p:spPr>
        <p:txBody>
          <a:bodyPr/>
          <a:p/>
        </p:txBody>
      </p:sp>
      <p:sp>
        <p:nvSpPr>
          <p:cNvPr id="45" name="Shape 39"/>
          <p:cNvSpPr/>
          <p:nvPr/>
        </p:nvSpPr>
        <p:spPr>
          <a:xfrm>
            <a:off x="5283068" y="3301917"/>
            <a:ext cx="1384265" cy="50799"/>
          </a:xfrm>
          <a:prstGeom prst="roundRect">
            <a:avLst>
              <a:gd name="adj" fmla="val 50000"/>
            </a:avLst>
          </a:prstGeom>
          <a:solidFill>
            <a:srgbClr val="B4530F"/>
          </a:solidFill>
          <a:ln/>
        </p:spPr>
        <p:txBody>
          <a:bodyPr/>
          <a:p/>
        </p:txBody>
      </p:sp>
      <p:sp>
        <p:nvSpPr>
          <p:cNvPr id="46" name="Text 40"/>
          <p:cNvSpPr txBox="1"/>
          <p:nvPr/>
        </p:nvSpPr>
        <p:spPr>
          <a:xfrm>
            <a:off x="5384665"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B4530F"/>
                </a:solidFill>
                <a:latin typeface="Calibri" pitchFamily="34" charset="0"/>
                <a:ea typeface="Calibri" pitchFamily="34" charset="-122"/>
                <a:cs typeface="Calibri" pitchFamily="34" charset="-120"/>
              </a:rPr>
              <a:t>Money</a:t>
            </a:r>
            <a:endParaRPr lang="en-US" sz="1300" dirty="0"/>
          </a:p>
        </p:txBody>
      </p:sp>
      <p:sp>
        <p:nvSpPr>
          <p:cNvPr id="47" name="Text 41"/>
          <p:cNvSpPr txBox="1"/>
          <p:nvPr/>
        </p:nvSpPr>
        <p:spPr>
          <a:xfrm>
            <a:off x="5384665"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payment</a:t>
            </a:r>
            <a:endParaRPr lang="en-US" sz="1200" dirty="0"/>
          </a:p>
        </p:txBody>
      </p:sp>
      <p:sp>
        <p:nvSpPr>
          <p:cNvPr id="48" name="Text 42"/>
          <p:cNvSpPr txBox="1"/>
          <p:nvPr/>
        </p:nvSpPr>
        <p:spPr>
          <a:xfrm>
            <a:off x="5384665"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invoice</a:t>
            </a:r>
            <a:endParaRPr lang="en-US" sz="1200" dirty="0"/>
          </a:p>
        </p:txBody>
      </p:sp>
      <p:sp>
        <p:nvSpPr>
          <p:cNvPr id="49" name="Shape 43"/>
          <p:cNvSpPr/>
          <p:nvPr/>
        </p:nvSpPr>
        <p:spPr>
          <a:xfrm>
            <a:off x="6775281" y="3301917"/>
            <a:ext cx="1384265" cy="1587460"/>
          </a:xfrm>
          <a:prstGeom prst="roundRect">
            <a:avLst>
              <a:gd name="adj" fmla="val 6422"/>
            </a:avLst>
          </a:prstGeom>
          <a:solidFill>
            <a:srgbClr val="FAE3ED"/>
          </a:solidFill>
          <a:ln/>
        </p:spPr>
        <p:txBody>
          <a:bodyPr/>
          <a:p/>
        </p:txBody>
      </p:sp>
      <p:sp>
        <p:nvSpPr>
          <p:cNvPr id="50" name="Shape 44"/>
          <p:cNvSpPr/>
          <p:nvPr/>
        </p:nvSpPr>
        <p:spPr>
          <a:xfrm>
            <a:off x="6775281" y="3301917"/>
            <a:ext cx="1384265" cy="50799"/>
          </a:xfrm>
          <a:prstGeom prst="roundRect">
            <a:avLst>
              <a:gd name="adj" fmla="val 50000"/>
            </a:avLst>
          </a:prstGeom>
          <a:solidFill>
            <a:srgbClr val="B8306E"/>
          </a:solidFill>
          <a:ln/>
        </p:spPr>
        <p:txBody>
          <a:bodyPr/>
          <a:p/>
        </p:txBody>
      </p:sp>
      <p:sp>
        <p:nvSpPr>
          <p:cNvPr id="51" name="Text 45"/>
          <p:cNvSpPr txBox="1"/>
          <p:nvPr/>
        </p:nvSpPr>
        <p:spPr>
          <a:xfrm>
            <a:off x="6876878"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B8306E"/>
                </a:solidFill>
                <a:latin typeface="Calibri" pitchFamily="34" charset="0"/>
                <a:ea typeface="Calibri" pitchFamily="34" charset="-122"/>
                <a:cs typeface="Calibri" pitchFamily="34" charset="-120"/>
              </a:rPr>
              <a:t>Engagement</a:t>
            </a:r>
            <a:endParaRPr lang="en-US" sz="1300" dirty="0"/>
          </a:p>
        </p:txBody>
      </p:sp>
      <p:sp>
        <p:nvSpPr>
          <p:cNvPr id="52" name="Text 46"/>
          <p:cNvSpPr txBox="1"/>
          <p:nvPr/>
        </p:nvSpPr>
        <p:spPr>
          <a:xfrm>
            <a:off x="6876878"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notification</a:t>
            </a:r>
            <a:endParaRPr lang="en-US" sz="1200" dirty="0"/>
          </a:p>
        </p:txBody>
      </p:sp>
      <p:sp>
        <p:nvSpPr>
          <p:cNvPr id="53" name="Text 47"/>
          <p:cNvSpPr txBox="1"/>
          <p:nvPr/>
        </p:nvSpPr>
        <p:spPr>
          <a:xfrm>
            <a:off x="6876878"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complaint</a:t>
            </a:r>
            <a:endParaRPr lang="en-US" sz="1200" dirty="0"/>
          </a:p>
        </p:txBody>
      </p:sp>
      <p:sp>
        <p:nvSpPr>
          <p:cNvPr id="54" name="Text 48"/>
          <p:cNvSpPr txBox="1"/>
          <p:nvPr/>
        </p:nvSpPr>
        <p:spPr>
          <a:xfrm>
            <a:off x="6876878" y="4160237"/>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rating</a:t>
            </a:r>
            <a:endParaRPr lang="en-US" sz="1200" dirty="0"/>
          </a:p>
        </p:txBody>
      </p:sp>
      <p:sp>
        <p:nvSpPr>
          <p:cNvPr id="55" name="Text 49"/>
          <p:cNvSpPr txBox="1"/>
          <p:nvPr/>
        </p:nvSpPr>
        <p:spPr>
          <a:xfrm>
            <a:off x="6876878" y="4391312"/>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admin, reports</a:t>
            </a:r>
            <a:endParaRPr lang="en-US" sz="1200" dirty="0"/>
          </a:p>
        </p:txBody>
      </p:sp>
      <p:sp>
        <p:nvSpPr>
          <p:cNvPr id="56" name="Shape 50"/>
          <p:cNvSpPr/>
          <p:nvPr/>
        </p:nvSpPr>
        <p:spPr>
          <a:xfrm>
            <a:off x="8267493" y="3301917"/>
            <a:ext cx="1384265" cy="1587460"/>
          </a:xfrm>
          <a:prstGeom prst="roundRect">
            <a:avLst>
              <a:gd name="adj" fmla="val 6422"/>
            </a:avLst>
          </a:prstGeom>
          <a:solidFill>
            <a:srgbClr val="E6EBF3"/>
          </a:solidFill>
          <a:ln/>
        </p:spPr>
        <p:txBody>
          <a:bodyPr/>
          <a:p/>
        </p:txBody>
      </p:sp>
      <p:sp>
        <p:nvSpPr>
          <p:cNvPr id="57" name="Shape 51"/>
          <p:cNvSpPr/>
          <p:nvPr/>
        </p:nvSpPr>
        <p:spPr>
          <a:xfrm>
            <a:off x="8267493" y="3301917"/>
            <a:ext cx="1384265" cy="50799"/>
          </a:xfrm>
          <a:prstGeom prst="roundRect">
            <a:avLst>
              <a:gd name="adj" fmla="val 50000"/>
            </a:avLst>
          </a:prstGeom>
          <a:solidFill>
            <a:srgbClr val="3F5F95"/>
          </a:solidFill>
          <a:ln/>
        </p:spPr>
        <p:txBody>
          <a:bodyPr/>
          <a:p/>
        </p:txBody>
      </p:sp>
      <p:sp>
        <p:nvSpPr>
          <p:cNvPr id="58" name="Text 52"/>
          <p:cNvSpPr txBox="1"/>
          <p:nvPr/>
        </p:nvSpPr>
        <p:spPr>
          <a:xfrm>
            <a:off x="8369091" y="3441614"/>
            <a:ext cx="1322799" cy="231134"/>
          </a:xfrm>
          <a:prstGeom prst="rect">
            <a:avLst/>
          </a:prstGeom>
          <a:noFill/>
          <a:ln/>
        </p:spPr>
        <p:txBody>
          <a:bodyPr wrap="square" lIns="0" tIns="0" rIns="0" bIns="0" rtlCol="0" anchor="t"/>
          <a:lstStyle/>
          <a:p>
            <a:pPr algn="l" indent="0" marL="0">
              <a:lnSpc>
                <a:spcPct val="116667"/>
              </a:lnSpc>
              <a:buNone/>
            </a:pPr>
            <a:r>
              <a:rPr lang="en-US" sz="1300" b="1" dirty="0">
                <a:solidFill>
                  <a:srgbClr val="3F5F95"/>
                </a:solidFill>
                <a:latin typeface="Calibri" pitchFamily="34" charset="0"/>
                <a:ea typeface="Calibri" pitchFamily="34" charset="-122"/>
                <a:cs typeface="Calibri" pitchFamily="34" charset="-120"/>
              </a:rPr>
              <a:t>Platform</a:t>
            </a:r>
            <a:endParaRPr lang="en-US" sz="1300" dirty="0"/>
          </a:p>
        </p:txBody>
      </p:sp>
      <p:sp>
        <p:nvSpPr>
          <p:cNvPr id="59" name="Text 53"/>
          <p:cNvSpPr txBox="1"/>
          <p:nvPr/>
        </p:nvSpPr>
        <p:spPr>
          <a:xfrm>
            <a:off x="8369091" y="3698088"/>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api-gateway</a:t>
            </a:r>
            <a:endParaRPr lang="en-US" sz="1200" dirty="0"/>
          </a:p>
        </p:txBody>
      </p:sp>
      <p:sp>
        <p:nvSpPr>
          <p:cNvPr id="60" name="Text 54"/>
          <p:cNvSpPr txBox="1"/>
          <p:nvPr/>
        </p:nvSpPr>
        <p:spPr>
          <a:xfrm>
            <a:off x="8369091" y="3929163"/>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outbox relay</a:t>
            </a:r>
            <a:endParaRPr lang="en-US" sz="1200" dirty="0"/>
          </a:p>
        </p:txBody>
      </p:sp>
      <p:sp>
        <p:nvSpPr>
          <p:cNvPr id="61" name="Text 55"/>
          <p:cNvSpPr txBox="1"/>
          <p:nvPr/>
        </p:nvSpPr>
        <p:spPr>
          <a:xfrm>
            <a:off x="8369091" y="4160237"/>
            <a:ext cx="132279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shared libs</a:t>
            </a:r>
            <a:endParaRPr lang="en-US" sz="1200" dirty="0"/>
          </a:p>
        </p:txBody>
      </p:sp>
      <p:sp>
        <p:nvSpPr>
          <p:cNvPr id="62" name="Shape 56"/>
          <p:cNvSpPr/>
          <p:nvPr/>
        </p:nvSpPr>
        <p:spPr>
          <a:xfrm>
            <a:off x="812780" y="5143371"/>
            <a:ext cx="2095448" cy="571486"/>
          </a:xfrm>
          <a:prstGeom prst="roundRect">
            <a:avLst>
              <a:gd name="adj" fmla="val 15556"/>
            </a:avLst>
          </a:prstGeom>
          <a:solidFill>
            <a:srgbClr val="FCFDFF"/>
          </a:solidFill>
          <a:ln w="12700">
            <a:solidFill>
              <a:srgbClr val="2F5C9A"/>
            </a:solidFill>
            <a:prstDash val="solid"/>
          </a:ln>
        </p:spPr>
        <p:txBody>
          <a:bodyPr/>
          <a:p/>
        </p:txBody>
      </p:sp>
      <p:sp>
        <p:nvSpPr>
          <p:cNvPr id="63" name="Shape 57"/>
          <p:cNvSpPr/>
          <p:nvPr/>
        </p:nvSpPr>
        <p:spPr>
          <a:xfrm>
            <a:off x="812780" y="5143371"/>
            <a:ext cx="50799" cy="571486"/>
          </a:xfrm>
          <a:prstGeom prst="roundRect">
            <a:avLst>
              <a:gd name="adj" fmla="val 50000"/>
            </a:avLst>
          </a:prstGeom>
          <a:solidFill>
            <a:srgbClr val="2F5C9A"/>
          </a:solidFill>
          <a:ln/>
        </p:spPr>
        <p:txBody>
          <a:bodyPr/>
          <a:p/>
        </p:txBody>
      </p:sp>
      <p:pic>
        <p:nvPicPr>
          <p:cNvPr id="64" name="Image 4" descr="preencoded.png">    </p:cNvPr>
          <p:cNvPicPr>
            <a:picLocks noChangeAspect="1"/>
          </p:cNvPicPr>
          <p:nvPr/>
        </p:nvPicPr>
        <p:blipFill>
          <a:blip r:embed="rId5"/>
          <a:stretch>
            <a:fillRect/>
          </a:stretch>
        </p:blipFill>
        <p:spPr>
          <a:xfrm>
            <a:off x="977876" y="5206870"/>
            <a:ext cx="190495" cy="190495"/>
          </a:xfrm>
          <a:prstGeom prst="rect">
            <a:avLst/>
          </a:prstGeom>
        </p:spPr>
      </p:pic>
      <p:sp>
        <p:nvSpPr>
          <p:cNvPr id="65" name="Text 58"/>
          <p:cNvSpPr txBox="1"/>
          <p:nvPr/>
        </p:nvSpPr>
        <p:spPr>
          <a:xfrm>
            <a:off x="1231869" y="5210640"/>
            <a:ext cx="889311"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PostgreSQL</a:t>
            </a:r>
            <a:endParaRPr lang="en-US" sz="1200" dirty="0"/>
          </a:p>
        </p:txBody>
      </p:sp>
      <p:sp>
        <p:nvSpPr>
          <p:cNvPr id="66" name="Text 59"/>
          <p:cNvSpPr txBox="1"/>
          <p:nvPr/>
        </p:nvSpPr>
        <p:spPr>
          <a:xfrm>
            <a:off x="977876" y="5397365"/>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17 schemas + outbox</a:t>
            </a:r>
            <a:endParaRPr lang="en-US" sz="1200" dirty="0"/>
          </a:p>
        </p:txBody>
      </p:sp>
      <p:sp>
        <p:nvSpPr>
          <p:cNvPr id="67" name="Shape 60"/>
          <p:cNvSpPr/>
          <p:nvPr/>
        </p:nvSpPr>
        <p:spPr>
          <a:xfrm>
            <a:off x="3060623" y="5143371"/>
            <a:ext cx="2095448" cy="571486"/>
          </a:xfrm>
          <a:prstGeom prst="roundRect">
            <a:avLst>
              <a:gd name="adj" fmla="val 15556"/>
            </a:avLst>
          </a:prstGeom>
          <a:solidFill>
            <a:srgbClr val="FCFDFF"/>
          </a:solidFill>
          <a:ln w="12700">
            <a:solidFill>
              <a:srgbClr val="C0352B"/>
            </a:solidFill>
            <a:prstDash val="solid"/>
          </a:ln>
        </p:spPr>
        <p:txBody>
          <a:bodyPr/>
          <a:p/>
        </p:txBody>
      </p:sp>
      <p:sp>
        <p:nvSpPr>
          <p:cNvPr id="68" name="Shape 61"/>
          <p:cNvSpPr/>
          <p:nvPr/>
        </p:nvSpPr>
        <p:spPr>
          <a:xfrm>
            <a:off x="3060623" y="5143371"/>
            <a:ext cx="50799" cy="571486"/>
          </a:xfrm>
          <a:prstGeom prst="roundRect">
            <a:avLst>
              <a:gd name="adj" fmla="val 50000"/>
            </a:avLst>
          </a:prstGeom>
          <a:solidFill>
            <a:srgbClr val="C0352B"/>
          </a:solidFill>
          <a:ln/>
        </p:spPr>
        <p:txBody>
          <a:bodyPr/>
          <a:p/>
        </p:txBody>
      </p:sp>
      <p:pic>
        <p:nvPicPr>
          <p:cNvPr id="69" name="Image 5" descr="preencoded.png">    </p:cNvPr>
          <p:cNvPicPr>
            <a:picLocks noChangeAspect="1"/>
          </p:cNvPicPr>
          <p:nvPr/>
        </p:nvPicPr>
        <p:blipFill>
          <a:blip r:embed="rId6"/>
          <a:stretch>
            <a:fillRect/>
          </a:stretch>
        </p:blipFill>
        <p:spPr>
          <a:xfrm>
            <a:off x="3225719" y="5206870"/>
            <a:ext cx="190495" cy="190495"/>
          </a:xfrm>
          <a:prstGeom prst="rect">
            <a:avLst/>
          </a:prstGeom>
        </p:spPr>
      </p:pic>
      <p:sp>
        <p:nvSpPr>
          <p:cNvPr id="70" name="Text 62"/>
          <p:cNvSpPr txBox="1"/>
          <p:nvPr/>
        </p:nvSpPr>
        <p:spPr>
          <a:xfrm>
            <a:off x="3479713" y="5210640"/>
            <a:ext cx="456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Redis</a:t>
            </a:r>
            <a:endParaRPr lang="en-US" sz="1200" dirty="0"/>
          </a:p>
        </p:txBody>
      </p:sp>
      <p:sp>
        <p:nvSpPr>
          <p:cNvPr id="71" name="Text 63"/>
          <p:cNvSpPr txBox="1"/>
          <p:nvPr/>
        </p:nvSpPr>
        <p:spPr>
          <a:xfrm>
            <a:off x="3225719" y="5397365"/>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tokens, offers</a:t>
            </a:r>
            <a:endParaRPr lang="en-US" sz="1200" dirty="0"/>
          </a:p>
        </p:txBody>
      </p:sp>
      <p:sp>
        <p:nvSpPr>
          <p:cNvPr id="72" name="Shape 64"/>
          <p:cNvSpPr/>
          <p:nvPr/>
        </p:nvSpPr>
        <p:spPr>
          <a:xfrm>
            <a:off x="5308467" y="5143371"/>
            <a:ext cx="2095448" cy="571486"/>
          </a:xfrm>
          <a:prstGeom prst="roundRect">
            <a:avLst>
              <a:gd name="adj" fmla="val 15556"/>
            </a:avLst>
          </a:prstGeom>
          <a:solidFill>
            <a:srgbClr val="FCFDFF"/>
          </a:solidFill>
          <a:ln w="12700">
            <a:solidFill>
              <a:srgbClr val="4B4B9A"/>
            </a:solidFill>
            <a:prstDash val="solid"/>
          </a:ln>
        </p:spPr>
        <p:txBody>
          <a:bodyPr/>
          <a:p/>
        </p:txBody>
      </p:sp>
      <p:sp>
        <p:nvSpPr>
          <p:cNvPr id="73" name="Shape 65"/>
          <p:cNvSpPr/>
          <p:nvPr/>
        </p:nvSpPr>
        <p:spPr>
          <a:xfrm>
            <a:off x="5308467" y="5143371"/>
            <a:ext cx="50799" cy="571486"/>
          </a:xfrm>
          <a:prstGeom prst="roundRect">
            <a:avLst>
              <a:gd name="adj" fmla="val 50000"/>
            </a:avLst>
          </a:prstGeom>
          <a:solidFill>
            <a:srgbClr val="4B4B9A"/>
          </a:solidFill>
          <a:ln/>
        </p:spPr>
        <p:txBody>
          <a:bodyPr/>
          <a:p/>
        </p:txBody>
      </p:sp>
      <p:pic>
        <p:nvPicPr>
          <p:cNvPr id="74" name="Image 6" descr="preencoded.png">    </p:cNvPr>
          <p:cNvPicPr>
            <a:picLocks noChangeAspect="1"/>
          </p:cNvPicPr>
          <p:nvPr/>
        </p:nvPicPr>
        <p:blipFill>
          <a:blip r:embed="rId7"/>
          <a:stretch>
            <a:fillRect/>
          </a:stretch>
        </p:blipFill>
        <p:spPr>
          <a:xfrm>
            <a:off x="5473563" y="5206870"/>
            <a:ext cx="190495" cy="190495"/>
          </a:xfrm>
          <a:prstGeom prst="rect">
            <a:avLst/>
          </a:prstGeom>
        </p:spPr>
      </p:pic>
      <p:sp>
        <p:nvSpPr>
          <p:cNvPr id="75" name="Text 66"/>
          <p:cNvSpPr txBox="1"/>
          <p:nvPr/>
        </p:nvSpPr>
        <p:spPr>
          <a:xfrm>
            <a:off x="5727557" y="5210640"/>
            <a:ext cx="467705"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Kafka</a:t>
            </a:r>
            <a:endParaRPr lang="en-US" sz="1200" dirty="0"/>
          </a:p>
        </p:txBody>
      </p:sp>
      <p:sp>
        <p:nvSpPr>
          <p:cNvPr id="76" name="Text 67"/>
          <p:cNvSpPr txBox="1"/>
          <p:nvPr/>
        </p:nvSpPr>
        <p:spPr>
          <a:xfrm>
            <a:off x="5473563" y="5397365"/>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13 topics + DLT</a:t>
            </a:r>
            <a:endParaRPr lang="en-US" sz="1200" dirty="0"/>
          </a:p>
        </p:txBody>
      </p:sp>
      <p:sp>
        <p:nvSpPr>
          <p:cNvPr id="77" name="Shape 68"/>
          <p:cNvSpPr/>
          <p:nvPr/>
        </p:nvSpPr>
        <p:spPr>
          <a:xfrm>
            <a:off x="7556311" y="5143371"/>
            <a:ext cx="2095448" cy="571486"/>
          </a:xfrm>
          <a:prstGeom prst="roundRect">
            <a:avLst>
              <a:gd name="adj" fmla="val 15556"/>
            </a:avLst>
          </a:prstGeom>
          <a:solidFill>
            <a:srgbClr val="FCFDFF"/>
          </a:solidFill>
          <a:ln w="12700">
            <a:solidFill>
              <a:srgbClr val="2E7D4F"/>
            </a:solidFill>
            <a:prstDash val="solid"/>
          </a:ln>
        </p:spPr>
        <p:txBody>
          <a:bodyPr/>
          <a:p/>
        </p:txBody>
      </p:sp>
      <p:sp>
        <p:nvSpPr>
          <p:cNvPr id="78" name="Shape 69"/>
          <p:cNvSpPr/>
          <p:nvPr/>
        </p:nvSpPr>
        <p:spPr>
          <a:xfrm>
            <a:off x="7556311" y="5143371"/>
            <a:ext cx="50799" cy="571486"/>
          </a:xfrm>
          <a:prstGeom prst="roundRect">
            <a:avLst>
              <a:gd name="adj" fmla="val 50000"/>
            </a:avLst>
          </a:prstGeom>
          <a:solidFill>
            <a:srgbClr val="2E7D4F"/>
          </a:solidFill>
          <a:ln/>
        </p:spPr>
        <p:txBody>
          <a:bodyPr/>
          <a:p/>
        </p:txBody>
      </p:sp>
      <p:pic>
        <p:nvPicPr>
          <p:cNvPr id="79" name="Image 7" descr="preencoded.png">    </p:cNvPr>
          <p:cNvPicPr>
            <a:picLocks noChangeAspect="1"/>
          </p:cNvPicPr>
          <p:nvPr/>
        </p:nvPicPr>
        <p:blipFill>
          <a:blip r:embed="rId8"/>
          <a:stretch>
            <a:fillRect/>
          </a:stretch>
        </p:blipFill>
        <p:spPr>
          <a:xfrm>
            <a:off x="7721407" y="5206870"/>
            <a:ext cx="190495" cy="190495"/>
          </a:xfrm>
          <a:prstGeom prst="rect">
            <a:avLst/>
          </a:prstGeom>
        </p:spPr>
      </p:pic>
      <p:sp>
        <p:nvSpPr>
          <p:cNvPr id="80" name="Text 70"/>
          <p:cNvSpPr txBox="1"/>
          <p:nvPr/>
        </p:nvSpPr>
        <p:spPr>
          <a:xfrm>
            <a:off x="7975401" y="5210640"/>
            <a:ext cx="1166450"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Object storage</a:t>
            </a:r>
            <a:endParaRPr lang="en-US" sz="1200" dirty="0"/>
          </a:p>
        </p:txBody>
      </p:sp>
      <p:sp>
        <p:nvSpPr>
          <p:cNvPr id="81" name="Text 71"/>
          <p:cNvSpPr txBox="1"/>
          <p:nvPr/>
        </p:nvSpPr>
        <p:spPr>
          <a:xfrm>
            <a:off x="7721407" y="5397365"/>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photos, KYC documents</a:t>
            </a:r>
            <a:endParaRPr lang="en-US" sz="1200" dirty="0"/>
          </a:p>
        </p:txBody>
      </p:sp>
      <p:sp>
        <p:nvSpPr>
          <p:cNvPr id="82" name="Shape 72"/>
          <p:cNvSpPr/>
          <p:nvPr/>
        </p:nvSpPr>
        <p:spPr>
          <a:xfrm>
            <a:off x="9905752" y="2539937"/>
            <a:ext cx="1473163" cy="3174921"/>
          </a:xfrm>
          <a:prstGeom prst="roundRect">
            <a:avLst>
              <a:gd name="adj" fmla="val 6034"/>
            </a:avLst>
          </a:prstGeom>
          <a:solidFill>
            <a:srgbClr val="EEF1F6"/>
          </a:solidFill>
          <a:ln w="12700">
            <a:solidFill>
              <a:srgbClr val="5C6B8A"/>
            </a:solidFill>
            <a:prstDash val="dash"/>
          </a:ln>
        </p:spPr>
        <p:txBody>
          <a:bodyPr/>
          <a:p/>
        </p:txBody>
      </p:sp>
      <p:sp>
        <p:nvSpPr>
          <p:cNvPr id="83" name="Text 73"/>
          <p:cNvSpPr txBox="1"/>
          <p:nvPr/>
        </p:nvSpPr>
        <p:spPr>
          <a:xfrm>
            <a:off x="10020049" y="2641534"/>
            <a:ext cx="139391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External</a:t>
            </a:r>
            <a:endParaRPr lang="en-US" sz="1300" dirty="0"/>
          </a:p>
        </p:txBody>
      </p:sp>
      <p:sp>
        <p:nvSpPr>
          <p:cNvPr id="84" name="Text 74"/>
          <p:cNvSpPr txBox="1"/>
          <p:nvPr/>
        </p:nvSpPr>
        <p:spPr>
          <a:xfrm>
            <a:off x="10020049" y="2936107"/>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Razorpay</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live, test mode</a:t>
            </a:r>
            <a:endParaRPr lang="en-US" sz="1200" dirty="0"/>
          </a:p>
        </p:txBody>
      </p:sp>
      <p:sp>
        <p:nvSpPr>
          <p:cNvPr id="85" name="Text 75"/>
          <p:cNvSpPr txBox="1"/>
          <p:nvPr/>
        </p:nvSpPr>
        <p:spPr>
          <a:xfrm>
            <a:off x="10020049" y="3410956"/>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Google, Apple</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live sign-in</a:t>
            </a:r>
            <a:endParaRPr lang="en-US" sz="1200" dirty="0"/>
          </a:p>
        </p:txBody>
      </p:sp>
      <p:sp>
        <p:nvSpPr>
          <p:cNvPr id="86" name="Text 76"/>
          <p:cNvSpPr txBox="1"/>
          <p:nvPr/>
        </p:nvSpPr>
        <p:spPr>
          <a:xfrm>
            <a:off x="10020049" y="3885805"/>
            <a:ext cx="1393917" cy="617026"/>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MSG91 SMS, email</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live (SMTP)</a:t>
            </a:r>
            <a:endParaRPr lang="en-US" sz="1200" dirty="0"/>
          </a:p>
        </p:txBody>
      </p:sp>
      <p:sp>
        <p:nvSpPr>
          <p:cNvPr id="87" name="Text 77"/>
          <p:cNvSpPr txBox="1"/>
          <p:nvPr/>
        </p:nvSpPr>
        <p:spPr>
          <a:xfrm>
            <a:off x="10020049" y="4566330"/>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Push</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stub (no tokens)</a:t>
            </a:r>
            <a:endParaRPr lang="en-US" sz="1200" dirty="0"/>
          </a:p>
        </p:txBody>
      </p:sp>
      <p:sp>
        <p:nvSpPr>
          <p:cNvPr id="88" name="Text 78"/>
          <p:cNvSpPr txBox="1"/>
          <p:nvPr/>
        </p:nvSpPr>
        <p:spPr>
          <a:xfrm>
            <a:off x="10020049" y="5041179"/>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KYC check</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manual</a:t>
            </a:r>
            <a:endParaRPr lang="en-US" sz="1200" dirty="0"/>
          </a:p>
        </p:txBody>
      </p:sp>
      <p:sp>
        <p:nvSpPr>
          <p:cNvPr id="89" name="Shape 79"/>
          <p:cNvSpPr/>
          <p:nvPr/>
        </p:nvSpPr>
        <p:spPr>
          <a:xfrm>
            <a:off x="2082748" y="2285943"/>
            <a:ext cx="63" cy="253994"/>
          </a:xfrm>
          <a:prstGeom prst="line">
            <a:avLst/>
          </a:prstGeom>
          <a:noFill/>
          <a:ln w="19050">
            <a:solidFill>
              <a:srgbClr val="5C6B8A"/>
            </a:solidFill>
            <a:prstDash val="solid"/>
            <a:tailEnd type="triangle"/>
          </a:ln>
        </p:spPr>
        <p:txBody>
          <a:bodyPr/>
          <a:p/>
        </p:txBody>
      </p:sp>
      <p:sp>
        <p:nvSpPr>
          <p:cNvPr id="90" name="Shape 80"/>
          <p:cNvSpPr/>
          <p:nvPr/>
        </p:nvSpPr>
        <p:spPr>
          <a:xfrm>
            <a:off x="3352716" y="2825679"/>
            <a:ext cx="253994" cy="63"/>
          </a:xfrm>
          <a:prstGeom prst="line">
            <a:avLst/>
          </a:prstGeom>
          <a:noFill/>
          <a:ln w="19050">
            <a:solidFill>
              <a:srgbClr val="5C6B8A"/>
            </a:solidFill>
            <a:prstDash val="solid"/>
            <a:tailEnd type="triangle"/>
          </a:ln>
        </p:spPr>
        <p:txBody>
          <a:bodyPr/>
          <a:p/>
        </p:txBody>
      </p:sp>
      <p:sp>
        <p:nvSpPr>
          <p:cNvPr id="91" name="Shape 81"/>
          <p:cNvSpPr/>
          <p:nvPr/>
        </p:nvSpPr>
        <p:spPr>
          <a:xfrm>
            <a:off x="6629234" y="3111422"/>
            <a:ext cx="63" cy="190495"/>
          </a:xfrm>
          <a:prstGeom prst="line">
            <a:avLst/>
          </a:prstGeom>
          <a:noFill/>
          <a:ln w="19050">
            <a:solidFill>
              <a:srgbClr val="5C6B8A"/>
            </a:solidFill>
            <a:prstDash val="solid"/>
            <a:tailEnd type="triangle"/>
          </a:ln>
        </p:spPr>
        <p:txBody>
          <a:bodyPr/>
          <a:p/>
        </p:txBody>
      </p:sp>
      <p:sp>
        <p:nvSpPr>
          <p:cNvPr id="92" name="Shape 82"/>
          <p:cNvSpPr/>
          <p:nvPr/>
        </p:nvSpPr>
        <p:spPr>
          <a:xfrm>
            <a:off x="4444889" y="4889378"/>
            <a:ext cx="63" cy="253994"/>
          </a:xfrm>
          <a:prstGeom prst="line">
            <a:avLst/>
          </a:prstGeom>
          <a:noFill/>
          <a:ln w="19050">
            <a:solidFill>
              <a:srgbClr val="5C6B8A"/>
            </a:solidFill>
            <a:prstDash val="solid"/>
            <a:headEnd type="triangle"/>
            <a:tailEnd type="triangle"/>
          </a:ln>
        </p:spPr>
        <p:txBody>
          <a:bodyPr/>
          <a:p/>
        </p:txBody>
      </p:sp>
      <p:sp>
        <p:nvSpPr>
          <p:cNvPr id="93" name="Shape 83"/>
          <p:cNvSpPr/>
          <p:nvPr/>
        </p:nvSpPr>
        <p:spPr>
          <a:xfrm>
            <a:off x="9651759" y="4095648"/>
            <a:ext cx="253994" cy="63"/>
          </a:xfrm>
          <a:prstGeom prst="line">
            <a:avLst/>
          </a:prstGeom>
          <a:noFill/>
          <a:ln w="19050">
            <a:solidFill>
              <a:srgbClr val="5C6B8A"/>
            </a:solidFill>
            <a:prstDash val="solid"/>
            <a:headEnd type="triangle"/>
            <a:tailEnd type="triangle"/>
          </a:ln>
        </p:spPr>
        <p:txBody>
          <a:bodyPr/>
          <a:p/>
        </p:txBody>
      </p:sp>
      <p:sp>
        <p:nvSpPr>
          <p:cNvPr id="94" name="Text 8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95" name="Text 8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SERVICE MAP</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Twenty services in six colour-coded domains</a:t>
            </a:r>
            <a:endParaRPr lang="en-US" sz="3000" dirty="0"/>
          </a:p>
        </p:txBody>
      </p:sp>
      <p:sp>
        <p:nvSpPr>
          <p:cNvPr id="4" name="Shape 2"/>
          <p:cNvSpPr/>
          <p:nvPr/>
        </p:nvSpPr>
        <p:spPr>
          <a:xfrm>
            <a:off x="812780" y="1775376"/>
            <a:ext cx="3420382" cy="1627941"/>
          </a:xfrm>
          <a:prstGeom prst="roundRect">
            <a:avLst>
              <a:gd name="adj" fmla="val 6241"/>
            </a:avLst>
          </a:prstGeom>
          <a:solidFill>
            <a:srgbClr val="FCFDFF"/>
          </a:solidFill>
          <a:ln w="6350">
            <a:solidFill>
              <a:srgbClr val="D5DEEC"/>
            </a:solidFill>
            <a:prstDash val="solid"/>
          </a:ln>
        </p:spPr>
        <p:txBody>
          <a:bodyPr/>
          <a:p/>
        </p:txBody>
      </p:sp>
      <p:sp>
        <p:nvSpPr>
          <p:cNvPr id="5" name="Shape 3"/>
          <p:cNvSpPr/>
          <p:nvPr/>
        </p:nvSpPr>
        <p:spPr>
          <a:xfrm>
            <a:off x="812780" y="1775376"/>
            <a:ext cx="50799" cy="1627941"/>
          </a:xfrm>
          <a:prstGeom prst="roundRect">
            <a:avLst>
              <a:gd name="adj" fmla="val 50000"/>
            </a:avLst>
          </a:prstGeom>
          <a:solidFill>
            <a:srgbClr val="2454C5"/>
          </a:solidFill>
          <a:ln/>
        </p:spPr>
        <p:txBody>
          <a:bodyPr/>
          <a:p/>
        </p:txBody>
      </p:sp>
      <p:sp>
        <p:nvSpPr>
          <p:cNvPr id="6" name="Shape 4"/>
          <p:cNvSpPr/>
          <p:nvPr/>
        </p:nvSpPr>
        <p:spPr>
          <a:xfrm>
            <a:off x="1015975" y="1934122"/>
            <a:ext cx="330192" cy="330192"/>
          </a:xfrm>
          <a:prstGeom prst="ellipse">
            <a:avLst/>
          </a:prstGeom>
          <a:solidFill>
            <a:srgbClr val="E3EBFA"/>
          </a:solidFill>
          <a:ln/>
        </p:spPr>
        <p:txBody>
          <a:bodyPr/>
          <a:p/>
        </p:txBody>
      </p:sp>
      <p:pic>
        <p:nvPicPr>
          <p:cNvPr id="7" name="Image 0" descr="preencoded.png">    </p:cNvPr>
          <p:cNvPicPr>
            <a:picLocks noChangeAspect="1"/>
          </p:cNvPicPr>
          <p:nvPr/>
        </p:nvPicPr>
        <p:blipFill>
          <a:blip r:embed="rId1"/>
          <a:stretch>
            <a:fillRect/>
          </a:stretch>
        </p:blipFill>
        <p:spPr>
          <a:xfrm>
            <a:off x="1092173" y="2010320"/>
            <a:ext cx="177796" cy="177796"/>
          </a:xfrm>
          <a:prstGeom prst="rect">
            <a:avLst/>
          </a:prstGeom>
        </p:spPr>
      </p:pic>
      <p:sp>
        <p:nvSpPr>
          <p:cNvPr id="8" name="Text 5"/>
          <p:cNvSpPr txBox="1"/>
          <p:nvPr/>
        </p:nvSpPr>
        <p:spPr>
          <a:xfrm>
            <a:off x="1435064" y="1984921"/>
            <a:ext cx="1948084"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Identity and people</a:t>
            </a:r>
            <a:endParaRPr lang="en-US" sz="1500" dirty="0"/>
          </a:p>
        </p:txBody>
      </p:sp>
      <p:sp>
        <p:nvSpPr>
          <p:cNvPr id="9" name="Text 6"/>
          <p:cNvSpPr txBox="1"/>
          <p:nvPr/>
        </p:nvSpPr>
        <p:spPr>
          <a:xfrm>
            <a:off x="1015975" y="2327812"/>
            <a:ext cx="3425454" cy="426630"/>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auth 8081 · customer 8082</a:t>
            </a:r>
            <a:endParaRPr lang="en-US" sz="1200" dirty="0"/>
          </a:p>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provider 8083 · verification 8094</a:t>
            </a:r>
            <a:endParaRPr lang="en-US" sz="1200" dirty="0"/>
          </a:p>
        </p:txBody>
      </p:sp>
      <p:sp>
        <p:nvSpPr>
          <p:cNvPr id="10" name="Text 7"/>
          <p:cNvSpPr txBox="1"/>
          <p:nvPr/>
        </p:nvSpPr>
        <p:spPr>
          <a:xfrm>
            <a:off x="1015975" y="2817940"/>
            <a:ext cx="3425454"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Sign-in, profiles, agencies, KYC and background checks</a:t>
            </a:r>
            <a:endParaRPr lang="en-US" sz="1200" dirty="0"/>
          </a:p>
        </p:txBody>
      </p:sp>
      <p:sp>
        <p:nvSpPr>
          <p:cNvPr id="11" name="Shape 8"/>
          <p:cNvSpPr/>
          <p:nvPr/>
        </p:nvSpPr>
        <p:spPr>
          <a:xfrm>
            <a:off x="4385558" y="1775376"/>
            <a:ext cx="3420481" cy="1627941"/>
          </a:xfrm>
          <a:prstGeom prst="roundRect">
            <a:avLst>
              <a:gd name="adj" fmla="val 6241"/>
            </a:avLst>
          </a:prstGeom>
          <a:solidFill>
            <a:srgbClr val="FCFDFF"/>
          </a:solidFill>
          <a:ln w="6350">
            <a:solidFill>
              <a:srgbClr val="D5DEEC"/>
            </a:solidFill>
            <a:prstDash val="solid"/>
          </a:ln>
        </p:spPr>
        <p:txBody>
          <a:bodyPr/>
          <a:p/>
        </p:txBody>
      </p:sp>
      <p:sp>
        <p:nvSpPr>
          <p:cNvPr id="12" name="Shape 9"/>
          <p:cNvSpPr/>
          <p:nvPr/>
        </p:nvSpPr>
        <p:spPr>
          <a:xfrm>
            <a:off x="4385558" y="1775376"/>
            <a:ext cx="50799" cy="1627941"/>
          </a:xfrm>
          <a:prstGeom prst="roundRect">
            <a:avLst>
              <a:gd name="adj" fmla="val 50000"/>
            </a:avLst>
          </a:prstGeom>
          <a:solidFill>
            <a:srgbClr val="0B7F74"/>
          </a:solidFill>
          <a:ln/>
        </p:spPr>
        <p:txBody>
          <a:bodyPr/>
          <a:p/>
        </p:txBody>
      </p:sp>
      <p:sp>
        <p:nvSpPr>
          <p:cNvPr id="13" name="Shape 10"/>
          <p:cNvSpPr/>
          <p:nvPr/>
        </p:nvSpPr>
        <p:spPr>
          <a:xfrm>
            <a:off x="4588752" y="1934122"/>
            <a:ext cx="330192" cy="330192"/>
          </a:xfrm>
          <a:prstGeom prst="ellipse">
            <a:avLst/>
          </a:prstGeom>
          <a:solidFill>
            <a:srgbClr val="DDF2EF"/>
          </a:solidFill>
          <a:ln/>
        </p:spPr>
        <p:txBody>
          <a:bodyPr/>
          <a:p/>
        </p:txBody>
      </p:sp>
      <p:pic>
        <p:nvPicPr>
          <p:cNvPr id="14" name="Image 1" descr="preencoded.png">    </p:cNvPr>
          <p:cNvPicPr>
            <a:picLocks noChangeAspect="1"/>
          </p:cNvPicPr>
          <p:nvPr/>
        </p:nvPicPr>
        <p:blipFill>
          <a:blip r:embed="rId2"/>
          <a:stretch>
            <a:fillRect/>
          </a:stretch>
        </p:blipFill>
        <p:spPr>
          <a:xfrm>
            <a:off x="4664951" y="2010320"/>
            <a:ext cx="177796" cy="177796"/>
          </a:xfrm>
          <a:prstGeom prst="rect">
            <a:avLst/>
          </a:prstGeom>
        </p:spPr>
      </p:pic>
      <p:sp>
        <p:nvSpPr>
          <p:cNvPr id="15" name="Text 11"/>
          <p:cNvSpPr txBox="1"/>
          <p:nvPr/>
        </p:nvSpPr>
        <p:spPr>
          <a:xfrm>
            <a:off x="5007842" y="1984921"/>
            <a:ext cx="478322"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Jobs</a:t>
            </a:r>
            <a:endParaRPr lang="en-US" sz="1500" dirty="0"/>
          </a:p>
        </p:txBody>
      </p:sp>
      <p:sp>
        <p:nvSpPr>
          <p:cNvPr id="16" name="Text 12"/>
          <p:cNvSpPr txBox="1"/>
          <p:nvPr/>
        </p:nvSpPr>
        <p:spPr>
          <a:xfrm>
            <a:off x="4588752" y="2327812"/>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booking 8084 · dispatch 8087</a:t>
            </a:r>
            <a:endParaRPr lang="en-US" sz="1200" dirty="0"/>
          </a:p>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location 8092 · chat 8093</a:t>
            </a:r>
            <a:endParaRPr lang="en-US" sz="1200" dirty="0"/>
          </a:p>
        </p:txBody>
      </p:sp>
      <p:sp>
        <p:nvSpPr>
          <p:cNvPr id="17" name="Text 13"/>
          <p:cNvSpPr txBox="1"/>
          <p:nvPr/>
        </p:nvSpPr>
        <p:spPr>
          <a:xfrm>
            <a:off x="4588752" y="2817940"/>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Booking state machine, matching and offers, live position, chat</a:t>
            </a:r>
            <a:endParaRPr lang="en-US" sz="1200" dirty="0"/>
          </a:p>
        </p:txBody>
      </p:sp>
      <p:sp>
        <p:nvSpPr>
          <p:cNvPr id="18" name="Shape 14"/>
          <p:cNvSpPr/>
          <p:nvPr/>
        </p:nvSpPr>
        <p:spPr>
          <a:xfrm>
            <a:off x="7958435" y="1775376"/>
            <a:ext cx="3420481" cy="1627941"/>
          </a:xfrm>
          <a:prstGeom prst="roundRect">
            <a:avLst>
              <a:gd name="adj" fmla="val 6241"/>
            </a:avLst>
          </a:prstGeom>
          <a:solidFill>
            <a:srgbClr val="FCFDFF"/>
          </a:solidFill>
          <a:ln w="6350">
            <a:solidFill>
              <a:srgbClr val="D5DEEC"/>
            </a:solidFill>
            <a:prstDash val="solid"/>
          </a:ln>
        </p:spPr>
        <p:txBody>
          <a:bodyPr/>
          <a:p/>
        </p:txBody>
      </p:sp>
      <p:sp>
        <p:nvSpPr>
          <p:cNvPr id="19" name="Shape 15"/>
          <p:cNvSpPr/>
          <p:nvPr/>
        </p:nvSpPr>
        <p:spPr>
          <a:xfrm>
            <a:off x="7958435" y="1775376"/>
            <a:ext cx="50799" cy="1627941"/>
          </a:xfrm>
          <a:prstGeom prst="roundRect">
            <a:avLst>
              <a:gd name="adj" fmla="val 50000"/>
            </a:avLst>
          </a:prstGeom>
          <a:solidFill>
            <a:srgbClr val="6A3FC0"/>
          </a:solidFill>
          <a:ln/>
        </p:spPr>
        <p:txBody>
          <a:bodyPr/>
          <a:p/>
        </p:txBody>
      </p:sp>
      <p:sp>
        <p:nvSpPr>
          <p:cNvPr id="20" name="Shape 16"/>
          <p:cNvSpPr/>
          <p:nvPr/>
        </p:nvSpPr>
        <p:spPr>
          <a:xfrm>
            <a:off x="8161630" y="1934122"/>
            <a:ext cx="330192" cy="330192"/>
          </a:xfrm>
          <a:prstGeom prst="ellipse">
            <a:avLst/>
          </a:prstGeom>
          <a:solidFill>
            <a:srgbClr val="ECE5FA"/>
          </a:solidFill>
          <a:ln/>
        </p:spPr>
        <p:txBody>
          <a:bodyPr/>
          <a:p/>
        </p:txBody>
      </p:sp>
      <p:pic>
        <p:nvPicPr>
          <p:cNvPr id="21" name="Image 2" descr="preencoded.png">    </p:cNvPr>
          <p:cNvPicPr>
            <a:picLocks noChangeAspect="1"/>
          </p:cNvPicPr>
          <p:nvPr/>
        </p:nvPicPr>
        <p:blipFill>
          <a:blip r:embed="rId3"/>
          <a:stretch>
            <a:fillRect/>
          </a:stretch>
        </p:blipFill>
        <p:spPr>
          <a:xfrm>
            <a:off x="8237828" y="2010320"/>
            <a:ext cx="177796" cy="177796"/>
          </a:xfrm>
          <a:prstGeom prst="rect">
            <a:avLst/>
          </a:prstGeom>
        </p:spPr>
      </p:pic>
      <p:sp>
        <p:nvSpPr>
          <p:cNvPr id="22" name="Text 17"/>
          <p:cNvSpPr txBox="1"/>
          <p:nvPr/>
        </p:nvSpPr>
        <p:spPr>
          <a:xfrm>
            <a:off x="8580719" y="1984921"/>
            <a:ext cx="1736174"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Catalog and price</a:t>
            </a:r>
            <a:endParaRPr lang="en-US" sz="1500" dirty="0"/>
          </a:p>
        </p:txBody>
      </p:sp>
      <p:sp>
        <p:nvSpPr>
          <p:cNvPr id="23" name="Text 18"/>
          <p:cNvSpPr txBox="1"/>
          <p:nvPr/>
        </p:nvSpPr>
        <p:spPr>
          <a:xfrm>
            <a:off x="8161630" y="2327812"/>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6A3FC0"/>
                </a:solidFill>
                <a:latin typeface="Courier New" pitchFamily="34" charset="0"/>
                <a:ea typeface="Courier New" pitchFamily="34" charset="-122"/>
                <a:cs typeface="Courier New" pitchFamily="34" charset="-120"/>
              </a:rPr>
              <a:t>catalog 8085 · pricing 8086</a:t>
            </a:r>
            <a:endParaRPr lang="en-US" sz="1200" dirty="0"/>
          </a:p>
          <a:p>
            <a:pPr algn="l" indent="0" marL="0">
              <a:lnSpc>
                <a:spcPct val="116667"/>
              </a:lnSpc>
              <a:buNone/>
            </a:pPr>
            <a:r>
              <a:rPr lang="en-US" sz="1200" dirty="0">
                <a:solidFill>
                  <a:srgbClr val="6A3FC0"/>
                </a:solidFill>
                <a:latin typeface="Courier New" pitchFamily="34" charset="0"/>
                <a:ea typeface="Courier New" pitchFamily="34" charset="-122"/>
                <a:cs typeface="Courier New" pitchFamily="34" charset="-120"/>
              </a:rPr>
              <a:t>promotion 8098</a:t>
            </a:r>
            <a:endParaRPr lang="en-US" sz="1200" dirty="0"/>
          </a:p>
        </p:txBody>
      </p:sp>
      <p:sp>
        <p:nvSpPr>
          <p:cNvPr id="24" name="Text 19"/>
          <p:cNvSpPr txBox="1"/>
          <p:nvPr/>
        </p:nvSpPr>
        <p:spPr>
          <a:xfrm>
            <a:off x="8161630" y="2817940"/>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Categories, estimates with cached config, coupons</a:t>
            </a:r>
            <a:endParaRPr lang="en-US" sz="1200" dirty="0"/>
          </a:p>
        </p:txBody>
      </p:sp>
      <p:sp>
        <p:nvSpPr>
          <p:cNvPr id="25" name="Shape 20"/>
          <p:cNvSpPr/>
          <p:nvPr/>
        </p:nvSpPr>
        <p:spPr>
          <a:xfrm>
            <a:off x="812780" y="3555713"/>
            <a:ext cx="3420382" cy="2054571"/>
          </a:xfrm>
          <a:prstGeom prst="roundRect">
            <a:avLst>
              <a:gd name="adj" fmla="val 4945"/>
            </a:avLst>
          </a:prstGeom>
          <a:solidFill>
            <a:srgbClr val="FCFDFF"/>
          </a:solidFill>
          <a:ln w="6350">
            <a:solidFill>
              <a:srgbClr val="D5DEEC"/>
            </a:solidFill>
            <a:prstDash val="solid"/>
          </a:ln>
        </p:spPr>
        <p:txBody>
          <a:bodyPr/>
          <a:p/>
        </p:txBody>
      </p:sp>
      <p:sp>
        <p:nvSpPr>
          <p:cNvPr id="26" name="Shape 21"/>
          <p:cNvSpPr/>
          <p:nvPr/>
        </p:nvSpPr>
        <p:spPr>
          <a:xfrm>
            <a:off x="812780" y="3555713"/>
            <a:ext cx="50799" cy="2054571"/>
          </a:xfrm>
          <a:prstGeom prst="roundRect">
            <a:avLst>
              <a:gd name="adj" fmla="val 50000"/>
            </a:avLst>
          </a:prstGeom>
          <a:solidFill>
            <a:srgbClr val="B4530F"/>
          </a:solidFill>
          <a:ln/>
        </p:spPr>
        <p:txBody>
          <a:bodyPr/>
          <a:p/>
        </p:txBody>
      </p:sp>
      <p:sp>
        <p:nvSpPr>
          <p:cNvPr id="27" name="Shape 22"/>
          <p:cNvSpPr/>
          <p:nvPr/>
        </p:nvSpPr>
        <p:spPr>
          <a:xfrm>
            <a:off x="1015975" y="3714459"/>
            <a:ext cx="330192" cy="330192"/>
          </a:xfrm>
          <a:prstGeom prst="ellipse">
            <a:avLst/>
          </a:prstGeom>
          <a:solidFill>
            <a:srgbClr val="FCEBDD"/>
          </a:solidFill>
          <a:ln/>
        </p:spPr>
        <p:txBody>
          <a:bodyPr/>
          <a:p/>
        </p:txBody>
      </p:sp>
      <p:pic>
        <p:nvPicPr>
          <p:cNvPr id="28" name="Image 3" descr="preencoded.png">    </p:cNvPr>
          <p:cNvPicPr>
            <a:picLocks noChangeAspect="1"/>
          </p:cNvPicPr>
          <p:nvPr/>
        </p:nvPicPr>
        <p:blipFill>
          <a:blip r:embed="rId4"/>
          <a:stretch>
            <a:fillRect/>
          </a:stretch>
        </p:blipFill>
        <p:spPr>
          <a:xfrm>
            <a:off x="1092173" y="3790657"/>
            <a:ext cx="177796" cy="177796"/>
          </a:xfrm>
          <a:prstGeom prst="rect">
            <a:avLst/>
          </a:prstGeom>
        </p:spPr>
      </p:pic>
      <p:sp>
        <p:nvSpPr>
          <p:cNvPr id="29" name="Text 23"/>
          <p:cNvSpPr txBox="1"/>
          <p:nvPr/>
        </p:nvSpPr>
        <p:spPr>
          <a:xfrm>
            <a:off x="1435064" y="3765257"/>
            <a:ext cx="64956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Money</a:t>
            </a:r>
            <a:endParaRPr lang="en-US" sz="1500" dirty="0"/>
          </a:p>
        </p:txBody>
      </p:sp>
      <p:sp>
        <p:nvSpPr>
          <p:cNvPr id="30" name="Text 24"/>
          <p:cNvSpPr txBox="1"/>
          <p:nvPr/>
        </p:nvSpPr>
        <p:spPr>
          <a:xfrm>
            <a:off x="1015975" y="4108149"/>
            <a:ext cx="3425454"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payment 8088 · invoice 8089</a:t>
            </a:r>
            <a:endParaRPr lang="en-US" sz="1200" dirty="0"/>
          </a:p>
        </p:txBody>
      </p:sp>
      <p:sp>
        <p:nvSpPr>
          <p:cNvPr id="31" name="Text 25"/>
          <p:cNvSpPr txBox="1"/>
          <p:nvPr/>
        </p:nvSpPr>
        <p:spPr>
          <a:xfrm>
            <a:off x="1015975" y="4384962"/>
            <a:ext cx="3425454"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Razorpay charges, refunds, settlements, PDF invoices</a:t>
            </a:r>
            <a:endParaRPr lang="en-US" sz="1200" dirty="0"/>
          </a:p>
        </p:txBody>
      </p:sp>
      <p:sp>
        <p:nvSpPr>
          <p:cNvPr id="32" name="Shape 26"/>
          <p:cNvSpPr/>
          <p:nvPr/>
        </p:nvSpPr>
        <p:spPr>
          <a:xfrm>
            <a:off x="4385558" y="3555713"/>
            <a:ext cx="3420481" cy="2054571"/>
          </a:xfrm>
          <a:prstGeom prst="roundRect">
            <a:avLst>
              <a:gd name="adj" fmla="val 4945"/>
            </a:avLst>
          </a:prstGeom>
          <a:solidFill>
            <a:srgbClr val="FCFDFF"/>
          </a:solidFill>
          <a:ln w="6350">
            <a:solidFill>
              <a:srgbClr val="D5DEEC"/>
            </a:solidFill>
            <a:prstDash val="solid"/>
          </a:ln>
        </p:spPr>
        <p:txBody>
          <a:bodyPr/>
          <a:p/>
        </p:txBody>
      </p:sp>
      <p:sp>
        <p:nvSpPr>
          <p:cNvPr id="33" name="Shape 27"/>
          <p:cNvSpPr/>
          <p:nvPr/>
        </p:nvSpPr>
        <p:spPr>
          <a:xfrm>
            <a:off x="4385558" y="3555713"/>
            <a:ext cx="50799" cy="2054571"/>
          </a:xfrm>
          <a:prstGeom prst="roundRect">
            <a:avLst>
              <a:gd name="adj" fmla="val 50000"/>
            </a:avLst>
          </a:prstGeom>
          <a:solidFill>
            <a:srgbClr val="B8306E"/>
          </a:solidFill>
          <a:ln/>
        </p:spPr>
        <p:txBody>
          <a:bodyPr/>
          <a:p/>
        </p:txBody>
      </p:sp>
      <p:sp>
        <p:nvSpPr>
          <p:cNvPr id="34" name="Shape 28"/>
          <p:cNvSpPr/>
          <p:nvPr/>
        </p:nvSpPr>
        <p:spPr>
          <a:xfrm>
            <a:off x="4588752" y="3714459"/>
            <a:ext cx="330192" cy="330192"/>
          </a:xfrm>
          <a:prstGeom prst="ellipse">
            <a:avLst/>
          </a:prstGeom>
          <a:solidFill>
            <a:srgbClr val="FAE3ED"/>
          </a:solidFill>
          <a:ln/>
        </p:spPr>
        <p:txBody>
          <a:bodyPr/>
          <a:p/>
        </p:txBody>
      </p:sp>
      <p:pic>
        <p:nvPicPr>
          <p:cNvPr id="35" name="Image 4" descr="preencoded.png">    </p:cNvPr>
          <p:cNvPicPr>
            <a:picLocks noChangeAspect="1"/>
          </p:cNvPicPr>
          <p:nvPr/>
        </p:nvPicPr>
        <p:blipFill>
          <a:blip r:embed="rId5"/>
          <a:stretch>
            <a:fillRect/>
          </a:stretch>
        </p:blipFill>
        <p:spPr>
          <a:xfrm>
            <a:off x="4664951" y="3790657"/>
            <a:ext cx="177796" cy="177796"/>
          </a:xfrm>
          <a:prstGeom prst="rect">
            <a:avLst/>
          </a:prstGeom>
        </p:spPr>
      </p:pic>
      <p:sp>
        <p:nvSpPr>
          <p:cNvPr id="36" name="Text 29"/>
          <p:cNvSpPr txBox="1"/>
          <p:nvPr/>
        </p:nvSpPr>
        <p:spPr>
          <a:xfrm>
            <a:off x="5007842" y="3765257"/>
            <a:ext cx="2043315"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Engagement and ops</a:t>
            </a:r>
            <a:endParaRPr lang="en-US" sz="1500" dirty="0"/>
          </a:p>
        </p:txBody>
      </p:sp>
      <p:sp>
        <p:nvSpPr>
          <p:cNvPr id="37" name="Text 30"/>
          <p:cNvSpPr txBox="1"/>
          <p:nvPr/>
        </p:nvSpPr>
        <p:spPr>
          <a:xfrm>
            <a:off x="4588752" y="4108149"/>
            <a:ext cx="3425565" cy="853260"/>
          </a:xfrm>
          <a:prstGeom prst="rect">
            <a:avLst/>
          </a:prstGeom>
          <a:noFill/>
          <a:ln/>
        </p:spPr>
        <p:txBody>
          <a:bodyPr wrap="square" lIns="0" tIns="0" rIns="0" bIns="0" rtlCol="0" anchor="t"/>
          <a:lstStyle/>
          <a:p>
            <a:pPr algn="l" indent="0" marL="0">
              <a:lnSpc>
                <a:spcPct val="116667"/>
              </a:lnSpc>
              <a:buNone/>
            </a:pPr>
            <a:r>
              <a:rPr lang="en-US" sz="1200" dirty="0">
                <a:solidFill>
                  <a:srgbClr val="B8306E"/>
                </a:solidFill>
                <a:latin typeface="Courier New" pitchFamily="34" charset="0"/>
                <a:ea typeface="Courier New" pitchFamily="34" charset="-122"/>
                <a:cs typeface="Courier New" pitchFamily="34" charset="-120"/>
              </a:rPr>
              <a:t>notification 8090 · complaint 8091</a:t>
            </a:r>
            <a:endParaRPr lang="en-US" sz="1200" dirty="0"/>
          </a:p>
          <a:p>
            <a:pPr algn="l" indent="0" marL="0">
              <a:lnSpc>
                <a:spcPct val="116667"/>
              </a:lnSpc>
              <a:buNone/>
            </a:pPr>
            <a:r>
              <a:rPr lang="en-US" sz="1200" dirty="0">
                <a:solidFill>
                  <a:srgbClr val="B8306E"/>
                </a:solidFill>
                <a:latin typeface="Courier New" pitchFamily="34" charset="0"/>
                <a:ea typeface="Courier New" pitchFamily="34" charset="-122"/>
                <a:cs typeface="Courier New" pitchFamily="34" charset="-120"/>
              </a:rPr>
              <a:t>rating 8097 · admin 8095 · reporting 8096</a:t>
            </a:r>
            <a:endParaRPr lang="en-US" sz="1200" dirty="0"/>
          </a:p>
        </p:txBody>
      </p:sp>
      <p:sp>
        <p:nvSpPr>
          <p:cNvPr id="38" name="Text 31"/>
          <p:cNvSpPr txBox="1"/>
          <p:nvPr/>
        </p:nvSpPr>
        <p:spPr>
          <a:xfrm>
            <a:off x="4588752" y="5024907"/>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Notices, complaints with SLA sweep, reviews, audit log</a:t>
            </a:r>
            <a:endParaRPr lang="en-US" sz="1200" dirty="0"/>
          </a:p>
        </p:txBody>
      </p:sp>
      <p:sp>
        <p:nvSpPr>
          <p:cNvPr id="39" name="Shape 32"/>
          <p:cNvSpPr/>
          <p:nvPr/>
        </p:nvSpPr>
        <p:spPr>
          <a:xfrm>
            <a:off x="7958435" y="3555713"/>
            <a:ext cx="3420481" cy="2054571"/>
          </a:xfrm>
          <a:prstGeom prst="roundRect">
            <a:avLst>
              <a:gd name="adj" fmla="val 4945"/>
            </a:avLst>
          </a:prstGeom>
          <a:solidFill>
            <a:srgbClr val="FCFDFF"/>
          </a:solidFill>
          <a:ln w="6350">
            <a:solidFill>
              <a:srgbClr val="D5DEEC"/>
            </a:solidFill>
            <a:prstDash val="solid"/>
          </a:ln>
        </p:spPr>
        <p:txBody>
          <a:bodyPr/>
          <a:p/>
        </p:txBody>
      </p:sp>
      <p:sp>
        <p:nvSpPr>
          <p:cNvPr id="40" name="Shape 33"/>
          <p:cNvSpPr/>
          <p:nvPr/>
        </p:nvSpPr>
        <p:spPr>
          <a:xfrm>
            <a:off x="7958435" y="3555713"/>
            <a:ext cx="50799" cy="2054571"/>
          </a:xfrm>
          <a:prstGeom prst="roundRect">
            <a:avLst>
              <a:gd name="adj" fmla="val 50000"/>
            </a:avLst>
          </a:prstGeom>
          <a:solidFill>
            <a:srgbClr val="3F5F95"/>
          </a:solidFill>
          <a:ln/>
        </p:spPr>
        <p:txBody>
          <a:bodyPr/>
          <a:p/>
        </p:txBody>
      </p:sp>
      <p:sp>
        <p:nvSpPr>
          <p:cNvPr id="41" name="Shape 34"/>
          <p:cNvSpPr/>
          <p:nvPr/>
        </p:nvSpPr>
        <p:spPr>
          <a:xfrm>
            <a:off x="8161630" y="3714459"/>
            <a:ext cx="330192" cy="330192"/>
          </a:xfrm>
          <a:prstGeom prst="ellipse">
            <a:avLst/>
          </a:prstGeom>
          <a:solidFill>
            <a:srgbClr val="E6EBF3"/>
          </a:solidFill>
          <a:ln/>
        </p:spPr>
        <p:txBody>
          <a:bodyPr/>
          <a:p/>
        </p:txBody>
      </p:sp>
      <p:pic>
        <p:nvPicPr>
          <p:cNvPr id="42" name="Image 5" descr="preencoded.png">    </p:cNvPr>
          <p:cNvPicPr>
            <a:picLocks noChangeAspect="1"/>
          </p:cNvPicPr>
          <p:nvPr/>
        </p:nvPicPr>
        <p:blipFill>
          <a:blip r:embed="rId6"/>
          <a:stretch>
            <a:fillRect/>
          </a:stretch>
        </p:blipFill>
        <p:spPr>
          <a:xfrm>
            <a:off x="8237828" y="3790657"/>
            <a:ext cx="177796" cy="177796"/>
          </a:xfrm>
          <a:prstGeom prst="rect">
            <a:avLst/>
          </a:prstGeom>
        </p:spPr>
      </p:pic>
      <p:sp>
        <p:nvSpPr>
          <p:cNvPr id="43" name="Text 35"/>
          <p:cNvSpPr txBox="1"/>
          <p:nvPr/>
        </p:nvSpPr>
        <p:spPr>
          <a:xfrm>
            <a:off x="8580719" y="3765257"/>
            <a:ext cx="860530"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Platform</a:t>
            </a:r>
            <a:endParaRPr lang="en-US" sz="1500" dirty="0"/>
          </a:p>
        </p:txBody>
      </p:sp>
      <p:sp>
        <p:nvSpPr>
          <p:cNvPr id="44" name="Text 36"/>
          <p:cNvSpPr txBox="1"/>
          <p:nvPr/>
        </p:nvSpPr>
        <p:spPr>
          <a:xfrm>
            <a:off x="8161630" y="4108149"/>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3F5F95"/>
                </a:solidFill>
                <a:latin typeface="Courier New" pitchFamily="34" charset="0"/>
                <a:ea typeface="Courier New" pitchFamily="34" charset="-122"/>
                <a:cs typeface="Courier New" pitchFamily="34" charset="-120"/>
              </a:rPr>
              <a:t>api-gateway 8080</a:t>
            </a:r>
            <a:endParaRPr lang="en-US" sz="1200" dirty="0"/>
          </a:p>
          <a:p>
            <a:pPr algn="l" indent="0" marL="0">
              <a:lnSpc>
                <a:spcPct val="116667"/>
              </a:lnSpc>
              <a:buNone/>
            </a:pPr>
            <a:r>
              <a:rPr lang="en-US" sz="1200" dirty="0">
                <a:solidFill>
                  <a:srgbClr val="3F5F95"/>
                </a:solidFill>
                <a:latin typeface="Courier New" pitchFamily="34" charset="0"/>
                <a:ea typeface="Courier New" pitchFamily="34" charset="-122"/>
                <a:cs typeface="Courier New" pitchFamily="34" charset="-120"/>
              </a:rPr>
              <a:t>outbox-processor 8099</a:t>
            </a:r>
            <a:endParaRPr lang="en-US" sz="1200" dirty="0"/>
          </a:p>
        </p:txBody>
      </p:sp>
      <p:sp>
        <p:nvSpPr>
          <p:cNvPr id="45" name="Text 37"/>
          <p:cNvSpPr txBox="1"/>
          <p:nvPr/>
        </p:nvSpPr>
        <p:spPr>
          <a:xfrm>
            <a:off x="8161630" y="4598277"/>
            <a:ext cx="3425565"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Routing, auth, rate limits, outbox relay, shared libraries</a:t>
            </a:r>
            <a:endParaRPr lang="en-US" sz="1200" dirty="0"/>
          </a:p>
        </p:txBody>
      </p:sp>
      <p:sp>
        <p:nvSpPr>
          <p:cNvPr id="46" name="Text 38"/>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47" name="Text 39"/>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IDENTITY AND ACCESS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Every API call is checked three times</a:t>
            </a:r>
            <a:endParaRPr lang="en-US" sz="3000" dirty="0"/>
          </a:p>
        </p:txBody>
      </p:sp>
      <p:sp>
        <p:nvSpPr>
          <p:cNvPr id="4" name="Shape 2"/>
          <p:cNvSpPr/>
          <p:nvPr/>
        </p:nvSpPr>
        <p:spPr>
          <a:xfrm>
            <a:off x="812780" y="2539937"/>
            <a:ext cx="1650959" cy="1269968"/>
          </a:xfrm>
          <a:prstGeom prst="roundRect">
            <a:avLst>
              <a:gd name="adj" fmla="val 7000"/>
            </a:avLst>
          </a:prstGeom>
          <a:solidFill>
            <a:srgbClr val="FCFDFF"/>
          </a:solidFill>
          <a:ln w="12700">
            <a:solidFill>
              <a:srgbClr val="2454C5"/>
            </a:solidFill>
            <a:prstDash val="solid"/>
          </a:ln>
        </p:spPr>
        <p:txBody>
          <a:bodyPr/>
          <a:p/>
        </p:txBody>
      </p:sp>
      <p:sp>
        <p:nvSpPr>
          <p:cNvPr id="5" name="Shape 3"/>
          <p:cNvSpPr/>
          <p:nvPr/>
        </p:nvSpPr>
        <p:spPr>
          <a:xfrm>
            <a:off x="812780" y="2539937"/>
            <a:ext cx="50799" cy="1269968"/>
          </a:xfrm>
          <a:prstGeom prst="roundRect">
            <a:avLst>
              <a:gd name="adj" fmla="val 50000"/>
            </a:avLst>
          </a:prstGeom>
          <a:solidFill>
            <a:srgbClr val="2454C5"/>
          </a:solidFill>
          <a:ln/>
        </p:spPr>
        <p:txBody>
          <a:bodyPr/>
          <a:p/>
        </p:txBody>
      </p:sp>
      <p:pic>
        <p:nvPicPr>
          <p:cNvPr id="6" name="Image 0" descr="preencoded.png">    </p:cNvPr>
          <p:cNvPicPr>
            <a:picLocks noChangeAspect="1"/>
          </p:cNvPicPr>
          <p:nvPr/>
        </p:nvPicPr>
        <p:blipFill>
          <a:blip r:embed="rId1"/>
          <a:stretch>
            <a:fillRect/>
          </a:stretch>
        </p:blipFill>
        <p:spPr>
          <a:xfrm>
            <a:off x="977876" y="2645304"/>
            <a:ext cx="190495" cy="190495"/>
          </a:xfrm>
          <a:prstGeom prst="rect">
            <a:avLst/>
          </a:prstGeom>
        </p:spPr>
      </p:pic>
      <p:sp>
        <p:nvSpPr>
          <p:cNvPr id="7" name="Text 4"/>
          <p:cNvSpPr txBox="1"/>
          <p:nvPr/>
        </p:nvSpPr>
        <p:spPr>
          <a:xfrm>
            <a:off x="1231869" y="2641534"/>
            <a:ext cx="44429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Apps</a:t>
            </a:r>
            <a:endParaRPr lang="en-US" sz="1300" dirty="0"/>
          </a:p>
        </p:txBody>
      </p:sp>
      <p:sp>
        <p:nvSpPr>
          <p:cNvPr id="8" name="Text 5"/>
          <p:cNvSpPr txBox="1"/>
          <p:nvPr/>
        </p:nvSpPr>
        <p:spPr>
          <a:xfrm>
            <a:off x="977876" y="2864969"/>
            <a:ext cx="1521930"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access JWT in memory</a:t>
            </a:r>
            <a:endParaRPr lang="en-US" sz="1200" dirty="0"/>
          </a:p>
        </p:txBody>
      </p:sp>
      <p:sp>
        <p:nvSpPr>
          <p:cNvPr id="9" name="Text 6"/>
          <p:cNvSpPr txBox="1"/>
          <p:nvPr/>
        </p:nvSpPr>
        <p:spPr>
          <a:xfrm>
            <a:off x="977876" y="3301719"/>
            <a:ext cx="1521930"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refresh in localStorage</a:t>
            </a:r>
            <a:endParaRPr lang="en-US" sz="1200" dirty="0"/>
          </a:p>
        </p:txBody>
      </p:sp>
      <p:sp>
        <p:nvSpPr>
          <p:cNvPr id="10" name="Shape 7"/>
          <p:cNvSpPr/>
          <p:nvPr/>
        </p:nvSpPr>
        <p:spPr>
          <a:xfrm>
            <a:off x="2971726" y="1841454"/>
            <a:ext cx="1904952" cy="761981"/>
          </a:xfrm>
          <a:prstGeom prst="roundRect">
            <a:avLst>
              <a:gd name="adj" fmla="val 11667"/>
            </a:avLst>
          </a:prstGeom>
          <a:solidFill>
            <a:srgbClr val="FCFDFF"/>
          </a:solidFill>
          <a:ln w="12700">
            <a:solidFill>
              <a:srgbClr val="3F5F95"/>
            </a:solidFill>
            <a:prstDash val="solid"/>
          </a:ln>
        </p:spPr>
        <p:txBody>
          <a:bodyPr/>
          <a:p/>
        </p:txBody>
      </p:sp>
      <p:sp>
        <p:nvSpPr>
          <p:cNvPr id="11" name="Shape 8"/>
          <p:cNvSpPr/>
          <p:nvPr/>
        </p:nvSpPr>
        <p:spPr>
          <a:xfrm>
            <a:off x="2971726" y="1841454"/>
            <a:ext cx="50799" cy="761981"/>
          </a:xfrm>
          <a:prstGeom prst="roundRect">
            <a:avLst>
              <a:gd name="adj" fmla="val 50000"/>
            </a:avLst>
          </a:prstGeom>
          <a:solidFill>
            <a:srgbClr val="3F5F95"/>
          </a:solidFill>
          <a:ln/>
        </p:spPr>
        <p:txBody>
          <a:bodyPr/>
          <a:p/>
        </p:txBody>
      </p:sp>
      <p:sp>
        <p:nvSpPr>
          <p:cNvPr id="12" name="Text 9"/>
          <p:cNvSpPr txBox="1"/>
          <p:nvPr/>
        </p:nvSpPr>
        <p:spPr>
          <a:xfrm>
            <a:off x="3136822" y="1943051"/>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nginx proxy</a:t>
            </a:r>
            <a:endParaRPr lang="en-US" sz="1300" dirty="0"/>
          </a:p>
        </p:txBody>
      </p:sp>
      <p:sp>
        <p:nvSpPr>
          <p:cNvPr id="13" name="Text 10"/>
          <p:cNvSpPr txBox="1"/>
          <p:nvPr/>
        </p:nvSpPr>
        <p:spPr>
          <a:xfrm>
            <a:off x="3136822" y="2166486"/>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/api/auth/*</a:t>
            </a:r>
            <a:endParaRPr lang="en-US" sz="1200" dirty="0"/>
          </a:p>
        </p:txBody>
      </p:sp>
      <p:sp>
        <p:nvSpPr>
          <p:cNvPr id="14" name="Shape 11"/>
          <p:cNvSpPr/>
          <p:nvPr/>
        </p:nvSpPr>
        <p:spPr>
          <a:xfrm>
            <a:off x="2971726" y="4063898"/>
            <a:ext cx="1904952" cy="888978"/>
          </a:xfrm>
          <a:prstGeom prst="roundRect">
            <a:avLst>
              <a:gd name="adj" fmla="val 10000"/>
            </a:avLst>
          </a:prstGeom>
          <a:solidFill>
            <a:srgbClr val="FCFDFF"/>
          </a:solidFill>
          <a:ln w="12700">
            <a:solidFill>
              <a:srgbClr val="3F5F95"/>
            </a:solidFill>
            <a:prstDash val="solid"/>
          </a:ln>
        </p:spPr>
        <p:txBody>
          <a:bodyPr/>
          <a:p/>
        </p:txBody>
      </p:sp>
      <p:sp>
        <p:nvSpPr>
          <p:cNvPr id="15" name="Shape 12"/>
          <p:cNvSpPr/>
          <p:nvPr/>
        </p:nvSpPr>
        <p:spPr>
          <a:xfrm>
            <a:off x="2971726" y="4063898"/>
            <a:ext cx="50799" cy="888978"/>
          </a:xfrm>
          <a:prstGeom prst="roundRect">
            <a:avLst>
              <a:gd name="adj" fmla="val 50000"/>
            </a:avLst>
          </a:prstGeom>
          <a:solidFill>
            <a:srgbClr val="3F5F95"/>
          </a:solidFill>
          <a:ln/>
        </p:spPr>
        <p:txBody>
          <a:bodyPr/>
          <a:p/>
        </p:txBody>
      </p:sp>
      <p:sp>
        <p:nvSpPr>
          <p:cNvPr id="16" name="Text 13"/>
          <p:cNvSpPr txBox="1"/>
          <p:nvPr/>
        </p:nvSpPr>
        <p:spPr>
          <a:xfrm>
            <a:off x="3136822" y="4165496"/>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Text 14"/>
          <p:cNvSpPr txBox="1"/>
          <p:nvPr/>
        </p:nvSpPr>
        <p:spPr>
          <a:xfrm>
            <a:off x="3136822" y="4388931"/>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introspect, rate limit</a:t>
            </a:r>
            <a:endParaRPr lang="en-US" sz="1200" dirty="0"/>
          </a:p>
        </p:txBody>
      </p:sp>
      <p:sp>
        <p:nvSpPr>
          <p:cNvPr id="18" name="Shape 15"/>
          <p:cNvSpPr/>
          <p:nvPr/>
        </p:nvSpPr>
        <p:spPr>
          <a:xfrm>
            <a:off x="5384665" y="1841454"/>
            <a:ext cx="2158946" cy="1650959"/>
          </a:xfrm>
          <a:prstGeom prst="roundRect">
            <a:avLst>
              <a:gd name="adj" fmla="val 5385"/>
            </a:avLst>
          </a:prstGeom>
          <a:solidFill>
            <a:srgbClr val="FCFDFF"/>
          </a:solidFill>
          <a:ln w="12700">
            <a:solidFill>
              <a:srgbClr val="2454C5"/>
            </a:solidFill>
            <a:prstDash val="solid"/>
          </a:ln>
        </p:spPr>
        <p:txBody>
          <a:bodyPr/>
          <a:p/>
        </p:txBody>
      </p:sp>
      <p:sp>
        <p:nvSpPr>
          <p:cNvPr id="19" name="Shape 16"/>
          <p:cNvSpPr/>
          <p:nvPr/>
        </p:nvSpPr>
        <p:spPr>
          <a:xfrm>
            <a:off x="5384665" y="1841454"/>
            <a:ext cx="50799" cy="1650959"/>
          </a:xfrm>
          <a:prstGeom prst="roundRect">
            <a:avLst>
              <a:gd name="adj" fmla="val 50000"/>
            </a:avLst>
          </a:prstGeom>
          <a:solidFill>
            <a:srgbClr val="2454C5"/>
          </a:solidFill>
          <a:ln/>
        </p:spPr>
        <p:txBody>
          <a:bodyPr/>
          <a:p/>
        </p:txBody>
      </p:sp>
      <p:pic>
        <p:nvPicPr>
          <p:cNvPr id="20" name="Image 1" descr="preencoded.png">    </p:cNvPr>
          <p:cNvPicPr>
            <a:picLocks noChangeAspect="1"/>
          </p:cNvPicPr>
          <p:nvPr/>
        </p:nvPicPr>
        <p:blipFill>
          <a:blip r:embed="rId2"/>
          <a:stretch>
            <a:fillRect/>
          </a:stretch>
        </p:blipFill>
        <p:spPr>
          <a:xfrm>
            <a:off x="5549761" y="1946822"/>
            <a:ext cx="190495" cy="190495"/>
          </a:xfrm>
          <a:prstGeom prst="rect">
            <a:avLst/>
          </a:prstGeom>
        </p:spPr>
      </p:pic>
      <p:sp>
        <p:nvSpPr>
          <p:cNvPr id="21" name="Text 17"/>
          <p:cNvSpPr txBox="1"/>
          <p:nvPr/>
        </p:nvSpPr>
        <p:spPr>
          <a:xfrm>
            <a:off x="5803755" y="1943051"/>
            <a:ext cx="163983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auth-service :8081</a:t>
            </a:r>
            <a:endParaRPr lang="en-US" sz="1300" dirty="0"/>
          </a:p>
        </p:txBody>
      </p:sp>
      <p:sp>
        <p:nvSpPr>
          <p:cNvPr id="22" name="Text 18"/>
          <p:cNvSpPr txBox="1"/>
          <p:nvPr/>
        </p:nvSpPr>
        <p:spPr>
          <a:xfrm>
            <a:off x="5549761" y="216648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(MSG91 SMS)</a:t>
            </a:r>
            <a:endParaRPr lang="en-US" sz="1200" dirty="0"/>
          </a:p>
        </p:txBody>
      </p:sp>
      <p:sp>
        <p:nvSpPr>
          <p:cNvPr id="23" name="Text 19"/>
          <p:cNvSpPr txBox="1"/>
          <p:nvPr/>
        </p:nvSpPr>
        <p:spPr>
          <a:xfrm>
            <a:off x="5549761" y="239756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password, bcrypt 12</a:t>
            </a:r>
            <a:endParaRPr lang="en-US" sz="1200" dirty="0"/>
          </a:p>
        </p:txBody>
      </p:sp>
      <p:sp>
        <p:nvSpPr>
          <p:cNvPr id="24" name="Text 20"/>
          <p:cNvSpPr txBox="1"/>
          <p:nvPr/>
        </p:nvSpPr>
        <p:spPr>
          <a:xfrm>
            <a:off x="5549761" y="262863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Google / Apple OIDC</a:t>
            </a:r>
            <a:endParaRPr lang="en-US" sz="1200" dirty="0"/>
          </a:p>
        </p:txBody>
      </p:sp>
      <p:sp>
        <p:nvSpPr>
          <p:cNvPr id="25" name="Text 21"/>
          <p:cNvSpPr txBox="1"/>
          <p:nvPr/>
        </p:nvSpPr>
        <p:spPr>
          <a:xfrm>
            <a:off x="5549761" y="285971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tokens, invitations</a:t>
            </a:r>
            <a:endParaRPr lang="en-US" sz="1200" dirty="0"/>
          </a:p>
        </p:txBody>
      </p:sp>
      <p:sp>
        <p:nvSpPr>
          <p:cNvPr id="26" name="Shape 22"/>
          <p:cNvSpPr/>
          <p:nvPr/>
        </p:nvSpPr>
        <p:spPr>
          <a:xfrm>
            <a:off x="5384665" y="4063898"/>
            <a:ext cx="2158946" cy="1269968"/>
          </a:xfrm>
          <a:prstGeom prst="roundRect">
            <a:avLst>
              <a:gd name="adj" fmla="val 7000"/>
            </a:avLst>
          </a:prstGeom>
          <a:solidFill>
            <a:srgbClr val="FCFDFF"/>
          </a:solidFill>
          <a:ln w="12700">
            <a:solidFill>
              <a:srgbClr val="0B7F74"/>
            </a:solidFill>
            <a:prstDash val="solid"/>
          </a:ln>
        </p:spPr>
        <p:txBody>
          <a:bodyPr/>
          <a:p/>
        </p:txBody>
      </p:sp>
      <p:sp>
        <p:nvSpPr>
          <p:cNvPr id="27" name="Shape 23"/>
          <p:cNvSpPr/>
          <p:nvPr/>
        </p:nvSpPr>
        <p:spPr>
          <a:xfrm>
            <a:off x="5384665" y="4063898"/>
            <a:ext cx="50799" cy="1269968"/>
          </a:xfrm>
          <a:prstGeom prst="roundRect">
            <a:avLst>
              <a:gd name="adj" fmla="val 50000"/>
            </a:avLst>
          </a:prstGeom>
          <a:solidFill>
            <a:srgbClr val="0B7F74"/>
          </a:solidFill>
          <a:ln/>
        </p:spPr>
        <p:txBody>
          <a:bodyPr/>
          <a:p/>
        </p:txBody>
      </p:sp>
      <p:pic>
        <p:nvPicPr>
          <p:cNvPr id="28" name="Image 2" descr="preencoded.png">    </p:cNvPr>
          <p:cNvPicPr>
            <a:picLocks noChangeAspect="1"/>
          </p:cNvPicPr>
          <p:nvPr/>
        </p:nvPicPr>
        <p:blipFill>
          <a:blip r:embed="rId3"/>
          <a:stretch>
            <a:fillRect/>
          </a:stretch>
        </p:blipFill>
        <p:spPr>
          <a:xfrm>
            <a:off x="5549761" y="4169266"/>
            <a:ext cx="190495" cy="190495"/>
          </a:xfrm>
          <a:prstGeom prst="rect">
            <a:avLst/>
          </a:prstGeom>
        </p:spPr>
      </p:pic>
      <p:sp>
        <p:nvSpPr>
          <p:cNvPr id="29" name="Text 24"/>
          <p:cNvSpPr txBox="1"/>
          <p:nvPr/>
        </p:nvSpPr>
        <p:spPr>
          <a:xfrm>
            <a:off x="5803755" y="4165496"/>
            <a:ext cx="169439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Any domain service</a:t>
            </a:r>
            <a:endParaRPr lang="en-US" sz="1300" dirty="0"/>
          </a:p>
        </p:txBody>
      </p:sp>
      <p:sp>
        <p:nvSpPr>
          <p:cNvPr id="30" name="Text 25"/>
          <p:cNvSpPr txBox="1"/>
          <p:nvPr/>
        </p:nvSpPr>
        <p:spPr>
          <a:xfrm>
            <a:off x="5549761" y="438893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 · JWT filter (HMAC)</a:t>
            </a:r>
            <a:endParaRPr lang="en-US" sz="1200" dirty="0"/>
          </a:p>
        </p:txBody>
      </p:sp>
      <p:sp>
        <p:nvSpPr>
          <p:cNvPr id="31" name="Text 26"/>
          <p:cNvSpPr txBox="1"/>
          <p:nvPr/>
        </p:nvSpPr>
        <p:spPr>
          <a:xfrm>
            <a:off x="5549761" y="462000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2 · RBAC path rules</a:t>
            </a:r>
            <a:endParaRPr lang="en-US" sz="1200" dirty="0"/>
          </a:p>
        </p:txBody>
      </p:sp>
      <p:sp>
        <p:nvSpPr>
          <p:cNvPr id="32" name="Text 27"/>
          <p:cNvSpPr txBox="1"/>
          <p:nvPr/>
        </p:nvSpPr>
        <p:spPr>
          <a:xfrm>
            <a:off x="5549761" y="4851080"/>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3 · ownership check</a:t>
            </a:r>
            <a:endParaRPr lang="en-US" sz="1200" dirty="0"/>
          </a:p>
        </p:txBody>
      </p:sp>
      <p:sp>
        <p:nvSpPr>
          <p:cNvPr id="33" name="Shape 28"/>
          <p:cNvSpPr/>
          <p:nvPr/>
        </p:nvSpPr>
        <p:spPr>
          <a:xfrm>
            <a:off x="8051599" y="1841454"/>
            <a:ext cx="1523962" cy="825479"/>
          </a:xfrm>
          <a:prstGeom prst="roundRect">
            <a:avLst>
              <a:gd name="adj" fmla="val 10769"/>
            </a:avLst>
          </a:prstGeom>
          <a:solidFill>
            <a:srgbClr val="FCFDFF"/>
          </a:solidFill>
          <a:ln w="12700">
            <a:solidFill>
              <a:srgbClr val="C0352B"/>
            </a:solidFill>
            <a:prstDash val="solid"/>
          </a:ln>
        </p:spPr>
        <p:txBody>
          <a:bodyPr/>
          <a:p/>
        </p:txBody>
      </p:sp>
      <p:sp>
        <p:nvSpPr>
          <p:cNvPr id="34" name="Shape 29"/>
          <p:cNvSpPr/>
          <p:nvPr/>
        </p:nvSpPr>
        <p:spPr>
          <a:xfrm>
            <a:off x="8051599" y="1841454"/>
            <a:ext cx="50799" cy="825479"/>
          </a:xfrm>
          <a:prstGeom prst="roundRect">
            <a:avLst>
              <a:gd name="adj" fmla="val 50000"/>
            </a:avLst>
          </a:prstGeom>
          <a:solidFill>
            <a:srgbClr val="C0352B"/>
          </a:solidFill>
          <a:ln/>
        </p:spPr>
        <p:txBody>
          <a:bodyPr/>
          <a:p/>
        </p:txBody>
      </p:sp>
      <p:sp>
        <p:nvSpPr>
          <p:cNvPr id="35" name="Text 30"/>
          <p:cNvSpPr txBox="1"/>
          <p:nvPr/>
        </p:nvSpPr>
        <p:spPr>
          <a:xfrm>
            <a:off x="8216695" y="1943051"/>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36" name="Text 31"/>
          <p:cNvSpPr txBox="1"/>
          <p:nvPr/>
        </p:nvSpPr>
        <p:spPr>
          <a:xfrm>
            <a:off x="8216695" y="2166486"/>
            <a:ext cx="1379694"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refresh, lockouts</a:t>
            </a:r>
            <a:endParaRPr lang="en-US" sz="1200" dirty="0"/>
          </a:p>
        </p:txBody>
      </p:sp>
      <p:sp>
        <p:nvSpPr>
          <p:cNvPr id="37" name="Shape 32"/>
          <p:cNvSpPr/>
          <p:nvPr/>
        </p:nvSpPr>
        <p:spPr>
          <a:xfrm>
            <a:off x="8051599" y="2857429"/>
            <a:ext cx="1523962" cy="825479"/>
          </a:xfrm>
          <a:prstGeom prst="roundRect">
            <a:avLst>
              <a:gd name="adj" fmla="val 10769"/>
            </a:avLst>
          </a:prstGeom>
          <a:solidFill>
            <a:srgbClr val="FCFDFF"/>
          </a:solidFill>
          <a:ln w="12700">
            <a:solidFill>
              <a:srgbClr val="2F5C9A"/>
            </a:solidFill>
            <a:prstDash val="solid"/>
          </a:ln>
        </p:spPr>
        <p:txBody>
          <a:bodyPr/>
          <a:p/>
        </p:txBody>
      </p:sp>
      <p:sp>
        <p:nvSpPr>
          <p:cNvPr id="38" name="Shape 33"/>
          <p:cNvSpPr/>
          <p:nvPr/>
        </p:nvSpPr>
        <p:spPr>
          <a:xfrm>
            <a:off x="8051599" y="2857429"/>
            <a:ext cx="50799" cy="825479"/>
          </a:xfrm>
          <a:prstGeom prst="roundRect">
            <a:avLst>
              <a:gd name="adj" fmla="val 50000"/>
            </a:avLst>
          </a:prstGeom>
          <a:solidFill>
            <a:srgbClr val="2F5C9A"/>
          </a:solidFill>
          <a:ln/>
        </p:spPr>
        <p:txBody>
          <a:bodyPr/>
          <a:p/>
        </p:txBody>
      </p:sp>
      <p:sp>
        <p:nvSpPr>
          <p:cNvPr id="39" name="Text 34"/>
          <p:cNvSpPr txBox="1"/>
          <p:nvPr/>
        </p:nvSpPr>
        <p:spPr>
          <a:xfrm>
            <a:off x="8216695" y="2959026"/>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Postgres · auth</a:t>
            </a:r>
            <a:endParaRPr lang="en-US" sz="1300" dirty="0"/>
          </a:p>
        </p:txBody>
      </p:sp>
      <p:sp>
        <p:nvSpPr>
          <p:cNvPr id="40" name="Text 35"/>
          <p:cNvSpPr txBox="1"/>
          <p:nvPr/>
        </p:nvSpPr>
        <p:spPr>
          <a:xfrm>
            <a:off x="8216695" y="3182461"/>
            <a:ext cx="1379694"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users, roles, invites</a:t>
            </a:r>
            <a:endParaRPr lang="en-US" sz="1200" dirty="0"/>
          </a:p>
        </p:txBody>
      </p:sp>
      <p:sp>
        <p:nvSpPr>
          <p:cNvPr id="41" name="Shape 36"/>
          <p:cNvSpPr/>
          <p:nvPr/>
        </p:nvSpPr>
        <p:spPr>
          <a:xfrm>
            <a:off x="8051599" y="4127397"/>
            <a:ext cx="1523962" cy="761981"/>
          </a:xfrm>
          <a:prstGeom prst="roundRect">
            <a:avLst>
              <a:gd name="adj" fmla="val 11667"/>
            </a:avLst>
          </a:prstGeom>
          <a:solidFill>
            <a:srgbClr val="FCFDFF"/>
          </a:solidFill>
          <a:ln w="12700">
            <a:solidFill>
              <a:srgbClr val="2F5C9A"/>
            </a:solidFill>
            <a:prstDash val="solid"/>
          </a:ln>
        </p:spPr>
        <p:txBody>
          <a:bodyPr/>
          <a:p/>
        </p:txBody>
      </p:sp>
      <p:sp>
        <p:nvSpPr>
          <p:cNvPr id="42" name="Shape 37"/>
          <p:cNvSpPr/>
          <p:nvPr/>
        </p:nvSpPr>
        <p:spPr>
          <a:xfrm>
            <a:off x="8051599" y="4127397"/>
            <a:ext cx="50799" cy="761981"/>
          </a:xfrm>
          <a:prstGeom prst="roundRect">
            <a:avLst>
              <a:gd name="adj" fmla="val 50000"/>
            </a:avLst>
          </a:prstGeom>
          <a:solidFill>
            <a:srgbClr val="2F5C9A"/>
          </a:solidFill>
          <a:ln/>
        </p:spPr>
        <p:txBody>
          <a:bodyPr/>
          <a:p/>
        </p:txBody>
      </p:sp>
      <p:sp>
        <p:nvSpPr>
          <p:cNvPr id="43" name="Text 38"/>
          <p:cNvSpPr txBox="1"/>
          <p:nvPr/>
        </p:nvSpPr>
        <p:spPr>
          <a:xfrm>
            <a:off x="8216695" y="4228994"/>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Own schema</a:t>
            </a:r>
            <a:endParaRPr lang="en-US" sz="1300" dirty="0"/>
          </a:p>
        </p:txBody>
      </p:sp>
      <p:sp>
        <p:nvSpPr>
          <p:cNvPr id="44" name="Text 39"/>
          <p:cNvSpPr txBox="1"/>
          <p:nvPr/>
        </p:nvSpPr>
        <p:spPr>
          <a:xfrm>
            <a:off x="8216695" y="4452429"/>
            <a:ext cx="1379694"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per service</a:t>
            </a:r>
            <a:endParaRPr lang="en-US" sz="1200" dirty="0"/>
          </a:p>
        </p:txBody>
      </p:sp>
      <p:sp>
        <p:nvSpPr>
          <p:cNvPr id="45" name="Shape 40"/>
          <p:cNvSpPr/>
          <p:nvPr/>
        </p:nvSpPr>
        <p:spPr>
          <a:xfrm>
            <a:off x="9854954" y="1841454"/>
            <a:ext cx="1523962" cy="3492413"/>
          </a:xfrm>
          <a:prstGeom prst="roundRect">
            <a:avLst>
              <a:gd name="adj" fmla="val 5833"/>
            </a:avLst>
          </a:prstGeom>
          <a:solidFill>
            <a:srgbClr val="E3EBFA"/>
          </a:solidFill>
          <a:ln/>
        </p:spPr>
        <p:txBody>
          <a:bodyPr/>
          <a:p/>
        </p:txBody>
      </p:sp>
      <p:sp>
        <p:nvSpPr>
          <p:cNvPr id="46" name="Shape 41"/>
          <p:cNvSpPr/>
          <p:nvPr/>
        </p:nvSpPr>
        <p:spPr>
          <a:xfrm>
            <a:off x="9969251" y="1955751"/>
            <a:ext cx="330192" cy="330192"/>
          </a:xfrm>
          <a:prstGeom prst="ellipse">
            <a:avLst/>
          </a:prstGeom>
          <a:solidFill>
            <a:srgbClr val="FCFDFF"/>
          </a:solidFill>
          <a:ln/>
        </p:spPr>
        <p:txBody>
          <a:bodyPr/>
          <a:p/>
        </p:txBody>
      </p:sp>
      <p:pic>
        <p:nvPicPr>
          <p:cNvPr id="47" name="Image 3" descr="preencoded.png">    </p:cNvPr>
          <p:cNvPicPr>
            <a:picLocks noChangeAspect="1"/>
          </p:cNvPicPr>
          <p:nvPr/>
        </p:nvPicPr>
        <p:blipFill>
          <a:blip r:embed="rId4"/>
          <a:stretch>
            <a:fillRect/>
          </a:stretch>
        </p:blipFill>
        <p:spPr>
          <a:xfrm>
            <a:off x="10045449" y="2031949"/>
            <a:ext cx="177796" cy="177796"/>
          </a:xfrm>
          <a:prstGeom prst="rect">
            <a:avLst/>
          </a:prstGeom>
        </p:spPr>
      </p:pic>
      <p:sp>
        <p:nvSpPr>
          <p:cNvPr id="48" name="Text 42"/>
          <p:cNvSpPr txBox="1"/>
          <p:nvPr/>
        </p:nvSpPr>
        <p:spPr>
          <a:xfrm>
            <a:off x="9969251" y="2374841"/>
            <a:ext cx="1450812"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Tokens</a:t>
            </a:r>
            <a:endParaRPr lang="en-US" sz="1300" dirty="0"/>
          </a:p>
        </p:txBody>
      </p:sp>
      <p:sp>
        <p:nvSpPr>
          <p:cNvPr id="49" name="Text 43"/>
          <p:cNvSpPr txBox="1"/>
          <p:nvPr/>
        </p:nvSpPr>
        <p:spPr>
          <a:xfrm>
            <a:off x="9969251" y="2694813"/>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Access JWT, 15 min, HMAC</a:t>
            </a:r>
            <a:endParaRPr lang="en-US" sz="1200" dirty="0"/>
          </a:p>
        </p:txBody>
      </p:sp>
      <p:sp>
        <p:nvSpPr>
          <p:cNvPr id="50" name="Text 44"/>
          <p:cNvSpPr txBox="1"/>
          <p:nvPr/>
        </p:nvSpPr>
        <p:spPr>
          <a:xfrm>
            <a:off x="9969251" y="3195062"/>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opaque, 30 days, rotated</a:t>
            </a:r>
            <a:endParaRPr lang="en-US" sz="1200" dirty="0"/>
          </a:p>
        </p:txBody>
      </p:sp>
      <p:sp>
        <p:nvSpPr>
          <p:cNvPr id="51" name="Text 45"/>
          <p:cNvSpPr txBox="1"/>
          <p:nvPr/>
        </p:nvSpPr>
        <p:spPr>
          <a:xfrm>
            <a:off x="9969251" y="3695310"/>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Replay revokes the whole family</a:t>
            </a:r>
            <a:endParaRPr lang="en-US" sz="1200" dirty="0"/>
          </a:p>
        </p:txBody>
      </p:sp>
      <p:sp>
        <p:nvSpPr>
          <p:cNvPr id="52" name="Text 46"/>
          <p:cNvSpPr txBox="1"/>
          <p:nvPr/>
        </p:nvSpPr>
        <p:spPr>
          <a:xfrm>
            <a:off x="9969251" y="4195558"/>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Staff roles by invitation only</a:t>
            </a:r>
            <a:endParaRPr lang="en-US" sz="1200" dirty="0"/>
          </a:p>
        </p:txBody>
      </p:sp>
      <p:sp>
        <p:nvSpPr>
          <p:cNvPr id="53" name="Shape 47"/>
          <p:cNvSpPr/>
          <p:nvPr/>
        </p:nvSpPr>
        <p:spPr>
          <a:xfrm flipV="1">
            <a:off x="1638259" y="2222444"/>
            <a:ext cx="63" cy="317492"/>
          </a:xfrm>
          <a:prstGeom prst="line">
            <a:avLst/>
          </a:prstGeom>
          <a:noFill/>
          <a:ln w="19050">
            <a:solidFill>
              <a:srgbClr val="5C6B8A"/>
            </a:solidFill>
            <a:prstDash val="solid"/>
          </a:ln>
        </p:spPr>
        <p:txBody>
          <a:bodyPr/>
          <a:p/>
        </p:txBody>
      </p:sp>
      <p:sp>
        <p:nvSpPr>
          <p:cNvPr id="54" name="Shape 48"/>
          <p:cNvSpPr/>
          <p:nvPr/>
        </p:nvSpPr>
        <p:spPr>
          <a:xfrm>
            <a:off x="1638259" y="2222444"/>
            <a:ext cx="1333467" cy="63"/>
          </a:xfrm>
          <a:prstGeom prst="line">
            <a:avLst/>
          </a:prstGeom>
          <a:noFill/>
          <a:ln w="19050">
            <a:solidFill>
              <a:srgbClr val="5C6B8A"/>
            </a:solidFill>
            <a:prstDash val="solid"/>
            <a:tailEnd type="triangle"/>
          </a:ln>
        </p:spPr>
        <p:txBody>
          <a:bodyPr/>
          <a:p/>
        </p:txBody>
      </p:sp>
      <p:sp>
        <p:nvSpPr>
          <p:cNvPr id="55" name="Shape 49"/>
          <p:cNvSpPr/>
          <p:nvPr/>
        </p:nvSpPr>
        <p:spPr>
          <a:xfrm>
            <a:off x="1638259" y="3809905"/>
            <a:ext cx="63" cy="698483"/>
          </a:xfrm>
          <a:prstGeom prst="line">
            <a:avLst/>
          </a:prstGeom>
          <a:noFill/>
          <a:ln w="19050">
            <a:solidFill>
              <a:srgbClr val="5C6B8A"/>
            </a:solidFill>
            <a:prstDash val="solid"/>
          </a:ln>
        </p:spPr>
        <p:txBody>
          <a:bodyPr/>
          <a:p/>
        </p:txBody>
      </p:sp>
      <p:sp>
        <p:nvSpPr>
          <p:cNvPr id="56" name="Shape 50"/>
          <p:cNvSpPr/>
          <p:nvPr/>
        </p:nvSpPr>
        <p:spPr>
          <a:xfrm>
            <a:off x="1638259" y="4508387"/>
            <a:ext cx="1333467" cy="63"/>
          </a:xfrm>
          <a:prstGeom prst="line">
            <a:avLst/>
          </a:prstGeom>
          <a:noFill/>
          <a:ln w="19050">
            <a:solidFill>
              <a:srgbClr val="5C6B8A"/>
            </a:solidFill>
            <a:prstDash val="solid"/>
            <a:tailEnd type="triangle"/>
          </a:ln>
        </p:spPr>
        <p:txBody>
          <a:bodyPr/>
          <a:p/>
        </p:txBody>
      </p:sp>
      <p:sp>
        <p:nvSpPr>
          <p:cNvPr id="57" name="Shape 51"/>
          <p:cNvSpPr/>
          <p:nvPr/>
        </p:nvSpPr>
        <p:spPr>
          <a:xfrm>
            <a:off x="4876678" y="2222444"/>
            <a:ext cx="507987" cy="63"/>
          </a:xfrm>
          <a:prstGeom prst="line">
            <a:avLst/>
          </a:prstGeom>
          <a:noFill/>
          <a:ln w="19050">
            <a:solidFill>
              <a:srgbClr val="5C6B8A"/>
            </a:solidFill>
            <a:prstDash val="solid"/>
            <a:tailEnd type="triangle"/>
          </a:ln>
        </p:spPr>
        <p:txBody>
          <a:bodyPr/>
          <a:p/>
        </p:txBody>
      </p:sp>
      <p:sp>
        <p:nvSpPr>
          <p:cNvPr id="58" name="Shape 52"/>
          <p:cNvSpPr/>
          <p:nvPr/>
        </p:nvSpPr>
        <p:spPr>
          <a:xfrm>
            <a:off x="4876678" y="4508387"/>
            <a:ext cx="507987" cy="63"/>
          </a:xfrm>
          <a:prstGeom prst="line">
            <a:avLst/>
          </a:prstGeom>
          <a:noFill/>
          <a:ln w="19050">
            <a:solidFill>
              <a:srgbClr val="5C6B8A"/>
            </a:solidFill>
            <a:prstDash val="solid"/>
            <a:tailEnd type="triangle"/>
          </a:ln>
        </p:spPr>
        <p:txBody>
          <a:bodyPr/>
          <a:p/>
        </p:txBody>
      </p:sp>
      <p:sp>
        <p:nvSpPr>
          <p:cNvPr id="59" name="Shape 53"/>
          <p:cNvSpPr/>
          <p:nvPr/>
        </p:nvSpPr>
        <p:spPr>
          <a:xfrm flipV="1">
            <a:off x="3924202" y="3746406"/>
            <a:ext cx="63" cy="317492"/>
          </a:xfrm>
          <a:prstGeom prst="line">
            <a:avLst/>
          </a:prstGeom>
          <a:noFill/>
          <a:ln w="19050">
            <a:solidFill>
              <a:srgbClr val="2454C5"/>
            </a:solidFill>
            <a:prstDash val="dash"/>
          </a:ln>
        </p:spPr>
        <p:txBody>
          <a:bodyPr/>
          <a:p/>
        </p:txBody>
      </p:sp>
      <p:sp>
        <p:nvSpPr>
          <p:cNvPr id="60" name="Shape 54"/>
          <p:cNvSpPr/>
          <p:nvPr/>
        </p:nvSpPr>
        <p:spPr>
          <a:xfrm>
            <a:off x="3924202" y="3746406"/>
            <a:ext cx="2539937" cy="63"/>
          </a:xfrm>
          <a:prstGeom prst="line">
            <a:avLst/>
          </a:prstGeom>
          <a:noFill/>
          <a:ln w="19050">
            <a:solidFill>
              <a:srgbClr val="2454C5"/>
            </a:solidFill>
            <a:prstDash val="dash"/>
          </a:ln>
        </p:spPr>
        <p:txBody>
          <a:bodyPr/>
          <a:p/>
        </p:txBody>
      </p:sp>
      <p:sp>
        <p:nvSpPr>
          <p:cNvPr id="61" name="Shape 55"/>
          <p:cNvSpPr/>
          <p:nvPr/>
        </p:nvSpPr>
        <p:spPr>
          <a:xfrm flipV="1">
            <a:off x="6464138" y="3492413"/>
            <a:ext cx="63" cy="253994"/>
          </a:xfrm>
          <a:prstGeom prst="line">
            <a:avLst/>
          </a:prstGeom>
          <a:noFill/>
          <a:ln w="19050">
            <a:solidFill>
              <a:srgbClr val="2454C5"/>
            </a:solidFill>
            <a:prstDash val="dash"/>
            <a:tailEnd type="triangle"/>
          </a:ln>
        </p:spPr>
        <p:txBody>
          <a:bodyPr/>
          <a:p/>
        </p:txBody>
      </p:sp>
      <p:sp>
        <p:nvSpPr>
          <p:cNvPr id="62" name="Text 56"/>
          <p:cNvSpPr txBox="1"/>
          <p:nvPr/>
        </p:nvSpPr>
        <p:spPr>
          <a:xfrm>
            <a:off x="4000400" y="3797205"/>
            <a:ext cx="2133547"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alibri" pitchFamily="34" charset="0"/>
                <a:ea typeface="Calibri" pitchFamily="34" charset="-122"/>
                <a:cs typeface="Calibri" pitchFamily="34" charset="-120"/>
              </a:rPr>
              <a:t>introspect, cached 30 s</a:t>
            </a:r>
            <a:endParaRPr lang="en-US" sz="1200" dirty="0"/>
          </a:p>
        </p:txBody>
      </p:sp>
      <p:sp>
        <p:nvSpPr>
          <p:cNvPr id="63" name="Shape 57"/>
          <p:cNvSpPr/>
          <p:nvPr/>
        </p:nvSpPr>
        <p:spPr>
          <a:xfrm>
            <a:off x="7543611" y="2222444"/>
            <a:ext cx="507987" cy="63"/>
          </a:xfrm>
          <a:prstGeom prst="line">
            <a:avLst/>
          </a:prstGeom>
          <a:noFill/>
          <a:ln w="19050">
            <a:solidFill>
              <a:srgbClr val="5C6B8A"/>
            </a:solidFill>
            <a:prstDash val="solid"/>
            <a:headEnd type="triangle"/>
            <a:tailEnd type="triangle"/>
          </a:ln>
        </p:spPr>
        <p:txBody>
          <a:bodyPr/>
          <a:p/>
        </p:txBody>
      </p:sp>
      <p:sp>
        <p:nvSpPr>
          <p:cNvPr id="64" name="Shape 58"/>
          <p:cNvSpPr/>
          <p:nvPr/>
        </p:nvSpPr>
        <p:spPr>
          <a:xfrm>
            <a:off x="7543611" y="3111422"/>
            <a:ext cx="507987" cy="63"/>
          </a:xfrm>
          <a:prstGeom prst="line">
            <a:avLst/>
          </a:prstGeom>
          <a:noFill/>
          <a:ln w="19050">
            <a:solidFill>
              <a:srgbClr val="5C6B8A"/>
            </a:solidFill>
            <a:prstDash val="solid"/>
            <a:headEnd type="triangle"/>
            <a:tailEnd type="triangle"/>
          </a:ln>
        </p:spPr>
        <p:txBody>
          <a:bodyPr/>
          <a:p/>
        </p:txBody>
      </p:sp>
      <p:sp>
        <p:nvSpPr>
          <p:cNvPr id="65" name="Shape 59"/>
          <p:cNvSpPr/>
          <p:nvPr/>
        </p:nvSpPr>
        <p:spPr>
          <a:xfrm>
            <a:off x="7543611" y="4508387"/>
            <a:ext cx="507987" cy="63"/>
          </a:xfrm>
          <a:prstGeom prst="line">
            <a:avLst/>
          </a:prstGeom>
          <a:noFill/>
          <a:ln w="19050">
            <a:solidFill>
              <a:srgbClr val="5C6B8A"/>
            </a:solidFill>
            <a:prstDash val="solid"/>
            <a:headEnd type="triangle"/>
            <a:tailEnd type="triangle"/>
          </a:ln>
        </p:spPr>
        <p:txBody>
          <a:bodyPr/>
          <a:p/>
        </p:txBody>
      </p:sp>
      <p:sp>
        <p:nvSpPr>
          <p:cNvPr id="66" name="Text 6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67" name="Text 6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BOOKING AND DISPATCH</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Bookings flow out through Kafka; offers live in Redis</a:t>
            </a:r>
            <a:endParaRPr lang="en-US" sz="3000" dirty="0"/>
          </a:p>
        </p:txBody>
      </p:sp>
      <p:sp>
        <p:nvSpPr>
          <p:cNvPr id="4" name="Shape 2"/>
          <p:cNvSpPr/>
          <p:nvPr/>
        </p:nvSpPr>
        <p:spPr>
          <a:xfrm>
            <a:off x="812780" y="1904952"/>
            <a:ext cx="2184345" cy="888978"/>
          </a:xfrm>
          <a:prstGeom prst="roundRect">
            <a:avLst>
              <a:gd name="adj" fmla="val 10000"/>
            </a:avLst>
          </a:prstGeom>
          <a:solidFill>
            <a:srgbClr val="FCFDFF"/>
          </a:solidFill>
          <a:ln w="12700">
            <a:solidFill>
              <a:srgbClr val="2454C5"/>
            </a:solidFill>
            <a:prstDash val="solid"/>
          </a:ln>
        </p:spPr>
        <p:txBody>
          <a:bodyPr/>
          <a:p/>
        </p:txBody>
      </p:sp>
      <p:sp>
        <p:nvSpPr>
          <p:cNvPr id="5" name="Shape 3"/>
          <p:cNvSpPr/>
          <p:nvPr/>
        </p:nvSpPr>
        <p:spPr>
          <a:xfrm>
            <a:off x="812780" y="1904952"/>
            <a:ext cx="50799" cy="888978"/>
          </a:xfrm>
          <a:prstGeom prst="roundRect">
            <a:avLst>
              <a:gd name="adj" fmla="val 50000"/>
            </a:avLst>
          </a:prstGeom>
          <a:solidFill>
            <a:srgbClr val="2454C5"/>
          </a:solidFill>
          <a:ln/>
        </p:spPr>
        <p:txBody>
          <a:bodyPr/>
          <a:p/>
        </p:txBody>
      </p:sp>
      <p:pic>
        <p:nvPicPr>
          <p:cNvPr id="6" name="Image 0" descr="preencoded.png">    </p:cNvPr>
          <p:cNvPicPr>
            <a:picLocks noChangeAspect="1"/>
          </p:cNvPicPr>
          <p:nvPr/>
        </p:nvPicPr>
        <p:blipFill>
          <a:blip r:embed="rId1"/>
          <a:stretch>
            <a:fillRect/>
          </a:stretch>
        </p:blipFill>
        <p:spPr>
          <a:xfrm>
            <a:off x="977876" y="2010320"/>
            <a:ext cx="190495" cy="190495"/>
          </a:xfrm>
          <a:prstGeom prst="rect">
            <a:avLst/>
          </a:prstGeom>
        </p:spPr>
      </p:pic>
      <p:sp>
        <p:nvSpPr>
          <p:cNvPr id="7" name="Text 4"/>
          <p:cNvSpPr txBox="1"/>
          <p:nvPr/>
        </p:nvSpPr>
        <p:spPr>
          <a:xfrm>
            <a:off x="1231869" y="2006550"/>
            <a:ext cx="119378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8" name="Text 5"/>
          <p:cNvSpPr txBox="1"/>
          <p:nvPr/>
        </p:nvSpPr>
        <p:spPr>
          <a:xfrm>
            <a:off x="97787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 and confirm</a:t>
            </a:r>
            <a:endParaRPr lang="en-US" sz="1200" dirty="0"/>
          </a:p>
        </p:txBody>
      </p:sp>
      <p:sp>
        <p:nvSpPr>
          <p:cNvPr id="9" name="Shape 6"/>
          <p:cNvSpPr/>
          <p:nvPr/>
        </p:nvSpPr>
        <p:spPr>
          <a:xfrm>
            <a:off x="3606710" y="1904952"/>
            <a:ext cx="2184345" cy="2539937"/>
          </a:xfrm>
          <a:prstGeom prst="roundRect">
            <a:avLst>
              <a:gd name="adj" fmla="val 4070"/>
            </a:avLst>
          </a:prstGeom>
          <a:solidFill>
            <a:srgbClr val="FCFDFF"/>
          </a:solidFill>
          <a:ln w="12700">
            <a:solidFill>
              <a:srgbClr val="3F5F95"/>
            </a:solidFill>
            <a:prstDash val="solid"/>
          </a:ln>
        </p:spPr>
        <p:txBody>
          <a:bodyPr/>
          <a:p/>
        </p:txBody>
      </p:sp>
      <p:sp>
        <p:nvSpPr>
          <p:cNvPr id="10" name="Shape 7"/>
          <p:cNvSpPr/>
          <p:nvPr/>
        </p:nvSpPr>
        <p:spPr>
          <a:xfrm>
            <a:off x="3606710" y="1904952"/>
            <a:ext cx="50799" cy="2539937"/>
          </a:xfrm>
          <a:prstGeom prst="roundRect">
            <a:avLst>
              <a:gd name="adj" fmla="val 50000"/>
            </a:avLst>
          </a:prstGeom>
          <a:solidFill>
            <a:srgbClr val="3F5F95"/>
          </a:solidFill>
          <a:ln/>
        </p:spPr>
        <p:txBody>
          <a:bodyPr/>
          <a:p/>
        </p:txBody>
      </p:sp>
      <p:pic>
        <p:nvPicPr>
          <p:cNvPr id="11" name="Image 1" descr="preencoded.png">    </p:cNvPr>
          <p:cNvPicPr>
            <a:picLocks noChangeAspect="1"/>
          </p:cNvPicPr>
          <p:nvPr/>
        </p:nvPicPr>
        <p:blipFill>
          <a:blip r:embed="rId2"/>
          <a:stretch>
            <a:fillRect/>
          </a:stretch>
        </p:blipFill>
        <p:spPr>
          <a:xfrm>
            <a:off x="3771806" y="2010320"/>
            <a:ext cx="190495" cy="190495"/>
          </a:xfrm>
          <a:prstGeom prst="rect">
            <a:avLst/>
          </a:prstGeom>
        </p:spPr>
      </p:pic>
      <p:sp>
        <p:nvSpPr>
          <p:cNvPr id="12" name="Text 8"/>
          <p:cNvSpPr txBox="1"/>
          <p:nvPr/>
        </p:nvSpPr>
        <p:spPr>
          <a:xfrm>
            <a:off x="4025799" y="2006550"/>
            <a:ext cx="104588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3" name="Text 9"/>
          <p:cNvSpPr txBox="1"/>
          <p:nvPr/>
        </p:nvSpPr>
        <p:spPr>
          <a:xfrm>
            <a:off x="377180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check</a:t>
            </a:r>
            <a:endParaRPr lang="en-US" sz="1200" dirty="0"/>
          </a:p>
        </p:txBody>
      </p:sp>
      <p:sp>
        <p:nvSpPr>
          <p:cNvPr id="14" name="Text 10"/>
          <p:cNvSpPr txBox="1"/>
          <p:nvPr/>
        </p:nvSpPr>
        <p:spPr>
          <a:xfrm>
            <a:off x="3771806" y="246106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rate limits</a:t>
            </a:r>
            <a:endParaRPr lang="en-US" sz="1200" dirty="0"/>
          </a:p>
        </p:txBody>
      </p:sp>
      <p:sp>
        <p:nvSpPr>
          <p:cNvPr id="15" name="Text 11"/>
          <p:cNvSpPr txBox="1"/>
          <p:nvPr/>
        </p:nvSpPr>
        <p:spPr>
          <a:xfrm>
            <a:off x="3771806" y="269213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routes both apps</a:t>
            </a:r>
            <a:endParaRPr lang="en-US" sz="1200" dirty="0"/>
          </a:p>
        </p:txBody>
      </p:sp>
      <p:sp>
        <p:nvSpPr>
          <p:cNvPr id="16" name="Shape 12"/>
          <p:cNvSpPr/>
          <p:nvPr/>
        </p:nvSpPr>
        <p:spPr>
          <a:xfrm>
            <a:off x="6400640" y="1904952"/>
            <a:ext cx="2184345" cy="888978"/>
          </a:xfrm>
          <a:prstGeom prst="roundRect">
            <a:avLst>
              <a:gd name="adj" fmla="val 10000"/>
            </a:avLst>
          </a:prstGeom>
          <a:solidFill>
            <a:srgbClr val="FCFDFF"/>
          </a:solidFill>
          <a:ln w="12700">
            <a:solidFill>
              <a:srgbClr val="0B7F74"/>
            </a:solidFill>
            <a:prstDash val="solid"/>
          </a:ln>
        </p:spPr>
        <p:txBody>
          <a:bodyPr/>
          <a:p/>
        </p:txBody>
      </p:sp>
      <p:sp>
        <p:nvSpPr>
          <p:cNvPr id="17" name="Shape 13"/>
          <p:cNvSpPr/>
          <p:nvPr/>
        </p:nvSpPr>
        <p:spPr>
          <a:xfrm>
            <a:off x="6400640" y="1904952"/>
            <a:ext cx="50799" cy="888978"/>
          </a:xfrm>
          <a:prstGeom prst="roundRect">
            <a:avLst>
              <a:gd name="adj" fmla="val 50000"/>
            </a:avLst>
          </a:prstGeom>
          <a:solidFill>
            <a:srgbClr val="0B7F74"/>
          </a:solidFill>
          <a:ln/>
        </p:spPr>
        <p:txBody>
          <a:bodyPr/>
          <a:p/>
        </p:txBody>
      </p:sp>
      <p:pic>
        <p:nvPicPr>
          <p:cNvPr id="18" name="Image 2" descr="preencoded.png">    </p:cNvPr>
          <p:cNvPicPr>
            <a:picLocks noChangeAspect="1"/>
          </p:cNvPicPr>
          <p:nvPr/>
        </p:nvPicPr>
        <p:blipFill>
          <a:blip r:embed="rId3"/>
          <a:stretch>
            <a:fillRect/>
          </a:stretch>
        </p:blipFill>
        <p:spPr>
          <a:xfrm>
            <a:off x="6565736" y="2010320"/>
            <a:ext cx="190495" cy="190495"/>
          </a:xfrm>
          <a:prstGeom prst="rect">
            <a:avLst/>
          </a:prstGeom>
        </p:spPr>
      </p:pic>
      <p:sp>
        <p:nvSpPr>
          <p:cNvPr id="19" name="Text 14"/>
          <p:cNvSpPr txBox="1"/>
          <p:nvPr/>
        </p:nvSpPr>
        <p:spPr>
          <a:xfrm>
            <a:off x="6819730" y="2006550"/>
            <a:ext cx="136747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20" name="Text 15"/>
          <p:cNvSpPr txBox="1"/>
          <p:nvPr/>
        </p:nvSpPr>
        <p:spPr>
          <a:xfrm>
            <a:off x="656573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validates, prices, saves</a:t>
            </a:r>
            <a:endParaRPr lang="en-US" sz="1200" dirty="0"/>
          </a:p>
        </p:txBody>
      </p:sp>
      <p:sp>
        <p:nvSpPr>
          <p:cNvPr id="21" name="Shape 16"/>
          <p:cNvSpPr/>
          <p:nvPr/>
        </p:nvSpPr>
        <p:spPr>
          <a:xfrm>
            <a:off x="9194570" y="1904952"/>
            <a:ext cx="2184345" cy="888978"/>
          </a:xfrm>
          <a:prstGeom prst="roundRect">
            <a:avLst>
              <a:gd name="adj" fmla="val 10000"/>
            </a:avLst>
          </a:prstGeom>
          <a:solidFill>
            <a:srgbClr val="FCFDFF"/>
          </a:solidFill>
          <a:ln w="12700">
            <a:solidFill>
              <a:srgbClr val="4B4B9A"/>
            </a:solidFill>
            <a:prstDash val="solid"/>
          </a:ln>
        </p:spPr>
        <p:txBody>
          <a:bodyPr/>
          <a:p/>
        </p:txBody>
      </p:sp>
      <p:sp>
        <p:nvSpPr>
          <p:cNvPr id="22" name="Shape 17"/>
          <p:cNvSpPr/>
          <p:nvPr/>
        </p:nvSpPr>
        <p:spPr>
          <a:xfrm>
            <a:off x="9194570" y="1904952"/>
            <a:ext cx="50799" cy="888978"/>
          </a:xfrm>
          <a:prstGeom prst="roundRect">
            <a:avLst>
              <a:gd name="adj" fmla="val 50000"/>
            </a:avLst>
          </a:prstGeom>
          <a:solidFill>
            <a:srgbClr val="4B4B9A"/>
          </a:solidFill>
          <a:ln/>
        </p:spPr>
        <p:txBody>
          <a:bodyPr/>
          <a:p/>
        </p:txBody>
      </p:sp>
      <p:pic>
        <p:nvPicPr>
          <p:cNvPr id="23" name="Image 3" descr="preencoded.png">    </p:cNvPr>
          <p:cNvPicPr>
            <a:picLocks noChangeAspect="1"/>
          </p:cNvPicPr>
          <p:nvPr/>
        </p:nvPicPr>
        <p:blipFill>
          <a:blip r:embed="rId4"/>
          <a:stretch>
            <a:fillRect/>
          </a:stretch>
        </p:blipFill>
        <p:spPr>
          <a:xfrm>
            <a:off x="9359666" y="2010320"/>
            <a:ext cx="190495" cy="190495"/>
          </a:xfrm>
          <a:prstGeom prst="rect">
            <a:avLst/>
          </a:prstGeom>
        </p:spPr>
      </p:pic>
      <p:sp>
        <p:nvSpPr>
          <p:cNvPr id="24" name="Text 18"/>
          <p:cNvSpPr txBox="1"/>
          <p:nvPr/>
        </p:nvSpPr>
        <p:spPr>
          <a:xfrm>
            <a:off x="9613660" y="2006550"/>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25" name="Text 19"/>
          <p:cNvSpPr txBox="1"/>
          <p:nvPr/>
        </p:nvSpPr>
        <p:spPr>
          <a:xfrm>
            <a:off x="935966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BookingCreated via outbox</a:t>
            </a:r>
            <a:endParaRPr lang="en-US" sz="1200" dirty="0"/>
          </a:p>
        </p:txBody>
      </p:sp>
      <p:sp>
        <p:nvSpPr>
          <p:cNvPr id="26" name="Shape 20"/>
          <p:cNvSpPr/>
          <p:nvPr/>
        </p:nvSpPr>
        <p:spPr>
          <a:xfrm>
            <a:off x="812780" y="3555911"/>
            <a:ext cx="2184345" cy="888978"/>
          </a:xfrm>
          <a:prstGeom prst="roundRect">
            <a:avLst>
              <a:gd name="adj" fmla="val 10000"/>
            </a:avLst>
          </a:prstGeom>
          <a:solidFill>
            <a:srgbClr val="FCFDFF"/>
          </a:solidFill>
          <a:ln w="12700">
            <a:solidFill>
              <a:srgbClr val="0B7F74"/>
            </a:solidFill>
            <a:prstDash val="solid"/>
          </a:ln>
        </p:spPr>
        <p:txBody>
          <a:bodyPr/>
          <a:p/>
        </p:txBody>
      </p:sp>
      <p:sp>
        <p:nvSpPr>
          <p:cNvPr id="27" name="Shape 21"/>
          <p:cNvSpPr/>
          <p:nvPr/>
        </p:nvSpPr>
        <p:spPr>
          <a:xfrm>
            <a:off x="812780" y="3555911"/>
            <a:ext cx="50799" cy="888978"/>
          </a:xfrm>
          <a:prstGeom prst="roundRect">
            <a:avLst>
              <a:gd name="adj" fmla="val 50000"/>
            </a:avLst>
          </a:prstGeom>
          <a:solidFill>
            <a:srgbClr val="0B7F74"/>
          </a:solidFill>
          <a:ln/>
        </p:spPr>
        <p:txBody>
          <a:bodyPr/>
          <a:p/>
        </p:txBody>
      </p:sp>
      <p:pic>
        <p:nvPicPr>
          <p:cNvPr id="28" name="Image 4" descr="preencoded.png">    </p:cNvPr>
          <p:cNvPicPr>
            <a:picLocks noChangeAspect="1"/>
          </p:cNvPicPr>
          <p:nvPr/>
        </p:nvPicPr>
        <p:blipFill>
          <a:blip r:embed="rId5"/>
          <a:stretch>
            <a:fillRect/>
          </a:stretch>
        </p:blipFill>
        <p:spPr>
          <a:xfrm>
            <a:off x="977876" y="3661279"/>
            <a:ext cx="190495" cy="190495"/>
          </a:xfrm>
          <a:prstGeom prst="rect">
            <a:avLst/>
          </a:prstGeom>
        </p:spPr>
      </p:pic>
      <p:sp>
        <p:nvSpPr>
          <p:cNvPr id="29" name="Text 22"/>
          <p:cNvSpPr txBox="1"/>
          <p:nvPr/>
        </p:nvSpPr>
        <p:spPr>
          <a:xfrm>
            <a:off x="1231869" y="3657509"/>
            <a:ext cx="1112889"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Provider app</a:t>
            </a:r>
            <a:endParaRPr lang="en-US" sz="1300" dirty="0"/>
          </a:p>
        </p:txBody>
      </p:sp>
      <p:sp>
        <p:nvSpPr>
          <p:cNvPr id="30" name="Text 23"/>
          <p:cNvSpPr txBox="1"/>
          <p:nvPr/>
        </p:nvSpPr>
        <p:spPr>
          <a:xfrm>
            <a:off x="97787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polls every 5 s, accepts</a:t>
            </a:r>
            <a:endParaRPr lang="en-US" sz="1200" dirty="0"/>
          </a:p>
        </p:txBody>
      </p:sp>
      <p:sp>
        <p:nvSpPr>
          <p:cNvPr id="31" name="Shape 24"/>
          <p:cNvSpPr/>
          <p:nvPr/>
        </p:nvSpPr>
        <p:spPr>
          <a:xfrm>
            <a:off x="6400640" y="3555911"/>
            <a:ext cx="2184345" cy="888978"/>
          </a:xfrm>
          <a:prstGeom prst="roundRect">
            <a:avLst>
              <a:gd name="adj" fmla="val 10000"/>
            </a:avLst>
          </a:prstGeom>
          <a:solidFill>
            <a:srgbClr val="FCFDFF"/>
          </a:solidFill>
          <a:ln w="12700">
            <a:solidFill>
              <a:srgbClr val="0B7F74"/>
            </a:solidFill>
            <a:prstDash val="solid"/>
          </a:ln>
        </p:spPr>
        <p:txBody>
          <a:bodyPr/>
          <a:p/>
        </p:txBody>
      </p:sp>
      <p:sp>
        <p:nvSpPr>
          <p:cNvPr id="32" name="Shape 25"/>
          <p:cNvSpPr/>
          <p:nvPr/>
        </p:nvSpPr>
        <p:spPr>
          <a:xfrm>
            <a:off x="6400640" y="3555911"/>
            <a:ext cx="50799" cy="888978"/>
          </a:xfrm>
          <a:prstGeom prst="roundRect">
            <a:avLst>
              <a:gd name="adj" fmla="val 50000"/>
            </a:avLst>
          </a:prstGeom>
          <a:solidFill>
            <a:srgbClr val="0B7F74"/>
          </a:solidFill>
          <a:ln/>
        </p:spPr>
        <p:txBody>
          <a:bodyPr/>
          <a:p/>
        </p:txBody>
      </p:sp>
      <p:pic>
        <p:nvPicPr>
          <p:cNvPr id="33" name="Image 5" descr="preencoded.png">    </p:cNvPr>
          <p:cNvPicPr>
            <a:picLocks noChangeAspect="1"/>
          </p:cNvPicPr>
          <p:nvPr/>
        </p:nvPicPr>
        <p:blipFill>
          <a:blip r:embed="rId6"/>
          <a:stretch>
            <a:fillRect/>
          </a:stretch>
        </p:blipFill>
        <p:spPr>
          <a:xfrm>
            <a:off x="6565736" y="3661279"/>
            <a:ext cx="190495" cy="190495"/>
          </a:xfrm>
          <a:prstGeom prst="rect">
            <a:avLst/>
          </a:prstGeom>
        </p:spPr>
      </p:pic>
      <p:sp>
        <p:nvSpPr>
          <p:cNvPr id="34" name="Text 26"/>
          <p:cNvSpPr txBox="1"/>
          <p:nvPr/>
        </p:nvSpPr>
        <p:spPr>
          <a:xfrm>
            <a:off x="6819730" y="3657509"/>
            <a:ext cx="137269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dispatch-engine</a:t>
            </a:r>
            <a:endParaRPr lang="en-US" sz="1300" dirty="0"/>
          </a:p>
        </p:txBody>
      </p:sp>
      <p:sp>
        <p:nvSpPr>
          <p:cNvPr id="35" name="Text 27"/>
          <p:cNvSpPr txBox="1"/>
          <p:nvPr/>
        </p:nvSpPr>
        <p:spPr>
          <a:xfrm>
            <a:off x="656573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eligible, score, offer</a:t>
            </a:r>
            <a:endParaRPr lang="en-US" sz="1200" dirty="0"/>
          </a:p>
        </p:txBody>
      </p:sp>
      <p:sp>
        <p:nvSpPr>
          <p:cNvPr id="36" name="Shape 28"/>
          <p:cNvSpPr/>
          <p:nvPr/>
        </p:nvSpPr>
        <p:spPr>
          <a:xfrm>
            <a:off x="9194570" y="3555911"/>
            <a:ext cx="2184345" cy="888978"/>
          </a:xfrm>
          <a:prstGeom prst="roundRect">
            <a:avLst>
              <a:gd name="adj" fmla="val 10000"/>
            </a:avLst>
          </a:prstGeom>
          <a:solidFill>
            <a:srgbClr val="FCFDFF"/>
          </a:solidFill>
          <a:ln w="12700">
            <a:solidFill>
              <a:srgbClr val="C0352B"/>
            </a:solidFill>
            <a:prstDash val="solid"/>
          </a:ln>
        </p:spPr>
        <p:txBody>
          <a:bodyPr/>
          <a:p/>
        </p:txBody>
      </p:sp>
      <p:sp>
        <p:nvSpPr>
          <p:cNvPr id="37" name="Shape 29"/>
          <p:cNvSpPr/>
          <p:nvPr/>
        </p:nvSpPr>
        <p:spPr>
          <a:xfrm>
            <a:off x="9194570" y="3555911"/>
            <a:ext cx="50799" cy="888978"/>
          </a:xfrm>
          <a:prstGeom prst="roundRect">
            <a:avLst>
              <a:gd name="adj" fmla="val 50000"/>
            </a:avLst>
          </a:prstGeom>
          <a:solidFill>
            <a:srgbClr val="C0352B"/>
          </a:solidFill>
          <a:ln/>
        </p:spPr>
        <p:txBody>
          <a:bodyPr/>
          <a:p/>
        </p:txBody>
      </p:sp>
      <p:pic>
        <p:nvPicPr>
          <p:cNvPr id="38" name="Image 6" descr="preencoded.png">    </p:cNvPr>
          <p:cNvPicPr>
            <a:picLocks noChangeAspect="1"/>
          </p:cNvPicPr>
          <p:nvPr/>
        </p:nvPicPr>
        <p:blipFill>
          <a:blip r:embed="rId7"/>
          <a:stretch>
            <a:fillRect/>
          </a:stretch>
        </p:blipFill>
        <p:spPr>
          <a:xfrm>
            <a:off x="9359666" y="3661279"/>
            <a:ext cx="190495" cy="190495"/>
          </a:xfrm>
          <a:prstGeom prst="rect">
            <a:avLst/>
          </a:prstGeom>
        </p:spPr>
      </p:pic>
      <p:sp>
        <p:nvSpPr>
          <p:cNvPr id="39" name="Text 30"/>
          <p:cNvSpPr txBox="1"/>
          <p:nvPr/>
        </p:nvSpPr>
        <p:spPr>
          <a:xfrm>
            <a:off x="9613660" y="3657509"/>
            <a:ext cx="48814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40" name="Text 31"/>
          <p:cNvSpPr txBox="1"/>
          <p:nvPr/>
        </p:nvSpPr>
        <p:spPr>
          <a:xfrm>
            <a:off x="935966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60 s offers, SET NX locks</a:t>
            </a:r>
            <a:endParaRPr lang="en-US" sz="1200" dirty="0"/>
          </a:p>
        </p:txBody>
      </p:sp>
      <p:sp>
        <p:nvSpPr>
          <p:cNvPr id="41" name="Shape 32"/>
          <p:cNvSpPr/>
          <p:nvPr/>
        </p:nvSpPr>
        <p:spPr>
          <a:xfrm>
            <a:off x="812780" y="4952876"/>
            <a:ext cx="4978276" cy="698483"/>
          </a:xfrm>
          <a:prstGeom prst="roundRect">
            <a:avLst>
              <a:gd name="adj" fmla="val 12727"/>
            </a:avLst>
          </a:prstGeom>
          <a:solidFill>
            <a:srgbClr val="DDF2EF"/>
          </a:solidFill>
          <a:ln/>
        </p:spPr>
        <p:txBody>
          <a:bodyPr/>
          <a:p/>
        </p:txBody>
      </p:sp>
      <p:pic>
        <p:nvPicPr>
          <p:cNvPr id="42" name="Image 7" descr="preencoded.png">    </p:cNvPr>
          <p:cNvPicPr>
            <a:picLocks noChangeAspect="1"/>
          </p:cNvPicPr>
          <p:nvPr/>
        </p:nvPicPr>
        <p:blipFill>
          <a:blip r:embed="rId8"/>
          <a:stretch>
            <a:fillRect/>
          </a:stretch>
        </p:blipFill>
        <p:spPr>
          <a:xfrm>
            <a:off x="952476" y="5187820"/>
            <a:ext cx="228594" cy="228594"/>
          </a:xfrm>
          <a:prstGeom prst="rect">
            <a:avLst/>
          </a:prstGeom>
        </p:spPr>
      </p:pic>
      <p:sp>
        <p:nvSpPr>
          <p:cNvPr id="43" name="Text 33"/>
          <p:cNvSpPr txBox="1"/>
          <p:nvPr/>
        </p:nvSpPr>
        <p:spPr>
          <a:xfrm>
            <a:off x="1282668" y="5096442"/>
            <a:ext cx="4892934"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Score = distance + rating + acceptance rate + idle time; the weights sum to 1</a:t>
            </a:r>
            <a:endParaRPr lang="en-US" sz="1200" dirty="0"/>
          </a:p>
        </p:txBody>
      </p:sp>
      <p:sp>
        <p:nvSpPr>
          <p:cNvPr id="44" name="Shape 34"/>
          <p:cNvSpPr/>
          <p:nvPr/>
        </p:nvSpPr>
        <p:spPr>
          <a:xfrm>
            <a:off x="6400640" y="4952876"/>
            <a:ext cx="2184345" cy="698483"/>
          </a:xfrm>
          <a:prstGeom prst="roundRect">
            <a:avLst>
              <a:gd name="adj" fmla="val 12727"/>
            </a:avLst>
          </a:prstGeom>
          <a:solidFill>
            <a:srgbClr val="FCFDFF"/>
          </a:solidFill>
          <a:ln w="12700">
            <a:solidFill>
              <a:srgbClr val="2454C5"/>
            </a:solidFill>
            <a:prstDash val="solid"/>
          </a:ln>
        </p:spPr>
        <p:txBody>
          <a:bodyPr/>
          <a:p/>
        </p:txBody>
      </p:sp>
      <p:sp>
        <p:nvSpPr>
          <p:cNvPr id="45" name="Shape 35"/>
          <p:cNvSpPr/>
          <p:nvPr/>
        </p:nvSpPr>
        <p:spPr>
          <a:xfrm>
            <a:off x="6400640" y="4952876"/>
            <a:ext cx="50799" cy="698483"/>
          </a:xfrm>
          <a:prstGeom prst="roundRect">
            <a:avLst>
              <a:gd name="adj" fmla="val 50000"/>
            </a:avLst>
          </a:prstGeom>
          <a:solidFill>
            <a:srgbClr val="2454C5"/>
          </a:solidFill>
          <a:ln/>
        </p:spPr>
        <p:txBody>
          <a:bodyPr/>
          <a:p/>
        </p:txBody>
      </p:sp>
      <p:sp>
        <p:nvSpPr>
          <p:cNvPr id="46" name="Text 36"/>
          <p:cNvSpPr txBox="1"/>
          <p:nvPr/>
        </p:nvSpPr>
        <p:spPr>
          <a:xfrm>
            <a:off x="6565736" y="5029074"/>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Supply data</a:t>
            </a:r>
            <a:endParaRPr lang="en-US" sz="1300" dirty="0"/>
          </a:p>
        </p:txBody>
      </p:sp>
      <p:sp>
        <p:nvSpPr>
          <p:cNvPr id="47" name="Text 37"/>
          <p:cNvSpPr txBox="1"/>
          <p:nvPr/>
        </p:nvSpPr>
        <p:spPr>
          <a:xfrm>
            <a:off x="6565736" y="52525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providers, addresses</a:t>
            </a:r>
            <a:endParaRPr lang="en-US" sz="1200" dirty="0"/>
          </a:p>
        </p:txBody>
      </p:sp>
      <p:sp>
        <p:nvSpPr>
          <p:cNvPr id="48" name="Shape 38"/>
          <p:cNvSpPr/>
          <p:nvPr/>
        </p:nvSpPr>
        <p:spPr>
          <a:xfrm>
            <a:off x="9194570" y="4952876"/>
            <a:ext cx="2184345" cy="698483"/>
          </a:xfrm>
          <a:prstGeom prst="roundRect">
            <a:avLst>
              <a:gd name="adj" fmla="val 12727"/>
            </a:avLst>
          </a:prstGeom>
          <a:solidFill>
            <a:srgbClr val="FCEBDD"/>
          </a:solidFill>
          <a:ln w="12700">
            <a:solidFill>
              <a:srgbClr val="B4530F"/>
            </a:solidFill>
            <a:prstDash val="dash"/>
          </a:ln>
        </p:spPr>
        <p:txBody>
          <a:bodyPr/>
          <a:p/>
        </p:txBody>
      </p:sp>
      <p:sp>
        <p:nvSpPr>
          <p:cNvPr id="49" name="Shape 39"/>
          <p:cNvSpPr/>
          <p:nvPr/>
        </p:nvSpPr>
        <p:spPr>
          <a:xfrm>
            <a:off x="9194570" y="4952876"/>
            <a:ext cx="50799" cy="698483"/>
          </a:xfrm>
          <a:prstGeom prst="roundRect">
            <a:avLst>
              <a:gd name="adj" fmla="val 50000"/>
            </a:avLst>
          </a:prstGeom>
          <a:solidFill>
            <a:srgbClr val="B4530F"/>
          </a:solidFill>
          <a:ln/>
        </p:spPr>
        <p:txBody>
          <a:bodyPr/>
          <a:p/>
        </p:txBody>
      </p:sp>
      <p:sp>
        <p:nvSpPr>
          <p:cNvPr id="50" name="Text 40"/>
          <p:cNvSpPr txBox="1"/>
          <p:nvPr/>
        </p:nvSpPr>
        <p:spPr>
          <a:xfrm>
            <a:off x="9359666" y="5029074"/>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No taker?</a:t>
            </a:r>
            <a:endParaRPr lang="en-US" sz="1300" dirty="0"/>
          </a:p>
        </p:txBody>
      </p:sp>
      <p:sp>
        <p:nvSpPr>
          <p:cNvPr id="51" name="Text 41"/>
          <p:cNvSpPr txBox="1"/>
          <p:nvPr/>
        </p:nvSpPr>
        <p:spPr>
          <a:xfrm>
            <a:off x="9359666" y="52525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B4530F"/>
                </a:solidFill>
                <a:latin typeface="Calibri" pitchFamily="34" charset="0"/>
                <a:ea typeface="Calibri" pitchFamily="34" charset="-122"/>
                <a:cs typeface="Calibri" pitchFamily="34" charset="-120"/>
              </a:rPr>
              <a:t>agency, else FAILED</a:t>
            </a:r>
            <a:endParaRPr lang="en-US" sz="1200" dirty="0"/>
          </a:p>
        </p:txBody>
      </p:sp>
      <p:sp>
        <p:nvSpPr>
          <p:cNvPr id="52" name="Shape 42"/>
          <p:cNvSpPr/>
          <p:nvPr/>
        </p:nvSpPr>
        <p:spPr>
          <a:xfrm>
            <a:off x="2997125" y="2349441"/>
            <a:ext cx="609585" cy="63"/>
          </a:xfrm>
          <a:prstGeom prst="line">
            <a:avLst/>
          </a:prstGeom>
          <a:noFill/>
          <a:ln w="19050">
            <a:solidFill>
              <a:srgbClr val="5C6B8A"/>
            </a:solidFill>
            <a:prstDash val="solid"/>
            <a:tailEnd type="triangle"/>
          </a:ln>
        </p:spPr>
        <p:txBody>
          <a:bodyPr/>
          <a:p/>
        </p:txBody>
      </p:sp>
      <p:sp>
        <p:nvSpPr>
          <p:cNvPr id="53" name="Shape 43"/>
          <p:cNvSpPr/>
          <p:nvPr/>
        </p:nvSpPr>
        <p:spPr>
          <a:xfrm>
            <a:off x="5791055" y="2349441"/>
            <a:ext cx="609585" cy="63"/>
          </a:xfrm>
          <a:prstGeom prst="line">
            <a:avLst/>
          </a:prstGeom>
          <a:noFill/>
          <a:ln w="19050">
            <a:solidFill>
              <a:srgbClr val="5C6B8A"/>
            </a:solidFill>
            <a:prstDash val="solid"/>
            <a:tailEnd type="triangle"/>
          </a:ln>
        </p:spPr>
        <p:txBody>
          <a:bodyPr/>
          <a:p/>
        </p:txBody>
      </p:sp>
      <p:sp>
        <p:nvSpPr>
          <p:cNvPr id="54" name="Shape 44"/>
          <p:cNvSpPr/>
          <p:nvPr/>
        </p:nvSpPr>
        <p:spPr>
          <a:xfrm>
            <a:off x="8584985" y="2349441"/>
            <a:ext cx="609585" cy="63"/>
          </a:xfrm>
          <a:prstGeom prst="line">
            <a:avLst/>
          </a:prstGeom>
          <a:noFill/>
          <a:ln w="19050">
            <a:solidFill>
              <a:srgbClr val="5C6B8A"/>
            </a:solidFill>
            <a:prstDash val="solid"/>
            <a:tailEnd type="triangle"/>
          </a:ln>
        </p:spPr>
        <p:txBody>
          <a:bodyPr/>
          <a:p/>
        </p:txBody>
      </p:sp>
      <p:sp>
        <p:nvSpPr>
          <p:cNvPr id="55" name="Shape 45"/>
          <p:cNvSpPr/>
          <p:nvPr/>
        </p:nvSpPr>
        <p:spPr>
          <a:xfrm>
            <a:off x="10286743" y="2793930"/>
            <a:ext cx="63" cy="380990"/>
          </a:xfrm>
          <a:prstGeom prst="line">
            <a:avLst/>
          </a:prstGeom>
          <a:noFill/>
          <a:ln w="19050">
            <a:solidFill>
              <a:srgbClr val="4B4B9A"/>
            </a:solidFill>
            <a:prstDash val="solid"/>
          </a:ln>
        </p:spPr>
        <p:txBody>
          <a:bodyPr/>
          <a:p/>
        </p:txBody>
      </p:sp>
      <p:sp>
        <p:nvSpPr>
          <p:cNvPr id="56" name="Shape 46"/>
          <p:cNvSpPr/>
          <p:nvPr/>
        </p:nvSpPr>
        <p:spPr>
          <a:xfrm flipH="1">
            <a:off x="8000800" y="3174921"/>
            <a:ext cx="2285943" cy="63"/>
          </a:xfrm>
          <a:prstGeom prst="line">
            <a:avLst/>
          </a:prstGeom>
          <a:noFill/>
          <a:ln w="19050">
            <a:solidFill>
              <a:srgbClr val="4B4B9A"/>
            </a:solidFill>
            <a:prstDash val="solid"/>
          </a:ln>
        </p:spPr>
        <p:txBody>
          <a:bodyPr/>
          <a:p/>
        </p:txBody>
      </p:sp>
      <p:sp>
        <p:nvSpPr>
          <p:cNvPr id="57" name="Shape 47"/>
          <p:cNvSpPr/>
          <p:nvPr/>
        </p:nvSpPr>
        <p:spPr>
          <a:xfrm>
            <a:off x="8000800" y="3174921"/>
            <a:ext cx="63" cy="380990"/>
          </a:xfrm>
          <a:prstGeom prst="line">
            <a:avLst/>
          </a:prstGeom>
          <a:noFill/>
          <a:ln w="19050">
            <a:solidFill>
              <a:srgbClr val="4B4B9A"/>
            </a:solidFill>
            <a:prstDash val="solid"/>
            <a:tailEnd type="triangle"/>
          </a:ln>
        </p:spPr>
        <p:txBody>
          <a:bodyPr/>
          <a:p/>
        </p:txBody>
      </p:sp>
      <p:sp>
        <p:nvSpPr>
          <p:cNvPr id="58" name="Text 48"/>
          <p:cNvSpPr txBox="1"/>
          <p:nvPr/>
        </p:nvSpPr>
        <p:spPr>
          <a:xfrm>
            <a:off x="8191295" y="3225719"/>
            <a:ext cx="1849074" cy="213355"/>
          </a:xfrm>
          <a:prstGeom prst="rect">
            <a:avLst/>
          </a:prstGeom>
          <a:noFill/>
          <a:ln/>
        </p:spPr>
        <p:txBody>
          <a:bodyPr wrap="square" lIns="0" tIns="0" rIns="0" bIns="0" rtlCol="0" anchor="t"/>
          <a:lstStyle/>
          <a:p>
            <a:pPr algn="l" indent="0" marL="0">
              <a:lnSpc>
                <a:spcPct val="116667"/>
              </a:lnSpc>
              <a:buNone/>
            </a:pPr>
            <a:r>
              <a:rPr lang="en-US" sz="1200" dirty="0">
                <a:solidFill>
                  <a:srgbClr val="4B4B9A"/>
                </a:solidFill>
                <a:latin typeface="Calibri" pitchFamily="34" charset="0"/>
                <a:ea typeface="Calibri" pitchFamily="34" charset="-122"/>
                <a:cs typeface="Calibri" pitchFamily="34" charset="-120"/>
              </a:rPr>
              <a:t>BookingCreated</a:t>
            </a:r>
            <a:endParaRPr lang="en-US" sz="1200" dirty="0"/>
          </a:p>
        </p:txBody>
      </p:sp>
      <p:sp>
        <p:nvSpPr>
          <p:cNvPr id="59" name="Shape 49"/>
          <p:cNvSpPr/>
          <p:nvPr/>
        </p:nvSpPr>
        <p:spPr>
          <a:xfrm flipV="1">
            <a:off x="6730832" y="2793930"/>
            <a:ext cx="63" cy="761981"/>
          </a:xfrm>
          <a:prstGeom prst="line">
            <a:avLst/>
          </a:prstGeom>
          <a:noFill/>
          <a:ln w="19050">
            <a:solidFill>
              <a:srgbClr val="0B7F74"/>
            </a:solidFill>
            <a:prstDash val="solid"/>
            <a:tailEnd type="triangle"/>
          </a:ln>
        </p:spPr>
        <p:txBody>
          <a:bodyPr/>
          <a:p/>
        </p:txBody>
      </p:sp>
      <p:sp>
        <p:nvSpPr>
          <p:cNvPr id="60" name="Text 50"/>
          <p:cNvSpPr txBox="1"/>
          <p:nvPr/>
        </p:nvSpPr>
        <p:spPr>
          <a:xfrm>
            <a:off x="6807030" y="2870128"/>
            <a:ext cx="711182" cy="213355"/>
          </a:xfrm>
          <a:prstGeom prst="rect">
            <a:avLst/>
          </a:prstGeom>
          <a:noFill/>
          <a:ln/>
        </p:spPr>
        <p:txBody>
          <a:bodyPr wrap="square" lIns="0" tIns="0" rIns="0" bIns="0" rtlCol="0" anchor="t"/>
          <a:lstStyle/>
          <a:p>
            <a:pPr algn="l" indent="0" marL="0">
              <a:lnSpc>
                <a:spcPct val="116667"/>
              </a:lnSpc>
              <a:buNone/>
            </a:pPr>
            <a:r>
              <a:rPr lang="en-US" sz="1200" dirty="0">
                <a:solidFill>
                  <a:srgbClr val="0B7F74"/>
                </a:solidFill>
                <a:latin typeface="Calibri" pitchFamily="34" charset="0"/>
                <a:ea typeface="Calibri" pitchFamily="34" charset="-122"/>
                <a:cs typeface="Calibri" pitchFamily="34" charset="-120"/>
              </a:rPr>
              <a:t>accept</a:t>
            </a:r>
            <a:endParaRPr lang="en-US" sz="1200" dirty="0"/>
          </a:p>
        </p:txBody>
      </p:sp>
      <p:sp>
        <p:nvSpPr>
          <p:cNvPr id="61" name="Shape 51"/>
          <p:cNvSpPr/>
          <p:nvPr/>
        </p:nvSpPr>
        <p:spPr>
          <a:xfrm>
            <a:off x="2997125" y="4000400"/>
            <a:ext cx="609585" cy="63"/>
          </a:xfrm>
          <a:prstGeom prst="line">
            <a:avLst/>
          </a:prstGeom>
          <a:noFill/>
          <a:ln w="19050">
            <a:solidFill>
              <a:srgbClr val="5C6B8A"/>
            </a:solidFill>
            <a:prstDash val="solid"/>
            <a:headEnd type="triangle"/>
            <a:tailEnd type="triangle"/>
          </a:ln>
        </p:spPr>
        <p:txBody>
          <a:bodyPr/>
          <a:p/>
        </p:txBody>
      </p:sp>
      <p:sp>
        <p:nvSpPr>
          <p:cNvPr id="62" name="Shape 52"/>
          <p:cNvSpPr/>
          <p:nvPr/>
        </p:nvSpPr>
        <p:spPr>
          <a:xfrm>
            <a:off x="5791055" y="4000400"/>
            <a:ext cx="609585" cy="63"/>
          </a:xfrm>
          <a:prstGeom prst="line">
            <a:avLst/>
          </a:prstGeom>
          <a:noFill/>
          <a:ln w="19050">
            <a:solidFill>
              <a:srgbClr val="5C6B8A"/>
            </a:solidFill>
            <a:prstDash val="solid"/>
            <a:headEnd type="triangle"/>
            <a:tailEnd type="triangle"/>
          </a:ln>
        </p:spPr>
        <p:txBody>
          <a:bodyPr/>
          <a:p/>
        </p:txBody>
      </p:sp>
      <p:sp>
        <p:nvSpPr>
          <p:cNvPr id="63" name="Shape 53"/>
          <p:cNvSpPr/>
          <p:nvPr/>
        </p:nvSpPr>
        <p:spPr>
          <a:xfrm>
            <a:off x="8584985" y="4000400"/>
            <a:ext cx="609585" cy="63"/>
          </a:xfrm>
          <a:prstGeom prst="line">
            <a:avLst/>
          </a:prstGeom>
          <a:noFill/>
          <a:ln w="19050">
            <a:solidFill>
              <a:srgbClr val="5C6B8A"/>
            </a:solidFill>
            <a:prstDash val="solid"/>
            <a:headEnd type="triangle"/>
            <a:tailEnd type="triangle"/>
          </a:ln>
        </p:spPr>
        <p:txBody>
          <a:bodyPr/>
          <a:p/>
        </p:txBody>
      </p:sp>
      <p:sp>
        <p:nvSpPr>
          <p:cNvPr id="64" name="Shape 54"/>
          <p:cNvSpPr/>
          <p:nvPr/>
        </p:nvSpPr>
        <p:spPr>
          <a:xfrm flipV="1">
            <a:off x="7492813" y="4444889"/>
            <a:ext cx="63" cy="507987"/>
          </a:xfrm>
          <a:prstGeom prst="line">
            <a:avLst/>
          </a:prstGeom>
          <a:noFill/>
          <a:ln w="19050">
            <a:solidFill>
              <a:srgbClr val="5C6B8A"/>
            </a:solidFill>
            <a:prstDash val="solid"/>
            <a:tailEnd type="triangle"/>
          </a:ln>
        </p:spPr>
        <p:txBody>
          <a:bodyPr/>
          <a:p/>
        </p:txBody>
      </p:sp>
      <p:sp>
        <p:nvSpPr>
          <p:cNvPr id="65" name="Text 55"/>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66" name="Text 56"/>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PAYMENTS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Razorpay confirms the charge twice before money counts</a:t>
            </a:r>
            <a:endParaRPr lang="en-US" sz="3000" dirty="0"/>
          </a:p>
        </p:txBody>
      </p:sp>
      <p:sp>
        <p:nvSpPr>
          <p:cNvPr id="4" name="Shape 2"/>
          <p:cNvSpPr/>
          <p:nvPr/>
        </p:nvSpPr>
        <p:spPr>
          <a:xfrm>
            <a:off x="812780" y="1904952"/>
            <a:ext cx="2184345" cy="888978"/>
          </a:xfrm>
          <a:prstGeom prst="roundRect">
            <a:avLst>
              <a:gd name="adj" fmla="val 10000"/>
            </a:avLst>
          </a:prstGeom>
          <a:solidFill>
            <a:srgbClr val="FCFDFF"/>
          </a:solidFill>
          <a:ln w="12700">
            <a:solidFill>
              <a:srgbClr val="2454C5"/>
            </a:solidFill>
            <a:prstDash val="solid"/>
          </a:ln>
        </p:spPr>
        <p:txBody>
          <a:bodyPr/>
          <a:p/>
        </p:txBody>
      </p:sp>
      <p:sp>
        <p:nvSpPr>
          <p:cNvPr id="5" name="Shape 3"/>
          <p:cNvSpPr/>
          <p:nvPr/>
        </p:nvSpPr>
        <p:spPr>
          <a:xfrm>
            <a:off x="812780" y="1904952"/>
            <a:ext cx="50799" cy="888978"/>
          </a:xfrm>
          <a:prstGeom prst="roundRect">
            <a:avLst>
              <a:gd name="adj" fmla="val 50000"/>
            </a:avLst>
          </a:prstGeom>
          <a:solidFill>
            <a:srgbClr val="2454C5"/>
          </a:solidFill>
          <a:ln/>
        </p:spPr>
        <p:txBody>
          <a:bodyPr/>
          <a:p/>
        </p:txBody>
      </p:sp>
      <p:pic>
        <p:nvPicPr>
          <p:cNvPr id="6" name="Image 0" descr="preencoded.png">    </p:cNvPr>
          <p:cNvPicPr>
            <a:picLocks noChangeAspect="1"/>
          </p:cNvPicPr>
          <p:nvPr/>
        </p:nvPicPr>
        <p:blipFill>
          <a:blip r:embed="rId1"/>
          <a:stretch>
            <a:fillRect/>
          </a:stretch>
        </p:blipFill>
        <p:spPr>
          <a:xfrm>
            <a:off x="977876" y="2010320"/>
            <a:ext cx="190495" cy="190495"/>
          </a:xfrm>
          <a:prstGeom prst="rect">
            <a:avLst/>
          </a:prstGeom>
        </p:spPr>
      </p:pic>
      <p:sp>
        <p:nvSpPr>
          <p:cNvPr id="7" name="Text 4"/>
          <p:cNvSpPr txBox="1"/>
          <p:nvPr/>
        </p:nvSpPr>
        <p:spPr>
          <a:xfrm>
            <a:off x="1231869" y="2006550"/>
            <a:ext cx="119378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8" name="Text 5"/>
          <p:cNvSpPr txBox="1"/>
          <p:nvPr/>
        </p:nvSpPr>
        <p:spPr>
          <a:xfrm>
            <a:off x="97787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pays a completed job</a:t>
            </a:r>
            <a:endParaRPr lang="en-US" sz="1200" dirty="0"/>
          </a:p>
        </p:txBody>
      </p:sp>
      <p:sp>
        <p:nvSpPr>
          <p:cNvPr id="9" name="Shape 6"/>
          <p:cNvSpPr/>
          <p:nvPr/>
        </p:nvSpPr>
        <p:spPr>
          <a:xfrm>
            <a:off x="812780" y="3301917"/>
            <a:ext cx="2184345" cy="888978"/>
          </a:xfrm>
          <a:prstGeom prst="roundRect">
            <a:avLst>
              <a:gd name="adj" fmla="val 10000"/>
            </a:avLst>
          </a:prstGeom>
          <a:solidFill>
            <a:srgbClr val="FCFDFF"/>
          </a:solidFill>
          <a:ln w="12700">
            <a:solidFill>
              <a:srgbClr val="B4530F"/>
            </a:solidFill>
            <a:prstDash val="solid"/>
          </a:ln>
        </p:spPr>
        <p:txBody>
          <a:bodyPr/>
          <a:p/>
        </p:txBody>
      </p:sp>
      <p:sp>
        <p:nvSpPr>
          <p:cNvPr id="10" name="Shape 7"/>
          <p:cNvSpPr/>
          <p:nvPr/>
        </p:nvSpPr>
        <p:spPr>
          <a:xfrm>
            <a:off x="812780" y="3301917"/>
            <a:ext cx="50799" cy="888978"/>
          </a:xfrm>
          <a:prstGeom prst="roundRect">
            <a:avLst>
              <a:gd name="adj" fmla="val 50000"/>
            </a:avLst>
          </a:prstGeom>
          <a:solidFill>
            <a:srgbClr val="B4530F"/>
          </a:solidFill>
          <a:ln/>
        </p:spPr>
        <p:txBody>
          <a:bodyPr/>
          <a:p/>
        </p:txBody>
      </p:sp>
      <p:pic>
        <p:nvPicPr>
          <p:cNvPr id="11" name="Image 1" descr="preencoded.png">    </p:cNvPr>
          <p:cNvPicPr>
            <a:picLocks noChangeAspect="1"/>
          </p:cNvPicPr>
          <p:nvPr/>
        </p:nvPicPr>
        <p:blipFill>
          <a:blip r:embed="rId2"/>
          <a:stretch>
            <a:fillRect/>
          </a:stretch>
        </p:blipFill>
        <p:spPr>
          <a:xfrm>
            <a:off x="977876" y="3407285"/>
            <a:ext cx="190495" cy="190495"/>
          </a:xfrm>
          <a:prstGeom prst="rect">
            <a:avLst/>
          </a:prstGeom>
        </p:spPr>
      </p:pic>
      <p:sp>
        <p:nvSpPr>
          <p:cNvPr id="12" name="Text 8"/>
          <p:cNvSpPr txBox="1"/>
          <p:nvPr/>
        </p:nvSpPr>
        <p:spPr>
          <a:xfrm>
            <a:off x="1231869" y="3403515"/>
            <a:ext cx="166561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Checkout</a:t>
            </a:r>
            <a:endParaRPr lang="en-US" sz="1300" dirty="0"/>
          </a:p>
        </p:txBody>
      </p:sp>
      <p:sp>
        <p:nvSpPr>
          <p:cNvPr id="13" name="Text 9"/>
          <p:cNvSpPr txBox="1"/>
          <p:nvPr/>
        </p:nvSpPr>
        <p:spPr>
          <a:xfrm>
            <a:off x="977876" y="362695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returns a signature</a:t>
            </a:r>
            <a:endParaRPr lang="en-US" sz="1200" dirty="0"/>
          </a:p>
        </p:txBody>
      </p:sp>
      <p:sp>
        <p:nvSpPr>
          <p:cNvPr id="14" name="Shape 10"/>
          <p:cNvSpPr/>
          <p:nvPr/>
        </p:nvSpPr>
        <p:spPr>
          <a:xfrm>
            <a:off x="3606710" y="1904952"/>
            <a:ext cx="2184345" cy="888978"/>
          </a:xfrm>
          <a:prstGeom prst="roundRect">
            <a:avLst>
              <a:gd name="adj" fmla="val 10000"/>
            </a:avLst>
          </a:prstGeom>
          <a:solidFill>
            <a:srgbClr val="FCFDFF"/>
          </a:solidFill>
          <a:ln w="12700">
            <a:solidFill>
              <a:srgbClr val="3F5F95"/>
            </a:solidFill>
            <a:prstDash val="solid"/>
          </a:ln>
        </p:spPr>
        <p:txBody>
          <a:bodyPr/>
          <a:p/>
        </p:txBody>
      </p:sp>
      <p:sp>
        <p:nvSpPr>
          <p:cNvPr id="15" name="Shape 11"/>
          <p:cNvSpPr/>
          <p:nvPr/>
        </p:nvSpPr>
        <p:spPr>
          <a:xfrm>
            <a:off x="3606710" y="1904952"/>
            <a:ext cx="50799" cy="888978"/>
          </a:xfrm>
          <a:prstGeom prst="roundRect">
            <a:avLst>
              <a:gd name="adj" fmla="val 50000"/>
            </a:avLst>
          </a:prstGeom>
          <a:solidFill>
            <a:srgbClr val="3F5F95"/>
          </a:solidFill>
          <a:ln/>
        </p:spPr>
        <p:txBody>
          <a:bodyPr/>
          <a:p/>
        </p:txBody>
      </p:sp>
      <p:sp>
        <p:nvSpPr>
          <p:cNvPr id="16" name="Text 12"/>
          <p:cNvSpPr txBox="1"/>
          <p:nvPr/>
        </p:nvSpPr>
        <p:spPr>
          <a:xfrm>
            <a:off x="3771806" y="200655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Text 13"/>
          <p:cNvSpPr txBox="1"/>
          <p:nvPr/>
        </p:nvSpPr>
        <p:spPr>
          <a:xfrm>
            <a:off x="377180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check</a:t>
            </a:r>
            <a:endParaRPr lang="en-US" sz="1200" dirty="0"/>
          </a:p>
        </p:txBody>
      </p:sp>
      <p:sp>
        <p:nvSpPr>
          <p:cNvPr id="18" name="Shape 14"/>
          <p:cNvSpPr/>
          <p:nvPr/>
        </p:nvSpPr>
        <p:spPr>
          <a:xfrm>
            <a:off x="6400640" y="1904952"/>
            <a:ext cx="2184345" cy="2285943"/>
          </a:xfrm>
          <a:prstGeom prst="roundRect">
            <a:avLst>
              <a:gd name="adj" fmla="val 4070"/>
            </a:avLst>
          </a:prstGeom>
          <a:solidFill>
            <a:srgbClr val="FCFDFF"/>
          </a:solidFill>
          <a:ln w="12700">
            <a:solidFill>
              <a:srgbClr val="B4530F"/>
            </a:solidFill>
            <a:prstDash val="solid"/>
          </a:ln>
        </p:spPr>
        <p:txBody>
          <a:bodyPr/>
          <a:p/>
        </p:txBody>
      </p:sp>
      <p:sp>
        <p:nvSpPr>
          <p:cNvPr id="19" name="Shape 15"/>
          <p:cNvSpPr/>
          <p:nvPr/>
        </p:nvSpPr>
        <p:spPr>
          <a:xfrm>
            <a:off x="6400640" y="1904952"/>
            <a:ext cx="50799" cy="2285943"/>
          </a:xfrm>
          <a:prstGeom prst="roundRect">
            <a:avLst>
              <a:gd name="adj" fmla="val 50000"/>
            </a:avLst>
          </a:prstGeom>
          <a:solidFill>
            <a:srgbClr val="B4530F"/>
          </a:solidFill>
          <a:ln/>
        </p:spPr>
        <p:txBody>
          <a:bodyPr/>
          <a:p/>
        </p:txBody>
      </p:sp>
      <p:pic>
        <p:nvPicPr>
          <p:cNvPr id="20" name="Image 2" descr="preencoded.png">    </p:cNvPr>
          <p:cNvPicPr>
            <a:picLocks noChangeAspect="1"/>
          </p:cNvPicPr>
          <p:nvPr/>
        </p:nvPicPr>
        <p:blipFill>
          <a:blip r:embed="rId3"/>
          <a:stretch>
            <a:fillRect/>
          </a:stretch>
        </p:blipFill>
        <p:spPr>
          <a:xfrm>
            <a:off x="6565736" y="2010320"/>
            <a:ext cx="190495" cy="190495"/>
          </a:xfrm>
          <a:prstGeom prst="rect">
            <a:avLst/>
          </a:prstGeom>
        </p:spPr>
      </p:pic>
      <p:sp>
        <p:nvSpPr>
          <p:cNvPr id="21" name="Text 16"/>
          <p:cNvSpPr txBox="1"/>
          <p:nvPr/>
        </p:nvSpPr>
        <p:spPr>
          <a:xfrm>
            <a:off x="6819730" y="2006550"/>
            <a:ext cx="144470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payment-service</a:t>
            </a:r>
            <a:endParaRPr lang="en-US" sz="1300" dirty="0"/>
          </a:p>
        </p:txBody>
      </p:sp>
      <p:sp>
        <p:nvSpPr>
          <p:cNvPr id="22" name="Text 17"/>
          <p:cNvSpPr txBox="1"/>
          <p:nvPr/>
        </p:nvSpPr>
        <p:spPr>
          <a:xfrm>
            <a:off x="656573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order per attempt</a:t>
            </a:r>
            <a:endParaRPr lang="en-US" sz="1200" dirty="0"/>
          </a:p>
        </p:txBody>
      </p:sp>
      <p:sp>
        <p:nvSpPr>
          <p:cNvPr id="23" name="Text 18"/>
          <p:cNvSpPr txBox="1"/>
          <p:nvPr/>
        </p:nvSpPr>
        <p:spPr>
          <a:xfrm>
            <a:off x="6565736" y="246106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HMAC + read-back</a:t>
            </a:r>
            <a:endParaRPr lang="en-US" sz="1200" dirty="0"/>
          </a:p>
        </p:txBody>
      </p:sp>
      <p:sp>
        <p:nvSpPr>
          <p:cNvPr id="24" name="Text 19"/>
          <p:cNvSpPr txBox="1"/>
          <p:nvPr/>
        </p:nvSpPr>
        <p:spPr>
          <a:xfrm>
            <a:off x="6565736" y="269213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Redis idempotency</a:t>
            </a:r>
            <a:endParaRPr lang="en-US" sz="1200" dirty="0"/>
          </a:p>
        </p:txBody>
      </p:sp>
      <p:sp>
        <p:nvSpPr>
          <p:cNvPr id="25" name="Text 20"/>
          <p:cNvSpPr txBox="1"/>
          <p:nvPr/>
        </p:nvSpPr>
        <p:spPr>
          <a:xfrm>
            <a:off x="6565736" y="29232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credits the wallet</a:t>
            </a:r>
            <a:endParaRPr lang="en-US" sz="1200" dirty="0"/>
          </a:p>
        </p:txBody>
      </p:sp>
      <p:sp>
        <p:nvSpPr>
          <p:cNvPr id="26" name="Shape 21"/>
          <p:cNvSpPr/>
          <p:nvPr/>
        </p:nvSpPr>
        <p:spPr>
          <a:xfrm>
            <a:off x="9194570" y="1904952"/>
            <a:ext cx="2184345" cy="888978"/>
          </a:xfrm>
          <a:prstGeom prst="roundRect">
            <a:avLst>
              <a:gd name="adj" fmla="val 10000"/>
            </a:avLst>
          </a:prstGeom>
          <a:solidFill>
            <a:srgbClr val="FCFDFF"/>
          </a:solidFill>
          <a:ln w="12700">
            <a:solidFill>
              <a:srgbClr val="5C6B8A"/>
            </a:solidFill>
            <a:prstDash val="solid"/>
          </a:ln>
        </p:spPr>
        <p:txBody>
          <a:bodyPr/>
          <a:p/>
        </p:txBody>
      </p:sp>
      <p:sp>
        <p:nvSpPr>
          <p:cNvPr id="27" name="Shape 22"/>
          <p:cNvSpPr/>
          <p:nvPr/>
        </p:nvSpPr>
        <p:spPr>
          <a:xfrm>
            <a:off x="9194570" y="1904952"/>
            <a:ext cx="50799" cy="888978"/>
          </a:xfrm>
          <a:prstGeom prst="roundRect">
            <a:avLst>
              <a:gd name="adj" fmla="val 50000"/>
            </a:avLst>
          </a:prstGeom>
          <a:solidFill>
            <a:srgbClr val="5C6B8A"/>
          </a:solidFill>
          <a:ln/>
        </p:spPr>
        <p:txBody>
          <a:bodyPr/>
          <a:p/>
        </p:txBody>
      </p:sp>
      <p:pic>
        <p:nvPicPr>
          <p:cNvPr id="28" name="Image 3" descr="preencoded.png">    </p:cNvPr>
          <p:cNvPicPr>
            <a:picLocks noChangeAspect="1"/>
          </p:cNvPicPr>
          <p:nvPr/>
        </p:nvPicPr>
        <p:blipFill>
          <a:blip r:embed="rId4"/>
          <a:stretch>
            <a:fillRect/>
          </a:stretch>
        </p:blipFill>
        <p:spPr>
          <a:xfrm>
            <a:off x="9359666" y="2010320"/>
            <a:ext cx="190495" cy="190495"/>
          </a:xfrm>
          <a:prstGeom prst="rect">
            <a:avLst/>
          </a:prstGeom>
        </p:spPr>
      </p:pic>
      <p:sp>
        <p:nvSpPr>
          <p:cNvPr id="29" name="Text 23"/>
          <p:cNvSpPr txBox="1"/>
          <p:nvPr/>
        </p:nvSpPr>
        <p:spPr>
          <a:xfrm>
            <a:off x="9613660" y="2006550"/>
            <a:ext cx="112033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API</a:t>
            </a:r>
            <a:endParaRPr lang="en-US" sz="1300" dirty="0"/>
          </a:p>
        </p:txBody>
      </p:sp>
      <p:sp>
        <p:nvSpPr>
          <p:cNvPr id="30" name="Text 24"/>
          <p:cNvSpPr txBox="1"/>
          <p:nvPr/>
        </p:nvSpPr>
        <p:spPr>
          <a:xfrm>
            <a:off x="935966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orders, payment read-back</a:t>
            </a:r>
            <a:endParaRPr lang="en-US" sz="1200" dirty="0"/>
          </a:p>
        </p:txBody>
      </p:sp>
      <p:sp>
        <p:nvSpPr>
          <p:cNvPr id="31" name="Shape 25"/>
          <p:cNvSpPr/>
          <p:nvPr/>
        </p:nvSpPr>
        <p:spPr>
          <a:xfrm>
            <a:off x="9194570" y="3047924"/>
            <a:ext cx="2184345" cy="761981"/>
          </a:xfrm>
          <a:prstGeom prst="roundRect">
            <a:avLst>
              <a:gd name="adj" fmla="val 11667"/>
            </a:avLst>
          </a:prstGeom>
          <a:solidFill>
            <a:srgbClr val="FCFDFF"/>
          </a:solidFill>
          <a:ln w="12700">
            <a:solidFill>
              <a:srgbClr val="5C6B8A"/>
            </a:solidFill>
            <a:prstDash val="solid"/>
          </a:ln>
        </p:spPr>
        <p:txBody>
          <a:bodyPr/>
          <a:p/>
        </p:txBody>
      </p:sp>
      <p:sp>
        <p:nvSpPr>
          <p:cNvPr id="32" name="Shape 26"/>
          <p:cNvSpPr/>
          <p:nvPr/>
        </p:nvSpPr>
        <p:spPr>
          <a:xfrm>
            <a:off x="9194570" y="3047924"/>
            <a:ext cx="50799" cy="761981"/>
          </a:xfrm>
          <a:prstGeom prst="roundRect">
            <a:avLst>
              <a:gd name="adj" fmla="val 50000"/>
            </a:avLst>
          </a:prstGeom>
          <a:solidFill>
            <a:srgbClr val="5C6B8A"/>
          </a:solidFill>
          <a:ln/>
        </p:spPr>
        <p:txBody>
          <a:bodyPr/>
          <a:p/>
        </p:txBody>
      </p:sp>
      <p:sp>
        <p:nvSpPr>
          <p:cNvPr id="33" name="Text 27"/>
          <p:cNvSpPr txBox="1"/>
          <p:nvPr/>
        </p:nvSpPr>
        <p:spPr>
          <a:xfrm>
            <a:off x="9359666" y="3124122"/>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webhook</a:t>
            </a:r>
            <a:endParaRPr lang="en-US" sz="1300" dirty="0"/>
          </a:p>
        </p:txBody>
      </p:sp>
      <p:sp>
        <p:nvSpPr>
          <p:cNvPr id="34" name="Text 28"/>
          <p:cNvSpPr txBox="1"/>
          <p:nvPr/>
        </p:nvSpPr>
        <p:spPr>
          <a:xfrm>
            <a:off x="9359666" y="3347557"/>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signed raw body</a:t>
            </a:r>
            <a:endParaRPr lang="en-US" sz="1200" dirty="0"/>
          </a:p>
        </p:txBody>
      </p:sp>
      <p:sp>
        <p:nvSpPr>
          <p:cNvPr id="35" name="Shape 29"/>
          <p:cNvSpPr/>
          <p:nvPr/>
        </p:nvSpPr>
        <p:spPr>
          <a:xfrm>
            <a:off x="812780" y="4698883"/>
            <a:ext cx="2184345" cy="888978"/>
          </a:xfrm>
          <a:prstGeom prst="roundRect">
            <a:avLst>
              <a:gd name="adj" fmla="val 10000"/>
            </a:avLst>
          </a:prstGeom>
          <a:solidFill>
            <a:srgbClr val="FCEBDD"/>
          </a:solidFill>
          <a:ln/>
        </p:spPr>
        <p:txBody>
          <a:bodyPr/>
          <a:p/>
        </p:txBody>
      </p:sp>
      <p:pic>
        <p:nvPicPr>
          <p:cNvPr id="36" name="Image 4" descr="preencoded.png">    </p:cNvPr>
          <p:cNvPicPr>
            <a:picLocks noChangeAspect="1"/>
          </p:cNvPicPr>
          <p:nvPr/>
        </p:nvPicPr>
        <p:blipFill>
          <a:blip r:embed="rId5"/>
          <a:stretch>
            <a:fillRect/>
          </a:stretch>
        </p:blipFill>
        <p:spPr>
          <a:xfrm>
            <a:off x="939777" y="5016375"/>
            <a:ext cx="253994" cy="253994"/>
          </a:xfrm>
          <a:prstGeom prst="rect">
            <a:avLst/>
          </a:prstGeom>
        </p:spPr>
      </p:pic>
      <p:sp>
        <p:nvSpPr>
          <p:cNvPr id="37" name="Text 30"/>
          <p:cNvSpPr txBox="1"/>
          <p:nvPr/>
        </p:nvSpPr>
        <p:spPr>
          <a:xfrm>
            <a:off x="1282668" y="4937696"/>
            <a:ext cx="1777956"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The amount never comes from the client</a:t>
            </a:r>
            <a:endParaRPr lang="en-US" sz="1200" dirty="0"/>
          </a:p>
        </p:txBody>
      </p:sp>
      <p:sp>
        <p:nvSpPr>
          <p:cNvPr id="38" name="Shape 31"/>
          <p:cNvSpPr/>
          <p:nvPr/>
        </p:nvSpPr>
        <p:spPr>
          <a:xfrm>
            <a:off x="3606710" y="4698883"/>
            <a:ext cx="2184345" cy="888978"/>
          </a:xfrm>
          <a:prstGeom prst="roundRect">
            <a:avLst>
              <a:gd name="adj" fmla="val 10000"/>
            </a:avLst>
          </a:prstGeom>
          <a:solidFill>
            <a:srgbClr val="FCFDFF"/>
          </a:solidFill>
          <a:ln w="12700">
            <a:solidFill>
              <a:srgbClr val="0B7F74"/>
            </a:solidFill>
            <a:prstDash val="solid"/>
          </a:ln>
        </p:spPr>
        <p:txBody>
          <a:bodyPr/>
          <a:p/>
        </p:txBody>
      </p:sp>
      <p:sp>
        <p:nvSpPr>
          <p:cNvPr id="39" name="Shape 32"/>
          <p:cNvSpPr/>
          <p:nvPr/>
        </p:nvSpPr>
        <p:spPr>
          <a:xfrm>
            <a:off x="3606710" y="4698883"/>
            <a:ext cx="50799" cy="888978"/>
          </a:xfrm>
          <a:prstGeom prst="roundRect">
            <a:avLst>
              <a:gd name="adj" fmla="val 50000"/>
            </a:avLst>
          </a:prstGeom>
          <a:solidFill>
            <a:srgbClr val="0B7F74"/>
          </a:solidFill>
          <a:ln/>
        </p:spPr>
        <p:txBody>
          <a:bodyPr/>
          <a:p/>
        </p:txBody>
      </p:sp>
      <p:sp>
        <p:nvSpPr>
          <p:cNvPr id="40" name="Text 33"/>
          <p:cNvSpPr txBox="1"/>
          <p:nvPr/>
        </p:nvSpPr>
        <p:spPr>
          <a:xfrm>
            <a:off x="3771806" y="480048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41" name="Text 34"/>
          <p:cNvSpPr txBox="1"/>
          <p:nvPr/>
        </p:nvSpPr>
        <p:spPr>
          <a:xfrm>
            <a:off x="3771806" y="5023915"/>
            <a:ext cx="2119323"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facts in, PAYMENT_COMPLETED</a:t>
            </a:r>
            <a:endParaRPr lang="en-US" sz="1200" dirty="0"/>
          </a:p>
        </p:txBody>
      </p:sp>
      <p:sp>
        <p:nvSpPr>
          <p:cNvPr id="42" name="Shape 35"/>
          <p:cNvSpPr/>
          <p:nvPr/>
        </p:nvSpPr>
        <p:spPr>
          <a:xfrm>
            <a:off x="6400640" y="4698883"/>
            <a:ext cx="2184345" cy="888978"/>
          </a:xfrm>
          <a:prstGeom prst="roundRect">
            <a:avLst>
              <a:gd name="adj" fmla="val 10000"/>
            </a:avLst>
          </a:prstGeom>
          <a:solidFill>
            <a:srgbClr val="FCFDFF"/>
          </a:solidFill>
          <a:ln w="12700">
            <a:solidFill>
              <a:srgbClr val="2454C5"/>
            </a:solidFill>
            <a:prstDash val="solid"/>
          </a:ln>
        </p:spPr>
        <p:txBody>
          <a:bodyPr/>
          <a:p/>
        </p:txBody>
      </p:sp>
      <p:sp>
        <p:nvSpPr>
          <p:cNvPr id="43" name="Shape 36"/>
          <p:cNvSpPr/>
          <p:nvPr/>
        </p:nvSpPr>
        <p:spPr>
          <a:xfrm>
            <a:off x="6400640" y="4698883"/>
            <a:ext cx="50799" cy="888978"/>
          </a:xfrm>
          <a:prstGeom prst="roundRect">
            <a:avLst>
              <a:gd name="adj" fmla="val 50000"/>
            </a:avLst>
          </a:prstGeom>
          <a:solidFill>
            <a:srgbClr val="2454C5"/>
          </a:solidFill>
          <a:ln/>
        </p:spPr>
        <p:txBody>
          <a:bodyPr/>
          <a:p/>
        </p:txBody>
      </p:sp>
      <p:sp>
        <p:nvSpPr>
          <p:cNvPr id="44" name="Text 37"/>
          <p:cNvSpPr txBox="1"/>
          <p:nvPr/>
        </p:nvSpPr>
        <p:spPr>
          <a:xfrm>
            <a:off x="6565736" y="480048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provider-service</a:t>
            </a:r>
            <a:endParaRPr lang="en-US" sz="1300" dirty="0"/>
          </a:p>
        </p:txBody>
      </p:sp>
      <p:sp>
        <p:nvSpPr>
          <p:cNvPr id="45" name="Text 38"/>
          <p:cNvSpPr txBox="1"/>
          <p:nvPr/>
        </p:nvSpPr>
        <p:spPr>
          <a:xfrm>
            <a:off x="6565736" y="502391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wallet JOB_CREDIT</a:t>
            </a:r>
            <a:endParaRPr lang="en-US" sz="1200" dirty="0"/>
          </a:p>
        </p:txBody>
      </p:sp>
      <p:sp>
        <p:nvSpPr>
          <p:cNvPr id="46" name="Shape 39"/>
          <p:cNvSpPr/>
          <p:nvPr/>
        </p:nvSpPr>
        <p:spPr>
          <a:xfrm>
            <a:off x="9194570" y="4698883"/>
            <a:ext cx="2184345" cy="888978"/>
          </a:xfrm>
          <a:prstGeom prst="roundRect">
            <a:avLst>
              <a:gd name="adj" fmla="val 10000"/>
            </a:avLst>
          </a:prstGeom>
          <a:solidFill>
            <a:srgbClr val="FCFDFF"/>
          </a:solidFill>
          <a:ln w="12700">
            <a:solidFill>
              <a:srgbClr val="4B4B9A"/>
            </a:solidFill>
            <a:prstDash val="solid"/>
          </a:ln>
        </p:spPr>
        <p:txBody>
          <a:bodyPr/>
          <a:p/>
        </p:txBody>
      </p:sp>
      <p:sp>
        <p:nvSpPr>
          <p:cNvPr id="47" name="Shape 40"/>
          <p:cNvSpPr/>
          <p:nvPr/>
        </p:nvSpPr>
        <p:spPr>
          <a:xfrm>
            <a:off x="9194570" y="4698883"/>
            <a:ext cx="50799" cy="888978"/>
          </a:xfrm>
          <a:prstGeom prst="roundRect">
            <a:avLst>
              <a:gd name="adj" fmla="val 50000"/>
            </a:avLst>
          </a:prstGeom>
          <a:solidFill>
            <a:srgbClr val="4B4B9A"/>
          </a:solidFill>
          <a:ln/>
        </p:spPr>
        <p:txBody>
          <a:bodyPr/>
          <a:p/>
        </p:txBody>
      </p:sp>
      <p:pic>
        <p:nvPicPr>
          <p:cNvPr id="48" name="Image 5" descr="preencoded.png">    </p:cNvPr>
          <p:cNvPicPr>
            <a:picLocks noChangeAspect="1"/>
          </p:cNvPicPr>
          <p:nvPr/>
        </p:nvPicPr>
        <p:blipFill>
          <a:blip r:embed="rId6"/>
          <a:stretch>
            <a:fillRect/>
          </a:stretch>
        </p:blipFill>
        <p:spPr>
          <a:xfrm>
            <a:off x="9359666" y="4804250"/>
            <a:ext cx="190495" cy="190495"/>
          </a:xfrm>
          <a:prstGeom prst="rect">
            <a:avLst/>
          </a:prstGeom>
        </p:spPr>
      </p:pic>
      <p:sp>
        <p:nvSpPr>
          <p:cNvPr id="49" name="Text 41"/>
          <p:cNvSpPr txBox="1"/>
          <p:nvPr/>
        </p:nvSpPr>
        <p:spPr>
          <a:xfrm>
            <a:off x="9613660" y="4800480"/>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50" name="Text 42"/>
          <p:cNvSpPr txBox="1"/>
          <p:nvPr/>
        </p:nvSpPr>
        <p:spPr>
          <a:xfrm>
            <a:off x="9359666" y="502391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PaymentCompleted</a:t>
            </a:r>
            <a:endParaRPr lang="en-US" sz="1200" dirty="0"/>
          </a:p>
        </p:txBody>
      </p:sp>
      <p:sp>
        <p:nvSpPr>
          <p:cNvPr id="51" name="Shape 43"/>
          <p:cNvSpPr/>
          <p:nvPr/>
        </p:nvSpPr>
        <p:spPr>
          <a:xfrm>
            <a:off x="2997125" y="2349441"/>
            <a:ext cx="609585" cy="63"/>
          </a:xfrm>
          <a:prstGeom prst="line">
            <a:avLst/>
          </a:prstGeom>
          <a:noFill/>
          <a:ln w="19050">
            <a:solidFill>
              <a:srgbClr val="5C6B8A"/>
            </a:solidFill>
            <a:prstDash val="solid"/>
            <a:tailEnd type="triangle"/>
          </a:ln>
        </p:spPr>
        <p:txBody>
          <a:bodyPr/>
          <a:p/>
        </p:txBody>
      </p:sp>
      <p:sp>
        <p:nvSpPr>
          <p:cNvPr id="52" name="Shape 44"/>
          <p:cNvSpPr/>
          <p:nvPr/>
        </p:nvSpPr>
        <p:spPr>
          <a:xfrm>
            <a:off x="5791055" y="2349441"/>
            <a:ext cx="609585" cy="63"/>
          </a:xfrm>
          <a:prstGeom prst="line">
            <a:avLst/>
          </a:prstGeom>
          <a:noFill/>
          <a:ln w="19050">
            <a:solidFill>
              <a:srgbClr val="5C6B8A"/>
            </a:solidFill>
            <a:prstDash val="solid"/>
            <a:tailEnd type="triangle"/>
          </a:ln>
        </p:spPr>
        <p:txBody>
          <a:bodyPr/>
          <a:p/>
        </p:txBody>
      </p:sp>
      <p:sp>
        <p:nvSpPr>
          <p:cNvPr id="53" name="Shape 45"/>
          <p:cNvSpPr/>
          <p:nvPr/>
        </p:nvSpPr>
        <p:spPr>
          <a:xfrm>
            <a:off x="8584985" y="2349441"/>
            <a:ext cx="609585" cy="63"/>
          </a:xfrm>
          <a:prstGeom prst="line">
            <a:avLst/>
          </a:prstGeom>
          <a:noFill/>
          <a:ln w="19050">
            <a:solidFill>
              <a:srgbClr val="5C6B8A"/>
            </a:solidFill>
            <a:prstDash val="solid"/>
            <a:headEnd type="triangle"/>
            <a:tailEnd type="triangle"/>
          </a:ln>
        </p:spPr>
        <p:txBody>
          <a:bodyPr/>
          <a:p/>
        </p:txBody>
      </p:sp>
      <p:sp>
        <p:nvSpPr>
          <p:cNvPr id="54" name="Shape 46"/>
          <p:cNvSpPr/>
          <p:nvPr/>
        </p:nvSpPr>
        <p:spPr>
          <a:xfrm flipH="1">
            <a:off x="8584985" y="3428914"/>
            <a:ext cx="609585" cy="63"/>
          </a:xfrm>
          <a:prstGeom prst="line">
            <a:avLst/>
          </a:prstGeom>
          <a:noFill/>
          <a:ln w="19050">
            <a:solidFill>
              <a:srgbClr val="B4530F"/>
            </a:solidFill>
            <a:prstDash val="solid"/>
            <a:tailEnd type="triangle"/>
          </a:ln>
        </p:spPr>
        <p:txBody>
          <a:bodyPr/>
          <a:p/>
        </p:txBody>
      </p:sp>
      <p:sp>
        <p:nvSpPr>
          <p:cNvPr id="55" name="Shape 47"/>
          <p:cNvSpPr/>
          <p:nvPr/>
        </p:nvSpPr>
        <p:spPr>
          <a:xfrm>
            <a:off x="1904952" y="2793930"/>
            <a:ext cx="63" cy="507987"/>
          </a:xfrm>
          <a:prstGeom prst="line">
            <a:avLst/>
          </a:prstGeom>
          <a:noFill/>
          <a:ln w="19050">
            <a:solidFill>
              <a:srgbClr val="5C6B8A"/>
            </a:solidFill>
            <a:prstDash val="solid"/>
            <a:tailEnd type="triangle"/>
          </a:ln>
        </p:spPr>
        <p:txBody>
          <a:bodyPr/>
          <a:p/>
        </p:txBody>
      </p:sp>
      <p:sp>
        <p:nvSpPr>
          <p:cNvPr id="56" name="Shape 48"/>
          <p:cNvSpPr/>
          <p:nvPr/>
        </p:nvSpPr>
        <p:spPr>
          <a:xfrm>
            <a:off x="2997125" y="3746406"/>
            <a:ext cx="1066773" cy="63"/>
          </a:xfrm>
          <a:prstGeom prst="line">
            <a:avLst/>
          </a:prstGeom>
          <a:noFill/>
          <a:ln w="19050">
            <a:solidFill>
              <a:srgbClr val="B4530F"/>
            </a:solidFill>
            <a:prstDash val="solid"/>
          </a:ln>
        </p:spPr>
        <p:txBody>
          <a:bodyPr/>
          <a:p/>
        </p:txBody>
      </p:sp>
      <p:sp>
        <p:nvSpPr>
          <p:cNvPr id="57" name="Shape 49"/>
          <p:cNvSpPr/>
          <p:nvPr/>
        </p:nvSpPr>
        <p:spPr>
          <a:xfrm flipV="1">
            <a:off x="4063898" y="2793930"/>
            <a:ext cx="63" cy="952476"/>
          </a:xfrm>
          <a:prstGeom prst="line">
            <a:avLst/>
          </a:prstGeom>
          <a:noFill/>
          <a:ln w="19050">
            <a:solidFill>
              <a:srgbClr val="B4530F"/>
            </a:solidFill>
            <a:prstDash val="solid"/>
            <a:tailEnd type="triangle"/>
          </a:ln>
        </p:spPr>
        <p:txBody>
          <a:bodyPr/>
          <a:p/>
        </p:txBody>
      </p:sp>
      <p:sp>
        <p:nvSpPr>
          <p:cNvPr id="58" name="Text 50"/>
          <p:cNvSpPr txBox="1"/>
          <p:nvPr/>
        </p:nvSpPr>
        <p:spPr>
          <a:xfrm>
            <a:off x="3098723" y="3797205"/>
            <a:ext cx="711182"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alibri" pitchFamily="34" charset="0"/>
                <a:ea typeface="Calibri" pitchFamily="34" charset="-122"/>
                <a:cs typeface="Calibri" pitchFamily="34" charset="-120"/>
              </a:rPr>
              <a:t>verify</a:t>
            </a:r>
            <a:endParaRPr lang="en-US" sz="1200" dirty="0"/>
          </a:p>
        </p:txBody>
      </p:sp>
      <p:sp>
        <p:nvSpPr>
          <p:cNvPr id="59" name="Shape 51"/>
          <p:cNvSpPr/>
          <p:nvPr/>
        </p:nvSpPr>
        <p:spPr>
          <a:xfrm flipH="1">
            <a:off x="4698883" y="3809905"/>
            <a:ext cx="1701757" cy="63"/>
          </a:xfrm>
          <a:prstGeom prst="line">
            <a:avLst/>
          </a:prstGeom>
          <a:noFill/>
          <a:ln w="19050">
            <a:solidFill>
              <a:srgbClr val="5C6B8A"/>
            </a:solidFill>
            <a:prstDash val="solid"/>
            <a:headEnd type="triangle"/>
          </a:ln>
        </p:spPr>
        <p:txBody>
          <a:bodyPr/>
          <a:p/>
        </p:txBody>
      </p:sp>
      <p:sp>
        <p:nvSpPr>
          <p:cNvPr id="60" name="Shape 52"/>
          <p:cNvSpPr/>
          <p:nvPr/>
        </p:nvSpPr>
        <p:spPr>
          <a:xfrm>
            <a:off x="4698883" y="3809905"/>
            <a:ext cx="63" cy="888978"/>
          </a:xfrm>
          <a:prstGeom prst="line">
            <a:avLst/>
          </a:prstGeom>
          <a:noFill/>
          <a:ln w="19050">
            <a:solidFill>
              <a:srgbClr val="5C6B8A"/>
            </a:solidFill>
            <a:prstDash val="solid"/>
            <a:tailEnd type="triangle"/>
          </a:ln>
        </p:spPr>
        <p:txBody>
          <a:bodyPr/>
          <a:p/>
        </p:txBody>
      </p:sp>
      <p:sp>
        <p:nvSpPr>
          <p:cNvPr id="61" name="Text 53"/>
          <p:cNvSpPr txBox="1"/>
          <p:nvPr/>
        </p:nvSpPr>
        <p:spPr>
          <a:xfrm>
            <a:off x="4800480" y="4114697"/>
            <a:ext cx="1564601"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amount facts</a:t>
            </a:r>
            <a:endParaRPr lang="en-US" sz="1200" dirty="0"/>
          </a:p>
        </p:txBody>
      </p:sp>
      <p:sp>
        <p:nvSpPr>
          <p:cNvPr id="62" name="Shape 54"/>
          <p:cNvSpPr/>
          <p:nvPr/>
        </p:nvSpPr>
        <p:spPr>
          <a:xfrm>
            <a:off x="7492813" y="4190895"/>
            <a:ext cx="63" cy="507987"/>
          </a:xfrm>
          <a:prstGeom prst="line">
            <a:avLst/>
          </a:prstGeom>
          <a:noFill/>
          <a:ln w="19050">
            <a:solidFill>
              <a:srgbClr val="5C6B8A"/>
            </a:solidFill>
            <a:prstDash val="solid"/>
            <a:tailEnd type="triangle"/>
          </a:ln>
        </p:spPr>
        <p:txBody>
          <a:bodyPr/>
          <a:p/>
        </p:txBody>
      </p:sp>
      <p:sp>
        <p:nvSpPr>
          <p:cNvPr id="63" name="Shape 55"/>
          <p:cNvSpPr/>
          <p:nvPr/>
        </p:nvSpPr>
        <p:spPr>
          <a:xfrm>
            <a:off x="8584985" y="4063898"/>
            <a:ext cx="1701757" cy="63"/>
          </a:xfrm>
          <a:prstGeom prst="line">
            <a:avLst/>
          </a:prstGeom>
          <a:noFill/>
          <a:ln w="19050">
            <a:solidFill>
              <a:srgbClr val="4B4B9A"/>
            </a:solidFill>
            <a:prstDash val="solid"/>
          </a:ln>
        </p:spPr>
        <p:txBody>
          <a:bodyPr/>
          <a:p/>
        </p:txBody>
      </p:sp>
      <p:sp>
        <p:nvSpPr>
          <p:cNvPr id="64" name="Shape 56"/>
          <p:cNvSpPr/>
          <p:nvPr/>
        </p:nvSpPr>
        <p:spPr>
          <a:xfrm>
            <a:off x="10286743" y="4063898"/>
            <a:ext cx="63" cy="634984"/>
          </a:xfrm>
          <a:prstGeom prst="line">
            <a:avLst/>
          </a:prstGeom>
          <a:noFill/>
          <a:ln w="19050">
            <a:solidFill>
              <a:srgbClr val="4B4B9A"/>
            </a:solidFill>
            <a:prstDash val="solid"/>
            <a:tailEnd type="triangle"/>
          </a:ln>
        </p:spPr>
        <p:txBody>
          <a:bodyPr/>
          <a:p/>
        </p:txBody>
      </p:sp>
      <p:sp>
        <p:nvSpPr>
          <p:cNvPr id="65"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66"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EVENTS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Events are as durable as the writes behind them</a:t>
            </a:r>
            <a:endParaRPr lang="en-US" sz="3000" dirty="0"/>
          </a:p>
        </p:txBody>
      </p:sp>
      <p:sp>
        <p:nvSpPr>
          <p:cNvPr id="4" name="Shape 2"/>
          <p:cNvSpPr/>
          <p:nvPr/>
        </p:nvSpPr>
        <p:spPr>
          <a:xfrm>
            <a:off x="812780" y="1841454"/>
            <a:ext cx="1777956" cy="3555911"/>
          </a:xfrm>
          <a:prstGeom prst="roundRect">
            <a:avLst>
              <a:gd name="adj" fmla="val 5714"/>
            </a:avLst>
          </a:prstGeom>
          <a:solidFill>
            <a:srgbClr val="FCFDFF"/>
          </a:solidFill>
          <a:ln w="12700">
            <a:solidFill>
              <a:srgbClr val="0B7F74"/>
            </a:solidFill>
            <a:prstDash val="solid"/>
          </a:ln>
        </p:spPr>
        <p:txBody>
          <a:bodyPr/>
          <a:p/>
        </p:txBody>
      </p:sp>
      <p:sp>
        <p:nvSpPr>
          <p:cNvPr id="5" name="Text 3"/>
          <p:cNvSpPr txBox="1"/>
          <p:nvPr/>
        </p:nvSpPr>
        <p:spPr>
          <a:xfrm>
            <a:off x="939777" y="1968451"/>
            <a:ext cx="1706837" cy="231134"/>
          </a:xfrm>
          <a:prstGeom prst="rect">
            <a:avLst/>
          </a:prstGeom>
          <a:noFill/>
          <a:ln/>
        </p:spPr>
        <p:txBody>
          <a:bodyPr wrap="square" lIns="0" tIns="0" rIns="0" bIns="0" rtlCol="0" anchor="t"/>
          <a:lstStyle/>
          <a:p>
            <a:pPr algn="l" indent="0" marL="0">
              <a:lnSpc>
                <a:spcPct val="116667"/>
              </a:lnSpc>
              <a:buNone/>
            </a:pPr>
            <a:r>
              <a:rPr lang="en-US" sz="1300" b="1" dirty="0">
                <a:solidFill>
                  <a:srgbClr val="0B7F74"/>
                </a:solidFill>
                <a:latin typeface="Calibri" pitchFamily="34" charset="0"/>
                <a:ea typeface="Calibri" pitchFamily="34" charset="-122"/>
                <a:cs typeface="Calibri" pitchFamily="34" charset="-120"/>
              </a:rPr>
              <a:t>Producers</a:t>
            </a:r>
            <a:endParaRPr lang="en-US" sz="1300" dirty="0"/>
          </a:p>
        </p:txBody>
      </p:sp>
      <p:sp>
        <p:nvSpPr>
          <p:cNvPr id="6" name="Shape 4"/>
          <p:cNvSpPr/>
          <p:nvPr/>
        </p:nvSpPr>
        <p:spPr>
          <a:xfrm>
            <a:off x="939777" y="2263024"/>
            <a:ext cx="1523962" cy="299633"/>
          </a:xfrm>
          <a:prstGeom prst="roundRect">
            <a:avLst>
              <a:gd name="adj" fmla="val 21192"/>
            </a:avLst>
          </a:prstGeom>
          <a:solidFill>
            <a:srgbClr val="DDF2EF"/>
          </a:solidFill>
          <a:ln/>
        </p:spPr>
        <p:txBody>
          <a:bodyPr/>
          <a:p/>
        </p:txBody>
      </p:sp>
      <p:sp>
        <p:nvSpPr>
          <p:cNvPr id="7" name="Text 5"/>
          <p:cNvSpPr txBox="1"/>
          <p:nvPr/>
        </p:nvSpPr>
        <p:spPr>
          <a:xfrm>
            <a:off x="1028674" y="2313823"/>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a:t>
            </a:r>
            <a:endParaRPr lang="en-US" sz="1200" dirty="0"/>
          </a:p>
        </p:txBody>
      </p:sp>
      <p:sp>
        <p:nvSpPr>
          <p:cNvPr id="8" name="Shape 6"/>
          <p:cNvSpPr/>
          <p:nvPr/>
        </p:nvSpPr>
        <p:spPr>
          <a:xfrm>
            <a:off x="939777" y="2626155"/>
            <a:ext cx="1523962" cy="299633"/>
          </a:xfrm>
          <a:prstGeom prst="roundRect">
            <a:avLst>
              <a:gd name="adj" fmla="val 21192"/>
            </a:avLst>
          </a:prstGeom>
          <a:solidFill>
            <a:srgbClr val="DDF2EF"/>
          </a:solidFill>
          <a:ln/>
        </p:spPr>
        <p:txBody>
          <a:bodyPr/>
          <a:p/>
        </p:txBody>
      </p:sp>
      <p:sp>
        <p:nvSpPr>
          <p:cNvPr id="9" name="Text 7"/>
          <p:cNvSpPr txBox="1"/>
          <p:nvPr/>
        </p:nvSpPr>
        <p:spPr>
          <a:xfrm>
            <a:off x="1028674" y="2676954"/>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dispatch</a:t>
            </a:r>
            <a:endParaRPr lang="en-US" sz="1200" dirty="0"/>
          </a:p>
        </p:txBody>
      </p:sp>
      <p:sp>
        <p:nvSpPr>
          <p:cNvPr id="10" name="Shape 8"/>
          <p:cNvSpPr/>
          <p:nvPr/>
        </p:nvSpPr>
        <p:spPr>
          <a:xfrm>
            <a:off x="939777" y="2989287"/>
            <a:ext cx="1523962" cy="299633"/>
          </a:xfrm>
          <a:prstGeom prst="roundRect">
            <a:avLst>
              <a:gd name="adj" fmla="val 21192"/>
            </a:avLst>
          </a:prstGeom>
          <a:solidFill>
            <a:srgbClr val="DDF2EF"/>
          </a:solidFill>
          <a:ln/>
        </p:spPr>
        <p:txBody>
          <a:bodyPr/>
          <a:p/>
        </p:txBody>
      </p:sp>
      <p:sp>
        <p:nvSpPr>
          <p:cNvPr id="11" name="Text 9"/>
          <p:cNvSpPr txBox="1"/>
          <p:nvPr/>
        </p:nvSpPr>
        <p:spPr>
          <a:xfrm>
            <a:off x="1028674" y="3040086"/>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payment</a:t>
            </a:r>
            <a:endParaRPr lang="en-US" sz="1200" dirty="0"/>
          </a:p>
        </p:txBody>
      </p:sp>
      <p:sp>
        <p:nvSpPr>
          <p:cNvPr id="12" name="Shape 10"/>
          <p:cNvSpPr/>
          <p:nvPr/>
        </p:nvSpPr>
        <p:spPr>
          <a:xfrm>
            <a:off x="939777" y="3352419"/>
            <a:ext cx="1523962" cy="299633"/>
          </a:xfrm>
          <a:prstGeom prst="roundRect">
            <a:avLst>
              <a:gd name="adj" fmla="val 21192"/>
            </a:avLst>
          </a:prstGeom>
          <a:solidFill>
            <a:srgbClr val="DDF2EF"/>
          </a:solidFill>
          <a:ln/>
        </p:spPr>
        <p:txBody>
          <a:bodyPr/>
          <a:p/>
        </p:txBody>
      </p:sp>
      <p:sp>
        <p:nvSpPr>
          <p:cNvPr id="13" name="Text 11"/>
          <p:cNvSpPr txBox="1"/>
          <p:nvPr/>
        </p:nvSpPr>
        <p:spPr>
          <a:xfrm>
            <a:off x="1028674" y="3403217"/>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complaint</a:t>
            </a:r>
            <a:endParaRPr lang="en-US" sz="1200" dirty="0"/>
          </a:p>
        </p:txBody>
      </p:sp>
      <p:sp>
        <p:nvSpPr>
          <p:cNvPr id="14" name="Shape 12"/>
          <p:cNvSpPr/>
          <p:nvPr/>
        </p:nvSpPr>
        <p:spPr>
          <a:xfrm>
            <a:off x="939777" y="3715550"/>
            <a:ext cx="1523962" cy="299633"/>
          </a:xfrm>
          <a:prstGeom prst="roundRect">
            <a:avLst>
              <a:gd name="adj" fmla="val 21192"/>
            </a:avLst>
          </a:prstGeom>
          <a:solidFill>
            <a:srgbClr val="DDF2EF"/>
          </a:solidFill>
          <a:ln/>
        </p:spPr>
        <p:txBody>
          <a:bodyPr/>
          <a:p/>
        </p:txBody>
      </p:sp>
      <p:sp>
        <p:nvSpPr>
          <p:cNvPr id="15" name="Text 13"/>
          <p:cNvSpPr txBox="1"/>
          <p:nvPr/>
        </p:nvSpPr>
        <p:spPr>
          <a:xfrm>
            <a:off x="1028674" y="3766349"/>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16" name="Shape 14"/>
          <p:cNvSpPr/>
          <p:nvPr/>
        </p:nvSpPr>
        <p:spPr>
          <a:xfrm>
            <a:off x="3009825" y="3047924"/>
            <a:ext cx="1777956" cy="1142971"/>
          </a:xfrm>
          <a:prstGeom prst="roundRect">
            <a:avLst>
              <a:gd name="adj" fmla="val 7778"/>
            </a:avLst>
          </a:prstGeom>
          <a:solidFill>
            <a:srgbClr val="FCFDFF"/>
          </a:solidFill>
          <a:ln w="12700">
            <a:solidFill>
              <a:srgbClr val="2F5C9A"/>
            </a:solidFill>
            <a:prstDash val="solid"/>
          </a:ln>
        </p:spPr>
        <p:txBody>
          <a:bodyPr/>
          <a:p/>
        </p:txBody>
      </p:sp>
      <p:sp>
        <p:nvSpPr>
          <p:cNvPr id="17" name="Shape 15"/>
          <p:cNvSpPr/>
          <p:nvPr/>
        </p:nvSpPr>
        <p:spPr>
          <a:xfrm>
            <a:off x="3009825" y="3047924"/>
            <a:ext cx="50799" cy="1142971"/>
          </a:xfrm>
          <a:prstGeom prst="roundRect">
            <a:avLst>
              <a:gd name="adj" fmla="val 50000"/>
            </a:avLst>
          </a:prstGeom>
          <a:solidFill>
            <a:srgbClr val="2F5C9A"/>
          </a:solidFill>
          <a:ln/>
        </p:spPr>
        <p:txBody>
          <a:bodyPr/>
          <a:p/>
        </p:txBody>
      </p:sp>
      <p:pic>
        <p:nvPicPr>
          <p:cNvPr id="18" name="Image 0" descr="preencoded.png">    </p:cNvPr>
          <p:cNvPicPr>
            <a:picLocks noChangeAspect="1"/>
          </p:cNvPicPr>
          <p:nvPr/>
        </p:nvPicPr>
        <p:blipFill>
          <a:blip r:embed="rId1"/>
          <a:stretch>
            <a:fillRect/>
          </a:stretch>
        </p:blipFill>
        <p:spPr>
          <a:xfrm>
            <a:off x="3174921" y="3153291"/>
            <a:ext cx="190495" cy="190495"/>
          </a:xfrm>
          <a:prstGeom prst="rect">
            <a:avLst/>
          </a:prstGeom>
        </p:spPr>
      </p:pic>
      <p:sp>
        <p:nvSpPr>
          <p:cNvPr id="19" name="Text 16"/>
          <p:cNvSpPr txBox="1"/>
          <p:nvPr/>
        </p:nvSpPr>
        <p:spPr>
          <a:xfrm>
            <a:off x="3428914" y="3149521"/>
            <a:ext cx="120245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outbox_event</a:t>
            </a:r>
            <a:endParaRPr lang="en-US" sz="1300" dirty="0"/>
          </a:p>
        </p:txBody>
      </p:sp>
      <p:sp>
        <p:nvSpPr>
          <p:cNvPr id="20" name="Text 17"/>
          <p:cNvSpPr txBox="1"/>
          <p:nvPr/>
        </p:nvSpPr>
        <p:spPr>
          <a:xfrm>
            <a:off x="3174921" y="3372956"/>
            <a:ext cx="1664166"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same transaction as the state change</a:t>
            </a:r>
            <a:endParaRPr lang="en-US" sz="1200" dirty="0"/>
          </a:p>
        </p:txBody>
      </p:sp>
      <p:sp>
        <p:nvSpPr>
          <p:cNvPr id="21" name="Shape 18"/>
          <p:cNvSpPr/>
          <p:nvPr/>
        </p:nvSpPr>
        <p:spPr>
          <a:xfrm>
            <a:off x="5206870" y="3047924"/>
            <a:ext cx="1777956" cy="1142971"/>
          </a:xfrm>
          <a:prstGeom prst="roundRect">
            <a:avLst>
              <a:gd name="adj" fmla="val 7778"/>
            </a:avLst>
          </a:prstGeom>
          <a:solidFill>
            <a:srgbClr val="FCFDFF"/>
          </a:solidFill>
          <a:ln w="12700">
            <a:solidFill>
              <a:srgbClr val="3F5F95"/>
            </a:solidFill>
            <a:prstDash val="solid"/>
          </a:ln>
        </p:spPr>
        <p:txBody>
          <a:bodyPr/>
          <a:p/>
        </p:txBody>
      </p:sp>
      <p:sp>
        <p:nvSpPr>
          <p:cNvPr id="22" name="Shape 19"/>
          <p:cNvSpPr/>
          <p:nvPr/>
        </p:nvSpPr>
        <p:spPr>
          <a:xfrm>
            <a:off x="5206870" y="3047924"/>
            <a:ext cx="50799" cy="1142971"/>
          </a:xfrm>
          <a:prstGeom prst="roundRect">
            <a:avLst>
              <a:gd name="adj" fmla="val 50000"/>
            </a:avLst>
          </a:prstGeom>
          <a:solidFill>
            <a:srgbClr val="3F5F95"/>
          </a:solidFill>
          <a:ln/>
        </p:spPr>
        <p:txBody>
          <a:bodyPr/>
          <a:p/>
        </p:txBody>
      </p:sp>
      <p:pic>
        <p:nvPicPr>
          <p:cNvPr id="23" name="Image 1" descr="preencoded.png">    </p:cNvPr>
          <p:cNvPicPr>
            <a:picLocks noChangeAspect="1"/>
          </p:cNvPicPr>
          <p:nvPr/>
        </p:nvPicPr>
        <p:blipFill>
          <a:blip r:embed="rId2"/>
          <a:stretch>
            <a:fillRect/>
          </a:stretch>
        </p:blipFill>
        <p:spPr>
          <a:xfrm>
            <a:off x="5371966" y="3153291"/>
            <a:ext cx="190495" cy="190495"/>
          </a:xfrm>
          <a:prstGeom prst="rect">
            <a:avLst/>
          </a:prstGeom>
        </p:spPr>
      </p:pic>
      <p:sp>
        <p:nvSpPr>
          <p:cNvPr id="24" name="Text 20"/>
          <p:cNvSpPr txBox="1"/>
          <p:nvPr/>
        </p:nvSpPr>
        <p:spPr>
          <a:xfrm>
            <a:off x="5625959" y="3149521"/>
            <a:ext cx="109422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outbox relay</a:t>
            </a:r>
            <a:endParaRPr lang="en-US" sz="1300" dirty="0"/>
          </a:p>
        </p:txBody>
      </p:sp>
      <p:sp>
        <p:nvSpPr>
          <p:cNvPr id="25" name="Text 21"/>
          <p:cNvSpPr txBox="1"/>
          <p:nvPr/>
        </p:nvSpPr>
        <p:spPr>
          <a:xfrm>
            <a:off x="5371966" y="3372956"/>
            <a:ext cx="1664166"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 s poll, 100 rows, SKIP LOCKED</a:t>
            </a:r>
            <a:endParaRPr lang="en-US" sz="1200" dirty="0"/>
          </a:p>
        </p:txBody>
      </p:sp>
      <p:sp>
        <p:nvSpPr>
          <p:cNvPr id="26" name="Shape 22"/>
          <p:cNvSpPr/>
          <p:nvPr/>
        </p:nvSpPr>
        <p:spPr>
          <a:xfrm>
            <a:off x="7403915" y="2666933"/>
            <a:ext cx="1777956" cy="1904952"/>
          </a:xfrm>
          <a:prstGeom prst="roundRect">
            <a:avLst>
              <a:gd name="adj" fmla="val 5000"/>
            </a:avLst>
          </a:prstGeom>
          <a:solidFill>
            <a:srgbClr val="FCFDFF"/>
          </a:solidFill>
          <a:ln w="12700">
            <a:solidFill>
              <a:srgbClr val="4B4B9A"/>
            </a:solidFill>
            <a:prstDash val="solid"/>
          </a:ln>
        </p:spPr>
        <p:txBody>
          <a:bodyPr/>
          <a:p/>
        </p:txBody>
      </p:sp>
      <p:sp>
        <p:nvSpPr>
          <p:cNvPr id="27" name="Shape 23"/>
          <p:cNvSpPr/>
          <p:nvPr/>
        </p:nvSpPr>
        <p:spPr>
          <a:xfrm>
            <a:off x="7403915" y="2666933"/>
            <a:ext cx="50799" cy="1904952"/>
          </a:xfrm>
          <a:prstGeom prst="roundRect">
            <a:avLst>
              <a:gd name="adj" fmla="val 50000"/>
            </a:avLst>
          </a:prstGeom>
          <a:solidFill>
            <a:srgbClr val="4B4B9A"/>
          </a:solidFill>
          <a:ln/>
        </p:spPr>
        <p:txBody>
          <a:bodyPr/>
          <a:p/>
        </p:txBody>
      </p:sp>
      <p:pic>
        <p:nvPicPr>
          <p:cNvPr id="28" name="Image 2" descr="preencoded.png">    </p:cNvPr>
          <p:cNvPicPr>
            <a:picLocks noChangeAspect="1"/>
          </p:cNvPicPr>
          <p:nvPr/>
        </p:nvPicPr>
        <p:blipFill>
          <a:blip r:embed="rId3"/>
          <a:stretch>
            <a:fillRect/>
          </a:stretch>
        </p:blipFill>
        <p:spPr>
          <a:xfrm>
            <a:off x="7569011" y="2772301"/>
            <a:ext cx="190495" cy="190495"/>
          </a:xfrm>
          <a:prstGeom prst="rect">
            <a:avLst/>
          </a:prstGeom>
        </p:spPr>
      </p:pic>
      <p:sp>
        <p:nvSpPr>
          <p:cNvPr id="29" name="Text 24"/>
          <p:cNvSpPr txBox="1"/>
          <p:nvPr/>
        </p:nvSpPr>
        <p:spPr>
          <a:xfrm>
            <a:off x="7823004" y="2768531"/>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30" name="Text 25"/>
          <p:cNvSpPr txBox="1"/>
          <p:nvPr/>
        </p:nvSpPr>
        <p:spPr>
          <a:xfrm>
            <a:off x="7569011" y="2991966"/>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13 topics</a:t>
            </a:r>
            <a:endParaRPr lang="en-US" sz="1200" dirty="0"/>
          </a:p>
        </p:txBody>
      </p:sp>
      <p:sp>
        <p:nvSpPr>
          <p:cNvPr id="31" name="Text 26"/>
          <p:cNvSpPr txBox="1"/>
          <p:nvPr/>
        </p:nvSpPr>
        <p:spPr>
          <a:xfrm>
            <a:off x="7569011" y="3223041"/>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key = aggregate id</a:t>
            </a:r>
            <a:endParaRPr lang="en-US" sz="1200" dirty="0"/>
          </a:p>
        </p:txBody>
      </p:sp>
      <p:sp>
        <p:nvSpPr>
          <p:cNvPr id="32" name="Text 27"/>
          <p:cNvSpPr txBox="1"/>
          <p:nvPr/>
        </p:nvSpPr>
        <p:spPr>
          <a:xfrm>
            <a:off x="7569011" y="3454115"/>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acks=all, idempotent</a:t>
            </a:r>
            <a:endParaRPr lang="en-US" sz="1200" dirty="0"/>
          </a:p>
        </p:txBody>
      </p:sp>
      <p:sp>
        <p:nvSpPr>
          <p:cNvPr id="33" name="Shape 28"/>
          <p:cNvSpPr/>
          <p:nvPr/>
        </p:nvSpPr>
        <p:spPr>
          <a:xfrm>
            <a:off x="7403915" y="4825879"/>
            <a:ext cx="1777956" cy="634984"/>
          </a:xfrm>
          <a:prstGeom prst="roundRect">
            <a:avLst>
              <a:gd name="adj" fmla="val 14000"/>
            </a:avLst>
          </a:prstGeom>
          <a:solidFill>
            <a:srgbClr val="FBE4E2"/>
          </a:solidFill>
          <a:ln w="12700">
            <a:solidFill>
              <a:srgbClr val="C0352B"/>
            </a:solidFill>
            <a:prstDash val="dash"/>
          </a:ln>
        </p:spPr>
        <p:txBody>
          <a:bodyPr/>
          <a:p/>
        </p:txBody>
      </p:sp>
      <p:sp>
        <p:nvSpPr>
          <p:cNvPr id="34" name="Shape 29"/>
          <p:cNvSpPr/>
          <p:nvPr/>
        </p:nvSpPr>
        <p:spPr>
          <a:xfrm>
            <a:off x="7403915" y="4825879"/>
            <a:ext cx="50799" cy="634984"/>
          </a:xfrm>
          <a:prstGeom prst="roundRect">
            <a:avLst>
              <a:gd name="adj" fmla="val 50000"/>
            </a:avLst>
          </a:prstGeom>
          <a:solidFill>
            <a:srgbClr val="C0352B"/>
          </a:solidFill>
          <a:ln/>
        </p:spPr>
        <p:txBody>
          <a:bodyPr/>
          <a:p/>
        </p:txBody>
      </p:sp>
      <p:sp>
        <p:nvSpPr>
          <p:cNvPr id="35" name="Text 30"/>
          <p:cNvSpPr txBox="1"/>
          <p:nvPr/>
        </p:nvSpPr>
        <p:spPr>
          <a:xfrm>
            <a:off x="7569011" y="4889378"/>
            <a:ext cx="166416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topic.DLT</a:t>
            </a:r>
            <a:endParaRPr lang="en-US" sz="1300" dirty="0"/>
          </a:p>
        </p:txBody>
      </p:sp>
      <p:sp>
        <p:nvSpPr>
          <p:cNvPr id="36" name="Text 31"/>
          <p:cNvSpPr txBox="1"/>
          <p:nvPr/>
        </p:nvSpPr>
        <p:spPr>
          <a:xfrm>
            <a:off x="7569011" y="5112813"/>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C0352B"/>
                </a:solidFill>
                <a:latin typeface="Calibri" pitchFamily="34" charset="0"/>
                <a:ea typeface="Calibri" pitchFamily="34" charset="-122"/>
                <a:cs typeface="Calibri" pitchFamily="34" charset="-120"/>
              </a:rPr>
              <a:t>after 3 retries</a:t>
            </a:r>
            <a:endParaRPr lang="en-US" sz="1200" dirty="0"/>
          </a:p>
        </p:txBody>
      </p:sp>
      <p:sp>
        <p:nvSpPr>
          <p:cNvPr id="37" name="Shape 32"/>
          <p:cNvSpPr/>
          <p:nvPr/>
        </p:nvSpPr>
        <p:spPr>
          <a:xfrm>
            <a:off x="9600960" y="1841454"/>
            <a:ext cx="1777956" cy="3809905"/>
          </a:xfrm>
          <a:prstGeom prst="roundRect">
            <a:avLst>
              <a:gd name="adj" fmla="val 5714"/>
            </a:avLst>
          </a:prstGeom>
          <a:solidFill>
            <a:srgbClr val="FCFDFF"/>
          </a:solidFill>
          <a:ln w="12700">
            <a:solidFill>
              <a:srgbClr val="B8306E"/>
            </a:solidFill>
            <a:prstDash val="solid"/>
          </a:ln>
        </p:spPr>
        <p:txBody>
          <a:bodyPr/>
          <a:p/>
        </p:txBody>
      </p:sp>
      <p:sp>
        <p:nvSpPr>
          <p:cNvPr id="38" name="Text 33"/>
          <p:cNvSpPr txBox="1"/>
          <p:nvPr/>
        </p:nvSpPr>
        <p:spPr>
          <a:xfrm>
            <a:off x="9727957" y="1968451"/>
            <a:ext cx="1706837" cy="231134"/>
          </a:xfrm>
          <a:prstGeom prst="rect">
            <a:avLst/>
          </a:prstGeom>
          <a:noFill/>
          <a:ln/>
        </p:spPr>
        <p:txBody>
          <a:bodyPr wrap="square" lIns="0" tIns="0" rIns="0" bIns="0" rtlCol="0" anchor="t"/>
          <a:lstStyle/>
          <a:p>
            <a:pPr algn="l" indent="0" marL="0">
              <a:lnSpc>
                <a:spcPct val="116667"/>
              </a:lnSpc>
              <a:buNone/>
            </a:pPr>
            <a:r>
              <a:rPr lang="en-US" sz="1300" b="1" dirty="0">
                <a:solidFill>
                  <a:srgbClr val="B8306E"/>
                </a:solidFill>
                <a:latin typeface="Calibri" pitchFamily="34" charset="0"/>
                <a:ea typeface="Calibri" pitchFamily="34" charset="-122"/>
                <a:cs typeface="Calibri" pitchFamily="34" charset="-120"/>
              </a:rPr>
              <a:t>Consumers</a:t>
            </a:r>
            <a:endParaRPr lang="en-US" sz="1300" dirty="0"/>
          </a:p>
        </p:txBody>
      </p:sp>
      <p:sp>
        <p:nvSpPr>
          <p:cNvPr id="39" name="Shape 34"/>
          <p:cNvSpPr/>
          <p:nvPr/>
        </p:nvSpPr>
        <p:spPr>
          <a:xfrm>
            <a:off x="9727957" y="2263024"/>
            <a:ext cx="1523962" cy="299633"/>
          </a:xfrm>
          <a:prstGeom prst="roundRect">
            <a:avLst>
              <a:gd name="adj" fmla="val 21192"/>
            </a:avLst>
          </a:prstGeom>
          <a:solidFill>
            <a:srgbClr val="FAE3ED"/>
          </a:solidFill>
          <a:ln/>
        </p:spPr>
        <p:txBody>
          <a:bodyPr/>
          <a:p/>
        </p:txBody>
      </p:sp>
      <p:sp>
        <p:nvSpPr>
          <p:cNvPr id="40" name="Text 35"/>
          <p:cNvSpPr txBox="1"/>
          <p:nvPr/>
        </p:nvSpPr>
        <p:spPr>
          <a:xfrm>
            <a:off x="9816855" y="2313823"/>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a:t>
            </a:r>
            <a:endParaRPr lang="en-US" sz="1200" dirty="0"/>
          </a:p>
        </p:txBody>
      </p:sp>
      <p:sp>
        <p:nvSpPr>
          <p:cNvPr id="41" name="Shape 36"/>
          <p:cNvSpPr/>
          <p:nvPr/>
        </p:nvSpPr>
        <p:spPr>
          <a:xfrm>
            <a:off x="9727957" y="2626155"/>
            <a:ext cx="1523962" cy="299633"/>
          </a:xfrm>
          <a:prstGeom prst="roundRect">
            <a:avLst>
              <a:gd name="adj" fmla="val 21192"/>
            </a:avLst>
          </a:prstGeom>
          <a:solidFill>
            <a:srgbClr val="FAE3ED"/>
          </a:solidFill>
          <a:ln/>
        </p:spPr>
        <p:txBody>
          <a:bodyPr/>
          <a:p/>
        </p:txBody>
      </p:sp>
      <p:sp>
        <p:nvSpPr>
          <p:cNvPr id="42" name="Text 37"/>
          <p:cNvSpPr txBox="1"/>
          <p:nvPr/>
        </p:nvSpPr>
        <p:spPr>
          <a:xfrm>
            <a:off x="9816855" y="2676954"/>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dispatch</a:t>
            </a:r>
            <a:endParaRPr lang="en-US" sz="1200" dirty="0"/>
          </a:p>
        </p:txBody>
      </p:sp>
      <p:sp>
        <p:nvSpPr>
          <p:cNvPr id="43" name="Shape 38"/>
          <p:cNvSpPr/>
          <p:nvPr/>
        </p:nvSpPr>
        <p:spPr>
          <a:xfrm>
            <a:off x="9727957" y="2989287"/>
            <a:ext cx="1523962" cy="299633"/>
          </a:xfrm>
          <a:prstGeom prst="roundRect">
            <a:avLst>
              <a:gd name="adj" fmla="val 21192"/>
            </a:avLst>
          </a:prstGeom>
          <a:solidFill>
            <a:srgbClr val="FAE3ED"/>
          </a:solidFill>
          <a:ln/>
        </p:spPr>
        <p:txBody>
          <a:bodyPr/>
          <a:p/>
        </p:txBody>
      </p:sp>
      <p:sp>
        <p:nvSpPr>
          <p:cNvPr id="44" name="Text 39"/>
          <p:cNvSpPr txBox="1"/>
          <p:nvPr/>
        </p:nvSpPr>
        <p:spPr>
          <a:xfrm>
            <a:off x="9816855" y="3040086"/>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invoice</a:t>
            </a:r>
            <a:endParaRPr lang="en-US" sz="1200" dirty="0"/>
          </a:p>
        </p:txBody>
      </p:sp>
      <p:sp>
        <p:nvSpPr>
          <p:cNvPr id="45" name="Shape 40"/>
          <p:cNvSpPr/>
          <p:nvPr/>
        </p:nvSpPr>
        <p:spPr>
          <a:xfrm>
            <a:off x="9727957" y="3352419"/>
            <a:ext cx="1523962" cy="299633"/>
          </a:xfrm>
          <a:prstGeom prst="roundRect">
            <a:avLst>
              <a:gd name="adj" fmla="val 21192"/>
            </a:avLst>
          </a:prstGeom>
          <a:solidFill>
            <a:srgbClr val="FAE3ED"/>
          </a:solidFill>
          <a:ln/>
        </p:spPr>
        <p:txBody>
          <a:bodyPr/>
          <a:p/>
        </p:txBody>
      </p:sp>
      <p:sp>
        <p:nvSpPr>
          <p:cNvPr id="46" name="Text 41"/>
          <p:cNvSpPr txBox="1"/>
          <p:nvPr/>
        </p:nvSpPr>
        <p:spPr>
          <a:xfrm>
            <a:off x="9816855" y="3403217"/>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47" name="Shape 42"/>
          <p:cNvSpPr/>
          <p:nvPr/>
        </p:nvSpPr>
        <p:spPr>
          <a:xfrm>
            <a:off x="9727957" y="3715550"/>
            <a:ext cx="1523962" cy="299633"/>
          </a:xfrm>
          <a:prstGeom prst="roundRect">
            <a:avLst>
              <a:gd name="adj" fmla="val 21192"/>
            </a:avLst>
          </a:prstGeom>
          <a:solidFill>
            <a:srgbClr val="FAE3ED"/>
          </a:solidFill>
          <a:ln/>
        </p:spPr>
        <p:txBody>
          <a:bodyPr/>
          <a:p/>
        </p:txBody>
      </p:sp>
      <p:sp>
        <p:nvSpPr>
          <p:cNvPr id="48" name="Text 43"/>
          <p:cNvSpPr txBox="1"/>
          <p:nvPr/>
        </p:nvSpPr>
        <p:spPr>
          <a:xfrm>
            <a:off x="9816855" y="3766349"/>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chat</a:t>
            </a:r>
            <a:endParaRPr lang="en-US" sz="1200" dirty="0"/>
          </a:p>
        </p:txBody>
      </p:sp>
      <p:sp>
        <p:nvSpPr>
          <p:cNvPr id="49" name="Shape 44"/>
          <p:cNvSpPr/>
          <p:nvPr/>
        </p:nvSpPr>
        <p:spPr>
          <a:xfrm>
            <a:off x="9727957" y="4078682"/>
            <a:ext cx="1523962" cy="299633"/>
          </a:xfrm>
          <a:prstGeom prst="roundRect">
            <a:avLst>
              <a:gd name="adj" fmla="val 21192"/>
            </a:avLst>
          </a:prstGeom>
          <a:solidFill>
            <a:srgbClr val="FAE3ED"/>
          </a:solidFill>
          <a:ln/>
        </p:spPr>
        <p:txBody>
          <a:bodyPr/>
          <a:p/>
        </p:txBody>
      </p:sp>
      <p:sp>
        <p:nvSpPr>
          <p:cNvPr id="50" name="Text 45"/>
          <p:cNvSpPr txBox="1"/>
          <p:nvPr/>
        </p:nvSpPr>
        <p:spPr>
          <a:xfrm>
            <a:off x="9816855" y="4129480"/>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location</a:t>
            </a:r>
            <a:endParaRPr lang="en-US" sz="1200" dirty="0"/>
          </a:p>
        </p:txBody>
      </p:sp>
      <p:sp>
        <p:nvSpPr>
          <p:cNvPr id="51" name="Shape 46"/>
          <p:cNvSpPr/>
          <p:nvPr/>
        </p:nvSpPr>
        <p:spPr>
          <a:xfrm>
            <a:off x="9727957" y="4441813"/>
            <a:ext cx="1523962" cy="299633"/>
          </a:xfrm>
          <a:prstGeom prst="roundRect">
            <a:avLst>
              <a:gd name="adj" fmla="val 21192"/>
            </a:avLst>
          </a:prstGeom>
          <a:solidFill>
            <a:srgbClr val="FAE3ED"/>
          </a:solidFill>
          <a:ln/>
        </p:spPr>
        <p:txBody>
          <a:bodyPr/>
          <a:p/>
        </p:txBody>
      </p:sp>
      <p:sp>
        <p:nvSpPr>
          <p:cNvPr id="52" name="Text 47"/>
          <p:cNvSpPr txBox="1"/>
          <p:nvPr/>
        </p:nvSpPr>
        <p:spPr>
          <a:xfrm>
            <a:off x="9816855" y="4492612"/>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notification</a:t>
            </a:r>
            <a:endParaRPr lang="en-US" sz="1200" dirty="0"/>
          </a:p>
        </p:txBody>
      </p:sp>
      <p:sp>
        <p:nvSpPr>
          <p:cNvPr id="53" name="Shape 48"/>
          <p:cNvSpPr/>
          <p:nvPr/>
        </p:nvSpPr>
        <p:spPr>
          <a:xfrm>
            <a:off x="2590735" y="3619410"/>
            <a:ext cx="419090" cy="63"/>
          </a:xfrm>
          <a:prstGeom prst="line">
            <a:avLst/>
          </a:prstGeom>
          <a:noFill/>
          <a:ln w="19050">
            <a:solidFill>
              <a:srgbClr val="5C6B8A"/>
            </a:solidFill>
            <a:prstDash val="solid"/>
            <a:tailEnd type="triangle"/>
          </a:ln>
        </p:spPr>
        <p:txBody>
          <a:bodyPr/>
          <a:p/>
        </p:txBody>
      </p:sp>
      <p:sp>
        <p:nvSpPr>
          <p:cNvPr id="54" name="Shape 49"/>
          <p:cNvSpPr/>
          <p:nvPr/>
        </p:nvSpPr>
        <p:spPr>
          <a:xfrm>
            <a:off x="4787780" y="3619410"/>
            <a:ext cx="419090" cy="63"/>
          </a:xfrm>
          <a:prstGeom prst="line">
            <a:avLst/>
          </a:prstGeom>
          <a:noFill/>
          <a:ln w="19050">
            <a:solidFill>
              <a:srgbClr val="5C6B8A"/>
            </a:solidFill>
            <a:prstDash val="solid"/>
            <a:tailEnd type="triangle"/>
          </a:ln>
        </p:spPr>
        <p:txBody>
          <a:bodyPr/>
          <a:p/>
        </p:txBody>
      </p:sp>
      <p:sp>
        <p:nvSpPr>
          <p:cNvPr id="55" name="Shape 50"/>
          <p:cNvSpPr/>
          <p:nvPr/>
        </p:nvSpPr>
        <p:spPr>
          <a:xfrm>
            <a:off x="6984825" y="3619410"/>
            <a:ext cx="419090" cy="63"/>
          </a:xfrm>
          <a:prstGeom prst="line">
            <a:avLst/>
          </a:prstGeom>
          <a:noFill/>
          <a:ln w="19050">
            <a:solidFill>
              <a:srgbClr val="4B4B9A"/>
            </a:solidFill>
            <a:prstDash val="solid"/>
            <a:tailEnd type="triangle"/>
          </a:ln>
        </p:spPr>
        <p:txBody>
          <a:bodyPr/>
          <a:p/>
        </p:txBody>
      </p:sp>
      <p:sp>
        <p:nvSpPr>
          <p:cNvPr id="56" name="Shape 51"/>
          <p:cNvSpPr/>
          <p:nvPr/>
        </p:nvSpPr>
        <p:spPr>
          <a:xfrm>
            <a:off x="9181870" y="3619410"/>
            <a:ext cx="419090" cy="63"/>
          </a:xfrm>
          <a:prstGeom prst="line">
            <a:avLst/>
          </a:prstGeom>
          <a:noFill/>
          <a:ln w="19050">
            <a:solidFill>
              <a:srgbClr val="4B4B9A"/>
            </a:solidFill>
            <a:prstDash val="solid"/>
            <a:tailEnd type="triangle"/>
          </a:ln>
        </p:spPr>
        <p:txBody>
          <a:bodyPr/>
          <a:p/>
        </p:txBody>
      </p:sp>
      <p:sp>
        <p:nvSpPr>
          <p:cNvPr id="57" name="Shape 52"/>
          <p:cNvSpPr/>
          <p:nvPr/>
        </p:nvSpPr>
        <p:spPr>
          <a:xfrm>
            <a:off x="8292893" y="4571886"/>
            <a:ext cx="63" cy="253994"/>
          </a:xfrm>
          <a:prstGeom prst="line">
            <a:avLst/>
          </a:prstGeom>
          <a:noFill/>
          <a:ln w="19050">
            <a:solidFill>
              <a:srgbClr val="C0352B"/>
            </a:solidFill>
            <a:prstDash val="dash"/>
            <a:tailEnd type="triangle"/>
          </a:ln>
        </p:spPr>
        <p:txBody>
          <a:bodyPr/>
          <a:p/>
        </p:txBody>
      </p:sp>
      <p:sp>
        <p:nvSpPr>
          <p:cNvPr id="58" name="Text 5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Architecture</a:t>
            </a:r>
            <a:endParaRPr lang="en-US" sz="1200" dirty="0"/>
          </a:p>
        </p:txBody>
      </p:sp>
      <p:sp>
        <p:nvSpPr>
          <p:cNvPr id="59" name="Text 5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SIGN-IN AND API CALL</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OTP sign-in, an API call, then a silent refresh</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txBody>
          <a:bodyPr/>
          <a:p/>
        </p:txBody>
      </p:sp>
      <p:sp>
        <p:nvSpPr>
          <p:cNvPr id="5" name="Shape 3"/>
          <p:cNvSpPr/>
          <p:nvPr/>
        </p:nvSpPr>
        <p:spPr>
          <a:xfrm>
            <a:off x="3981350" y="2260543"/>
            <a:ext cx="63" cy="3467013"/>
          </a:xfrm>
          <a:prstGeom prst="line">
            <a:avLst/>
          </a:prstGeom>
          <a:noFill/>
          <a:ln w="12700">
            <a:solidFill>
              <a:srgbClr val="D5DEEC"/>
            </a:solidFill>
            <a:prstDash val="dash"/>
          </a:ln>
        </p:spPr>
        <p:txBody>
          <a:bodyPr/>
          <a:p/>
        </p:txBody>
      </p:sp>
      <p:sp>
        <p:nvSpPr>
          <p:cNvPr id="6" name="Shape 4"/>
          <p:cNvSpPr/>
          <p:nvPr/>
        </p:nvSpPr>
        <p:spPr>
          <a:xfrm>
            <a:off x="6095848" y="2260543"/>
            <a:ext cx="63" cy="3467013"/>
          </a:xfrm>
          <a:prstGeom prst="line">
            <a:avLst/>
          </a:prstGeom>
          <a:noFill/>
          <a:ln w="12700">
            <a:solidFill>
              <a:srgbClr val="D5DEEC"/>
            </a:solidFill>
            <a:prstDash val="dash"/>
          </a:ln>
        </p:spPr>
        <p:txBody>
          <a:bodyPr/>
          <a:p/>
        </p:txBody>
      </p:sp>
      <p:sp>
        <p:nvSpPr>
          <p:cNvPr id="7" name="Shape 5"/>
          <p:cNvSpPr/>
          <p:nvPr/>
        </p:nvSpPr>
        <p:spPr>
          <a:xfrm>
            <a:off x="8203995" y="2260543"/>
            <a:ext cx="63" cy="3467013"/>
          </a:xfrm>
          <a:prstGeom prst="line">
            <a:avLst/>
          </a:prstGeom>
          <a:noFill/>
          <a:ln w="12700">
            <a:solidFill>
              <a:srgbClr val="D5DEEC"/>
            </a:solidFill>
            <a:prstDash val="dash"/>
          </a:ln>
        </p:spPr>
        <p:txBody>
          <a:bodyPr/>
          <a:p/>
        </p:txBody>
      </p:sp>
      <p:sp>
        <p:nvSpPr>
          <p:cNvPr id="8" name="Shape 6"/>
          <p:cNvSpPr/>
          <p:nvPr/>
        </p:nvSpPr>
        <p:spPr>
          <a:xfrm>
            <a:off x="10318492" y="2260543"/>
            <a:ext cx="63" cy="3467013"/>
          </a:xfrm>
          <a:prstGeom prst="line">
            <a:avLst/>
          </a:prstGeom>
          <a:noFill/>
          <a:ln w="12700">
            <a:solidFill>
              <a:srgbClr val="D5DEEC"/>
            </a:solidFill>
            <a:prstDash val="dash"/>
          </a:ln>
        </p:spPr>
        <p:txBody>
          <a:bodyPr/>
          <a:p/>
        </p:txBody>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txBody>
          <a:bodyPr/>
          <a:p/>
        </p:txBody>
      </p:sp>
      <p:sp>
        <p:nvSpPr>
          <p:cNvPr id="10" name="Text 8"/>
          <p:cNvSpPr txBox="1"/>
          <p:nvPr/>
        </p:nvSpPr>
        <p:spPr>
          <a:xfrm>
            <a:off x="1680228" y="1916362"/>
            <a:ext cx="373152"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E3EBFA"/>
          </a:solidFill>
          <a:ln w="12700">
            <a:solidFill>
              <a:srgbClr val="2454C5"/>
            </a:solidFill>
            <a:prstDash val="solid"/>
          </a:ln>
        </p:spPr>
        <p:txBody>
          <a:bodyPr/>
          <a:p/>
        </p:txBody>
      </p:sp>
      <p:sp>
        <p:nvSpPr>
          <p:cNvPr id="12" name="Text 10"/>
          <p:cNvSpPr txBox="1"/>
          <p:nvPr/>
        </p:nvSpPr>
        <p:spPr>
          <a:xfrm>
            <a:off x="3439858" y="1916362"/>
            <a:ext cx="10828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auth-service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FBE4E2"/>
          </a:solidFill>
          <a:ln w="12700">
            <a:solidFill>
              <a:srgbClr val="C0352B"/>
            </a:solidFill>
            <a:prstDash val="solid"/>
          </a:ln>
        </p:spPr>
        <p:txBody>
          <a:bodyPr/>
          <a:p/>
        </p:txBody>
      </p:sp>
      <p:sp>
        <p:nvSpPr>
          <p:cNvPr id="14" name="Text 12"/>
          <p:cNvSpPr txBox="1"/>
          <p:nvPr/>
        </p:nvSpPr>
        <p:spPr>
          <a:xfrm>
            <a:off x="5851776" y="1916362"/>
            <a:ext cx="488144"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15" name="Shape 13"/>
          <p:cNvSpPr/>
          <p:nvPr/>
        </p:nvSpPr>
        <p:spPr>
          <a:xfrm>
            <a:off x="7315017" y="1803355"/>
            <a:ext cx="1777956" cy="457189"/>
          </a:xfrm>
          <a:prstGeom prst="roundRect">
            <a:avLst>
              <a:gd name="adj" fmla="val 19444"/>
            </a:avLst>
          </a:prstGeom>
          <a:solidFill>
            <a:srgbClr val="E6EBF3"/>
          </a:solidFill>
          <a:ln w="12700">
            <a:solidFill>
              <a:srgbClr val="3F5F95"/>
            </a:solidFill>
            <a:prstDash val="solid"/>
          </a:ln>
        </p:spPr>
        <p:txBody>
          <a:bodyPr/>
          <a:p/>
        </p:txBody>
      </p:sp>
      <p:sp>
        <p:nvSpPr>
          <p:cNvPr id="16" name="Text 14"/>
          <p:cNvSpPr txBox="1"/>
          <p:nvPr/>
        </p:nvSpPr>
        <p:spPr>
          <a:xfrm>
            <a:off x="7681054" y="1916362"/>
            <a:ext cx="1045882"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Shape 15"/>
          <p:cNvSpPr/>
          <p:nvPr/>
        </p:nvSpPr>
        <p:spPr>
          <a:xfrm>
            <a:off x="9429514" y="1803355"/>
            <a:ext cx="1777956" cy="457189"/>
          </a:xfrm>
          <a:prstGeom prst="roundRect">
            <a:avLst>
              <a:gd name="adj" fmla="val 19444"/>
            </a:avLst>
          </a:prstGeom>
          <a:solidFill>
            <a:srgbClr val="DDF2EF"/>
          </a:solidFill>
          <a:ln w="12700">
            <a:solidFill>
              <a:srgbClr val="0B7F74"/>
            </a:solidFill>
            <a:prstDash val="solid"/>
          </a:ln>
        </p:spPr>
        <p:txBody>
          <a:bodyPr/>
          <a:p/>
        </p:txBody>
      </p:sp>
      <p:sp>
        <p:nvSpPr>
          <p:cNvPr id="18" name="Text 16"/>
          <p:cNvSpPr txBox="1"/>
          <p:nvPr/>
        </p:nvSpPr>
        <p:spPr>
          <a:xfrm>
            <a:off x="9655870" y="1916362"/>
            <a:ext cx="1325244"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Domain service</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txBody>
          <a:bodyPr/>
          <a:p/>
        </p:txBody>
      </p:sp>
      <p:sp>
        <p:nvSpPr>
          <p:cNvPr id="20" name="Shape 18"/>
          <p:cNvSpPr/>
          <p:nvPr/>
        </p:nvSpPr>
        <p:spPr>
          <a:xfrm>
            <a:off x="1943051" y="2476438"/>
            <a:ext cx="1962101" cy="213315"/>
          </a:xfrm>
          <a:prstGeom prst="roundRect">
            <a:avLst>
              <a:gd name="adj" fmla="val 17860"/>
            </a:avLst>
          </a:prstGeom>
          <a:solidFill>
            <a:srgbClr val="F5F7FB"/>
          </a:solidFill>
          <a:ln/>
        </p:spPr>
        <p:txBody>
          <a:bodyPr/>
          <a:p/>
        </p:txBody>
      </p:sp>
      <p:sp>
        <p:nvSpPr>
          <p:cNvPr id="21" name="Text 19"/>
          <p:cNvSpPr txBox="1"/>
          <p:nvPr/>
        </p:nvSpPr>
        <p:spPr>
          <a:xfrm>
            <a:off x="1825325" y="2476438"/>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POST /auth/register/otp</a:t>
            </a:r>
            <a:endParaRPr lang="en-US" sz="1200" dirty="0"/>
          </a:p>
        </p:txBody>
      </p:sp>
      <p:sp>
        <p:nvSpPr>
          <p:cNvPr id="22" name="Shape 20"/>
          <p:cNvSpPr/>
          <p:nvPr/>
        </p:nvSpPr>
        <p:spPr>
          <a:xfrm>
            <a:off x="4006750" y="3086023"/>
            <a:ext cx="2050999" cy="63"/>
          </a:xfrm>
          <a:prstGeom prst="line">
            <a:avLst/>
          </a:prstGeom>
          <a:noFill/>
          <a:ln w="19050">
            <a:solidFill>
              <a:srgbClr val="2454C5"/>
            </a:solidFill>
            <a:prstDash val="solid"/>
            <a:tailEnd type="triangle"/>
          </a:ln>
        </p:spPr>
        <p:txBody>
          <a:bodyPr/>
          <a:p/>
        </p:txBody>
      </p:sp>
      <p:sp>
        <p:nvSpPr>
          <p:cNvPr id="23" name="Shape 21"/>
          <p:cNvSpPr/>
          <p:nvPr/>
        </p:nvSpPr>
        <p:spPr>
          <a:xfrm>
            <a:off x="4057549" y="2832029"/>
            <a:ext cx="1962101" cy="213315"/>
          </a:xfrm>
          <a:prstGeom prst="roundRect">
            <a:avLst>
              <a:gd name="adj" fmla="val 17860"/>
            </a:avLst>
          </a:prstGeom>
          <a:solidFill>
            <a:srgbClr val="F5F7FB"/>
          </a:solidFill>
          <a:ln/>
        </p:spPr>
        <p:txBody>
          <a:bodyPr/>
          <a:p/>
        </p:txBody>
      </p:sp>
      <p:sp>
        <p:nvSpPr>
          <p:cNvPr id="24" name="Text 22"/>
          <p:cNvSpPr txBox="1"/>
          <p:nvPr/>
        </p:nvSpPr>
        <p:spPr>
          <a:xfrm>
            <a:off x="3939823" y="2832029"/>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hashed OTP, 5 tries</a:t>
            </a:r>
            <a:endParaRPr lang="en-US" sz="1200" dirty="0"/>
          </a:p>
        </p:txBody>
      </p:sp>
      <p:sp>
        <p:nvSpPr>
          <p:cNvPr id="25" name="Shape 23"/>
          <p:cNvSpPr/>
          <p:nvPr/>
        </p:nvSpPr>
        <p:spPr>
          <a:xfrm>
            <a:off x="1892253" y="3441614"/>
            <a:ext cx="2050999" cy="63"/>
          </a:xfrm>
          <a:prstGeom prst="line">
            <a:avLst/>
          </a:prstGeom>
          <a:noFill/>
          <a:ln w="19050">
            <a:solidFill>
              <a:srgbClr val="2454C5"/>
            </a:solidFill>
            <a:prstDash val="solid"/>
            <a:tailEnd type="triangle"/>
          </a:ln>
        </p:spPr>
        <p:txBody>
          <a:bodyPr/>
          <a:p/>
        </p:txBody>
      </p:sp>
      <p:sp>
        <p:nvSpPr>
          <p:cNvPr id="26" name="Shape 24"/>
          <p:cNvSpPr/>
          <p:nvPr/>
        </p:nvSpPr>
        <p:spPr>
          <a:xfrm>
            <a:off x="1943051" y="3187620"/>
            <a:ext cx="1962101" cy="213315"/>
          </a:xfrm>
          <a:prstGeom prst="roundRect">
            <a:avLst>
              <a:gd name="adj" fmla="val 17860"/>
            </a:avLst>
          </a:prstGeom>
          <a:solidFill>
            <a:srgbClr val="F5F7FB"/>
          </a:solidFill>
          <a:ln/>
        </p:spPr>
        <p:txBody>
          <a:bodyPr/>
          <a:p/>
        </p:txBody>
      </p:sp>
      <p:sp>
        <p:nvSpPr>
          <p:cNvPr id="27" name="Text 25"/>
          <p:cNvSpPr txBox="1"/>
          <p:nvPr/>
        </p:nvSpPr>
        <p:spPr>
          <a:xfrm>
            <a:off x="1825325" y="3187620"/>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POST …/register/verify</a:t>
            </a:r>
            <a:endParaRPr lang="en-US" sz="1200" dirty="0"/>
          </a:p>
        </p:txBody>
      </p:sp>
      <p:sp>
        <p:nvSpPr>
          <p:cNvPr id="28" name="Shape 26"/>
          <p:cNvSpPr/>
          <p:nvPr/>
        </p:nvSpPr>
        <p:spPr>
          <a:xfrm flipH="1">
            <a:off x="1904952" y="3797205"/>
            <a:ext cx="2050999" cy="63"/>
          </a:xfrm>
          <a:prstGeom prst="line">
            <a:avLst/>
          </a:prstGeom>
          <a:noFill/>
          <a:ln w="19050">
            <a:solidFill>
              <a:srgbClr val="5C6B8A"/>
            </a:solidFill>
            <a:prstDash val="dash"/>
            <a:tailEnd type="triangle"/>
          </a:ln>
        </p:spPr>
        <p:txBody>
          <a:bodyPr/>
          <a:p/>
        </p:txBody>
      </p:sp>
      <p:sp>
        <p:nvSpPr>
          <p:cNvPr id="29" name="Shape 27"/>
          <p:cNvSpPr/>
          <p:nvPr/>
        </p:nvSpPr>
        <p:spPr>
          <a:xfrm>
            <a:off x="1943051" y="3543211"/>
            <a:ext cx="1962101" cy="213315"/>
          </a:xfrm>
          <a:prstGeom prst="roundRect">
            <a:avLst>
              <a:gd name="adj" fmla="val 17860"/>
            </a:avLst>
          </a:prstGeom>
          <a:solidFill>
            <a:srgbClr val="F5F7FB"/>
          </a:solidFill>
          <a:ln/>
        </p:spPr>
        <p:txBody>
          <a:bodyPr/>
          <a:p/>
        </p:txBody>
      </p:sp>
      <p:sp>
        <p:nvSpPr>
          <p:cNvPr id="30" name="Text 28"/>
          <p:cNvSpPr txBox="1"/>
          <p:nvPr/>
        </p:nvSpPr>
        <p:spPr>
          <a:xfrm>
            <a:off x="1825325" y="3543211"/>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JWT 15 min + refresh</a:t>
            </a:r>
            <a:endParaRPr lang="en-US" sz="1200" dirty="0"/>
          </a:p>
        </p:txBody>
      </p:sp>
      <p:sp>
        <p:nvSpPr>
          <p:cNvPr id="31" name="Shape 29"/>
          <p:cNvSpPr/>
          <p:nvPr/>
        </p:nvSpPr>
        <p:spPr>
          <a:xfrm>
            <a:off x="1892253" y="4159146"/>
            <a:ext cx="6273643" cy="63"/>
          </a:xfrm>
          <a:prstGeom prst="line">
            <a:avLst/>
          </a:prstGeom>
          <a:noFill/>
          <a:ln w="19050">
            <a:solidFill>
              <a:srgbClr val="2454C5"/>
            </a:solidFill>
            <a:prstDash val="solid"/>
            <a:tailEnd type="triangle"/>
          </a:ln>
        </p:spPr>
        <p:txBody>
          <a:bodyPr/>
          <a:p/>
        </p:txBody>
      </p:sp>
      <p:sp>
        <p:nvSpPr>
          <p:cNvPr id="32" name="Shape 30"/>
          <p:cNvSpPr/>
          <p:nvPr/>
        </p:nvSpPr>
        <p:spPr>
          <a:xfrm>
            <a:off x="3657509" y="3905152"/>
            <a:ext cx="2749481" cy="213315"/>
          </a:xfrm>
          <a:prstGeom prst="roundRect">
            <a:avLst>
              <a:gd name="adj" fmla="val 17860"/>
            </a:avLst>
          </a:prstGeom>
          <a:solidFill>
            <a:srgbClr val="F5F7FB"/>
          </a:solidFill>
          <a:ln/>
        </p:spPr>
        <p:txBody>
          <a:bodyPr/>
          <a:p/>
        </p:txBody>
      </p:sp>
      <p:sp>
        <p:nvSpPr>
          <p:cNvPr id="33" name="Text 31"/>
          <p:cNvSpPr txBox="1"/>
          <p:nvPr/>
        </p:nvSpPr>
        <p:spPr>
          <a:xfrm>
            <a:off x="3492540" y="3905152"/>
            <a:ext cx="3079419"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GET /bookings · Bearer JWT</a:t>
            </a:r>
            <a:endParaRPr lang="en-US" sz="1200" dirty="0"/>
          </a:p>
        </p:txBody>
      </p:sp>
      <p:sp>
        <p:nvSpPr>
          <p:cNvPr id="34" name="Shape 32"/>
          <p:cNvSpPr/>
          <p:nvPr/>
        </p:nvSpPr>
        <p:spPr>
          <a:xfrm flipH="1">
            <a:off x="4019450" y="4514737"/>
            <a:ext cx="4159146" cy="63"/>
          </a:xfrm>
          <a:prstGeom prst="line">
            <a:avLst/>
          </a:prstGeom>
          <a:noFill/>
          <a:ln w="19050">
            <a:solidFill>
              <a:srgbClr val="2454C5"/>
            </a:solidFill>
            <a:prstDash val="solid"/>
            <a:tailEnd type="triangle"/>
          </a:ln>
        </p:spPr>
        <p:txBody>
          <a:bodyPr/>
          <a:p/>
        </p:txBody>
      </p:sp>
      <p:sp>
        <p:nvSpPr>
          <p:cNvPr id="35" name="Shape 33"/>
          <p:cNvSpPr/>
          <p:nvPr/>
        </p:nvSpPr>
        <p:spPr>
          <a:xfrm>
            <a:off x="4590935" y="4260743"/>
            <a:ext cx="3003475" cy="213315"/>
          </a:xfrm>
          <a:prstGeom prst="roundRect">
            <a:avLst>
              <a:gd name="adj" fmla="val 17860"/>
            </a:avLst>
          </a:prstGeom>
          <a:solidFill>
            <a:srgbClr val="F5F7FB"/>
          </a:solidFill>
          <a:ln/>
        </p:spPr>
        <p:txBody>
          <a:bodyPr/>
          <a:p/>
        </p:txBody>
      </p:sp>
      <p:sp>
        <p:nvSpPr>
          <p:cNvPr id="36" name="Text 34"/>
          <p:cNvSpPr txBox="1"/>
          <p:nvPr/>
        </p:nvSpPr>
        <p:spPr>
          <a:xfrm>
            <a:off x="4410727" y="4260743"/>
            <a:ext cx="3363892"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GET /auth/introspect (cached)</a:t>
            </a:r>
            <a:endParaRPr lang="en-US" sz="1200" dirty="0"/>
          </a:p>
        </p:txBody>
      </p:sp>
      <p:sp>
        <p:nvSpPr>
          <p:cNvPr id="37" name="Shape 35"/>
          <p:cNvSpPr/>
          <p:nvPr/>
        </p:nvSpPr>
        <p:spPr>
          <a:xfrm>
            <a:off x="8229394" y="4870328"/>
            <a:ext cx="2050999" cy="63"/>
          </a:xfrm>
          <a:prstGeom prst="line">
            <a:avLst/>
          </a:prstGeom>
          <a:noFill/>
          <a:ln w="19050">
            <a:solidFill>
              <a:srgbClr val="2454C5"/>
            </a:solidFill>
            <a:prstDash val="solid"/>
            <a:tailEnd type="triangle"/>
          </a:ln>
        </p:spPr>
        <p:txBody>
          <a:bodyPr/>
          <a:p/>
        </p:txBody>
      </p:sp>
      <p:sp>
        <p:nvSpPr>
          <p:cNvPr id="38" name="Shape 36"/>
          <p:cNvSpPr/>
          <p:nvPr/>
        </p:nvSpPr>
        <p:spPr>
          <a:xfrm>
            <a:off x="8699283" y="4616335"/>
            <a:ext cx="1117572" cy="213315"/>
          </a:xfrm>
          <a:prstGeom prst="roundRect">
            <a:avLst>
              <a:gd name="adj" fmla="val 17860"/>
            </a:avLst>
          </a:prstGeom>
          <a:solidFill>
            <a:srgbClr val="F5F7FB"/>
          </a:solidFill>
          <a:ln/>
        </p:spPr>
        <p:txBody>
          <a:bodyPr/>
          <a:p/>
        </p:txBody>
      </p:sp>
      <p:sp>
        <p:nvSpPr>
          <p:cNvPr id="39" name="Text 37"/>
          <p:cNvSpPr txBox="1"/>
          <p:nvPr/>
        </p:nvSpPr>
        <p:spPr>
          <a:xfrm>
            <a:off x="8632228" y="4616335"/>
            <a:ext cx="125168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forward</a:t>
            </a:r>
            <a:endParaRPr lang="en-US" sz="1200" dirty="0"/>
          </a:p>
        </p:txBody>
      </p:sp>
      <p:sp>
        <p:nvSpPr>
          <p:cNvPr id="40" name="Shape 38"/>
          <p:cNvSpPr/>
          <p:nvPr/>
        </p:nvSpPr>
        <p:spPr>
          <a:xfrm flipH="1">
            <a:off x="1904952" y="5225919"/>
            <a:ext cx="8388140" cy="63"/>
          </a:xfrm>
          <a:prstGeom prst="line">
            <a:avLst/>
          </a:prstGeom>
          <a:noFill/>
          <a:ln w="19050">
            <a:solidFill>
              <a:srgbClr val="5C6B8A"/>
            </a:solidFill>
            <a:prstDash val="dash"/>
            <a:tailEnd type="triangle"/>
          </a:ln>
        </p:spPr>
        <p:txBody>
          <a:bodyPr/>
          <a:p/>
        </p:txBody>
      </p:sp>
      <p:sp>
        <p:nvSpPr>
          <p:cNvPr id="41" name="Shape 39"/>
          <p:cNvSpPr/>
          <p:nvPr/>
        </p:nvSpPr>
        <p:spPr>
          <a:xfrm>
            <a:off x="4629034" y="4971926"/>
            <a:ext cx="2920927" cy="213315"/>
          </a:xfrm>
          <a:prstGeom prst="roundRect">
            <a:avLst>
              <a:gd name="adj" fmla="val 17860"/>
            </a:avLst>
          </a:prstGeom>
          <a:solidFill>
            <a:srgbClr val="F5F7FB"/>
          </a:solidFill>
          <a:ln/>
        </p:spPr>
        <p:txBody>
          <a:bodyPr/>
          <a:p/>
        </p:txBody>
      </p:sp>
      <p:sp>
        <p:nvSpPr>
          <p:cNvPr id="42" name="Text 40"/>
          <p:cNvSpPr txBox="1"/>
          <p:nvPr/>
        </p:nvSpPr>
        <p:spPr>
          <a:xfrm>
            <a:off x="4453779" y="4971926"/>
            <a:ext cx="32714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200 after RBAC and ownership</a:t>
            </a:r>
            <a:endParaRPr lang="en-US" sz="1200" dirty="0"/>
          </a:p>
        </p:txBody>
      </p:sp>
      <p:sp>
        <p:nvSpPr>
          <p:cNvPr id="43" name="Shape 41"/>
          <p:cNvSpPr/>
          <p:nvPr/>
        </p:nvSpPr>
        <p:spPr>
          <a:xfrm>
            <a:off x="1892253" y="5587860"/>
            <a:ext cx="2050999" cy="63"/>
          </a:xfrm>
          <a:prstGeom prst="line">
            <a:avLst/>
          </a:prstGeom>
          <a:noFill/>
          <a:ln w="19050">
            <a:solidFill>
              <a:srgbClr val="2454C5"/>
            </a:solidFill>
            <a:prstDash val="solid"/>
            <a:tailEnd type="triangle"/>
          </a:ln>
        </p:spPr>
        <p:txBody>
          <a:bodyPr/>
          <a:p/>
        </p:txBody>
      </p:sp>
      <p:sp>
        <p:nvSpPr>
          <p:cNvPr id="44" name="Shape 42"/>
          <p:cNvSpPr/>
          <p:nvPr/>
        </p:nvSpPr>
        <p:spPr>
          <a:xfrm>
            <a:off x="1943051" y="5333867"/>
            <a:ext cx="1962101" cy="213315"/>
          </a:xfrm>
          <a:prstGeom prst="roundRect">
            <a:avLst>
              <a:gd name="adj" fmla="val 17860"/>
            </a:avLst>
          </a:prstGeom>
          <a:solidFill>
            <a:srgbClr val="F5F7FB"/>
          </a:solidFill>
          <a:ln/>
        </p:spPr>
        <p:txBody>
          <a:bodyPr/>
          <a:p/>
        </p:txBody>
      </p:sp>
      <p:sp>
        <p:nvSpPr>
          <p:cNvPr id="45" name="Text 43"/>
          <p:cNvSpPr txBox="1"/>
          <p:nvPr/>
        </p:nvSpPr>
        <p:spPr>
          <a:xfrm>
            <a:off x="1825325" y="5333867"/>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POST /auth/token/refresh</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Sequences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BOOKING TO ACCEPTANCE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Offers go to one provider until someone accepts</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txBody>
          <a:bodyPr/>
          <a:p/>
        </p:txBody>
      </p:sp>
      <p:sp>
        <p:nvSpPr>
          <p:cNvPr id="5" name="Shape 3"/>
          <p:cNvSpPr/>
          <p:nvPr/>
        </p:nvSpPr>
        <p:spPr>
          <a:xfrm>
            <a:off x="3981350" y="2260543"/>
            <a:ext cx="63" cy="3467013"/>
          </a:xfrm>
          <a:prstGeom prst="line">
            <a:avLst/>
          </a:prstGeom>
          <a:noFill/>
          <a:ln w="12700">
            <a:solidFill>
              <a:srgbClr val="D5DEEC"/>
            </a:solidFill>
            <a:prstDash val="dash"/>
          </a:ln>
        </p:spPr>
        <p:txBody>
          <a:bodyPr/>
          <a:p/>
        </p:txBody>
      </p:sp>
      <p:sp>
        <p:nvSpPr>
          <p:cNvPr id="6" name="Shape 4"/>
          <p:cNvSpPr/>
          <p:nvPr/>
        </p:nvSpPr>
        <p:spPr>
          <a:xfrm>
            <a:off x="6095848" y="2260543"/>
            <a:ext cx="63" cy="3467013"/>
          </a:xfrm>
          <a:prstGeom prst="line">
            <a:avLst/>
          </a:prstGeom>
          <a:noFill/>
          <a:ln w="12700">
            <a:solidFill>
              <a:srgbClr val="D5DEEC"/>
            </a:solidFill>
            <a:prstDash val="dash"/>
          </a:ln>
        </p:spPr>
        <p:txBody>
          <a:bodyPr/>
          <a:p/>
        </p:txBody>
      </p:sp>
      <p:sp>
        <p:nvSpPr>
          <p:cNvPr id="7" name="Shape 5"/>
          <p:cNvSpPr/>
          <p:nvPr/>
        </p:nvSpPr>
        <p:spPr>
          <a:xfrm>
            <a:off x="8203995" y="2260543"/>
            <a:ext cx="63" cy="3467013"/>
          </a:xfrm>
          <a:prstGeom prst="line">
            <a:avLst/>
          </a:prstGeom>
          <a:noFill/>
          <a:ln w="12700">
            <a:solidFill>
              <a:srgbClr val="D5DEEC"/>
            </a:solidFill>
            <a:prstDash val="dash"/>
          </a:ln>
        </p:spPr>
        <p:txBody>
          <a:bodyPr/>
          <a:p/>
        </p:txBody>
      </p:sp>
      <p:sp>
        <p:nvSpPr>
          <p:cNvPr id="8" name="Shape 6"/>
          <p:cNvSpPr/>
          <p:nvPr/>
        </p:nvSpPr>
        <p:spPr>
          <a:xfrm>
            <a:off x="10318492" y="2260543"/>
            <a:ext cx="63" cy="3467013"/>
          </a:xfrm>
          <a:prstGeom prst="line">
            <a:avLst/>
          </a:prstGeom>
          <a:noFill/>
          <a:ln w="12700">
            <a:solidFill>
              <a:srgbClr val="D5DEEC"/>
            </a:solidFill>
            <a:prstDash val="dash"/>
          </a:ln>
        </p:spPr>
        <p:txBody>
          <a:bodyPr/>
          <a:p/>
        </p:txBody>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txBody>
          <a:bodyPr/>
          <a:p/>
        </p:txBody>
      </p:sp>
      <p:sp>
        <p:nvSpPr>
          <p:cNvPr id="10" name="Text 8"/>
          <p:cNvSpPr txBox="1"/>
          <p:nvPr/>
        </p:nvSpPr>
        <p:spPr>
          <a:xfrm>
            <a:off x="1269911" y="1916362"/>
            <a:ext cx="11937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DDF2EF"/>
          </a:solidFill>
          <a:ln w="12700">
            <a:solidFill>
              <a:srgbClr val="0B7F74"/>
            </a:solidFill>
            <a:prstDash val="solid"/>
          </a:ln>
        </p:spPr>
        <p:txBody>
          <a:bodyPr/>
          <a:p/>
        </p:txBody>
      </p:sp>
      <p:sp>
        <p:nvSpPr>
          <p:cNvPr id="12" name="Text 10"/>
          <p:cNvSpPr txBox="1"/>
          <p:nvPr/>
        </p:nvSpPr>
        <p:spPr>
          <a:xfrm>
            <a:off x="3297615" y="1916362"/>
            <a:ext cx="136747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E7E7F6"/>
          </a:solidFill>
          <a:ln w="12700">
            <a:solidFill>
              <a:srgbClr val="4B4B9A"/>
            </a:solidFill>
            <a:prstDash val="solid"/>
          </a:ln>
        </p:spPr>
        <p:txBody>
          <a:bodyPr/>
          <a:p/>
        </p:txBody>
      </p:sp>
      <p:sp>
        <p:nvSpPr>
          <p:cNvPr id="14" name="Text 12"/>
          <p:cNvSpPr txBox="1"/>
          <p:nvPr/>
        </p:nvSpPr>
        <p:spPr>
          <a:xfrm>
            <a:off x="5845624" y="1916362"/>
            <a:ext cx="500348"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15" name="Shape 13"/>
          <p:cNvSpPr/>
          <p:nvPr/>
        </p:nvSpPr>
        <p:spPr>
          <a:xfrm>
            <a:off x="7315017" y="1803355"/>
            <a:ext cx="1777956" cy="457189"/>
          </a:xfrm>
          <a:prstGeom prst="roundRect">
            <a:avLst>
              <a:gd name="adj" fmla="val 19444"/>
            </a:avLst>
          </a:prstGeom>
          <a:solidFill>
            <a:srgbClr val="DDF2EF"/>
          </a:solidFill>
          <a:ln w="12700">
            <a:solidFill>
              <a:srgbClr val="0B7F74"/>
            </a:solidFill>
            <a:prstDash val="solid"/>
          </a:ln>
        </p:spPr>
        <p:txBody>
          <a:bodyPr/>
          <a:p/>
        </p:txBody>
      </p:sp>
      <p:sp>
        <p:nvSpPr>
          <p:cNvPr id="16" name="Text 14"/>
          <p:cNvSpPr txBox="1"/>
          <p:nvPr/>
        </p:nvSpPr>
        <p:spPr>
          <a:xfrm>
            <a:off x="7517599" y="1916362"/>
            <a:ext cx="1372693"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dispatch-engine</a:t>
            </a:r>
            <a:endParaRPr lang="en-US" sz="1300" dirty="0"/>
          </a:p>
        </p:txBody>
      </p:sp>
      <p:sp>
        <p:nvSpPr>
          <p:cNvPr id="17" name="Shape 15"/>
          <p:cNvSpPr/>
          <p:nvPr/>
        </p:nvSpPr>
        <p:spPr>
          <a:xfrm>
            <a:off x="9429514" y="1803355"/>
            <a:ext cx="1777956" cy="457189"/>
          </a:xfrm>
          <a:prstGeom prst="roundRect">
            <a:avLst>
              <a:gd name="adj" fmla="val 19444"/>
            </a:avLst>
          </a:prstGeom>
          <a:solidFill>
            <a:srgbClr val="DDF2EF"/>
          </a:solidFill>
          <a:ln w="12700">
            <a:solidFill>
              <a:srgbClr val="0B7F74"/>
            </a:solidFill>
            <a:prstDash val="solid"/>
          </a:ln>
        </p:spPr>
        <p:txBody>
          <a:bodyPr/>
          <a:p/>
        </p:txBody>
      </p:sp>
      <p:sp>
        <p:nvSpPr>
          <p:cNvPr id="18" name="Text 16"/>
          <p:cNvSpPr txBox="1"/>
          <p:nvPr/>
        </p:nvSpPr>
        <p:spPr>
          <a:xfrm>
            <a:off x="9761998" y="1916362"/>
            <a:ext cx="1112889"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Provider app</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txBody>
          <a:bodyPr/>
          <a:p/>
        </p:txBody>
      </p:sp>
      <p:sp>
        <p:nvSpPr>
          <p:cNvPr id="20" name="Shape 18"/>
          <p:cNvSpPr/>
          <p:nvPr/>
        </p:nvSpPr>
        <p:spPr>
          <a:xfrm>
            <a:off x="2063698" y="2476438"/>
            <a:ext cx="1720807" cy="213315"/>
          </a:xfrm>
          <a:prstGeom prst="roundRect">
            <a:avLst>
              <a:gd name="adj" fmla="val 17860"/>
            </a:avLst>
          </a:prstGeom>
          <a:solidFill>
            <a:srgbClr val="F5F7FB"/>
          </a:solidFill>
          <a:ln/>
        </p:spPr>
        <p:txBody>
          <a:bodyPr/>
          <a:p/>
        </p:txBody>
      </p:sp>
      <p:sp>
        <p:nvSpPr>
          <p:cNvPr id="21" name="Text 19"/>
          <p:cNvSpPr txBox="1"/>
          <p:nvPr/>
        </p:nvSpPr>
        <p:spPr>
          <a:xfrm>
            <a:off x="1960450" y="2476438"/>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POST /bookings</a:t>
            </a:r>
            <a:endParaRPr lang="en-US" sz="1200" dirty="0"/>
          </a:p>
        </p:txBody>
      </p:sp>
      <p:sp>
        <p:nvSpPr>
          <p:cNvPr id="22" name="Shape 20"/>
          <p:cNvSpPr/>
          <p:nvPr/>
        </p:nvSpPr>
        <p:spPr>
          <a:xfrm>
            <a:off x="1892253" y="3086023"/>
            <a:ext cx="2050999" cy="63"/>
          </a:xfrm>
          <a:prstGeom prst="line">
            <a:avLst/>
          </a:prstGeom>
          <a:noFill/>
          <a:ln w="19050">
            <a:solidFill>
              <a:srgbClr val="2454C5"/>
            </a:solidFill>
            <a:prstDash val="solid"/>
            <a:tailEnd type="triangle"/>
          </a:ln>
        </p:spPr>
        <p:txBody>
          <a:bodyPr/>
          <a:p/>
        </p:txBody>
      </p:sp>
      <p:sp>
        <p:nvSpPr>
          <p:cNvPr id="23" name="Shape 21"/>
          <p:cNvSpPr/>
          <p:nvPr/>
        </p:nvSpPr>
        <p:spPr>
          <a:xfrm>
            <a:off x="1943051" y="2832029"/>
            <a:ext cx="1962101" cy="213315"/>
          </a:xfrm>
          <a:prstGeom prst="roundRect">
            <a:avLst>
              <a:gd name="adj" fmla="val 17860"/>
            </a:avLst>
          </a:prstGeom>
          <a:solidFill>
            <a:srgbClr val="F5F7FB"/>
          </a:solidFill>
          <a:ln/>
        </p:spPr>
        <p:txBody>
          <a:bodyPr/>
          <a:p/>
        </p:txBody>
      </p:sp>
      <p:sp>
        <p:nvSpPr>
          <p:cNvPr id="24" name="Text 22"/>
          <p:cNvSpPr txBox="1"/>
          <p:nvPr/>
        </p:nvSpPr>
        <p:spPr>
          <a:xfrm>
            <a:off x="1825325" y="2832029"/>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POST …/confirmation</a:t>
            </a:r>
            <a:endParaRPr lang="en-US" sz="1200" dirty="0"/>
          </a:p>
        </p:txBody>
      </p:sp>
      <p:sp>
        <p:nvSpPr>
          <p:cNvPr id="25" name="Shape 23"/>
          <p:cNvSpPr/>
          <p:nvPr/>
        </p:nvSpPr>
        <p:spPr>
          <a:xfrm>
            <a:off x="4006750" y="3441614"/>
            <a:ext cx="2050999" cy="63"/>
          </a:xfrm>
          <a:prstGeom prst="line">
            <a:avLst/>
          </a:prstGeom>
          <a:noFill/>
          <a:ln w="19050">
            <a:solidFill>
              <a:srgbClr val="4B4B9A"/>
            </a:solidFill>
            <a:prstDash val="solid"/>
            <a:tailEnd type="triangle"/>
          </a:ln>
        </p:spPr>
        <p:txBody>
          <a:bodyPr/>
          <a:p/>
        </p:txBody>
      </p:sp>
      <p:sp>
        <p:nvSpPr>
          <p:cNvPr id="26" name="Shape 24"/>
          <p:cNvSpPr/>
          <p:nvPr/>
        </p:nvSpPr>
        <p:spPr>
          <a:xfrm>
            <a:off x="4178196" y="3187620"/>
            <a:ext cx="1720807" cy="213315"/>
          </a:xfrm>
          <a:prstGeom prst="roundRect">
            <a:avLst>
              <a:gd name="adj" fmla="val 17860"/>
            </a:avLst>
          </a:prstGeom>
          <a:solidFill>
            <a:srgbClr val="F5F7FB"/>
          </a:solidFill>
          <a:ln/>
        </p:spPr>
        <p:txBody>
          <a:bodyPr/>
          <a:p/>
        </p:txBody>
      </p:sp>
      <p:sp>
        <p:nvSpPr>
          <p:cNvPr id="27" name="Text 25"/>
          <p:cNvSpPr txBox="1"/>
          <p:nvPr/>
        </p:nvSpPr>
        <p:spPr>
          <a:xfrm>
            <a:off x="4074947" y="3187620"/>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BookingCreated</a:t>
            </a:r>
            <a:endParaRPr lang="en-US" sz="1200" dirty="0"/>
          </a:p>
        </p:txBody>
      </p:sp>
      <p:sp>
        <p:nvSpPr>
          <p:cNvPr id="28" name="Shape 26"/>
          <p:cNvSpPr/>
          <p:nvPr/>
        </p:nvSpPr>
        <p:spPr>
          <a:xfrm>
            <a:off x="6121247" y="3797205"/>
            <a:ext cx="2044649" cy="63"/>
          </a:xfrm>
          <a:prstGeom prst="line">
            <a:avLst/>
          </a:prstGeom>
          <a:noFill/>
          <a:ln w="19050">
            <a:solidFill>
              <a:srgbClr val="4B4B9A"/>
            </a:solidFill>
            <a:prstDash val="solid"/>
            <a:tailEnd type="triangle"/>
          </a:ln>
        </p:spPr>
        <p:txBody>
          <a:bodyPr/>
          <a:p/>
        </p:txBody>
      </p:sp>
      <p:sp>
        <p:nvSpPr>
          <p:cNvPr id="29" name="Shape 27"/>
          <p:cNvSpPr/>
          <p:nvPr/>
        </p:nvSpPr>
        <p:spPr>
          <a:xfrm>
            <a:off x="6286343" y="3543211"/>
            <a:ext cx="1720807" cy="213315"/>
          </a:xfrm>
          <a:prstGeom prst="roundRect">
            <a:avLst>
              <a:gd name="adj" fmla="val 17860"/>
            </a:avLst>
          </a:prstGeom>
          <a:solidFill>
            <a:srgbClr val="F5F7FB"/>
          </a:solidFill>
          <a:ln/>
        </p:spPr>
        <p:txBody>
          <a:bodyPr/>
          <a:p/>
        </p:txBody>
      </p:sp>
      <p:sp>
        <p:nvSpPr>
          <p:cNvPr id="30" name="Text 28"/>
          <p:cNvSpPr txBox="1"/>
          <p:nvPr/>
        </p:nvSpPr>
        <p:spPr>
          <a:xfrm>
            <a:off x="6183094" y="3543211"/>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consume, score</a:t>
            </a:r>
            <a:endParaRPr lang="en-US" sz="1200" dirty="0"/>
          </a:p>
        </p:txBody>
      </p:sp>
      <p:sp>
        <p:nvSpPr>
          <p:cNvPr id="31" name="Shape 29"/>
          <p:cNvSpPr/>
          <p:nvPr/>
        </p:nvSpPr>
        <p:spPr>
          <a:xfrm flipH="1">
            <a:off x="8242094" y="4159146"/>
            <a:ext cx="2050999" cy="63"/>
          </a:xfrm>
          <a:prstGeom prst="line">
            <a:avLst/>
          </a:prstGeom>
          <a:noFill/>
          <a:ln w="19050">
            <a:solidFill>
              <a:srgbClr val="2454C5"/>
            </a:solidFill>
            <a:prstDash val="solid"/>
            <a:tailEnd type="triangle"/>
          </a:ln>
        </p:spPr>
        <p:txBody>
          <a:bodyPr/>
          <a:p/>
        </p:txBody>
      </p:sp>
      <p:sp>
        <p:nvSpPr>
          <p:cNvPr id="32" name="Shape 30"/>
          <p:cNvSpPr/>
          <p:nvPr/>
        </p:nvSpPr>
        <p:spPr>
          <a:xfrm>
            <a:off x="8280193" y="3905152"/>
            <a:ext cx="1962101" cy="426630"/>
          </a:xfrm>
          <a:prstGeom prst="roundRect">
            <a:avLst>
              <a:gd name="adj" fmla="val 8930"/>
            </a:avLst>
          </a:prstGeom>
          <a:solidFill>
            <a:srgbClr val="F5F7FB"/>
          </a:solidFill>
          <a:ln/>
        </p:spPr>
        <p:txBody>
          <a:bodyPr/>
          <a:p/>
        </p:txBody>
      </p:sp>
      <p:sp>
        <p:nvSpPr>
          <p:cNvPr id="33" name="Text 31"/>
          <p:cNvSpPr txBox="1"/>
          <p:nvPr/>
        </p:nvSpPr>
        <p:spPr>
          <a:xfrm>
            <a:off x="8162467" y="3905152"/>
            <a:ext cx="2197553" cy="426630"/>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GET /dispatch/offers (every 5 s)</a:t>
            </a:r>
            <a:endParaRPr lang="en-US" sz="1200" dirty="0"/>
          </a:p>
        </p:txBody>
      </p:sp>
      <p:sp>
        <p:nvSpPr>
          <p:cNvPr id="34" name="Shape 32"/>
          <p:cNvSpPr/>
          <p:nvPr/>
        </p:nvSpPr>
        <p:spPr>
          <a:xfrm flipH="1">
            <a:off x="8242094" y="4514737"/>
            <a:ext cx="2050999" cy="63"/>
          </a:xfrm>
          <a:prstGeom prst="line">
            <a:avLst/>
          </a:prstGeom>
          <a:noFill/>
          <a:ln w="19050">
            <a:solidFill>
              <a:srgbClr val="2454C5"/>
            </a:solidFill>
            <a:prstDash val="solid"/>
            <a:tailEnd type="triangle"/>
          </a:ln>
        </p:spPr>
        <p:txBody>
          <a:bodyPr/>
          <a:p/>
        </p:txBody>
      </p:sp>
      <p:sp>
        <p:nvSpPr>
          <p:cNvPr id="35" name="Shape 33"/>
          <p:cNvSpPr/>
          <p:nvPr/>
        </p:nvSpPr>
        <p:spPr>
          <a:xfrm>
            <a:off x="8445289" y="4260743"/>
            <a:ext cx="1631909" cy="213315"/>
          </a:xfrm>
          <a:prstGeom prst="roundRect">
            <a:avLst>
              <a:gd name="adj" fmla="val 17860"/>
            </a:avLst>
          </a:prstGeom>
          <a:solidFill>
            <a:srgbClr val="F5F7FB"/>
          </a:solidFill>
          <a:ln/>
        </p:spPr>
        <p:txBody>
          <a:bodyPr/>
          <a:p/>
        </p:txBody>
      </p:sp>
      <p:sp>
        <p:nvSpPr>
          <p:cNvPr id="36" name="Text 34"/>
          <p:cNvSpPr txBox="1"/>
          <p:nvPr/>
        </p:nvSpPr>
        <p:spPr>
          <a:xfrm>
            <a:off x="8347374" y="4260743"/>
            <a:ext cx="18277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POST …/accept</a:t>
            </a:r>
            <a:endParaRPr lang="en-US" sz="1200" dirty="0"/>
          </a:p>
        </p:txBody>
      </p:sp>
      <p:sp>
        <p:nvSpPr>
          <p:cNvPr id="37" name="Shape 35"/>
          <p:cNvSpPr/>
          <p:nvPr/>
        </p:nvSpPr>
        <p:spPr>
          <a:xfrm flipH="1">
            <a:off x="4019450" y="4870328"/>
            <a:ext cx="4159146" cy="63"/>
          </a:xfrm>
          <a:prstGeom prst="line">
            <a:avLst/>
          </a:prstGeom>
          <a:noFill/>
          <a:ln w="19050">
            <a:solidFill>
              <a:srgbClr val="2454C5"/>
            </a:solidFill>
            <a:prstDash val="solid"/>
            <a:tailEnd type="triangle"/>
          </a:ln>
        </p:spPr>
        <p:txBody>
          <a:bodyPr/>
          <a:p/>
        </p:txBody>
      </p:sp>
      <p:sp>
        <p:nvSpPr>
          <p:cNvPr id="38" name="Shape 36"/>
          <p:cNvSpPr/>
          <p:nvPr/>
        </p:nvSpPr>
        <p:spPr>
          <a:xfrm>
            <a:off x="4673483" y="4616335"/>
            <a:ext cx="2832029" cy="213315"/>
          </a:xfrm>
          <a:prstGeom prst="roundRect">
            <a:avLst>
              <a:gd name="adj" fmla="val 17860"/>
            </a:avLst>
          </a:prstGeom>
          <a:solidFill>
            <a:srgbClr val="F5F7FB"/>
          </a:solidFill>
          <a:ln/>
        </p:spPr>
        <p:txBody>
          <a:bodyPr/>
          <a:p/>
        </p:txBody>
      </p:sp>
      <p:sp>
        <p:nvSpPr>
          <p:cNvPr id="39" name="Text 37"/>
          <p:cNvSpPr txBox="1"/>
          <p:nvPr/>
        </p:nvSpPr>
        <p:spPr>
          <a:xfrm>
            <a:off x="4503561" y="4616335"/>
            <a:ext cx="317187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internal: provider-accepted</a:t>
            </a:r>
            <a:endParaRPr lang="en-US" sz="1200" dirty="0"/>
          </a:p>
        </p:txBody>
      </p:sp>
      <p:sp>
        <p:nvSpPr>
          <p:cNvPr id="40" name="Shape 38"/>
          <p:cNvSpPr/>
          <p:nvPr/>
        </p:nvSpPr>
        <p:spPr>
          <a:xfrm>
            <a:off x="4006750" y="5225919"/>
            <a:ext cx="2050999" cy="63"/>
          </a:xfrm>
          <a:prstGeom prst="line">
            <a:avLst/>
          </a:prstGeom>
          <a:noFill/>
          <a:ln w="19050">
            <a:solidFill>
              <a:srgbClr val="4B4B9A"/>
            </a:solidFill>
            <a:prstDash val="solid"/>
            <a:tailEnd type="triangle"/>
          </a:ln>
        </p:spPr>
        <p:txBody>
          <a:bodyPr/>
          <a:p/>
        </p:txBody>
      </p:sp>
      <p:sp>
        <p:nvSpPr>
          <p:cNvPr id="41" name="Shape 39"/>
          <p:cNvSpPr/>
          <p:nvPr/>
        </p:nvSpPr>
        <p:spPr>
          <a:xfrm>
            <a:off x="4089298" y="4971926"/>
            <a:ext cx="1892253" cy="213315"/>
          </a:xfrm>
          <a:prstGeom prst="roundRect">
            <a:avLst>
              <a:gd name="adj" fmla="val 17860"/>
            </a:avLst>
          </a:prstGeom>
          <a:solidFill>
            <a:srgbClr val="F5F7FB"/>
          </a:solidFill>
          <a:ln/>
        </p:spPr>
        <p:txBody>
          <a:bodyPr/>
          <a:p/>
        </p:txBody>
      </p:sp>
      <p:sp>
        <p:nvSpPr>
          <p:cNvPr id="42" name="Text 40"/>
          <p:cNvSpPr txBox="1"/>
          <p:nvPr/>
        </p:nvSpPr>
        <p:spPr>
          <a:xfrm>
            <a:off x="3975763" y="4971926"/>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ProviderAccepted</a:t>
            </a:r>
            <a:endParaRPr lang="en-US" sz="1200" dirty="0"/>
          </a:p>
        </p:txBody>
      </p:sp>
      <p:sp>
        <p:nvSpPr>
          <p:cNvPr id="43" name="Shape 41"/>
          <p:cNvSpPr/>
          <p:nvPr/>
        </p:nvSpPr>
        <p:spPr>
          <a:xfrm flipH="1">
            <a:off x="1904952" y="5587860"/>
            <a:ext cx="2050999" cy="63"/>
          </a:xfrm>
          <a:prstGeom prst="line">
            <a:avLst/>
          </a:prstGeom>
          <a:noFill/>
          <a:ln w="19050">
            <a:solidFill>
              <a:srgbClr val="5C6B8A"/>
            </a:solidFill>
            <a:prstDash val="dash"/>
            <a:tailEnd type="triangle"/>
          </a:ln>
        </p:spPr>
        <p:txBody>
          <a:bodyPr/>
          <a:p/>
        </p:txBody>
      </p:sp>
      <p:sp>
        <p:nvSpPr>
          <p:cNvPr id="44" name="Shape 42"/>
          <p:cNvSpPr/>
          <p:nvPr/>
        </p:nvSpPr>
        <p:spPr>
          <a:xfrm>
            <a:off x="1974801" y="5333867"/>
            <a:ext cx="1892253" cy="213315"/>
          </a:xfrm>
          <a:prstGeom prst="roundRect">
            <a:avLst>
              <a:gd name="adj" fmla="val 17860"/>
            </a:avLst>
          </a:prstGeom>
          <a:solidFill>
            <a:srgbClr val="F5F7FB"/>
          </a:solidFill>
          <a:ln/>
        </p:spPr>
        <p:txBody>
          <a:bodyPr/>
          <a:p/>
        </p:txBody>
      </p:sp>
      <p:sp>
        <p:nvSpPr>
          <p:cNvPr id="45" name="Text 43"/>
          <p:cNvSpPr txBox="1"/>
          <p:nvPr/>
        </p:nvSpPr>
        <p:spPr>
          <a:xfrm>
            <a:off x="1861265" y="5333867"/>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status: accepted</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Sequences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PAYMENT</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Verify and webhook settle each payment once</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txBody>
          <a:bodyPr/>
          <a:p/>
        </p:txBody>
      </p:sp>
      <p:sp>
        <p:nvSpPr>
          <p:cNvPr id="5" name="Shape 3"/>
          <p:cNvSpPr/>
          <p:nvPr/>
        </p:nvSpPr>
        <p:spPr>
          <a:xfrm>
            <a:off x="3981350" y="2260543"/>
            <a:ext cx="63" cy="3467013"/>
          </a:xfrm>
          <a:prstGeom prst="line">
            <a:avLst/>
          </a:prstGeom>
          <a:noFill/>
          <a:ln w="12700">
            <a:solidFill>
              <a:srgbClr val="D5DEEC"/>
            </a:solidFill>
            <a:prstDash val="dash"/>
          </a:ln>
        </p:spPr>
        <p:txBody>
          <a:bodyPr/>
          <a:p/>
        </p:txBody>
      </p:sp>
      <p:sp>
        <p:nvSpPr>
          <p:cNvPr id="6" name="Shape 4"/>
          <p:cNvSpPr/>
          <p:nvPr/>
        </p:nvSpPr>
        <p:spPr>
          <a:xfrm>
            <a:off x="6095848" y="2260543"/>
            <a:ext cx="63" cy="3467013"/>
          </a:xfrm>
          <a:prstGeom prst="line">
            <a:avLst/>
          </a:prstGeom>
          <a:noFill/>
          <a:ln w="12700">
            <a:solidFill>
              <a:srgbClr val="D5DEEC"/>
            </a:solidFill>
            <a:prstDash val="dash"/>
          </a:ln>
        </p:spPr>
        <p:txBody>
          <a:bodyPr/>
          <a:p/>
        </p:txBody>
      </p:sp>
      <p:sp>
        <p:nvSpPr>
          <p:cNvPr id="7" name="Shape 5"/>
          <p:cNvSpPr/>
          <p:nvPr/>
        </p:nvSpPr>
        <p:spPr>
          <a:xfrm>
            <a:off x="8203995" y="2260543"/>
            <a:ext cx="63" cy="3467013"/>
          </a:xfrm>
          <a:prstGeom prst="line">
            <a:avLst/>
          </a:prstGeom>
          <a:noFill/>
          <a:ln w="12700">
            <a:solidFill>
              <a:srgbClr val="D5DEEC"/>
            </a:solidFill>
            <a:prstDash val="dash"/>
          </a:ln>
        </p:spPr>
        <p:txBody>
          <a:bodyPr/>
          <a:p/>
        </p:txBody>
      </p:sp>
      <p:sp>
        <p:nvSpPr>
          <p:cNvPr id="8" name="Shape 6"/>
          <p:cNvSpPr/>
          <p:nvPr/>
        </p:nvSpPr>
        <p:spPr>
          <a:xfrm>
            <a:off x="10318492" y="2260543"/>
            <a:ext cx="63" cy="3467013"/>
          </a:xfrm>
          <a:prstGeom prst="line">
            <a:avLst/>
          </a:prstGeom>
          <a:noFill/>
          <a:ln w="12700">
            <a:solidFill>
              <a:srgbClr val="D5DEEC"/>
            </a:solidFill>
            <a:prstDash val="dash"/>
          </a:ln>
        </p:spPr>
        <p:txBody>
          <a:bodyPr/>
          <a:p/>
        </p:txBody>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txBody>
          <a:bodyPr/>
          <a:p/>
        </p:txBody>
      </p:sp>
      <p:sp>
        <p:nvSpPr>
          <p:cNvPr id="10" name="Text 8"/>
          <p:cNvSpPr txBox="1"/>
          <p:nvPr/>
        </p:nvSpPr>
        <p:spPr>
          <a:xfrm>
            <a:off x="1269911" y="1916362"/>
            <a:ext cx="11937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FCEBDD"/>
          </a:solidFill>
          <a:ln w="12700">
            <a:solidFill>
              <a:srgbClr val="B4530F"/>
            </a:solidFill>
            <a:prstDash val="solid"/>
          </a:ln>
        </p:spPr>
        <p:txBody>
          <a:bodyPr/>
          <a:p/>
        </p:txBody>
      </p:sp>
      <p:sp>
        <p:nvSpPr>
          <p:cNvPr id="12" name="Text 10"/>
          <p:cNvSpPr txBox="1"/>
          <p:nvPr/>
        </p:nvSpPr>
        <p:spPr>
          <a:xfrm>
            <a:off x="3258951" y="1916362"/>
            <a:ext cx="144470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payment-service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DDF2EF"/>
          </a:solidFill>
          <a:ln w="12700">
            <a:solidFill>
              <a:srgbClr val="0B7F74"/>
            </a:solidFill>
            <a:prstDash val="solid"/>
          </a:ln>
        </p:spPr>
        <p:txBody>
          <a:bodyPr/>
          <a:p/>
        </p:txBody>
      </p:sp>
      <p:sp>
        <p:nvSpPr>
          <p:cNvPr id="14" name="Text 12"/>
          <p:cNvSpPr txBox="1"/>
          <p:nvPr/>
        </p:nvSpPr>
        <p:spPr>
          <a:xfrm>
            <a:off x="5412113" y="1916362"/>
            <a:ext cx="136747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15" name="Shape 13"/>
          <p:cNvSpPr/>
          <p:nvPr/>
        </p:nvSpPr>
        <p:spPr>
          <a:xfrm>
            <a:off x="7315017" y="1803355"/>
            <a:ext cx="1777956" cy="457189"/>
          </a:xfrm>
          <a:prstGeom prst="roundRect">
            <a:avLst>
              <a:gd name="adj" fmla="val 19444"/>
            </a:avLst>
          </a:prstGeom>
          <a:solidFill>
            <a:srgbClr val="EEF1F6"/>
          </a:solidFill>
          <a:ln w="12700">
            <a:solidFill>
              <a:srgbClr val="5C6B8A"/>
            </a:solidFill>
            <a:prstDash val="solid"/>
          </a:ln>
        </p:spPr>
        <p:txBody>
          <a:bodyPr/>
          <a:p/>
        </p:txBody>
      </p:sp>
      <p:sp>
        <p:nvSpPr>
          <p:cNvPr id="16" name="Text 14"/>
          <p:cNvSpPr txBox="1"/>
          <p:nvPr/>
        </p:nvSpPr>
        <p:spPr>
          <a:xfrm>
            <a:off x="7805072" y="1916362"/>
            <a:ext cx="79774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Razorpay</a:t>
            </a:r>
            <a:endParaRPr lang="en-US" sz="1300" dirty="0"/>
          </a:p>
        </p:txBody>
      </p:sp>
      <p:sp>
        <p:nvSpPr>
          <p:cNvPr id="17" name="Shape 15"/>
          <p:cNvSpPr/>
          <p:nvPr/>
        </p:nvSpPr>
        <p:spPr>
          <a:xfrm>
            <a:off x="9429514" y="1803355"/>
            <a:ext cx="1777956" cy="457189"/>
          </a:xfrm>
          <a:prstGeom prst="roundRect">
            <a:avLst>
              <a:gd name="adj" fmla="val 19444"/>
            </a:avLst>
          </a:prstGeom>
          <a:solidFill>
            <a:srgbClr val="E7E7F6"/>
          </a:solidFill>
          <a:ln w="12700">
            <a:solidFill>
              <a:srgbClr val="4B4B9A"/>
            </a:solidFill>
            <a:prstDash val="solid"/>
          </a:ln>
        </p:spPr>
        <p:txBody>
          <a:bodyPr/>
          <a:p/>
        </p:txBody>
      </p:sp>
      <p:sp>
        <p:nvSpPr>
          <p:cNvPr id="18" name="Text 16"/>
          <p:cNvSpPr txBox="1"/>
          <p:nvPr/>
        </p:nvSpPr>
        <p:spPr>
          <a:xfrm>
            <a:off x="10068269" y="1916362"/>
            <a:ext cx="500348"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txBody>
          <a:bodyPr/>
          <a:p/>
        </p:txBody>
      </p:sp>
      <p:sp>
        <p:nvSpPr>
          <p:cNvPr id="20" name="Shape 18"/>
          <p:cNvSpPr/>
          <p:nvPr/>
        </p:nvSpPr>
        <p:spPr>
          <a:xfrm>
            <a:off x="2063698" y="2476438"/>
            <a:ext cx="1720807" cy="213315"/>
          </a:xfrm>
          <a:prstGeom prst="roundRect">
            <a:avLst>
              <a:gd name="adj" fmla="val 17860"/>
            </a:avLst>
          </a:prstGeom>
          <a:solidFill>
            <a:srgbClr val="F5F7FB"/>
          </a:solidFill>
          <a:ln/>
        </p:spPr>
        <p:txBody>
          <a:bodyPr/>
          <a:p/>
        </p:txBody>
      </p:sp>
      <p:sp>
        <p:nvSpPr>
          <p:cNvPr id="21" name="Text 19"/>
          <p:cNvSpPr txBox="1"/>
          <p:nvPr/>
        </p:nvSpPr>
        <p:spPr>
          <a:xfrm>
            <a:off x="1960450" y="2476438"/>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POST /payments</a:t>
            </a:r>
            <a:endParaRPr lang="en-US" sz="1200" dirty="0"/>
          </a:p>
        </p:txBody>
      </p:sp>
      <p:sp>
        <p:nvSpPr>
          <p:cNvPr id="22" name="Shape 20"/>
          <p:cNvSpPr/>
          <p:nvPr/>
        </p:nvSpPr>
        <p:spPr>
          <a:xfrm>
            <a:off x="4006750" y="3047924"/>
            <a:ext cx="2050999" cy="63"/>
          </a:xfrm>
          <a:prstGeom prst="line">
            <a:avLst/>
          </a:prstGeom>
          <a:noFill/>
          <a:ln w="19050">
            <a:solidFill>
              <a:srgbClr val="2454C5"/>
            </a:solidFill>
            <a:prstDash val="solid"/>
            <a:tailEnd type="triangle"/>
          </a:ln>
        </p:spPr>
        <p:txBody>
          <a:bodyPr/>
          <a:p/>
        </p:txBody>
      </p:sp>
      <p:sp>
        <p:nvSpPr>
          <p:cNvPr id="23" name="Shape 21"/>
          <p:cNvSpPr/>
          <p:nvPr/>
        </p:nvSpPr>
        <p:spPr>
          <a:xfrm>
            <a:off x="4260743" y="2793930"/>
            <a:ext cx="1549361" cy="213315"/>
          </a:xfrm>
          <a:prstGeom prst="roundRect">
            <a:avLst>
              <a:gd name="adj" fmla="val 17860"/>
            </a:avLst>
          </a:prstGeom>
          <a:solidFill>
            <a:srgbClr val="F5F7FB"/>
          </a:solidFill>
          <a:ln/>
        </p:spPr>
        <p:txBody>
          <a:bodyPr/>
          <a:p/>
        </p:txBody>
      </p:sp>
      <p:sp>
        <p:nvSpPr>
          <p:cNvPr id="24" name="Text 22"/>
          <p:cNvSpPr txBox="1"/>
          <p:nvPr/>
        </p:nvSpPr>
        <p:spPr>
          <a:xfrm>
            <a:off x="4167782" y="2793930"/>
            <a:ext cx="1735285"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amount facts</a:t>
            </a:r>
            <a:endParaRPr lang="en-US" sz="1200" dirty="0"/>
          </a:p>
        </p:txBody>
      </p:sp>
      <p:sp>
        <p:nvSpPr>
          <p:cNvPr id="25" name="Shape 23"/>
          <p:cNvSpPr/>
          <p:nvPr/>
        </p:nvSpPr>
        <p:spPr>
          <a:xfrm>
            <a:off x="4006750" y="3365416"/>
            <a:ext cx="4159146" cy="63"/>
          </a:xfrm>
          <a:prstGeom prst="line">
            <a:avLst/>
          </a:prstGeom>
          <a:noFill/>
          <a:ln w="19050">
            <a:solidFill>
              <a:srgbClr val="B4530F"/>
            </a:solidFill>
            <a:prstDash val="solid"/>
            <a:tailEnd type="triangle"/>
          </a:ln>
        </p:spPr>
        <p:txBody>
          <a:bodyPr/>
          <a:p/>
        </p:txBody>
      </p:sp>
      <p:sp>
        <p:nvSpPr>
          <p:cNvPr id="26" name="Shape 24"/>
          <p:cNvSpPr/>
          <p:nvPr/>
        </p:nvSpPr>
        <p:spPr>
          <a:xfrm>
            <a:off x="4971926" y="3111422"/>
            <a:ext cx="2235144" cy="213315"/>
          </a:xfrm>
          <a:prstGeom prst="roundRect">
            <a:avLst>
              <a:gd name="adj" fmla="val 17860"/>
            </a:avLst>
          </a:prstGeom>
          <a:solidFill>
            <a:srgbClr val="F5F7FB"/>
          </a:solidFill>
          <a:ln/>
        </p:spPr>
        <p:txBody>
          <a:bodyPr/>
          <a:p/>
        </p:txBody>
      </p:sp>
      <p:sp>
        <p:nvSpPr>
          <p:cNvPr id="27" name="Text 25"/>
          <p:cNvSpPr txBox="1"/>
          <p:nvPr/>
        </p:nvSpPr>
        <p:spPr>
          <a:xfrm>
            <a:off x="4837817" y="3111422"/>
            <a:ext cx="250336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create order (paise)</a:t>
            </a:r>
            <a:endParaRPr lang="en-US" sz="1200" dirty="0"/>
          </a:p>
        </p:txBody>
      </p:sp>
      <p:sp>
        <p:nvSpPr>
          <p:cNvPr id="28" name="Shape 26"/>
          <p:cNvSpPr/>
          <p:nvPr/>
        </p:nvSpPr>
        <p:spPr>
          <a:xfrm flipH="1">
            <a:off x="1904952" y="3682908"/>
            <a:ext cx="2050999" cy="63"/>
          </a:xfrm>
          <a:prstGeom prst="line">
            <a:avLst/>
          </a:prstGeom>
          <a:noFill/>
          <a:ln w="19050">
            <a:solidFill>
              <a:srgbClr val="5C6B8A"/>
            </a:solidFill>
            <a:prstDash val="dash"/>
            <a:tailEnd type="triangle"/>
          </a:ln>
        </p:spPr>
        <p:txBody>
          <a:bodyPr/>
          <a:p/>
        </p:txBody>
      </p:sp>
      <p:sp>
        <p:nvSpPr>
          <p:cNvPr id="29" name="Shape 27"/>
          <p:cNvSpPr/>
          <p:nvPr/>
        </p:nvSpPr>
        <p:spPr>
          <a:xfrm>
            <a:off x="2063698" y="3428914"/>
            <a:ext cx="1720807" cy="213315"/>
          </a:xfrm>
          <a:prstGeom prst="roundRect">
            <a:avLst>
              <a:gd name="adj" fmla="val 17860"/>
            </a:avLst>
          </a:prstGeom>
          <a:solidFill>
            <a:srgbClr val="F5F7FB"/>
          </a:solidFill>
          <a:ln/>
        </p:spPr>
        <p:txBody>
          <a:bodyPr/>
          <a:p/>
        </p:txBody>
      </p:sp>
      <p:sp>
        <p:nvSpPr>
          <p:cNvPr id="30" name="Text 28"/>
          <p:cNvSpPr txBox="1"/>
          <p:nvPr/>
        </p:nvSpPr>
        <p:spPr>
          <a:xfrm>
            <a:off x="1960450" y="3428914"/>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order + key id</a:t>
            </a:r>
            <a:endParaRPr lang="en-US" sz="1200" dirty="0"/>
          </a:p>
        </p:txBody>
      </p:sp>
      <p:sp>
        <p:nvSpPr>
          <p:cNvPr id="31" name="Shape 29"/>
          <p:cNvSpPr/>
          <p:nvPr/>
        </p:nvSpPr>
        <p:spPr>
          <a:xfrm>
            <a:off x="1892253" y="4000400"/>
            <a:ext cx="6273643" cy="63"/>
          </a:xfrm>
          <a:prstGeom prst="line">
            <a:avLst/>
          </a:prstGeom>
          <a:noFill/>
          <a:ln w="19050">
            <a:solidFill>
              <a:srgbClr val="B4530F"/>
            </a:solidFill>
            <a:prstDash val="solid"/>
            <a:tailEnd type="triangle"/>
          </a:ln>
        </p:spPr>
        <p:txBody>
          <a:bodyPr/>
          <a:p/>
        </p:txBody>
      </p:sp>
      <p:sp>
        <p:nvSpPr>
          <p:cNvPr id="32" name="Shape 30"/>
          <p:cNvSpPr/>
          <p:nvPr/>
        </p:nvSpPr>
        <p:spPr>
          <a:xfrm>
            <a:off x="4044849" y="3746406"/>
            <a:ext cx="1974801" cy="213315"/>
          </a:xfrm>
          <a:prstGeom prst="roundRect">
            <a:avLst>
              <a:gd name="adj" fmla="val 17860"/>
            </a:avLst>
          </a:prstGeom>
          <a:solidFill>
            <a:srgbClr val="F5F7FB"/>
          </a:solidFill>
          <a:ln/>
        </p:spPr>
        <p:txBody>
          <a:bodyPr/>
          <a:p/>
        </p:txBody>
      </p:sp>
      <p:sp>
        <p:nvSpPr>
          <p:cNvPr id="33" name="Text 31"/>
          <p:cNvSpPr txBox="1"/>
          <p:nvPr/>
        </p:nvSpPr>
        <p:spPr>
          <a:xfrm>
            <a:off x="3926361" y="3746406"/>
            <a:ext cx="2211777"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Razorpay Checkout</a:t>
            </a:r>
            <a:endParaRPr lang="en-US" sz="1200" dirty="0"/>
          </a:p>
        </p:txBody>
      </p:sp>
      <p:sp>
        <p:nvSpPr>
          <p:cNvPr id="34" name="Shape 32"/>
          <p:cNvSpPr/>
          <p:nvPr/>
        </p:nvSpPr>
        <p:spPr>
          <a:xfrm flipH="1">
            <a:off x="1904952" y="4317892"/>
            <a:ext cx="6273643" cy="63"/>
          </a:xfrm>
          <a:prstGeom prst="line">
            <a:avLst/>
          </a:prstGeom>
          <a:noFill/>
          <a:ln w="19050">
            <a:solidFill>
              <a:srgbClr val="5C6B8A"/>
            </a:solidFill>
            <a:prstDash val="dash"/>
            <a:tailEnd type="triangle"/>
          </a:ln>
        </p:spPr>
        <p:txBody>
          <a:bodyPr/>
          <a:p/>
        </p:txBody>
      </p:sp>
      <p:sp>
        <p:nvSpPr>
          <p:cNvPr id="35" name="Shape 33"/>
          <p:cNvSpPr/>
          <p:nvPr/>
        </p:nvSpPr>
        <p:spPr>
          <a:xfrm>
            <a:off x="3828954" y="4063898"/>
            <a:ext cx="2406590" cy="213315"/>
          </a:xfrm>
          <a:prstGeom prst="roundRect">
            <a:avLst>
              <a:gd name="adj" fmla="val 17860"/>
            </a:avLst>
          </a:prstGeom>
          <a:solidFill>
            <a:srgbClr val="F5F7FB"/>
          </a:solidFill>
          <a:ln/>
        </p:spPr>
        <p:txBody>
          <a:bodyPr/>
          <a:p/>
        </p:txBody>
      </p:sp>
      <p:sp>
        <p:nvSpPr>
          <p:cNvPr id="36" name="Text 34"/>
          <p:cNvSpPr txBox="1"/>
          <p:nvPr/>
        </p:nvSpPr>
        <p:spPr>
          <a:xfrm>
            <a:off x="3684559" y="4063898"/>
            <a:ext cx="269538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payment id + signature</a:t>
            </a:r>
            <a:endParaRPr lang="en-US" sz="1200" dirty="0"/>
          </a:p>
        </p:txBody>
      </p:sp>
      <p:sp>
        <p:nvSpPr>
          <p:cNvPr id="37" name="Shape 35"/>
          <p:cNvSpPr/>
          <p:nvPr/>
        </p:nvSpPr>
        <p:spPr>
          <a:xfrm>
            <a:off x="1892253" y="4635384"/>
            <a:ext cx="2050999" cy="63"/>
          </a:xfrm>
          <a:prstGeom prst="line">
            <a:avLst/>
          </a:prstGeom>
          <a:noFill/>
          <a:ln w="19050">
            <a:solidFill>
              <a:srgbClr val="2454C5"/>
            </a:solidFill>
            <a:prstDash val="solid"/>
            <a:tailEnd type="triangle"/>
          </a:ln>
        </p:spPr>
        <p:txBody>
          <a:bodyPr/>
          <a:p/>
        </p:txBody>
      </p:sp>
      <p:sp>
        <p:nvSpPr>
          <p:cNvPr id="38" name="Shape 36"/>
          <p:cNvSpPr/>
          <p:nvPr/>
        </p:nvSpPr>
        <p:spPr>
          <a:xfrm>
            <a:off x="2108147" y="4381390"/>
            <a:ext cx="1631909" cy="213315"/>
          </a:xfrm>
          <a:prstGeom prst="roundRect">
            <a:avLst>
              <a:gd name="adj" fmla="val 17860"/>
            </a:avLst>
          </a:prstGeom>
          <a:solidFill>
            <a:srgbClr val="F5F7FB"/>
          </a:solidFill>
          <a:ln/>
        </p:spPr>
        <p:txBody>
          <a:bodyPr/>
          <a:p/>
        </p:txBody>
      </p:sp>
      <p:sp>
        <p:nvSpPr>
          <p:cNvPr id="39" name="Text 37"/>
          <p:cNvSpPr txBox="1"/>
          <p:nvPr/>
        </p:nvSpPr>
        <p:spPr>
          <a:xfrm>
            <a:off x="2010233" y="4381390"/>
            <a:ext cx="18277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POST …/verify</a:t>
            </a:r>
            <a:endParaRPr lang="en-US" sz="1200" dirty="0"/>
          </a:p>
        </p:txBody>
      </p:sp>
      <p:sp>
        <p:nvSpPr>
          <p:cNvPr id="40" name="Shape 38"/>
          <p:cNvSpPr/>
          <p:nvPr/>
        </p:nvSpPr>
        <p:spPr>
          <a:xfrm flipH="1">
            <a:off x="4019450" y="4952876"/>
            <a:ext cx="4159146" cy="63"/>
          </a:xfrm>
          <a:prstGeom prst="line">
            <a:avLst/>
          </a:prstGeom>
          <a:noFill/>
          <a:ln w="19050">
            <a:solidFill>
              <a:srgbClr val="B4530F"/>
            </a:solidFill>
            <a:prstDash val="solid"/>
            <a:tailEnd type="triangle"/>
          </a:ln>
        </p:spPr>
        <p:txBody>
          <a:bodyPr/>
          <a:p/>
        </p:txBody>
      </p:sp>
      <p:sp>
        <p:nvSpPr>
          <p:cNvPr id="41" name="Shape 39"/>
          <p:cNvSpPr/>
          <p:nvPr/>
        </p:nvSpPr>
        <p:spPr>
          <a:xfrm>
            <a:off x="5143371" y="4698883"/>
            <a:ext cx="1892253" cy="213315"/>
          </a:xfrm>
          <a:prstGeom prst="roundRect">
            <a:avLst>
              <a:gd name="adj" fmla="val 17860"/>
            </a:avLst>
          </a:prstGeom>
          <a:solidFill>
            <a:srgbClr val="F5F7FB"/>
          </a:solidFill>
          <a:ln/>
        </p:spPr>
        <p:txBody>
          <a:bodyPr/>
          <a:p/>
        </p:txBody>
      </p:sp>
      <p:sp>
        <p:nvSpPr>
          <p:cNvPr id="42" name="Text 40"/>
          <p:cNvSpPr txBox="1"/>
          <p:nvPr/>
        </p:nvSpPr>
        <p:spPr>
          <a:xfrm>
            <a:off x="5029836" y="4698883"/>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webhook (signed)</a:t>
            </a:r>
            <a:endParaRPr lang="en-US" sz="1200" dirty="0"/>
          </a:p>
        </p:txBody>
      </p:sp>
      <p:sp>
        <p:nvSpPr>
          <p:cNvPr id="43" name="Shape 41"/>
          <p:cNvSpPr/>
          <p:nvPr/>
        </p:nvSpPr>
        <p:spPr>
          <a:xfrm>
            <a:off x="4006750" y="5270368"/>
            <a:ext cx="6273643" cy="63"/>
          </a:xfrm>
          <a:prstGeom prst="line">
            <a:avLst/>
          </a:prstGeom>
          <a:noFill/>
          <a:ln w="19050">
            <a:solidFill>
              <a:srgbClr val="4B4B9A"/>
            </a:solidFill>
            <a:prstDash val="solid"/>
            <a:tailEnd type="triangle"/>
          </a:ln>
        </p:spPr>
        <p:txBody>
          <a:bodyPr/>
          <a:p/>
        </p:txBody>
      </p:sp>
      <p:sp>
        <p:nvSpPr>
          <p:cNvPr id="44" name="Shape 42"/>
          <p:cNvSpPr/>
          <p:nvPr/>
        </p:nvSpPr>
        <p:spPr>
          <a:xfrm>
            <a:off x="6203795" y="5016375"/>
            <a:ext cx="1892253" cy="213315"/>
          </a:xfrm>
          <a:prstGeom prst="roundRect">
            <a:avLst>
              <a:gd name="adj" fmla="val 17860"/>
            </a:avLst>
          </a:prstGeom>
          <a:solidFill>
            <a:srgbClr val="F5F7FB"/>
          </a:solidFill>
          <a:ln/>
        </p:spPr>
        <p:txBody>
          <a:bodyPr/>
          <a:p/>
        </p:txBody>
      </p:sp>
      <p:sp>
        <p:nvSpPr>
          <p:cNvPr id="45" name="Text 43"/>
          <p:cNvSpPr txBox="1"/>
          <p:nvPr/>
        </p:nvSpPr>
        <p:spPr>
          <a:xfrm>
            <a:off x="6090260" y="5016375"/>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PaymentCompleted</a:t>
            </a:r>
            <a:endParaRPr lang="en-US" sz="1200" dirty="0"/>
          </a:p>
        </p:txBody>
      </p:sp>
      <p:sp>
        <p:nvSpPr>
          <p:cNvPr id="46" name="Shape 44"/>
          <p:cNvSpPr/>
          <p:nvPr/>
        </p:nvSpPr>
        <p:spPr>
          <a:xfrm flipH="1">
            <a:off x="6133947" y="5587860"/>
            <a:ext cx="4159146" cy="63"/>
          </a:xfrm>
          <a:prstGeom prst="line">
            <a:avLst/>
          </a:prstGeom>
          <a:noFill/>
          <a:ln w="19050">
            <a:solidFill>
              <a:srgbClr val="4B4B9A"/>
            </a:solidFill>
            <a:prstDash val="solid"/>
            <a:tailEnd type="triangle"/>
          </a:ln>
        </p:spPr>
        <p:txBody>
          <a:bodyPr/>
          <a:p/>
        </p:txBody>
      </p:sp>
      <p:sp>
        <p:nvSpPr>
          <p:cNvPr id="47" name="Shape 45"/>
          <p:cNvSpPr/>
          <p:nvPr/>
        </p:nvSpPr>
        <p:spPr>
          <a:xfrm>
            <a:off x="7175321" y="5333867"/>
            <a:ext cx="2063698" cy="213315"/>
          </a:xfrm>
          <a:prstGeom prst="roundRect">
            <a:avLst>
              <a:gd name="adj" fmla="val 17860"/>
            </a:avLst>
          </a:prstGeom>
          <a:solidFill>
            <a:srgbClr val="F5F7FB"/>
          </a:solidFill>
          <a:ln/>
        </p:spPr>
        <p:txBody>
          <a:bodyPr/>
          <a:p/>
        </p:txBody>
      </p:sp>
      <p:sp>
        <p:nvSpPr>
          <p:cNvPr id="48" name="Text 46"/>
          <p:cNvSpPr txBox="1"/>
          <p:nvPr/>
        </p:nvSpPr>
        <p:spPr>
          <a:xfrm>
            <a:off x="7051499" y="5333867"/>
            <a:ext cx="2311342"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10 · PAYMENT_COMPLETED</a:t>
            </a:r>
            <a:endParaRPr lang="en-US" sz="1200" dirty="0"/>
          </a:p>
        </p:txBody>
      </p:sp>
      <p:sp>
        <p:nvSpPr>
          <p:cNvPr id="49" name="Text 4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Sequences</a:t>
            </a:r>
            <a:endParaRPr lang="en-US" sz="1200" dirty="0"/>
          </a:p>
        </p:txBody>
      </p:sp>
      <p:sp>
        <p:nvSpPr>
          <p:cNvPr id="50" name="Text 4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BOOKING STATE MACHINE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Ten states on the happy path, five ways off it</a:t>
            </a:r>
            <a:endParaRPr lang="en-US" sz="3000" dirty="0"/>
          </a:p>
        </p:txBody>
      </p:sp>
      <p:sp>
        <p:nvSpPr>
          <p:cNvPr id="4" name="Shape 2"/>
          <p:cNvSpPr/>
          <p:nvPr/>
        </p:nvSpPr>
        <p:spPr>
          <a:xfrm>
            <a:off x="812780" y="1904952"/>
            <a:ext cx="1904952" cy="698483"/>
          </a:xfrm>
          <a:prstGeom prst="roundRect">
            <a:avLst>
              <a:gd name="adj" fmla="val 50000"/>
            </a:avLst>
          </a:prstGeom>
          <a:solidFill>
            <a:srgbClr val="E3EBFA"/>
          </a:solidFill>
          <a:ln w="12700">
            <a:solidFill>
              <a:srgbClr val="2454C5"/>
            </a:solidFill>
            <a:prstDash val="solid"/>
          </a:ln>
        </p:spPr>
        <p:txBody>
          <a:bodyPr/>
          <a:p/>
        </p:txBody>
      </p:sp>
      <p:sp>
        <p:nvSpPr>
          <p:cNvPr id="5" name="Text 3"/>
          <p:cNvSpPr txBox="1"/>
          <p:nvPr/>
        </p:nvSpPr>
        <p:spPr>
          <a:xfrm>
            <a:off x="1358999" y="2034529"/>
            <a:ext cx="81241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CREATED</a:t>
            </a:r>
            <a:endParaRPr lang="en-US" sz="1200" dirty="0"/>
          </a:p>
        </p:txBody>
      </p:sp>
      <p:sp>
        <p:nvSpPr>
          <p:cNvPr id="6" name="Text 4"/>
          <p:cNvSpPr txBox="1"/>
          <p:nvPr/>
        </p:nvSpPr>
        <p:spPr>
          <a:xfrm>
            <a:off x="1650959" y="2260543"/>
            <a:ext cx="228594" cy="213355"/>
          </a:xfrm>
          <a:prstGeom prst="rect">
            <a:avLst/>
          </a:prstGeom>
          <a:noFill/>
          <a:ln/>
        </p:spPr>
        <p:txBody>
          <a:bodyPr wrap="square" lIns="0" tIns="0" rIns="0" bIns="0" rtlCol="0" anchor="t"/>
          <a:lstStyle/>
          <a:p>
            <a:pPr algn="ctr" indent="0" marL="0">
              <a:lnSpc>
                <a:spcPct val="116667"/>
              </a:lnSpc>
              <a:buNone/>
            </a:pPr>
            <a:r>
              <a:rPr lang="en-US" sz="1200" dirty="0">
                <a:solidFill>
                  <a:srgbClr val="2454C5"/>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2978076" y="1904952"/>
            <a:ext cx="1904952" cy="698483"/>
          </a:xfrm>
          <a:prstGeom prst="roundRect">
            <a:avLst>
              <a:gd name="adj" fmla="val 50000"/>
            </a:avLst>
          </a:prstGeom>
          <a:solidFill>
            <a:srgbClr val="FCFDFF"/>
          </a:solidFill>
          <a:ln w="12700">
            <a:solidFill>
              <a:srgbClr val="0B7F74"/>
            </a:solidFill>
            <a:prstDash val="solid"/>
          </a:ln>
        </p:spPr>
        <p:txBody>
          <a:bodyPr/>
          <a:p/>
        </p:txBody>
      </p:sp>
      <p:sp>
        <p:nvSpPr>
          <p:cNvPr id="8" name="Text 6"/>
          <p:cNvSpPr txBox="1"/>
          <p:nvPr/>
        </p:nvSpPr>
        <p:spPr>
          <a:xfrm>
            <a:off x="2925229" y="2034529"/>
            <a:ext cx="201064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SEARCHING_PROVIDER</a:t>
            </a:r>
            <a:endParaRPr lang="en-US" sz="1200" dirty="0"/>
          </a:p>
        </p:txBody>
      </p:sp>
      <p:sp>
        <p:nvSpPr>
          <p:cNvPr id="9" name="Text 7"/>
          <p:cNvSpPr txBox="1"/>
          <p:nvPr/>
        </p:nvSpPr>
        <p:spPr>
          <a:xfrm>
            <a:off x="3318491" y="2260543"/>
            <a:ext cx="1224122"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BookingCreated</a:t>
            </a:r>
            <a:endParaRPr lang="en-US" sz="1200" dirty="0"/>
          </a:p>
        </p:txBody>
      </p:sp>
      <p:sp>
        <p:nvSpPr>
          <p:cNvPr id="10" name="Shape 8"/>
          <p:cNvSpPr/>
          <p:nvPr/>
        </p:nvSpPr>
        <p:spPr>
          <a:xfrm>
            <a:off x="5143371" y="1904952"/>
            <a:ext cx="1904952" cy="698483"/>
          </a:xfrm>
          <a:prstGeom prst="roundRect">
            <a:avLst>
              <a:gd name="adj" fmla="val 50000"/>
            </a:avLst>
          </a:prstGeom>
          <a:solidFill>
            <a:srgbClr val="FCFDFF"/>
          </a:solidFill>
          <a:ln w="12700">
            <a:solidFill>
              <a:srgbClr val="0B7F74"/>
            </a:solidFill>
            <a:prstDash val="solid"/>
          </a:ln>
        </p:spPr>
        <p:txBody>
          <a:bodyPr/>
          <a:p/>
        </p:txBody>
      </p:sp>
      <p:sp>
        <p:nvSpPr>
          <p:cNvPr id="11" name="Text 9"/>
          <p:cNvSpPr txBox="1"/>
          <p:nvPr/>
        </p:nvSpPr>
        <p:spPr>
          <a:xfrm>
            <a:off x="5133196" y="2034529"/>
            <a:ext cx="1925304"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PROVIDER_ACCEPTED</a:t>
            </a:r>
            <a:endParaRPr lang="en-US" sz="1200" dirty="0"/>
          </a:p>
        </p:txBody>
      </p:sp>
      <p:sp>
        <p:nvSpPr>
          <p:cNvPr id="12" name="Text 10"/>
          <p:cNvSpPr txBox="1"/>
          <p:nvPr/>
        </p:nvSpPr>
        <p:spPr>
          <a:xfrm>
            <a:off x="5422225" y="2260543"/>
            <a:ext cx="1347246"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ProviderAccepted</a:t>
            </a:r>
            <a:endParaRPr lang="en-US" sz="1200" dirty="0"/>
          </a:p>
        </p:txBody>
      </p:sp>
      <p:sp>
        <p:nvSpPr>
          <p:cNvPr id="13" name="Shape 11"/>
          <p:cNvSpPr/>
          <p:nvPr/>
        </p:nvSpPr>
        <p:spPr>
          <a:xfrm>
            <a:off x="7308667" y="1904952"/>
            <a:ext cx="1904952" cy="698483"/>
          </a:xfrm>
          <a:prstGeom prst="roundRect">
            <a:avLst>
              <a:gd name="adj" fmla="val 50000"/>
            </a:avLst>
          </a:prstGeom>
          <a:solidFill>
            <a:srgbClr val="FCFDFF"/>
          </a:solidFill>
          <a:ln w="12700">
            <a:solidFill>
              <a:srgbClr val="0B7F74"/>
            </a:solidFill>
            <a:prstDash val="solid"/>
          </a:ln>
        </p:spPr>
        <p:txBody>
          <a:bodyPr/>
          <a:p/>
        </p:txBody>
      </p:sp>
      <p:sp>
        <p:nvSpPr>
          <p:cNvPr id="14" name="Text 12"/>
          <p:cNvSpPr txBox="1"/>
          <p:nvPr/>
        </p:nvSpPr>
        <p:spPr>
          <a:xfrm>
            <a:off x="7187703" y="2034529"/>
            <a:ext cx="2146881"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PROVIDER_ON_THE_WAY</a:t>
            </a:r>
            <a:endParaRPr lang="en-US" sz="1200" dirty="0"/>
          </a:p>
        </p:txBody>
      </p:sp>
      <p:sp>
        <p:nvSpPr>
          <p:cNvPr id="15" name="Text 13"/>
          <p:cNvSpPr txBox="1"/>
          <p:nvPr/>
        </p:nvSpPr>
        <p:spPr>
          <a:xfrm>
            <a:off x="7654083" y="2260543"/>
            <a:ext cx="1214121"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ProviderArriving</a:t>
            </a:r>
            <a:endParaRPr lang="en-US" sz="1200" dirty="0"/>
          </a:p>
        </p:txBody>
      </p:sp>
      <p:sp>
        <p:nvSpPr>
          <p:cNvPr id="16" name="Shape 14"/>
          <p:cNvSpPr/>
          <p:nvPr/>
        </p:nvSpPr>
        <p:spPr>
          <a:xfrm>
            <a:off x="9473963" y="1904952"/>
            <a:ext cx="1904952" cy="698483"/>
          </a:xfrm>
          <a:prstGeom prst="roundRect">
            <a:avLst>
              <a:gd name="adj" fmla="val 50000"/>
            </a:avLst>
          </a:prstGeom>
          <a:solidFill>
            <a:srgbClr val="FCFDFF"/>
          </a:solidFill>
          <a:ln w="12700">
            <a:solidFill>
              <a:srgbClr val="0B7F74"/>
            </a:solidFill>
            <a:prstDash val="solid"/>
          </a:ln>
        </p:spPr>
        <p:txBody>
          <a:bodyPr/>
          <a:p/>
        </p:txBody>
      </p:sp>
      <p:sp>
        <p:nvSpPr>
          <p:cNvPr id="17" name="Text 15"/>
          <p:cNvSpPr txBox="1"/>
          <p:nvPr/>
        </p:nvSpPr>
        <p:spPr>
          <a:xfrm>
            <a:off x="9549129" y="2034529"/>
            <a:ext cx="1754620"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PROVIDER_ARRIVED</a:t>
            </a:r>
            <a:endParaRPr lang="en-US" sz="1200" dirty="0"/>
          </a:p>
        </p:txBody>
      </p:sp>
      <p:sp>
        <p:nvSpPr>
          <p:cNvPr id="18" name="Text 16"/>
          <p:cNvSpPr txBox="1"/>
          <p:nvPr/>
        </p:nvSpPr>
        <p:spPr>
          <a:xfrm>
            <a:off x="9838275" y="2260543"/>
            <a:ext cx="1176229"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ProviderArrived</a:t>
            </a:r>
            <a:endParaRPr lang="en-US" sz="1200" dirty="0"/>
          </a:p>
        </p:txBody>
      </p:sp>
      <p:sp>
        <p:nvSpPr>
          <p:cNvPr id="19" name="Shape 17"/>
          <p:cNvSpPr/>
          <p:nvPr/>
        </p:nvSpPr>
        <p:spPr>
          <a:xfrm>
            <a:off x="812780" y="3174921"/>
            <a:ext cx="1904952" cy="698483"/>
          </a:xfrm>
          <a:prstGeom prst="roundRect">
            <a:avLst>
              <a:gd name="adj" fmla="val 50000"/>
            </a:avLst>
          </a:prstGeom>
          <a:solidFill>
            <a:srgbClr val="E0F2E8"/>
          </a:solidFill>
          <a:ln w="12700">
            <a:solidFill>
              <a:srgbClr val="2E7D4F"/>
            </a:solidFill>
            <a:prstDash val="solid"/>
          </a:ln>
        </p:spPr>
        <p:txBody>
          <a:bodyPr/>
          <a:p/>
        </p:txBody>
      </p:sp>
      <p:sp>
        <p:nvSpPr>
          <p:cNvPr id="20" name="Text 18"/>
          <p:cNvSpPr txBox="1"/>
          <p:nvPr/>
        </p:nvSpPr>
        <p:spPr>
          <a:xfrm>
            <a:off x="778935" y="3304497"/>
            <a:ext cx="1972642"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PAYMENT_COMPLETED</a:t>
            </a:r>
            <a:endParaRPr lang="en-US" sz="1200" dirty="0"/>
          </a:p>
        </p:txBody>
      </p:sp>
      <p:sp>
        <p:nvSpPr>
          <p:cNvPr id="21" name="Text 19"/>
          <p:cNvSpPr txBox="1"/>
          <p:nvPr/>
        </p:nvSpPr>
        <p:spPr>
          <a:xfrm>
            <a:off x="1015736" y="3530512"/>
            <a:ext cx="1499039" cy="213355"/>
          </a:xfrm>
          <a:prstGeom prst="rect">
            <a:avLst/>
          </a:prstGeom>
          <a:noFill/>
          <a:ln/>
        </p:spPr>
        <p:txBody>
          <a:bodyPr wrap="square" lIns="0" tIns="0" rIns="0" bIns="0" rtlCol="0" anchor="t"/>
          <a:lstStyle/>
          <a:p>
            <a:pPr algn="ctr" indent="0" marL="0">
              <a:lnSpc>
                <a:spcPct val="116667"/>
              </a:lnSpc>
              <a:buNone/>
            </a:pPr>
            <a:r>
              <a:rPr lang="en-US" sz="1200" dirty="0">
                <a:solidFill>
                  <a:srgbClr val="2E7D4F"/>
                </a:solidFill>
                <a:latin typeface="Calibri" pitchFamily="34" charset="0"/>
                <a:ea typeface="Calibri" pitchFamily="34" charset="-122"/>
                <a:cs typeface="Calibri" pitchFamily="34" charset="-120"/>
              </a:rPr>
              <a:t>PaymentCompleted</a:t>
            </a:r>
            <a:endParaRPr lang="en-US" sz="1200" dirty="0"/>
          </a:p>
        </p:txBody>
      </p:sp>
      <p:sp>
        <p:nvSpPr>
          <p:cNvPr id="22" name="Shape 20"/>
          <p:cNvSpPr/>
          <p:nvPr/>
        </p:nvSpPr>
        <p:spPr>
          <a:xfrm>
            <a:off x="2978076" y="3174921"/>
            <a:ext cx="1904952" cy="698483"/>
          </a:xfrm>
          <a:prstGeom prst="roundRect">
            <a:avLst>
              <a:gd name="adj" fmla="val 50000"/>
            </a:avLst>
          </a:prstGeom>
          <a:solidFill>
            <a:srgbClr val="FCFDFF"/>
          </a:solidFill>
          <a:ln w="12700">
            <a:solidFill>
              <a:srgbClr val="B4530F"/>
            </a:solidFill>
            <a:prstDash val="solid"/>
          </a:ln>
        </p:spPr>
        <p:txBody>
          <a:bodyPr/>
          <a:p/>
        </p:txBody>
      </p:sp>
      <p:sp>
        <p:nvSpPr>
          <p:cNvPr id="23" name="Text 21"/>
          <p:cNvSpPr txBox="1"/>
          <p:nvPr/>
        </p:nvSpPr>
        <p:spPr>
          <a:xfrm>
            <a:off x="3091134" y="3304497"/>
            <a:ext cx="167883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PAYMENT_PENDING</a:t>
            </a:r>
            <a:endParaRPr lang="en-US" sz="1200" dirty="0"/>
          </a:p>
        </p:txBody>
      </p:sp>
      <p:sp>
        <p:nvSpPr>
          <p:cNvPr id="24" name="Text 22"/>
          <p:cNvSpPr txBox="1"/>
          <p:nvPr/>
        </p:nvSpPr>
        <p:spPr>
          <a:xfrm>
            <a:off x="3342277" y="3530512"/>
            <a:ext cx="1176451" cy="213355"/>
          </a:xfrm>
          <a:prstGeom prst="rect">
            <a:avLst/>
          </a:prstGeom>
          <a:noFill/>
          <a:ln/>
        </p:spPr>
        <p:txBody>
          <a:bodyPr wrap="square" lIns="0" tIns="0" rIns="0" bIns="0" rtlCol="0" anchor="t"/>
          <a:lstStyle/>
          <a:p>
            <a:pPr algn="ctr" indent="0" marL="0">
              <a:lnSpc>
                <a:spcPct val="116667"/>
              </a:lnSpc>
              <a:buNone/>
            </a:pPr>
            <a:r>
              <a:rPr lang="en-US" sz="1200" dirty="0">
                <a:solidFill>
                  <a:srgbClr val="B4530F"/>
                </a:solidFill>
                <a:latin typeface="Calibri" pitchFamily="34" charset="0"/>
                <a:ea typeface="Calibri" pitchFamily="34" charset="-122"/>
                <a:cs typeface="Calibri" pitchFamily="34" charset="-120"/>
              </a:rPr>
              <a:t>Razorpay order</a:t>
            </a:r>
            <a:endParaRPr lang="en-US" sz="1200" dirty="0"/>
          </a:p>
        </p:txBody>
      </p:sp>
      <p:sp>
        <p:nvSpPr>
          <p:cNvPr id="25" name="Shape 23"/>
          <p:cNvSpPr/>
          <p:nvPr/>
        </p:nvSpPr>
        <p:spPr>
          <a:xfrm>
            <a:off x="5143371" y="3174921"/>
            <a:ext cx="1904952" cy="698483"/>
          </a:xfrm>
          <a:prstGeom prst="roundRect">
            <a:avLst>
              <a:gd name="adj" fmla="val 50000"/>
            </a:avLst>
          </a:prstGeom>
          <a:solidFill>
            <a:srgbClr val="FCFDFF"/>
          </a:solidFill>
          <a:ln w="12700">
            <a:solidFill>
              <a:srgbClr val="B4530F"/>
            </a:solidFill>
            <a:prstDash val="solid"/>
          </a:ln>
        </p:spPr>
        <p:txBody>
          <a:bodyPr/>
          <a:p/>
        </p:txBody>
      </p:sp>
      <p:sp>
        <p:nvSpPr>
          <p:cNvPr id="26" name="Text 24"/>
          <p:cNvSpPr txBox="1"/>
          <p:nvPr/>
        </p:nvSpPr>
        <p:spPr>
          <a:xfrm>
            <a:off x="5044848" y="3304497"/>
            <a:ext cx="2102099"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CUSTOMER_CONFIRMED</a:t>
            </a:r>
            <a:endParaRPr lang="en-US" sz="1200" dirty="0"/>
          </a:p>
        </p:txBody>
      </p:sp>
      <p:sp>
        <p:nvSpPr>
          <p:cNvPr id="27" name="Text 25"/>
          <p:cNvSpPr txBox="1"/>
          <p:nvPr/>
        </p:nvSpPr>
        <p:spPr>
          <a:xfrm>
            <a:off x="5981550" y="3530512"/>
            <a:ext cx="228594" cy="213355"/>
          </a:xfrm>
          <a:prstGeom prst="rect">
            <a:avLst/>
          </a:prstGeom>
          <a:noFill/>
          <a:ln/>
        </p:spPr>
        <p:txBody>
          <a:bodyPr wrap="square" lIns="0" tIns="0" rIns="0" bIns="0" rtlCol="0" anchor="t"/>
          <a:lstStyle/>
          <a:p>
            <a:pPr algn="ctr" indent="0" marL="0">
              <a:lnSpc>
                <a:spcPct val="116667"/>
              </a:lnSpc>
              <a:buNone/>
            </a:pPr>
            <a:r>
              <a:rPr lang="en-US" sz="1200" dirty="0">
                <a:solidFill>
                  <a:srgbClr val="B4530F"/>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7308667" y="3174921"/>
            <a:ext cx="1904952" cy="698483"/>
          </a:xfrm>
          <a:prstGeom prst="roundRect">
            <a:avLst>
              <a:gd name="adj" fmla="val 50000"/>
            </a:avLst>
          </a:prstGeom>
          <a:solidFill>
            <a:srgbClr val="FCFDFF"/>
          </a:solidFill>
          <a:ln w="12700">
            <a:solidFill>
              <a:srgbClr val="0B7F74"/>
            </a:solidFill>
            <a:prstDash val="solid"/>
          </a:ln>
        </p:spPr>
        <p:txBody>
          <a:bodyPr/>
          <a:p/>
        </p:txBody>
      </p:sp>
      <p:sp>
        <p:nvSpPr>
          <p:cNvPr id="29" name="Text 27"/>
          <p:cNvSpPr txBox="1"/>
          <p:nvPr/>
        </p:nvSpPr>
        <p:spPr>
          <a:xfrm>
            <a:off x="7502401" y="3304497"/>
            <a:ext cx="151748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JOB_COMPLETED</a:t>
            </a:r>
            <a:endParaRPr lang="en-US" sz="1200" dirty="0"/>
          </a:p>
        </p:txBody>
      </p:sp>
      <p:sp>
        <p:nvSpPr>
          <p:cNvPr id="30" name="Text 28"/>
          <p:cNvSpPr txBox="1"/>
          <p:nvPr/>
        </p:nvSpPr>
        <p:spPr>
          <a:xfrm>
            <a:off x="7710761" y="3530512"/>
            <a:ext cx="1100666"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JobCompleted</a:t>
            </a:r>
            <a:endParaRPr lang="en-US" sz="1200" dirty="0"/>
          </a:p>
        </p:txBody>
      </p:sp>
      <p:sp>
        <p:nvSpPr>
          <p:cNvPr id="31" name="Shape 29"/>
          <p:cNvSpPr/>
          <p:nvPr/>
        </p:nvSpPr>
        <p:spPr>
          <a:xfrm>
            <a:off x="9473963" y="3174921"/>
            <a:ext cx="1904952" cy="698483"/>
          </a:xfrm>
          <a:prstGeom prst="roundRect">
            <a:avLst>
              <a:gd name="adj" fmla="val 50000"/>
            </a:avLst>
          </a:prstGeom>
          <a:solidFill>
            <a:srgbClr val="FCFDFF"/>
          </a:solidFill>
          <a:ln w="12700">
            <a:solidFill>
              <a:srgbClr val="0B7F74"/>
            </a:solidFill>
            <a:prstDash val="solid"/>
          </a:ln>
        </p:spPr>
        <p:txBody>
          <a:bodyPr/>
          <a:p/>
        </p:txBody>
      </p:sp>
      <p:sp>
        <p:nvSpPr>
          <p:cNvPr id="32" name="Text 30"/>
          <p:cNvSpPr txBox="1"/>
          <p:nvPr/>
        </p:nvSpPr>
        <p:spPr>
          <a:xfrm>
            <a:off x="9806822" y="3304497"/>
            <a:ext cx="123923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JOB_STARTED</a:t>
            </a:r>
            <a:endParaRPr lang="en-US" sz="1200" dirty="0"/>
          </a:p>
        </p:txBody>
      </p:sp>
      <p:sp>
        <p:nvSpPr>
          <p:cNvPr id="33" name="Text 31"/>
          <p:cNvSpPr txBox="1"/>
          <p:nvPr/>
        </p:nvSpPr>
        <p:spPr>
          <a:xfrm>
            <a:off x="10013626" y="3530512"/>
            <a:ext cx="825527"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JobStarted</a:t>
            </a:r>
            <a:endParaRPr lang="en-US" sz="1200" dirty="0"/>
          </a:p>
        </p:txBody>
      </p:sp>
      <p:sp>
        <p:nvSpPr>
          <p:cNvPr id="34" name="Shape 32"/>
          <p:cNvSpPr/>
          <p:nvPr/>
        </p:nvSpPr>
        <p:spPr>
          <a:xfrm>
            <a:off x="2717732" y="2254194"/>
            <a:ext cx="260343" cy="63"/>
          </a:xfrm>
          <a:prstGeom prst="line">
            <a:avLst/>
          </a:prstGeom>
          <a:noFill/>
          <a:ln w="19050">
            <a:solidFill>
              <a:srgbClr val="0B7F74"/>
            </a:solidFill>
            <a:prstDash val="solid"/>
            <a:tailEnd type="triangle"/>
          </a:ln>
        </p:spPr>
        <p:txBody>
          <a:bodyPr/>
          <a:p/>
        </p:txBody>
      </p:sp>
      <p:sp>
        <p:nvSpPr>
          <p:cNvPr id="35" name="Shape 33"/>
          <p:cNvSpPr/>
          <p:nvPr/>
        </p:nvSpPr>
        <p:spPr>
          <a:xfrm flipH="1">
            <a:off x="2717732" y="3524162"/>
            <a:ext cx="260343" cy="63"/>
          </a:xfrm>
          <a:prstGeom prst="line">
            <a:avLst/>
          </a:prstGeom>
          <a:noFill/>
          <a:ln w="19050">
            <a:solidFill>
              <a:srgbClr val="B4530F"/>
            </a:solidFill>
            <a:prstDash val="solid"/>
            <a:tailEnd type="triangle"/>
          </a:ln>
        </p:spPr>
        <p:txBody>
          <a:bodyPr/>
          <a:p/>
        </p:txBody>
      </p:sp>
      <p:sp>
        <p:nvSpPr>
          <p:cNvPr id="36" name="Shape 34"/>
          <p:cNvSpPr/>
          <p:nvPr/>
        </p:nvSpPr>
        <p:spPr>
          <a:xfrm>
            <a:off x="4883028" y="2254194"/>
            <a:ext cx="260343" cy="63"/>
          </a:xfrm>
          <a:prstGeom prst="line">
            <a:avLst/>
          </a:prstGeom>
          <a:noFill/>
          <a:ln w="19050">
            <a:solidFill>
              <a:srgbClr val="0B7F74"/>
            </a:solidFill>
            <a:prstDash val="solid"/>
            <a:tailEnd type="triangle"/>
          </a:ln>
        </p:spPr>
        <p:txBody>
          <a:bodyPr/>
          <a:p/>
        </p:txBody>
      </p:sp>
      <p:sp>
        <p:nvSpPr>
          <p:cNvPr id="37" name="Shape 35"/>
          <p:cNvSpPr/>
          <p:nvPr/>
        </p:nvSpPr>
        <p:spPr>
          <a:xfrm flipH="1">
            <a:off x="4883028" y="3524162"/>
            <a:ext cx="260343" cy="63"/>
          </a:xfrm>
          <a:prstGeom prst="line">
            <a:avLst/>
          </a:prstGeom>
          <a:noFill/>
          <a:ln w="19050">
            <a:solidFill>
              <a:srgbClr val="B4530F"/>
            </a:solidFill>
            <a:prstDash val="solid"/>
            <a:tailEnd type="triangle"/>
          </a:ln>
        </p:spPr>
        <p:txBody>
          <a:bodyPr/>
          <a:p/>
        </p:txBody>
      </p:sp>
      <p:sp>
        <p:nvSpPr>
          <p:cNvPr id="38" name="Shape 36"/>
          <p:cNvSpPr/>
          <p:nvPr/>
        </p:nvSpPr>
        <p:spPr>
          <a:xfrm>
            <a:off x="7048324" y="2254194"/>
            <a:ext cx="260343" cy="63"/>
          </a:xfrm>
          <a:prstGeom prst="line">
            <a:avLst/>
          </a:prstGeom>
          <a:noFill/>
          <a:ln w="19050">
            <a:solidFill>
              <a:srgbClr val="0B7F74"/>
            </a:solidFill>
            <a:prstDash val="solid"/>
            <a:tailEnd type="triangle"/>
          </a:ln>
        </p:spPr>
        <p:txBody>
          <a:bodyPr/>
          <a:p/>
        </p:txBody>
      </p:sp>
      <p:sp>
        <p:nvSpPr>
          <p:cNvPr id="39" name="Shape 37"/>
          <p:cNvSpPr/>
          <p:nvPr/>
        </p:nvSpPr>
        <p:spPr>
          <a:xfrm flipH="1">
            <a:off x="7048324" y="3524162"/>
            <a:ext cx="260343" cy="63"/>
          </a:xfrm>
          <a:prstGeom prst="line">
            <a:avLst/>
          </a:prstGeom>
          <a:noFill/>
          <a:ln w="19050">
            <a:solidFill>
              <a:srgbClr val="0B7F74"/>
            </a:solidFill>
            <a:prstDash val="solid"/>
            <a:tailEnd type="triangle"/>
          </a:ln>
        </p:spPr>
        <p:txBody>
          <a:bodyPr/>
          <a:p/>
        </p:txBody>
      </p:sp>
      <p:sp>
        <p:nvSpPr>
          <p:cNvPr id="40" name="Shape 38"/>
          <p:cNvSpPr/>
          <p:nvPr/>
        </p:nvSpPr>
        <p:spPr>
          <a:xfrm>
            <a:off x="9213620" y="2254194"/>
            <a:ext cx="260343" cy="63"/>
          </a:xfrm>
          <a:prstGeom prst="line">
            <a:avLst/>
          </a:prstGeom>
          <a:noFill/>
          <a:ln w="19050">
            <a:solidFill>
              <a:srgbClr val="0B7F74"/>
            </a:solidFill>
            <a:prstDash val="solid"/>
            <a:tailEnd type="triangle"/>
          </a:ln>
        </p:spPr>
        <p:txBody>
          <a:bodyPr/>
          <a:p/>
        </p:txBody>
      </p:sp>
      <p:sp>
        <p:nvSpPr>
          <p:cNvPr id="41" name="Shape 39"/>
          <p:cNvSpPr/>
          <p:nvPr/>
        </p:nvSpPr>
        <p:spPr>
          <a:xfrm flipH="1">
            <a:off x="9213620" y="3524162"/>
            <a:ext cx="260343" cy="63"/>
          </a:xfrm>
          <a:prstGeom prst="line">
            <a:avLst/>
          </a:prstGeom>
          <a:noFill/>
          <a:ln w="19050">
            <a:solidFill>
              <a:srgbClr val="0B7F74"/>
            </a:solidFill>
            <a:prstDash val="solid"/>
            <a:tailEnd type="triangle"/>
          </a:ln>
        </p:spPr>
        <p:txBody>
          <a:bodyPr/>
          <a:p/>
        </p:txBody>
      </p:sp>
      <p:sp>
        <p:nvSpPr>
          <p:cNvPr id="42" name="Shape 40"/>
          <p:cNvSpPr/>
          <p:nvPr/>
        </p:nvSpPr>
        <p:spPr>
          <a:xfrm>
            <a:off x="10426439" y="2603435"/>
            <a:ext cx="63" cy="571486"/>
          </a:xfrm>
          <a:prstGeom prst="line">
            <a:avLst/>
          </a:prstGeom>
          <a:noFill/>
          <a:ln w="19050">
            <a:solidFill>
              <a:srgbClr val="0B7F74"/>
            </a:solidFill>
            <a:prstDash val="solid"/>
            <a:tailEnd type="triangle"/>
          </a:ln>
        </p:spPr>
        <p:txBody>
          <a:bodyPr/>
          <a:p/>
        </p:txBody>
      </p:sp>
      <p:sp>
        <p:nvSpPr>
          <p:cNvPr id="43" name="Text 41"/>
          <p:cNvSpPr txBox="1"/>
          <p:nvPr/>
        </p:nvSpPr>
        <p:spPr>
          <a:xfrm>
            <a:off x="812780" y="4127397"/>
            <a:ext cx="4267093" cy="213355"/>
          </a:xfrm>
          <a:prstGeom prst="rect">
            <a:avLst/>
          </a:prstGeom>
          <a:noFill/>
          <a:ln/>
        </p:spPr>
        <p:txBody>
          <a:bodyPr wrap="square" lIns="0" tIns="0" rIns="0" bIns="0" rtlCol="0" anchor="t"/>
          <a:lstStyle/>
          <a:p>
            <a:pPr algn="l" indent="0" marL="0">
              <a:lnSpc>
                <a:spcPct val="116667"/>
              </a:lnSpc>
              <a:buNone/>
            </a:pPr>
            <a:r>
              <a:rPr lang="en-US" sz="1200" b="1" dirty="0">
                <a:solidFill>
                  <a:srgbClr val="B8306E"/>
                </a:solidFill>
                <a:latin typeface="Calibri" pitchFamily="34" charset="0"/>
                <a:ea typeface="Calibri" pitchFamily="34" charset="-122"/>
                <a:cs typeface="Calibri" pitchFamily="34" charset="-120"/>
              </a:rPr>
              <a:t>Side paths</a:t>
            </a:r>
            <a:endParaRPr lang="en-US" sz="1200" dirty="0"/>
          </a:p>
        </p:txBody>
      </p:sp>
      <p:sp>
        <p:nvSpPr>
          <p:cNvPr id="44" name="Shape 42"/>
          <p:cNvSpPr/>
          <p:nvPr/>
        </p:nvSpPr>
        <p:spPr>
          <a:xfrm>
            <a:off x="812780" y="4444889"/>
            <a:ext cx="1987500" cy="952476"/>
          </a:xfrm>
          <a:prstGeom prst="roundRect">
            <a:avLst>
              <a:gd name="adj" fmla="val 9333"/>
            </a:avLst>
          </a:prstGeom>
          <a:solidFill>
            <a:srgbClr val="FAE3ED"/>
          </a:solidFill>
          <a:ln/>
        </p:spPr>
        <p:txBody>
          <a:bodyPr/>
          <a:p/>
        </p:txBody>
      </p:sp>
      <p:sp>
        <p:nvSpPr>
          <p:cNvPr id="45" name="Text 43"/>
          <p:cNvSpPr txBox="1"/>
          <p:nvPr/>
        </p:nvSpPr>
        <p:spPr>
          <a:xfrm>
            <a:off x="914377"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AWAITING_ASSIGNMENT</a:t>
            </a:r>
            <a:endParaRPr lang="en-US" sz="1200" dirty="0"/>
          </a:p>
        </p:txBody>
      </p:sp>
      <p:sp>
        <p:nvSpPr>
          <p:cNvPr id="46" name="Text 44"/>
          <p:cNvSpPr txBox="1"/>
          <p:nvPr/>
        </p:nvSpPr>
        <p:spPr>
          <a:xfrm>
            <a:off x="914377" y="4785201"/>
            <a:ext cx="1998422"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taker, an agency covers it</a:t>
            </a:r>
            <a:endParaRPr lang="en-US" sz="1200" dirty="0"/>
          </a:p>
        </p:txBody>
      </p:sp>
      <p:sp>
        <p:nvSpPr>
          <p:cNvPr id="47" name="Shape 45"/>
          <p:cNvSpPr/>
          <p:nvPr/>
        </p:nvSpPr>
        <p:spPr>
          <a:xfrm>
            <a:off x="2952676" y="4444889"/>
            <a:ext cx="1987500" cy="952476"/>
          </a:xfrm>
          <a:prstGeom prst="roundRect">
            <a:avLst>
              <a:gd name="adj" fmla="val 9333"/>
            </a:avLst>
          </a:prstGeom>
          <a:solidFill>
            <a:srgbClr val="FAE3ED"/>
          </a:solidFill>
          <a:ln/>
        </p:spPr>
        <p:txBody>
          <a:bodyPr/>
          <a:p/>
        </p:txBody>
      </p:sp>
      <p:sp>
        <p:nvSpPr>
          <p:cNvPr id="48" name="Text 46"/>
          <p:cNvSpPr txBox="1"/>
          <p:nvPr/>
        </p:nvSpPr>
        <p:spPr>
          <a:xfrm>
            <a:off x="3054274"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SEARCHING_FAILED</a:t>
            </a:r>
            <a:endParaRPr lang="en-US" sz="1200" dirty="0"/>
          </a:p>
        </p:txBody>
      </p:sp>
      <p:sp>
        <p:nvSpPr>
          <p:cNvPr id="49" name="Text 47"/>
          <p:cNvSpPr txBox="1"/>
          <p:nvPr/>
        </p:nvSpPr>
        <p:spPr>
          <a:xfrm>
            <a:off x="3054274" y="4785201"/>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taker, no agency</a:t>
            </a:r>
            <a:endParaRPr lang="en-US" sz="1200" dirty="0"/>
          </a:p>
        </p:txBody>
      </p:sp>
      <p:sp>
        <p:nvSpPr>
          <p:cNvPr id="50" name="Shape 48"/>
          <p:cNvSpPr/>
          <p:nvPr/>
        </p:nvSpPr>
        <p:spPr>
          <a:xfrm>
            <a:off x="5092573" y="4444889"/>
            <a:ext cx="1987500" cy="952476"/>
          </a:xfrm>
          <a:prstGeom prst="roundRect">
            <a:avLst>
              <a:gd name="adj" fmla="val 9333"/>
            </a:avLst>
          </a:prstGeom>
          <a:solidFill>
            <a:srgbClr val="FAE3ED"/>
          </a:solidFill>
          <a:ln/>
        </p:spPr>
        <p:txBody>
          <a:bodyPr/>
          <a:p/>
        </p:txBody>
      </p:sp>
      <p:sp>
        <p:nvSpPr>
          <p:cNvPr id="51" name="Text 49"/>
          <p:cNvSpPr txBox="1"/>
          <p:nvPr/>
        </p:nvSpPr>
        <p:spPr>
          <a:xfrm>
            <a:off x="5194170" y="4533787"/>
            <a:ext cx="1998422" cy="426630"/>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ADDITIONAL_QUOTE_</a:t>
            </a:r>
            <a:endParaRPr lang="en-US" sz="1200" dirty="0"/>
          </a:p>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REQUIRED</a:t>
            </a:r>
            <a:endParaRPr lang="en-US" sz="1200" dirty="0"/>
          </a:p>
        </p:txBody>
      </p:sp>
      <p:sp>
        <p:nvSpPr>
          <p:cNvPr id="52" name="Text 50"/>
          <p:cNvSpPr txBox="1"/>
          <p:nvPr/>
        </p:nvSpPr>
        <p:spPr>
          <a:xfrm>
            <a:off x="5194170" y="4998516"/>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parts quote to approve</a:t>
            </a:r>
            <a:endParaRPr lang="en-US" sz="1200" dirty="0"/>
          </a:p>
        </p:txBody>
      </p:sp>
      <p:sp>
        <p:nvSpPr>
          <p:cNvPr id="53" name="Shape 51"/>
          <p:cNvSpPr/>
          <p:nvPr/>
        </p:nvSpPr>
        <p:spPr>
          <a:xfrm>
            <a:off x="7232469" y="4444889"/>
            <a:ext cx="1987500" cy="952476"/>
          </a:xfrm>
          <a:prstGeom prst="roundRect">
            <a:avLst>
              <a:gd name="adj" fmla="val 9333"/>
            </a:avLst>
          </a:prstGeom>
          <a:solidFill>
            <a:srgbClr val="FAE3ED"/>
          </a:solidFill>
          <a:ln/>
        </p:spPr>
        <p:txBody>
          <a:bodyPr/>
          <a:p/>
        </p:txBody>
      </p:sp>
      <p:sp>
        <p:nvSpPr>
          <p:cNvPr id="54" name="Text 52"/>
          <p:cNvSpPr txBox="1"/>
          <p:nvPr/>
        </p:nvSpPr>
        <p:spPr>
          <a:xfrm>
            <a:off x="7334067" y="4533787"/>
            <a:ext cx="1998422" cy="426630"/>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DISPUTED → REFUNDED</a:t>
            </a:r>
            <a:endParaRPr lang="en-US" sz="1200" dirty="0"/>
          </a:p>
        </p:txBody>
      </p:sp>
      <p:sp>
        <p:nvSpPr>
          <p:cNvPr id="55" name="Text 53"/>
          <p:cNvSpPr txBox="1"/>
          <p:nvPr/>
        </p:nvSpPr>
        <p:spPr>
          <a:xfrm>
            <a:off x="7334067" y="4998516"/>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complaint upheld</a:t>
            </a:r>
            <a:endParaRPr lang="en-US" sz="1200" dirty="0"/>
          </a:p>
        </p:txBody>
      </p:sp>
      <p:sp>
        <p:nvSpPr>
          <p:cNvPr id="56" name="Shape 54"/>
          <p:cNvSpPr/>
          <p:nvPr/>
        </p:nvSpPr>
        <p:spPr>
          <a:xfrm>
            <a:off x="9372366" y="4444889"/>
            <a:ext cx="1987500" cy="952476"/>
          </a:xfrm>
          <a:prstGeom prst="roundRect">
            <a:avLst>
              <a:gd name="adj" fmla="val 9333"/>
            </a:avLst>
          </a:prstGeom>
          <a:solidFill>
            <a:srgbClr val="FAE3ED"/>
          </a:solidFill>
          <a:ln/>
        </p:spPr>
        <p:txBody>
          <a:bodyPr/>
          <a:p/>
        </p:txBody>
      </p:sp>
      <p:sp>
        <p:nvSpPr>
          <p:cNvPr id="57" name="Text 55"/>
          <p:cNvSpPr txBox="1"/>
          <p:nvPr/>
        </p:nvSpPr>
        <p:spPr>
          <a:xfrm>
            <a:off x="9473963"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CANCELLED</a:t>
            </a:r>
            <a:endParaRPr lang="en-US" sz="1200" dirty="0"/>
          </a:p>
        </p:txBody>
      </p:sp>
      <p:sp>
        <p:nvSpPr>
          <p:cNvPr id="58" name="Text 56"/>
          <p:cNvSpPr txBox="1"/>
          <p:nvPr/>
        </p:nvSpPr>
        <p:spPr>
          <a:xfrm>
            <a:off x="9473963" y="4785201"/>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any time before the job</a:t>
            </a:r>
            <a:endParaRPr lang="en-US" sz="1200" dirty="0"/>
          </a:p>
        </p:txBody>
      </p:sp>
      <p:sp>
        <p:nvSpPr>
          <p:cNvPr id="59"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Flows</a:t>
            </a:r>
            <a:endParaRPr lang="en-US" sz="1200" dirty="0"/>
          </a:p>
        </p:txBody>
      </p:sp>
      <p:sp>
        <p:nvSpPr>
          <p:cNvPr id="60"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LOGICAL DATA MODEL · PEOPLE AND SUPPLY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Accounts, customers, providers and agencies</a:t>
            </a:r>
            <a:endParaRPr lang="en-US" sz="3000" dirty="0"/>
          </a:p>
        </p:txBody>
      </p:sp>
      <p:sp>
        <p:nvSpPr>
          <p:cNvPr id="4" name="Shape 2"/>
          <p:cNvSpPr/>
          <p:nvPr/>
        </p:nvSpPr>
        <p:spPr>
          <a:xfrm>
            <a:off x="812780" y="1841454"/>
            <a:ext cx="2285943" cy="1079473"/>
          </a:xfrm>
          <a:prstGeom prst="roundRect">
            <a:avLst>
              <a:gd name="adj" fmla="val 7059"/>
            </a:avLst>
          </a:prstGeom>
          <a:solidFill>
            <a:srgbClr val="FCFDFF"/>
          </a:solidFill>
          <a:ln w="12700">
            <a:solidFill>
              <a:srgbClr val="2454C5"/>
            </a:solidFill>
            <a:prstDash val="solid"/>
          </a:ln>
        </p:spPr>
        <p:txBody>
          <a:bodyPr/>
          <a:p/>
        </p:txBody>
      </p:sp>
      <p:sp>
        <p:nvSpPr>
          <p:cNvPr id="5" name="Shape 3"/>
          <p:cNvSpPr/>
          <p:nvPr/>
        </p:nvSpPr>
        <p:spPr>
          <a:xfrm>
            <a:off x="825479" y="1854154"/>
            <a:ext cx="2260543" cy="289513"/>
          </a:xfrm>
          <a:prstGeom prst="roundRect">
            <a:avLst>
              <a:gd name="adj" fmla="val 21933"/>
            </a:avLst>
          </a:prstGeom>
          <a:solidFill>
            <a:srgbClr val="E3EBFA"/>
          </a:solidFill>
          <a:ln/>
        </p:spPr>
        <p:txBody>
          <a:bodyPr/>
          <a:p/>
        </p:txBody>
      </p:sp>
      <p:sp>
        <p:nvSpPr>
          <p:cNvPr id="6" name="Text 4"/>
          <p:cNvSpPr txBox="1"/>
          <p:nvPr/>
        </p:nvSpPr>
        <p:spPr>
          <a:xfrm>
            <a:off x="914377"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auth.user_account_role</a:t>
            </a:r>
            <a:endParaRPr lang="en-US" sz="1200" dirty="0"/>
          </a:p>
        </p:txBody>
      </p:sp>
      <p:sp>
        <p:nvSpPr>
          <p:cNvPr id="7" name="Text 5"/>
          <p:cNvSpPr txBox="1"/>
          <p:nvPr/>
        </p:nvSpPr>
        <p:spPr>
          <a:xfrm>
            <a:off x="914377"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PK user_id, role</a:t>
            </a:r>
            <a:endParaRPr lang="en-US" sz="1200" dirty="0"/>
          </a:p>
        </p:txBody>
      </p:sp>
      <p:sp>
        <p:nvSpPr>
          <p:cNvPr id="8" name="Text 6"/>
          <p:cNvSpPr txBox="1"/>
          <p:nvPr/>
        </p:nvSpPr>
        <p:spPr>
          <a:xfrm>
            <a:off x="914377"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role: Role enum</a:t>
            </a:r>
            <a:endParaRPr lang="en-US" sz="1200" dirty="0"/>
          </a:p>
        </p:txBody>
      </p:sp>
      <p:sp>
        <p:nvSpPr>
          <p:cNvPr id="9" name="Shape 7"/>
          <p:cNvSpPr/>
          <p:nvPr/>
        </p:nvSpPr>
        <p:spPr>
          <a:xfrm>
            <a:off x="3574961" y="1841454"/>
            <a:ext cx="2285943" cy="1079473"/>
          </a:xfrm>
          <a:prstGeom prst="roundRect">
            <a:avLst>
              <a:gd name="adj" fmla="val 7059"/>
            </a:avLst>
          </a:prstGeom>
          <a:solidFill>
            <a:srgbClr val="FCFDFF"/>
          </a:solidFill>
          <a:ln w="12700">
            <a:solidFill>
              <a:srgbClr val="2454C5"/>
            </a:solidFill>
            <a:prstDash val="solid"/>
          </a:ln>
        </p:spPr>
        <p:txBody>
          <a:bodyPr/>
          <a:p/>
        </p:txBody>
      </p:sp>
      <p:sp>
        <p:nvSpPr>
          <p:cNvPr id="10" name="Shape 8"/>
          <p:cNvSpPr/>
          <p:nvPr/>
        </p:nvSpPr>
        <p:spPr>
          <a:xfrm>
            <a:off x="3587660" y="1854154"/>
            <a:ext cx="2260543" cy="289513"/>
          </a:xfrm>
          <a:prstGeom prst="roundRect">
            <a:avLst>
              <a:gd name="adj" fmla="val 21933"/>
            </a:avLst>
          </a:prstGeom>
          <a:solidFill>
            <a:srgbClr val="E3EBFA"/>
          </a:solidFill>
          <a:ln/>
        </p:spPr>
        <p:txBody>
          <a:bodyPr/>
          <a:p/>
        </p:txBody>
      </p:sp>
      <p:sp>
        <p:nvSpPr>
          <p:cNvPr id="11" name="Text 9"/>
          <p:cNvSpPr txBox="1"/>
          <p:nvPr/>
        </p:nvSpPr>
        <p:spPr>
          <a:xfrm>
            <a:off x="3676558"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auth.user_account</a:t>
            </a:r>
            <a:endParaRPr lang="en-US" sz="1200" dirty="0"/>
          </a:p>
        </p:txBody>
      </p:sp>
      <p:sp>
        <p:nvSpPr>
          <p:cNvPr id="12" name="Text 10"/>
          <p:cNvSpPr txBox="1"/>
          <p:nvPr/>
        </p:nvSpPr>
        <p:spPr>
          <a:xfrm>
            <a:off x="3676558"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3" name="Text 11"/>
          <p:cNvSpPr txBox="1"/>
          <p:nvPr/>
        </p:nvSpPr>
        <p:spPr>
          <a:xfrm>
            <a:off x="3676558"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mobile, email, username</a:t>
            </a:r>
            <a:endParaRPr lang="en-US" sz="1200" dirty="0"/>
          </a:p>
        </p:txBody>
      </p:sp>
      <p:sp>
        <p:nvSpPr>
          <p:cNvPr id="14" name="Text 12"/>
          <p:cNvSpPr txBox="1"/>
          <p:nvPr/>
        </p:nvSpPr>
        <p:spPr>
          <a:xfrm>
            <a:off x="3676558"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AccountStatus</a:t>
            </a:r>
            <a:endParaRPr lang="en-US" sz="1200" dirty="0"/>
          </a:p>
        </p:txBody>
      </p:sp>
      <p:sp>
        <p:nvSpPr>
          <p:cNvPr id="15" name="Shape 13"/>
          <p:cNvSpPr/>
          <p:nvPr/>
        </p:nvSpPr>
        <p:spPr>
          <a:xfrm>
            <a:off x="6330792" y="1841454"/>
            <a:ext cx="2285943" cy="1079473"/>
          </a:xfrm>
          <a:prstGeom prst="roundRect">
            <a:avLst>
              <a:gd name="adj" fmla="val 7059"/>
            </a:avLst>
          </a:prstGeom>
          <a:solidFill>
            <a:srgbClr val="FCFDFF"/>
          </a:solidFill>
          <a:ln w="12700">
            <a:solidFill>
              <a:srgbClr val="2454C5"/>
            </a:solidFill>
            <a:prstDash val="solid"/>
          </a:ln>
        </p:spPr>
        <p:txBody>
          <a:bodyPr/>
          <a:p/>
        </p:txBody>
      </p:sp>
      <p:sp>
        <p:nvSpPr>
          <p:cNvPr id="16" name="Shape 14"/>
          <p:cNvSpPr/>
          <p:nvPr/>
        </p:nvSpPr>
        <p:spPr>
          <a:xfrm>
            <a:off x="6343491" y="1854154"/>
            <a:ext cx="2260543" cy="289513"/>
          </a:xfrm>
          <a:prstGeom prst="roundRect">
            <a:avLst>
              <a:gd name="adj" fmla="val 21933"/>
            </a:avLst>
          </a:prstGeom>
          <a:solidFill>
            <a:srgbClr val="E3EBFA"/>
          </a:solidFill>
          <a:ln/>
        </p:spPr>
        <p:txBody>
          <a:bodyPr/>
          <a:p/>
        </p:txBody>
      </p:sp>
      <p:sp>
        <p:nvSpPr>
          <p:cNvPr id="17" name="Text 15"/>
          <p:cNvSpPr txBox="1"/>
          <p:nvPr/>
        </p:nvSpPr>
        <p:spPr>
          <a:xfrm>
            <a:off x="6432389"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customer.customer_profile</a:t>
            </a:r>
            <a:endParaRPr lang="en-US" sz="1200" dirty="0"/>
          </a:p>
        </p:txBody>
      </p:sp>
      <p:sp>
        <p:nvSpPr>
          <p:cNvPr id="18" name="Text 16"/>
          <p:cNvSpPr txBox="1"/>
          <p:nvPr/>
        </p:nvSpPr>
        <p:spPr>
          <a:xfrm>
            <a:off x="6432389"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9" name="Text 17"/>
          <p:cNvSpPr txBox="1"/>
          <p:nvPr/>
        </p:nvSpPr>
        <p:spPr>
          <a:xfrm>
            <a:off x="6432389"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 auth</a:t>
            </a:r>
            <a:endParaRPr lang="en-US" sz="1200" dirty="0"/>
          </a:p>
        </p:txBody>
      </p:sp>
      <p:sp>
        <p:nvSpPr>
          <p:cNvPr id="20" name="Text 18"/>
          <p:cNvSpPr txBox="1"/>
          <p:nvPr/>
        </p:nvSpPr>
        <p:spPr>
          <a:xfrm>
            <a:off x="6432389"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name, email (encrypted)</a:t>
            </a:r>
            <a:endParaRPr lang="en-US" sz="1200" dirty="0"/>
          </a:p>
        </p:txBody>
      </p:sp>
      <p:sp>
        <p:nvSpPr>
          <p:cNvPr id="21" name="Shape 19"/>
          <p:cNvSpPr/>
          <p:nvPr/>
        </p:nvSpPr>
        <p:spPr>
          <a:xfrm>
            <a:off x="9092973" y="1841454"/>
            <a:ext cx="2285943" cy="1079473"/>
          </a:xfrm>
          <a:prstGeom prst="roundRect">
            <a:avLst>
              <a:gd name="adj" fmla="val 7059"/>
            </a:avLst>
          </a:prstGeom>
          <a:solidFill>
            <a:srgbClr val="FCFDFF"/>
          </a:solidFill>
          <a:ln w="12700">
            <a:solidFill>
              <a:srgbClr val="2454C5"/>
            </a:solidFill>
            <a:prstDash val="solid"/>
          </a:ln>
        </p:spPr>
        <p:txBody>
          <a:bodyPr/>
          <a:p/>
        </p:txBody>
      </p:sp>
      <p:sp>
        <p:nvSpPr>
          <p:cNvPr id="22" name="Shape 20"/>
          <p:cNvSpPr/>
          <p:nvPr/>
        </p:nvSpPr>
        <p:spPr>
          <a:xfrm>
            <a:off x="9105672" y="1854154"/>
            <a:ext cx="2260543" cy="289513"/>
          </a:xfrm>
          <a:prstGeom prst="roundRect">
            <a:avLst>
              <a:gd name="adj" fmla="val 21933"/>
            </a:avLst>
          </a:prstGeom>
          <a:solidFill>
            <a:srgbClr val="E3EBFA"/>
          </a:solidFill>
          <a:ln/>
        </p:spPr>
        <p:txBody>
          <a:bodyPr/>
          <a:p/>
        </p:txBody>
      </p:sp>
      <p:sp>
        <p:nvSpPr>
          <p:cNvPr id="23" name="Text 21"/>
          <p:cNvSpPr txBox="1"/>
          <p:nvPr/>
        </p:nvSpPr>
        <p:spPr>
          <a:xfrm>
            <a:off x="9194570"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customer.address</a:t>
            </a:r>
            <a:endParaRPr lang="en-US" sz="1200" dirty="0"/>
          </a:p>
        </p:txBody>
      </p:sp>
      <p:sp>
        <p:nvSpPr>
          <p:cNvPr id="24" name="Text 22"/>
          <p:cNvSpPr txBox="1"/>
          <p:nvPr/>
        </p:nvSpPr>
        <p:spPr>
          <a:xfrm>
            <a:off x="9194570"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25" name="Text 23"/>
          <p:cNvSpPr txBox="1"/>
          <p:nvPr/>
        </p:nvSpPr>
        <p:spPr>
          <a:xfrm>
            <a:off x="9194570"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FK</a:t>
            </a:r>
            <a:endParaRPr lang="en-US" sz="1200" dirty="0"/>
          </a:p>
        </p:txBody>
      </p:sp>
      <p:sp>
        <p:nvSpPr>
          <p:cNvPr id="26" name="Text 24"/>
          <p:cNvSpPr txBox="1"/>
          <p:nvPr/>
        </p:nvSpPr>
        <p:spPr>
          <a:xfrm>
            <a:off x="9194570"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lat, lng, is_default</a:t>
            </a:r>
            <a:endParaRPr lang="en-US" sz="1200" dirty="0"/>
          </a:p>
        </p:txBody>
      </p:sp>
      <p:sp>
        <p:nvSpPr>
          <p:cNvPr id="27" name="Shape 25"/>
          <p:cNvSpPr/>
          <p:nvPr/>
        </p:nvSpPr>
        <p:spPr>
          <a:xfrm>
            <a:off x="812780" y="3174921"/>
            <a:ext cx="2285943" cy="1079473"/>
          </a:xfrm>
          <a:prstGeom prst="roundRect">
            <a:avLst>
              <a:gd name="adj" fmla="val 7059"/>
            </a:avLst>
          </a:prstGeom>
          <a:solidFill>
            <a:srgbClr val="FCFDFF"/>
          </a:solidFill>
          <a:ln w="12700">
            <a:solidFill>
              <a:srgbClr val="0B7F74"/>
            </a:solidFill>
            <a:prstDash val="solid"/>
          </a:ln>
        </p:spPr>
        <p:txBody>
          <a:bodyPr/>
          <a:p/>
        </p:txBody>
      </p:sp>
      <p:sp>
        <p:nvSpPr>
          <p:cNvPr id="28" name="Shape 26"/>
          <p:cNvSpPr/>
          <p:nvPr/>
        </p:nvSpPr>
        <p:spPr>
          <a:xfrm>
            <a:off x="825479" y="3187620"/>
            <a:ext cx="2260543" cy="289513"/>
          </a:xfrm>
          <a:prstGeom prst="roundRect">
            <a:avLst>
              <a:gd name="adj" fmla="val 21933"/>
            </a:avLst>
          </a:prstGeom>
          <a:solidFill>
            <a:srgbClr val="DDF2EF"/>
          </a:solidFill>
          <a:ln/>
        </p:spPr>
        <p:txBody>
          <a:bodyPr/>
          <a:p/>
        </p:txBody>
      </p:sp>
      <p:sp>
        <p:nvSpPr>
          <p:cNvPr id="29" name="Text 27"/>
          <p:cNvSpPr txBox="1"/>
          <p:nvPr/>
        </p:nvSpPr>
        <p:spPr>
          <a:xfrm>
            <a:off x="914377"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provider.tenant</a:t>
            </a:r>
            <a:endParaRPr lang="en-US" sz="1200" dirty="0"/>
          </a:p>
        </p:txBody>
      </p:sp>
      <p:sp>
        <p:nvSpPr>
          <p:cNvPr id="30" name="Text 28"/>
          <p:cNvSpPr txBox="1"/>
          <p:nvPr/>
        </p:nvSpPr>
        <p:spPr>
          <a:xfrm>
            <a:off x="914377"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status</a:t>
            </a:r>
            <a:endParaRPr lang="en-US" sz="1200" dirty="0"/>
          </a:p>
        </p:txBody>
      </p:sp>
      <p:sp>
        <p:nvSpPr>
          <p:cNvPr id="31" name="Text 29"/>
          <p:cNvSpPr txBox="1"/>
          <p:nvPr/>
        </p:nvSpPr>
        <p:spPr>
          <a:xfrm>
            <a:off x="914377"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name, base lat/lng</a:t>
            </a:r>
            <a:endParaRPr lang="en-US" sz="1200" dirty="0"/>
          </a:p>
        </p:txBody>
      </p:sp>
      <p:sp>
        <p:nvSpPr>
          <p:cNvPr id="32" name="Text 30"/>
          <p:cNvSpPr txBox="1"/>
          <p:nvPr/>
        </p:nvSpPr>
        <p:spPr>
          <a:xfrm>
            <a:off x="914377"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service_radius_km</a:t>
            </a:r>
            <a:endParaRPr lang="en-US" sz="1200" dirty="0"/>
          </a:p>
        </p:txBody>
      </p:sp>
      <p:sp>
        <p:nvSpPr>
          <p:cNvPr id="33" name="Shape 31"/>
          <p:cNvSpPr/>
          <p:nvPr/>
        </p:nvSpPr>
        <p:spPr>
          <a:xfrm>
            <a:off x="3574961" y="3174921"/>
            <a:ext cx="2285943" cy="1079473"/>
          </a:xfrm>
          <a:prstGeom prst="roundRect">
            <a:avLst>
              <a:gd name="adj" fmla="val 7059"/>
            </a:avLst>
          </a:prstGeom>
          <a:solidFill>
            <a:srgbClr val="FCFDFF"/>
          </a:solidFill>
          <a:ln w="12700">
            <a:solidFill>
              <a:srgbClr val="0B7F74"/>
            </a:solidFill>
            <a:prstDash val="solid"/>
          </a:ln>
        </p:spPr>
        <p:txBody>
          <a:bodyPr/>
          <a:p/>
        </p:txBody>
      </p:sp>
      <p:sp>
        <p:nvSpPr>
          <p:cNvPr id="34" name="Shape 32"/>
          <p:cNvSpPr/>
          <p:nvPr/>
        </p:nvSpPr>
        <p:spPr>
          <a:xfrm>
            <a:off x="3587660" y="3187620"/>
            <a:ext cx="2260543" cy="289513"/>
          </a:xfrm>
          <a:prstGeom prst="roundRect">
            <a:avLst>
              <a:gd name="adj" fmla="val 21933"/>
            </a:avLst>
          </a:prstGeom>
          <a:solidFill>
            <a:srgbClr val="DDF2EF"/>
          </a:solidFill>
          <a:ln/>
        </p:spPr>
        <p:txBody>
          <a:bodyPr/>
          <a:p/>
        </p:txBody>
      </p:sp>
      <p:sp>
        <p:nvSpPr>
          <p:cNvPr id="35" name="Text 33"/>
          <p:cNvSpPr txBox="1"/>
          <p:nvPr/>
        </p:nvSpPr>
        <p:spPr>
          <a:xfrm>
            <a:off x="3676558"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provider.provider_profile</a:t>
            </a:r>
            <a:endParaRPr lang="en-US" sz="1200" dirty="0"/>
          </a:p>
        </p:txBody>
      </p:sp>
      <p:sp>
        <p:nvSpPr>
          <p:cNvPr id="36" name="Text 34"/>
          <p:cNvSpPr txBox="1"/>
          <p:nvPr/>
        </p:nvSpPr>
        <p:spPr>
          <a:xfrm>
            <a:off x="3676558"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tenant_id FK</a:t>
            </a:r>
            <a:endParaRPr lang="en-US" sz="1200" dirty="0"/>
          </a:p>
        </p:txBody>
      </p:sp>
      <p:sp>
        <p:nvSpPr>
          <p:cNvPr id="37" name="Text 35"/>
          <p:cNvSpPr txBox="1"/>
          <p:nvPr/>
        </p:nvSpPr>
        <p:spPr>
          <a:xfrm>
            <a:off x="3676558"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 auth</a:t>
            </a:r>
            <a:endParaRPr lang="en-US" sz="1200" dirty="0"/>
          </a:p>
        </p:txBody>
      </p:sp>
      <p:sp>
        <p:nvSpPr>
          <p:cNvPr id="38" name="Text 36"/>
          <p:cNvSpPr txBox="1"/>
          <p:nvPr/>
        </p:nvSpPr>
        <p:spPr>
          <a:xfrm>
            <a:off x="3676558"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wallet_balance, rating</a:t>
            </a:r>
            <a:endParaRPr lang="en-US" sz="1200" dirty="0"/>
          </a:p>
        </p:txBody>
      </p:sp>
      <p:sp>
        <p:nvSpPr>
          <p:cNvPr id="39" name="Shape 37"/>
          <p:cNvSpPr/>
          <p:nvPr/>
        </p:nvSpPr>
        <p:spPr>
          <a:xfrm>
            <a:off x="6330792" y="3174921"/>
            <a:ext cx="2285943" cy="1079473"/>
          </a:xfrm>
          <a:prstGeom prst="roundRect">
            <a:avLst>
              <a:gd name="adj" fmla="val 7059"/>
            </a:avLst>
          </a:prstGeom>
          <a:solidFill>
            <a:srgbClr val="FCFDFF"/>
          </a:solidFill>
          <a:ln w="12700">
            <a:solidFill>
              <a:srgbClr val="6A3FC0"/>
            </a:solidFill>
            <a:prstDash val="solid"/>
          </a:ln>
        </p:spPr>
        <p:txBody>
          <a:bodyPr/>
          <a:p/>
        </p:txBody>
      </p:sp>
      <p:sp>
        <p:nvSpPr>
          <p:cNvPr id="40" name="Shape 38"/>
          <p:cNvSpPr/>
          <p:nvPr/>
        </p:nvSpPr>
        <p:spPr>
          <a:xfrm>
            <a:off x="6343491" y="3187620"/>
            <a:ext cx="2260543" cy="289513"/>
          </a:xfrm>
          <a:prstGeom prst="roundRect">
            <a:avLst>
              <a:gd name="adj" fmla="val 21933"/>
            </a:avLst>
          </a:prstGeom>
          <a:solidFill>
            <a:srgbClr val="ECE5FA"/>
          </a:solidFill>
          <a:ln/>
        </p:spPr>
        <p:txBody>
          <a:bodyPr/>
          <a:p/>
        </p:txBody>
      </p:sp>
      <p:sp>
        <p:nvSpPr>
          <p:cNvPr id="41" name="Text 39"/>
          <p:cNvSpPr txBox="1"/>
          <p:nvPr/>
        </p:nvSpPr>
        <p:spPr>
          <a:xfrm>
            <a:off x="6432389"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verification.verification</a:t>
            </a:r>
            <a:endParaRPr lang="en-US" sz="1200" dirty="0"/>
          </a:p>
        </p:txBody>
      </p:sp>
      <p:sp>
        <p:nvSpPr>
          <p:cNvPr id="42" name="Text 40"/>
          <p:cNvSpPr txBox="1"/>
          <p:nvPr/>
        </p:nvSpPr>
        <p:spPr>
          <a:xfrm>
            <a:off x="6432389"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3" name="Text 41"/>
          <p:cNvSpPr txBox="1"/>
          <p:nvPr/>
        </p:nvSpPr>
        <p:spPr>
          <a:xfrm>
            <a:off x="6432389"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provider_id → provider</a:t>
            </a:r>
            <a:endParaRPr lang="en-US" sz="1200" dirty="0"/>
          </a:p>
        </p:txBody>
      </p:sp>
      <p:sp>
        <p:nvSpPr>
          <p:cNvPr id="44" name="Text 42"/>
          <p:cNvSpPr txBox="1"/>
          <p:nvPr/>
        </p:nvSpPr>
        <p:spPr>
          <a:xfrm>
            <a:off x="6432389"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VerificationStatus</a:t>
            </a:r>
            <a:endParaRPr lang="en-US" sz="1200" dirty="0"/>
          </a:p>
        </p:txBody>
      </p:sp>
      <p:sp>
        <p:nvSpPr>
          <p:cNvPr id="45" name="Shape 43"/>
          <p:cNvSpPr/>
          <p:nvPr/>
        </p:nvSpPr>
        <p:spPr>
          <a:xfrm>
            <a:off x="9092973" y="3174921"/>
            <a:ext cx="2285943" cy="1079473"/>
          </a:xfrm>
          <a:prstGeom prst="roundRect">
            <a:avLst>
              <a:gd name="adj" fmla="val 7059"/>
            </a:avLst>
          </a:prstGeom>
          <a:solidFill>
            <a:srgbClr val="FCFDFF"/>
          </a:solidFill>
          <a:ln w="12700">
            <a:solidFill>
              <a:srgbClr val="6A3FC0"/>
            </a:solidFill>
            <a:prstDash val="solid"/>
          </a:ln>
        </p:spPr>
        <p:txBody>
          <a:bodyPr/>
          <a:p/>
        </p:txBody>
      </p:sp>
      <p:sp>
        <p:nvSpPr>
          <p:cNvPr id="46" name="Shape 44"/>
          <p:cNvSpPr/>
          <p:nvPr/>
        </p:nvSpPr>
        <p:spPr>
          <a:xfrm>
            <a:off x="9105672" y="3187620"/>
            <a:ext cx="2260543" cy="289513"/>
          </a:xfrm>
          <a:prstGeom prst="roundRect">
            <a:avLst>
              <a:gd name="adj" fmla="val 21933"/>
            </a:avLst>
          </a:prstGeom>
          <a:solidFill>
            <a:srgbClr val="ECE5FA"/>
          </a:solidFill>
          <a:ln/>
        </p:spPr>
        <p:txBody>
          <a:bodyPr/>
          <a:p/>
        </p:txBody>
      </p:sp>
      <p:sp>
        <p:nvSpPr>
          <p:cNvPr id="47" name="Text 45"/>
          <p:cNvSpPr txBox="1"/>
          <p:nvPr/>
        </p:nvSpPr>
        <p:spPr>
          <a:xfrm>
            <a:off x="9194570"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verification_document</a:t>
            </a:r>
            <a:endParaRPr lang="en-US" sz="1200" dirty="0"/>
          </a:p>
        </p:txBody>
      </p:sp>
      <p:sp>
        <p:nvSpPr>
          <p:cNvPr id="48" name="Text 46"/>
          <p:cNvSpPr txBox="1"/>
          <p:nvPr/>
        </p:nvSpPr>
        <p:spPr>
          <a:xfrm>
            <a:off x="9194570"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9" name="Text 47"/>
          <p:cNvSpPr txBox="1"/>
          <p:nvPr/>
        </p:nvSpPr>
        <p:spPr>
          <a:xfrm>
            <a:off x="9194570"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verification_id FK</a:t>
            </a:r>
            <a:endParaRPr lang="en-US" sz="1200" dirty="0"/>
          </a:p>
        </p:txBody>
      </p:sp>
      <p:sp>
        <p:nvSpPr>
          <p:cNvPr id="50" name="Text 48"/>
          <p:cNvSpPr txBox="1"/>
          <p:nvPr/>
        </p:nvSpPr>
        <p:spPr>
          <a:xfrm>
            <a:off x="9194570"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type, storage, storage_ref</a:t>
            </a:r>
            <a:endParaRPr lang="en-US" sz="1200" dirty="0"/>
          </a:p>
        </p:txBody>
      </p:sp>
      <p:sp>
        <p:nvSpPr>
          <p:cNvPr id="51" name="Shape 49"/>
          <p:cNvSpPr/>
          <p:nvPr/>
        </p:nvSpPr>
        <p:spPr>
          <a:xfrm>
            <a:off x="812780" y="4508387"/>
            <a:ext cx="2285943" cy="1079473"/>
          </a:xfrm>
          <a:prstGeom prst="roundRect">
            <a:avLst>
              <a:gd name="adj" fmla="val 7059"/>
            </a:avLst>
          </a:prstGeom>
          <a:solidFill>
            <a:srgbClr val="FCFDFF"/>
          </a:solidFill>
          <a:ln w="12700">
            <a:solidFill>
              <a:srgbClr val="0B7F74"/>
            </a:solidFill>
            <a:prstDash val="solid"/>
          </a:ln>
        </p:spPr>
        <p:txBody>
          <a:bodyPr/>
          <a:p/>
        </p:txBody>
      </p:sp>
      <p:sp>
        <p:nvSpPr>
          <p:cNvPr id="52" name="Shape 50"/>
          <p:cNvSpPr/>
          <p:nvPr/>
        </p:nvSpPr>
        <p:spPr>
          <a:xfrm>
            <a:off x="825479" y="4521087"/>
            <a:ext cx="2260543" cy="289513"/>
          </a:xfrm>
          <a:prstGeom prst="roundRect">
            <a:avLst>
              <a:gd name="adj" fmla="val 21933"/>
            </a:avLst>
          </a:prstGeom>
          <a:solidFill>
            <a:srgbClr val="DDF2EF"/>
          </a:solidFill>
          <a:ln/>
        </p:spPr>
        <p:txBody>
          <a:bodyPr/>
          <a:p/>
        </p:txBody>
      </p:sp>
      <p:sp>
        <p:nvSpPr>
          <p:cNvPr id="53" name="Text 51"/>
          <p:cNvSpPr txBox="1"/>
          <p:nvPr/>
        </p:nvSpPr>
        <p:spPr>
          <a:xfrm>
            <a:off x="914377"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provider.tenant_admin</a:t>
            </a:r>
            <a:endParaRPr lang="en-US" sz="1200" dirty="0"/>
          </a:p>
        </p:txBody>
      </p:sp>
      <p:sp>
        <p:nvSpPr>
          <p:cNvPr id="54" name="Text 52"/>
          <p:cNvSpPr txBox="1"/>
          <p:nvPr/>
        </p:nvSpPr>
        <p:spPr>
          <a:xfrm>
            <a:off x="914377"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PK → auth</a:t>
            </a:r>
            <a:endParaRPr lang="en-US" sz="1200" dirty="0"/>
          </a:p>
        </p:txBody>
      </p:sp>
      <p:sp>
        <p:nvSpPr>
          <p:cNvPr id="55" name="Text 53"/>
          <p:cNvSpPr txBox="1"/>
          <p:nvPr/>
        </p:nvSpPr>
        <p:spPr>
          <a:xfrm>
            <a:off x="914377"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tenant_id FK</a:t>
            </a:r>
            <a:endParaRPr lang="en-US" sz="1200" dirty="0"/>
          </a:p>
        </p:txBody>
      </p:sp>
      <p:sp>
        <p:nvSpPr>
          <p:cNvPr id="56" name="Shape 54"/>
          <p:cNvSpPr/>
          <p:nvPr/>
        </p:nvSpPr>
        <p:spPr>
          <a:xfrm>
            <a:off x="3574961" y="4508387"/>
            <a:ext cx="2285943" cy="1079473"/>
          </a:xfrm>
          <a:prstGeom prst="roundRect">
            <a:avLst>
              <a:gd name="adj" fmla="val 7059"/>
            </a:avLst>
          </a:prstGeom>
          <a:solidFill>
            <a:srgbClr val="FCFDFF"/>
          </a:solidFill>
          <a:ln w="12700">
            <a:solidFill>
              <a:srgbClr val="0B7F74"/>
            </a:solidFill>
            <a:prstDash val="solid"/>
          </a:ln>
        </p:spPr>
        <p:txBody>
          <a:bodyPr/>
          <a:p/>
        </p:txBody>
      </p:sp>
      <p:sp>
        <p:nvSpPr>
          <p:cNvPr id="57" name="Shape 55"/>
          <p:cNvSpPr/>
          <p:nvPr/>
        </p:nvSpPr>
        <p:spPr>
          <a:xfrm>
            <a:off x="3587660" y="4521087"/>
            <a:ext cx="2260543" cy="289513"/>
          </a:xfrm>
          <a:prstGeom prst="roundRect">
            <a:avLst>
              <a:gd name="adj" fmla="val 21933"/>
            </a:avLst>
          </a:prstGeom>
          <a:solidFill>
            <a:srgbClr val="DDF2EF"/>
          </a:solidFill>
          <a:ln/>
        </p:spPr>
        <p:txBody>
          <a:bodyPr/>
          <a:p/>
        </p:txBody>
      </p:sp>
      <p:sp>
        <p:nvSpPr>
          <p:cNvPr id="58" name="Text 56"/>
          <p:cNvSpPr txBox="1"/>
          <p:nvPr/>
        </p:nvSpPr>
        <p:spPr>
          <a:xfrm>
            <a:off x="3676558"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provider.provider_earning</a:t>
            </a:r>
            <a:endParaRPr lang="en-US" sz="1200" dirty="0"/>
          </a:p>
        </p:txBody>
      </p:sp>
      <p:sp>
        <p:nvSpPr>
          <p:cNvPr id="59" name="Text 57"/>
          <p:cNvSpPr txBox="1"/>
          <p:nvPr/>
        </p:nvSpPr>
        <p:spPr>
          <a:xfrm>
            <a:off x="3676558"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60" name="Text 58"/>
          <p:cNvSpPr txBox="1"/>
          <p:nvPr/>
        </p:nvSpPr>
        <p:spPr>
          <a:xfrm>
            <a:off x="3676558"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gross, fee, net</a:t>
            </a:r>
            <a:endParaRPr lang="en-US" sz="1200" dirty="0"/>
          </a:p>
        </p:txBody>
      </p:sp>
      <p:sp>
        <p:nvSpPr>
          <p:cNvPr id="61" name="Text 59"/>
          <p:cNvSpPr txBox="1"/>
          <p:nvPr/>
        </p:nvSpPr>
        <p:spPr>
          <a:xfrm>
            <a:off x="3676558"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type EarningType</a:t>
            </a:r>
            <a:endParaRPr lang="en-US" sz="1200" dirty="0"/>
          </a:p>
        </p:txBody>
      </p:sp>
      <p:sp>
        <p:nvSpPr>
          <p:cNvPr id="62" name="Shape 60"/>
          <p:cNvSpPr/>
          <p:nvPr/>
        </p:nvSpPr>
        <p:spPr>
          <a:xfrm>
            <a:off x="6330792" y="4508387"/>
            <a:ext cx="2285943" cy="1079473"/>
          </a:xfrm>
          <a:prstGeom prst="roundRect">
            <a:avLst>
              <a:gd name="adj" fmla="val 7059"/>
            </a:avLst>
          </a:prstGeom>
          <a:solidFill>
            <a:srgbClr val="FCFDFF"/>
          </a:solidFill>
          <a:ln w="12700">
            <a:solidFill>
              <a:srgbClr val="6A3FC0"/>
            </a:solidFill>
            <a:prstDash val="solid"/>
          </a:ln>
        </p:spPr>
        <p:txBody>
          <a:bodyPr/>
          <a:p/>
        </p:txBody>
      </p:sp>
      <p:sp>
        <p:nvSpPr>
          <p:cNvPr id="63" name="Shape 61"/>
          <p:cNvSpPr/>
          <p:nvPr/>
        </p:nvSpPr>
        <p:spPr>
          <a:xfrm>
            <a:off x="6343491" y="4521087"/>
            <a:ext cx="2260543" cy="289513"/>
          </a:xfrm>
          <a:prstGeom prst="roundRect">
            <a:avLst>
              <a:gd name="adj" fmla="val 21933"/>
            </a:avLst>
          </a:prstGeom>
          <a:solidFill>
            <a:srgbClr val="ECE5FA"/>
          </a:solidFill>
          <a:ln/>
        </p:spPr>
        <p:txBody>
          <a:bodyPr/>
          <a:p/>
        </p:txBody>
      </p:sp>
      <p:sp>
        <p:nvSpPr>
          <p:cNvPr id="64" name="Text 62"/>
          <p:cNvSpPr txBox="1"/>
          <p:nvPr/>
        </p:nvSpPr>
        <p:spPr>
          <a:xfrm>
            <a:off x="6432389"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verification_audit_entry</a:t>
            </a:r>
            <a:endParaRPr lang="en-US" sz="1200" dirty="0"/>
          </a:p>
        </p:txBody>
      </p:sp>
      <p:sp>
        <p:nvSpPr>
          <p:cNvPr id="65" name="Text 63"/>
          <p:cNvSpPr txBox="1"/>
          <p:nvPr/>
        </p:nvSpPr>
        <p:spPr>
          <a:xfrm>
            <a:off x="6432389"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66" name="Text 64"/>
          <p:cNvSpPr txBox="1"/>
          <p:nvPr/>
        </p:nvSpPr>
        <p:spPr>
          <a:xfrm>
            <a:off x="6432389"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verification_id FK</a:t>
            </a:r>
            <a:endParaRPr lang="en-US" sz="1200" dirty="0"/>
          </a:p>
        </p:txBody>
      </p:sp>
      <p:sp>
        <p:nvSpPr>
          <p:cNvPr id="67" name="Text 65"/>
          <p:cNvSpPr txBox="1"/>
          <p:nvPr/>
        </p:nvSpPr>
        <p:spPr>
          <a:xfrm>
            <a:off x="6432389"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from_state → to_state</a:t>
            </a:r>
            <a:endParaRPr lang="en-US" sz="1200" dirty="0"/>
          </a:p>
        </p:txBody>
      </p:sp>
      <p:sp>
        <p:nvSpPr>
          <p:cNvPr id="68" name="Shape 66"/>
          <p:cNvSpPr/>
          <p:nvPr/>
        </p:nvSpPr>
        <p:spPr>
          <a:xfrm>
            <a:off x="9092973" y="4508387"/>
            <a:ext cx="2285943" cy="1079473"/>
          </a:xfrm>
          <a:prstGeom prst="roundRect">
            <a:avLst>
              <a:gd name="adj" fmla="val 7059"/>
            </a:avLst>
          </a:prstGeom>
          <a:solidFill>
            <a:srgbClr val="EEF1F6"/>
          </a:solidFill>
          <a:ln/>
        </p:spPr>
        <p:txBody>
          <a:bodyPr/>
          <a:p/>
        </p:txBody>
      </p:sp>
      <p:sp>
        <p:nvSpPr>
          <p:cNvPr id="69" name="Text 67"/>
          <p:cNvSpPr txBox="1"/>
          <p:nvPr/>
        </p:nvSpPr>
        <p:spPr>
          <a:xfrm>
            <a:off x="9194570" y="4597285"/>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Legend</a:t>
            </a:r>
            <a:endParaRPr lang="en-US" sz="1200" dirty="0"/>
          </a:p>
        </p:txBody>
      </p:sp>
      <p:sp>
        <p:nvSpPr>
          <p:cNvPr id="70" name="Text 68"/>
          <p:cNvSpPr txBox="1"/>
          <p:nvPr/>
        </p:nvSpPr>
        <p:spPr>
          <a:xfrm>
            <a:off x="9194570" y="4848699"/>
            <a:ext cx="2332678"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Solid: same schema. Dashed: plain UUID across services, no FK.</a:t>
            </a:r>
            <a:endParaRPr lang="en-US" sz="1200" dirty="0"/>
          </a:p>
        </p:txBody>
      </p:sp>
      <p:sp>
        <p:nvSpPr>
          <p:cNvPr id="71" name="Shape 69"/>
          <p:cNvSpPr/>
          <p:nvPr/>
        </p:nvSpPr>
        <p:spPr>
          <a:xfrm>
            <a:off x="3098723" y="2381190"/>
            <a:ext cx="476238" cy="63"/>
          </a:xfrm>
          <a:prstGeom prst="line">
            <a:avLst/>
          </a:prstGeom>
          <a:noFill/>
          <a:ln w="19050">
            <a:solidFill>
              <a:srgbClr val="5C6B8A"/>
            </a:solidFill>
            <a:prstDash val="solid"/>
          </a:ln>
        </p:spPr>
        <p:txBody>
          <a:bodyPr/>
          <a:p/>
        </p:txBody>
      </p:sp>
      <p:sp>
        <p:nvSpPr>
          <p:cNvPr id="72" name="Text 70"/>
          <p:cNvSpPr txBox="1"/>
          <p:nvPr/>
        </p:nvSpPr>
        <p:spPr>
          <a:xfrm>
            <a:off x="3086023"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73" name="Shape 71"/>
          <p:cNvSpPr/>
          <p:nvPr/>
        </p:nvSpPr>
        <p:spPr>
          <a:xfrm>
            <a:off x="5860903" y="2381190"/>
            <a:ext cx="469888" cy="63"/>
          </a:xfrm>
          <a:prstGeom prst="line">
            <a:avLst/>
          </a:prstGeom>
          <a:noFill/>
          <a:ln w="19050">
            <a:solidFill>
              <a:srgbClr val="5C6B8A"/>
            </a:solidFill>
            <a:prstDash val="dash"/>
          </a:ln>
        </p:spPr>
        <p:txBody>
          <a:bodyPr/>
          <a:p/>
        </p:txBody>
      </p:sp>
      <p:sp>
        <p:nvSpPr>
          <p:cNvPr id="74" name="Text 72"/>
          <p:cNvSpPr txBox="1"/>
          <p:nvPr/>
        </p:nvSpPr>
        <p:spPr>
          <a:xfrm>
            <a:off x="5848204" y="2127197"/>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75" name="Shape 73"/>
          <p:cNvSpPr/>
          <p:nvPr/>
        </p:nvSpPr>
        <p:spPr>
          <a:xfrm>
            <a:off x="8616735" y="2381190"/>
            <a:ext cx="476238" cy="63"/>
          </a:xfrm>
          <a:prstGeom prst="line">
            <a:avLst/>
          </a:prstGeom>
          <a:noFill/>
          <a:ln w="19050">
            <a:solidFill>
              <a:srgbClr val="5C6B8A"/>
            </a:solidFill>
            <a:prstDash val="solid"/>
          </a:ln>
        </p:spPr>
        <p:txBody>
          <a:bodyPr/>
          <a:p/>
        </p:txBody>
      </p:sp>
      <p:sp>
        <p:nvSpPr>
          <p:cNvPr id="76" name="Text 74"/>
          <p:cNvSpPr txBox="1"/>
          <p:nvPr/>
        </p:nvSpPr>
        <p:spPr>
          <a:xfrm>
            <a:off x="8604035"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7" name="Shape 75"/>
          <p:cNvSpPr/>
          <p:nvPr/>
        </p:nvSpPr>
        <p:spPr>
          <a:xfrm>
            <a:off x="4717932" y="2920927"/>
            <a:ext cx="63" cy="253994"/>
          </a:xfrm>
          <a:prstGeom prst="line">
            <a:avLst/>
          </a:prstGeom>
          <a:noFill/>
          <a:ln w="19050">
            <a:solidFill>
              <a:srgbClr val="5C6B8A"/>
            </a:solidFill>
            <a:prstDash val="dash"/>
          </a:ln>
        </p:spPr>
        <p:txBody>
          <a:bodyPr/>
          <a:p/>
        </p:txBody>
      </p:sp>
      <p:sp>
        <p:nvSpPr>
          <p:cNvPr id="78" name="Text 76"/>
          <p:cNvSpPr txBox="1"/>
          <p:nvPr/>
        </p:nvSpPr>
        <p:spPr>
          <a:xfrm>
            <a:off x="4794130" y="2939976"/>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79" name="Shape 77"/>
          <p:cNvSpPr/>
          <p:nvPr/>
        </p:nvSpPr>
        <p:spPr>
          <a:xfrm>
            <a:off x="3098723" y="3714657"/>
            <a:ext cx="476238" cy="63"/>
          </a:xfrm>
          <a:prstGeom prst="line">
            <a:avLst/>
          </a:prstGeom>
          <a:noFill/>
          <a:ln w="19050">
            <a:solidFill>
              <a:srgbClr val="5C6B8A"/>
            </a:solidFill>
            <a:prstDash val="solid"/>
          </a:ln>
        </p:spPr>
        <p:txBody>
          <a:bodyPr/>
          <a:p/>
        </p:txBody>
      </p:sp>
      <p:sp>
        <p:nvSpPr>
          <p:cNvPr id="80" name="Text 78"/>
          <p:cNvSpPr txBox="1"/>
          <p:nvPr/>
        </p:nvSpPr>
        <p:spPr>
          <a:xfrm>
            <a:off x="3086023"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1" name="Shape 79"/>
          <p:cNvSpPr/>
          <p:nvPr/>
        </p:nvSpPr>
        <p:spPr>
          <a:xfrm>
            <a:off x="5860903" y="3714657"/>
            <a:ext cx="469888" cy="63"/>
          </a:xfrm>
          <a:prstGeom prst="line">
            <a:avLst/>
          </a:prstGeom>
          <a:noFill/>
          <a:ln w="19050">
            <a:solidFill>
              <a:srgbClr val="5C6B8A"/>
            </a:solidFill>
            <a:prstDash val="dash"/>
          </a:ln>
        </p:spPr>
        <p:txBody>
          <a:bodyPr/>
          <a:p/>
        </p:txBody>
      </p:sp>
      <p:sp>
        <p:nvSpPr>
          <p:cNvPr id="82" name="Text 80"/>
          <p:cNvSpPr txBox="1"/>
          <p:nvPr/>
        </p:nvSpPr>
        <p:spPr>
          <a:xfrm>
            <a:off x="5848204" y="3460663"/>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3" name="Shape 81"/>
          <p:cNvSpPr/>
          <p:nvPr/>
        </p:nvSpPr>
        <p:spPr>
          <a:xfrm>
            <a:off x="8616735" y="3714657"/>
            <a:ext cx="476238" cy="63"/>
          </a:xfrm>
          <a:prstGeom prst="line">
            <a:avLst/>
          </a:prstGeom>
          <a:noFill/>
          <a:ln w="19050">
            <a:solidFill>
              <a:srgbClr val="5C6B8A"/>
            </a:solidFill>
            <a:prstDash val="solid"/>
          </a:ln>
        </p:spPr>
        <p:txBody>
          <a:bodyPr/>
          <a:p/>
        </p:txBody>
      </p:sp>
      <p:sp>
        <p:nvSpPr>
          <p:cNvPr id="84" name="Text 82"/>
          <p:cNvSpPr txBox="1"/>
          <p:nvPr/>
        </p:nvSpPr>
        <p:spPr>
          <a:xfrm>
            <a:off x="8604035"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5" name="Shape 83"/>
          <p:cNvSpPr/>
          <p:nvPr/>
        </p:nvSpPr>
        <p:spPr>
          <a:xfrm>
            <a:off x="1955751" y="4254394"/>
            <a:ext cx="63" cy="253994"/>
          </a:xfrm>
          <a:prstGeom prst="line">
            <a:avLst/>
          </a:prstGeom>
          <a:noFill/>
          <a:ln w="19050">
            <a:solidFill>
              <a:srgbClr val="5C6B8A"/>
            </a:solidFill>
            <a:prstDash val="solid"/>
          </a:ln>
        </p:spPr>
        <p:txBody>
          <a:bodyPr/>
          <a:p/>
        </p:txBody>
      </p:sp>
      <p:sp>
        <p:nvSpPr>
          <p:cNvPr id="86" name="Text 84"/>
          <p:cNvSpPr txBox="1"/>
          <p:nvPr/>
        </p:nvSpPr>
        <p:spPr>
          <a:xfrm>
            <a:off x="2031949"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7" name="Shape 85"/>
          <p:cNvSpPr/>
          <p:nvPr/>
        </p:nvSpPr>
        <p:spPr>
          <a:xfrm>
            <a:off x="4717932" y="4254394"/>
            <a:ext cx="63" cy="253994"/>
          </a:xfrm>
          <a:prstGeom prst="line">
            <a:avLst/>
          </a:prstGeom>
          <a:noFill/>
          <a:ln w="19050">
            <a:solidFill>
              <a:srgbClr val="5C6B8A"/>
            </a:solidFill>
            <a:prstDash val="solid"/>
          </a:ln>
        </p:spPr>
        <p:txBody>
          <a:bodyPr/>
          <a:p/>
        </p:txBody>
      </p:sp>
      <p:sp>
        <p:nvSpPr>
          <p:cNvPr id="88" name="Text 86"/>
          <p:cNvSpPr txBox="1"/>
          <p:nvPr/>
        </p:nvSpPr>
        <p:spPr>
          <a:xfrm>
            <a:off x="4794130"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9" name="Shape 87"/>
          <p:cNvSpPr/>
          <p:nvPr/>
        </p:nvSpPr>
        <p:spPr>
          <a:xfrm>
            <a:off x="7473763" y="4254394"/>
            <a:ext cx="63" cy="253994"/>
          </a:xfrm>
          <a:prstGeom prst="line">
            <a:avLst/>
          </a:prstGeom>
          <a:noFill/>
          <a:ln w="19050">
            <a:solidFill>
              <a:srgbClr val="5C6B8A"/>
            </a:solidFill>
            <a:prstDash val="solid"/>
          </a:ln>
        </p:spPr>
        <p:txBody>
          <a:bodyPr/>
          <a:p/>
        </p:txBody>
      </p:sp>
      <p:sp>
        <p:nvSpPr>
          <p:cNvPr id="90" name="Text 88"/>
          <p:cNvSpPr txBox="1"/>
          <p:nvPr/>
        </p:nvSpPr>
        <p:spPr>
          <a:xfrm>
            <a:off x="7549961"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91" name="Text 89"/>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Data model</a:t>
            </a:r>
            <a:endParaRPr lang="en-US" sz="1200" dirty="0"/>
          </a:p>
        </p:txBody>
      </p:sp>
      <p:sp>
        <p:nvSpPr>
          <p:cNvPr id="92" name="Text 90"/>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LOGICAL DATA MODEL · JOBS AND MONEY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Everything after the request hangs off the booking</a:t>
            </a:r>
            <a:endParaRPr lang="en-US" sz="3000" dirty="0"/>
          </a:p>
        </p:txBody>
      </p:sp>
      <p:sp>
        <p:nvSpPr>
          <p:cNvPr id="4" name="Shape 2"/>
          <p:cNvSpPr/>
          <p:nvPr/>
        </p:nvSpPr>
        <p:spPr>
          <a:xfrm>
            <a:off x="812780" y="1841454"/>
            <a:ext cx="2285943" cy="1079473"/>
          </a:xfrm>
          <a:prstGeom prst="roundRect">
            <a:avLst>
              <a:gd name="adj" fmla="val 7059"/>
            </a:avLst>
          </a:prstGeom>
          <a:solidFill>
            <a:srgbClr val="EEF1F6"/>
          </a:solidFill>
          <a:ln/>
        </p:spPr>
        <p:txBody>
          <a:bodyPr/>
          <a:p/>
        </p:txBody>
      </p:sp>
      <p:sp>
        <p:nvSpPr>
          <p:cNvPr id="5" name="Text 3"/>
          <p:cNvSpPr txBox="1"/>
          <p:nvPr/>
        </p:nvSpPr>
        <p:spPr>
          <a:xfrm>
            <a:off x="914377" y="1930352"/>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Legend</a:t>
            </a:r>
            <a:endParaRPr lang="en-US" sz="1200" dirty="0"/>
          </a:p>
        </p:txBody>
      </p:sp>
      <p:sp>
        <p:nvSpPr>
          <p:cNvPr id="6" name="Text 4"/>
          <p:cNvSpPr txBox="1"/>
          <p:nvPr/>
        </p:nvSpPr>
        <p:spPr>
          <a:xfrm>
            <a:off x="914377" y="2181766"/>
            <a:ext cx="2332678"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 is the hub. Solid: same schema. Dashed: UUID across services.</a:t>
            </a:r>
            <a:endParaRPr lang="en-US" sz="1200" dirty="0"/>
          </a:p>
        </p:txBody>
      </p:sp>
      <p:sp>
        <p:nvSpPr>
          <p:cNvPr id="7" name="Shape 5"/>
          <p:cNvSpPr/>
          <p:nvPr/>
        </p:nvSpPr>
        <p:spPr>
          <a:xfrm>
            <a:off x="3574961" y="1841454"/>
            <a:ext cx="2285943" cy="1079473"/>
          </a:xfrm>
          <a:prstGeom prst="roundRect">
            <a:avLst>
              <a:gd name="adj" fmla="val 7059"/>
            </a:avLst>
          </a:prstGeom>
          <a:solidFill>
            <a:srgbClr val="FCFDFF"/>
          </a:solidFill>
          <a:ln w="12700">
            <a:solidFill>
              <a:srgbClr val="0B7F74"/>
            </a:solidFill>
            <a:prstDash val="solid"/>
          </a:ln>
        </p:spPr>
        <p:txBody>
          <a:bodyPr/>
          <a:p/>
        </p:txBody>
      </p:sp>
      <p:sp>
        <p:nvSpPr>
          <p:cNvPr id="8" name="Shape 6"/>
          <p:cNvSpPr/>
          <p:nvPr/>
        </p:nvSpPr>
        <p:spPr>
          <a:xfrm>
            <a:off x="3587660" y="1854154"/>
            <a:ext cx="2260543" cy="289513"/>
          </a:xfrm>
          <a:prstGeom prst="roundRect">
            <a:avLst>
              <a:gd name="adj" fmla="val 21933"/>
            </a:avLst>
          </a:prstGeom>
          <a:solidFill>
            <a:srgbClr val="DDF2EF"/>
          </a:solidFill>
          <a:ln/>
        </p:spPr>
        <p:txBody>
          <a:bodyPr/>
          <a:p/>
        </p:txBody>
      </p:sp>
      <p:sp>
        <p:nvSpPr>
          <p:cNvPr id="9" name="Text 7"/>
          <p:cNvSpPr txBox="1"/>
          <p:nvPr/>
        </p:nvSpPr>
        <p:spPr>
          <a:xfrm>
            <a:off x="3676558"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booking.job_media</a:t>
            </a:r>
            <a:endParaRPr lang="en-US" sz="1200" dirty="0"/>
          </a:p>
        </p:txBody>
      </p:sp>
      <p:sp>
        <p:nvSpPr>
          <p:cNvPr id="10" name="Text 8"/>
          <p:cNvSpPr txBox="1"/>
          <p:nvPr/>
        </p:nvSpPr>
        <p:spPr>
          <a:xfrm>
            <a:off x="3676558"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1" name="Text 9"/>
          <p:cNvSpPr txBox="1"/>
          <p:nvPr/>
        </p:nvSpPr>
        <p:spPr>
          <a:xfrm>
            <a:off x="3676558"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a:t>
            </a:r>
            <a:endParaRPr lang="en-US" sz="1200" dirty="0"/>
          </a:p>
        </p:txBody>
      </p:sp>
      <p:sp>
        <p:nvSpPr>
          <p:cNvPr id="12" name="Text 10"/>
          <p:cNvSpPr txBox="1"/>
          <p:nvPr/>
        </p:nvSpPr>
        <p:spPr>
          <a:xfrm>
            <a:off x="3676558"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type, content_type</a:t>
            </a:r>
            <a:endParaRPr lang="en-US" sz="1200" dirty="0"/>
          </a:p>
        </p:txBody>
      </p:sp>
      <p:sp>
        <p:nvSpPr>
          <p:cNvPr id="13" name="Shape 11"/>
          <p:cNvSpPr/>
          <p:nvPr/>
        </p:nvSpPr>
        <p:spPr>
          <a:xfrm>
            <a:off x="6330792" y="1841454"/>
            <a:ext cx="2285943" cy="1079473"/>
          </a:xfrm>
          <a:prstGeom prst="roundRect">
            <a:avLst>
              <a:gd name="adj" fmla="val 7059"/>
            </a:avLst>
          </a:prstGeom>
          <a:solidFill>
            <a:srgbClr val="FCFDFF"/>
          </a:solidFill>
          <a:ln w="12700">
            <a:solidFill>
              <a:srgbClr val="B8306E"/>
            </a:solidFill>
            <a:prstDash val="solid"/>
          </a:ln>
        </p:spPr>
        <p:txBody>
          <a:bodyPr/>
          <a:p/>
        </p:txBody>
      </p:sp>
      <p:sp>
        <p:nvSpPr>
          <p:cNvPr id="14" name="Shape 12"/>
          <p:cNvSpPr/>
          <p:nvPr/>
        </p:nvSpPr>
        <p:spPr>
          <a:xfrm>
            <a:off x="6343491" y="1854154"/>
            <a:ext cx="2260543" cy="289513"/>
          </a:xfrm>
          <a:prstGeom prst="roundRect">
            <a:avLst>
              <a:gd name="adj" fmla="val 21933"/>
            </a:avLst>
          </a:prstGeom>
          <a:solidFill>
            <a:srgbClr val="FAE3ED"/>
          </a:solidFill>
          <a:ln/>
        </p:spPr>
        <p:txBody>
          <a:bodyPr/>
          <a:p/>
        </p:txBody>
      </p:sp>
      <p:sp>
        <p:nvSpPr>
          <p:cNvPr id="15" name="Text 13"/>
          <p:cNvSpPr txBox="1"/>
          <p:nvPr/>
        </p:nvSpPr>
        <p:spPr>
          <a:xfrm>
            <a:off x="6432389"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chat.chat_channel</a:t>
            </a:r>
            <a:endParaRPr lang="en-US" sz="1200" dirty="0"/>
          </a:p>
        </p:txBody>
      </p:sp>
      <p:sp>
        <p:nvSpPr>
          <p:cNvPr id="16" name="Text 14"/>
          <p:cNvSpPr txBox="1"/>
          <p:nvPr/>
        </p:nvSpPr>
        <p:spPr>
          <a:xfrm>
            <a:off x="6432389"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 PK → booking</a:t>
            </a:r>
            <a:endParaRPr lang="en-US" sz="1200" dirty="0"/>
          </a:p>
        </p:txBody>
      </p:sp>
      <p:sp>
        <p:nvSpPr>
          <p:cNvPr id="17" name="Text 15"/>
          <p:cNvSpPr txBox="1"/>
          <p:nvPr/>
        </p:nvSpPr>
        <p:spPr>
          <a:xfrm>
            <a:off x="6432389"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provider_id</a:t>
            </a:r>
            <a:endParaRPr lang="en-US" sz="1200" dirty="0"/>
          </a:p>
        </p:txBody>
      </p:sp>
      <p:sp>
        <p:nvSpPr>
          <p:cNvPr id="18" name="Text 16"/>
          <p:cNvSpPr txBox="1"/>
          <p:nvPr/>
        </p:nvSpPr>
        <p:spPr>
          <a:xfrm>
            <a:off x="6432389"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ChannelStatus</a:t>
            </a:r>
            <a:endParaRPr lang="en-US" sz="1200" dirty="0"/>
          </a:p>
        </p:txBody>
      </p:sp>
      <p:sp>
        <p:nvSpPr>
          <p:cNvPr id="19" name="Shape 17"/>
          <p:cNvSpPr/>
          <p:nvPr/>
        </p:nvSpPr>
        <p:spPr>
          <a:xfrm>
            <a:off x="9092973" y="1841454"/>
            <a:ext cx="2285943" cy="1079473"/>
          </a:xfrm>
          <a:prstGeom prst="roundRect">
            <a:avLst>
              <a:gd name="adj" fmla="val 7059"/>
            </a:avLst>
          </a:prstGeom>
          <a:solidFill>
            <a:srgbClr val="FCFDFF"/>
          </a:solidFill>
          <a:ln w="12700">
            <a:solidFill>
              <a:srgbClr val="B8306E"/>
            </a:solidFill>
            <a:prstDash val="solid"/>
          </a:ln>
        </p:spPr>
        <p:txBody>
          <a:bodyPr/>
          <a:p/>
        </p:txBody>
      </p:sp>
      <p:sp>
        <p:nvSpPr>
          <p:cNvPr id="20" name="Shape 18"/>
          <p:cNvSpPr/>
          <p:nvPr/>
        </p:nvSpPr>
        <p:spPr>
          <a:xfrm>
            <a:off x="9105672" y="1854154"/>
            <a:ext cx="2260543" cy="289513"/>
          </a:xfrm>
          <a:prstGeom prst="roundRect">
            <a:avLst>
              <a:gd name="adj" fmla="val 21933"/>
            </a:avLst>
          </a:prstGeom>
          <a:solidFill>
            <a:srgbClr val="FAE3ED"/>
          </a:solidFill>
          <a:ln/>
        </p:spPr>
        <p:txBody>
          <a:bodyPr/>
          <a:p/>
        </p:txBody>
      </p:sp>
      <p:sp>
        <p:nvSpPr>
          <p:cNvPr id="21" name="Text 19"/>
          <p:cNvSpPr txBox="1"/>
          <p:nvPr/>
        </p:nvSpPr>
        <p:spPr>
          <a:xfrm>
            <a:off x="9194570"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chat.chat_message</a:t>
            </a:r>
            <a:endParaRPr lang="en-US" sz="1200" dirty="0"/>
          </a:p>
        </p:txBody>
      </p:sp>
      <p:sp>
        <p:nvSpPr>
          <p:cNvPr id="22" name="Text 20"/>
          <p:cNvSpPr txBox="1"/>
          <p:nvPr/>
        </p:nvSpPr>
        <p:spPr>
          <a:xfrm>
            <a:off x="9194570"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23" name="Text 21"/>
          <p:cNvSpPr txBox="1"/>
          <p:nvPr/>
        </p:nvSpPr>
        <p:spPr>
          <a:xfrm>
            <a:off x="9194570"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 FK</a:t>
            </a:r>
            <a:endParaRPr lang="en-US" sz="1200" dirty="0"/>
          </a:p>
        </p:txBody>
      </p:sp>
      <p:sp>
        <p:nvSpPr>
          <p:cNvPr id="24" name="Text 22"/>
          <p:cNvSpPr txBox="1"/>
          <p:nvPr/>
        </p:nvSpPr>
        <p:spPr>
          <a:xfrm>
            <a:off x="9194570"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sender_id, body</a:t>
            </a:r>
            <a:endParaRPr lang="en-US" sz="1200" dirty="0"/>
          </a:p>
        </p:txBody>
      </p:sp>
      <p:sp>
        <p:nvSpPr>
          <p:cNvPr id="25" name="Shape 23"/>
          <p:cNvSpPr/>
          <p:nvPr/>
        </p:nvSpPr>
        <p:spPr>
          <a:xfrm>
            <a:off x="812780" y="3174921"/>
            <a:ext cx="2285943" cy="1079473"/>
          </a:xfrm>
          <a:prstGeom prst="roundRect">
            <a:avLst>
              <a:gd name="adj" fmla="val 7059"/>
            </a:avLst>
          </a:prstGeom>
          <a:solidFill>
            <a:srgbClr val="FCFDFF"/>
          </a:solidFill>
          <a:ln w="12700">
            <a:solidFill>
              <a:srgbClr val="B8306E"/>
            </a:solidFill>
            <a:prstDash val="solid"/>
          </a:ln>
        </p:spPr>
        <p:txBody>
          <a:bodyPr/>
          <a:p/>
        </p:txBody>
      </p:sp>
      <p:sp>
        <p:nvSpPr>
          <p:cNvPr id="26" name="Shape 24"/>
          <p:cNvSpPr/>
          <p:nvPr/>
        </p:nvSpPr>
        <p:spPr>
          <a:xfrm>
            <a:off x="825479" y="3187620"/>
            <a:ext cx="2260543" cy="289513"/>
          </a:xfrm>
          <a:prstGeom prst="roundRect">
            <a:avLst>
              <a:gd name="adj" fmla="val 21933"/>
            </a:avLst>
          </a:prstGeom>
          <a:solidFill>
            <a:srgbClr val="FAE3ED"/>
          </a:solidFill>
          <a:ln/>
        </p:spPr>
        <p:txBody>
          <a:bodyPr/>
          <a:p/>
        </p:txBody>
      </p:sp>
      <p:sp>
        <p:nvSpPr>
          <p:cNvPr id="27" name="Text 25"/>
          <p:cNvSpPr txBox="1"/>
          <p:nvPr/>
        </p:nvSpPr>
        <p:spPr>
          <a:xfrm>
            <a:off x="914377"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complaint.complaint</a:t>
            </a:r>
            <a:endParaRPr lang="en-US" sz="1200" dirty="0"/>
          </a:p>
        </p:txBody>
      </p:sp>
      <p:sp>
        <p:nvSpPr>
          <p:cNvPr id="28" name="Text 26"/>
          <p:cNvSpPr txBox="1"/>
          <p:nvPr/>
        </p:nvSpPr>
        <p:spPr>
          <a:xfrm>
            <a:off x="914377"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29" name="Text 27"/>
          <p:cNvSpPr txBox="1"/>
          <p:nvPr/>
        </p:nvSpPr>
        <p:spPr>
          <a:xfrm>
            <a:off x="914377"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category, status</a:t>
            </a:r>
            <a:endParaRPr lang="en-US" sz="1200" dirty="0"/>
          </a:p>
        </p:txBody>
      </p:sp>
      <p:sp>
        <p:nvSpPr>
          <p:cNvPr id="30" name="Text 28"/>
          <p:cNvSpPr txBox="1"/>
          <p:nvPr/>
        </p:nvSpPr>
        <p:spPr>
          <a:xfrm>
            <a:off x="914377"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sla_deadline</a:t>
            </a:r>
            <a:endParaRPr lang="en-US" sz="1200" dirty="0"/>
          </a:p>
        </p:txBody>
      </p:sp>
      <p:sp>
        <p:nvSpPr>
          <p:cNvPr id="31" name="Shape 29"/>
          <p:cNvSpPr/>
          <p:nvPr/>
        </p:nvSpPr>
        <p:spPr>
          <a:xfrm>
            <a:off x="3574961" y="3174921"/>
            <a:ext cx="2285943" cy="1079473"/>
          </a:xfrm>
          <a:prstGeom prst="roundRect">
            <a:avLst>
              <a:gd name="adj" fmla="val 7059"/>
            </a:avLst>
          </a:prstGeom>
          <a:solidFill>
            <a:srgbClr val="FCFDFF"/>
          </a:solidFill>
          <a:ln w="12700">
            <a:solidFill>
              <a:srgbClr val="0B7F74"/>
            </a:solidFill>
            <a:prstDash val="solid"/>
          </a:ln>
        </p:spPr>
        <p:txBody>
          <a:bodyPr/>
          <a:p/>
        </p:txBody>
      </p:sp>
      <p:sp>
        <p:nvSpPr>
          <p:cNvPr id="32" name="Shape 30"/>
          <p:cNvSpPr/>
          <p:nvPr/>
        </p:nvSpPr>
        <p:spPr>
          <a:xfrm>
            <a:off x="3587660" y="3187620"/>
            <a:ext cx="2260543" cy="289513"/>
          </a:xfrm>
          <a:prstGeom prst="roundRect">
            <a:avLst>
              <a:gd name="adj" fmla="val 21933"/>
            </a:avLst>
          </a:prstGeom>
          <a:solidFill>
            <a:srgbClr val="DDF2EF"/>
          </a:solidFill>
          <a:ln/>
        </p:spPr>
        <p:txBody>
          <a:bodyPr/>
          <a:p/>
        </p:txBody>
      </p:sp>
      <p:sp>
        <p:nvSpPr>
          <p:cNvPr id="33" name="Text 31"/>
          <p:cNvSpPr txBox="1"/>
          <p:nvPr/>
        </p:nvSpPr>
        <p:spPr>
          <a:xfrm>
            <a:off x="3676558"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booking.booking</a:t>
            </a:r>
            <a:endParaRPr lang="en-US" sz="1200" dirty="0"/>
          </a:p>
        </p:txBody>
      </p:sp>
      <p:sp>
        <p:nvSpPr>
          <p:cNvPr id="34" name="Text 32"/>
          <p:cNvSpPr txBox="1"/>
          <p:nvPr/>
        </p:nvSpPr>
        <p:spPr>
          <a:xfrm>
            <a:off x="3676558"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reference</a:t>
            </a:r>
            <a:endParaRPr lang="en-US" sz="1200" dirty="0"/>
          </a:p>
        </p:txBody>
      </p:sp>
      <p:sp>
        <p:nvSpPr>
          <p:cNvPr id="35" name="Text 33"/>
          <p:cNvSpPr txBox="1"/>
          <p:nvPr/>
        </p:nvSpPr>
        <p:spPr>
          <a:xfrm>
            <a:off x="3676558"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provider_id</a:t>
            </a:r>
            <a:endParaRPr lang="en-US" sz="1200" dirty="0"/>
          </a:p>
        </p:txBody>
      </p:sp>
      <p:sp>
        <p:nvSpPr>
          <p:cNvPr id="36" name="Text 34"/>
          <p:cNvSpPr txBox="1"/>
          <p:nvPr/>
        </p:nvSpPr>
        <p:spPr>
          <a:xfrm>
            <a:off x="3676558"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estimated_total</a:t>
            </a:r>
            <a:endParaRPr lang="en-US" sz="1200" dirty="0"/>
          </a:p>
        </p:txBody>
      </p:sp>
      <p:sp>
        <p:nvSpPr>
          <p:cNvPr id="37" name="Shape 35"/>
          <p:cNvSpPr/>
          <p:nvPr/>
        </p:nvSpPr>
        <p:spPr>
          <a:xfrm>
            <a:off x="6330792" y="3174921"/>
            <a:ext cx="2285943" cy="1079473"/>
          </a:xfrm>
          <a:prstGeom prst="roundRect">
            <a:avLst>
              <a:gd name="adj" fmla="val 7059"/>
            </a:avLst>
          </a:prstGeom>
          <a:solidFill>
            <a:srgbClr val="FCFDFF"/>
          </a:solidFill>
          <a:ln w="12700">
            <a:solidFill>
              <a:srgbClr val="B4530F"/>
            </a:solidFill>
            <a:prstDash val="solid"/>
          </a:ln>
        </p:spPr>
        <p:txBody>
          <a:bodyPr/>
          <a:p/>
        </p:txBody>
      </p:sp>
      <p:sp>
        <p:nvSpPr>
          <p:cNvPr id="38" name="Shape 36"/>
          <p:cNvSpPr/>
          <p:nvPr/>
        </p:nvSpPr>
        <p:spPr>
          <a:xfrm>
            <a:off x="6343491" y="3187620"/>
            <a:ext cx="2260543" cy="289513"/>
          </a:xfrm>
          <a:prstGeom prst="roundRect">
            <a:avLst>
              <a:gd name="adj" fmla="val 21933"/>
            </a:avLst>
          </a:prstGeom>
          <a:solidFill>
            <a:srgbClr val="FCEBDD"/>
          </a:solidFill>
          <a:ln/>
        </p:spPr>
        <p:txBody>
          <a:bodyPr/>
          <a:p/>
        </p:txBody>
      </p:sp>
      <p:sp>
        <p:nvSpPr>
          <p:cNvPr id="39" name="Text 37"/>
          <p:cNvSpPr txBox="1"/>
          <p:nvPr/>
        </p:nvSpPr>
        <p:spPr>
          <a:xfrm>
            <a:off x="6432389"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payment.payment_transaction</a:t>
            </a:r>
            <a:endParaRPr lang="en-US" sz="1200" dirty="0"/>
          </a:p>
        </p:txBody>
      </p:sp>
      <p:sp>
        <p:nvSpPr>
          <p:cNvPr id="40" name="Text 38"/>
          <p:cNvSpPr txBox="1"/>
          <p:nvPr/>
        </p:nvSpPr>
        <p:spPr>
          <a:xfrm>
            <a:off x="6432389"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41" name="Text 39"/>
          <p:cNvSpPr txBox="1"/>
          <p:nvPr/>
        </p:nvSpPr>
        <p:spPr>
          <a:xfrm>
            <a:off x="6432389"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42" name="Text 40"/>
          <p:cNvSpPr txBox="1"/>
          <p:nvPr/>
        </p:nvSpPr>
        <p:spPr>
          <a:xfrm>
            <a:off x="6432389"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idempotency_key UQ</a:t>
            </a:r>
            <a:endParaRPr lang="en-US" sz="1200" dirty="0"/>
          </a:p>
        </p:txBody>
      </p:sp>
      <p:sp>
        <p:nvSpPr>
          <p:cNvPr id="43" name="Shape 41"/>
          <p:cNvSpPr/>
          <p:nvPr/>
        </p:nvSpPr>
        <p:spPr>
          <a:xfrm>
            <a:off x="9092973" y="3174921"/>
            <a:ext cx="2285943" cy="1079473"/>
          </a:xfrm>
          <a:prstGeom prst="roundRect">
            <a:avLst>
              <a:gd name="adj" fmla="val 7059"/>
            </a:avLst>
          </a:prstGeom>
          <a:solidFill>
            <a:srgbClr val="FCFDFF"/>
          </a:solidFill>
          <a:ln w="12700">
            <a:solidFill>
              <a:srgbClr val="B4530F"/>
            </a:solidFill>
            <a:prstDash val="solid"/>
          </a:ln>
        </p:spPr>
        <p:txBody>
          <a:bodyPr/>
          <a:p/>
        </p:txBody>
      </p:sp>
      <p:sp>
        <p:nvSpPr>
          <p:cNvPr id="44" name="Shape 42"/>
          <p:cNvSpPr/>
          <p:nvPr/>
        </p:nvSpPr>
        <p:spPr>
          <a:xfrm>
            <a:off x="9105672" y="3187620"/>
            <a:ext cx="2260543" cy="289513"/>
          </a:xfrm>
          <a:prstGeom prst="roundRect">
            <a:avLst>
              <a:gd name="adj" fmla="val 21933"/>
            </a:avLst>
          </a:prstGeom>
          <a:solidFill>
            <a:srgbClr val="FCEBDD"/>
          </a:solidFill>
          <a:ln/>
        </p:spPr>
        <p:txBody>
          <a:bodyPr/>
          <a:p/>
        </p:txBody>
      </p:sp>
      <p:sp>
        <p:nvSpPr>
          <p:cNvPr id="45" name="Text 43"/>
          <p:cNvSpPr txBox="1"/>
          <p:nvPr/>
        </p:nvSpPr>
        <p:spPr>
          <a:xfrm>
            <a:off x="9194570"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payment.payment_refund</a:t>
            </a:r>
            <a:endParaRPr lang="en-US" sz="1200" dirty="0"/>
          </a:p>
        </p:txBody>
      </p:sp>
      <p:sp>
        <p:nvSpPr>
          <p:cNvPr id="46" name="Text 44"/>
          <p:cNvSpPr txBox="1"/>
          <p:nvPr/>
        </p:nvSpPr>
        <p:spPr>
          <a:xfrm>
            <a:off x="9194570"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7" name="Text 45"/>
          <p:cNvSpPr txBox="1"/>
          <p:nvPr/>
        </p:nvSpPr>
        <p:spPr>
          <a:xfrm>
            <a:off x="9194570"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transaction_id</a:t>
            </a:r>
            <a:endParaRPr lang="en-US" sz="1200" dirty="0"/>
          </a:p>
        </p:txBody>
      </p:sp>
      <p:sp>
        <p:nvSpPr>
          <p:cNvPr id="48" name="Text 46"/>
          <p:cNvSpPr txBox="1"/>
          <p:nvPr/>
        </p:nvSpPr>
        <p:spPr>
          <a:xfrm>
            <a:off x="9194570"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49" name="Shape 47"/>
          <p:cNvSpPr/>
          <p:nvPr/>
        </p:nvSpPr>
        <p:spPr>
          <a:xfrm>
            <a:off x="812780" y="4508387"/>
            <a:ext cx="2285943" cy="1079473"/>
          </a:xfrm>
          <a:prstGeom prst="roundRect">
            <a:avLst>
              <a:gd name="adj" fmla="val 7059"/>
            </a:avLst>
          </a:prstGeom>
          <a:solidFill>
            <a:srgbClr val="FCFDFF"/>
          </a:solidFill>
          <a:ln w="12700">
            <a:solidFill>
              <a:srgbClr val="B8306E"/>
            </a:solidFill>
            <a:prstDash val="solid"/>
          </a:ln>
        </p:spPr>
        <p:txBody>
          <a:bodyPr/>
          <a:p/>
        </p:txBody>
      </p:sp>
      <p:sp>
        <p:nvSpPr>
          <p:cNvPr id="50" name="Shape 48"/>
          <p:cNvSpPr/>
          <p:nvPr/>
        </p:nvSpPr>
        <p:spPr>
          <a:xfrm>
            <a:off x="825479" y="4521087"/>
            <a:ext cx="2260543" cy="289513"/>
          </a:xfrm>
          <a:prstGeom prst="roundRect">
            <a:avLst>
              <a:gd name="adj" fmla="val 21933"/>
            </a:avLst>
          </a:prstGeom>
          <a:solidFill>
            <a:srgbClr val="FAE3ED"/>
          </a:solidFill>
          <a:ln/>
        </p:spPr>
        <p:txBody>
          <a:bodyPr/>
          <a:p/>
        </p:txBody>
      </p:sp>
      <p:sp>
        <p:nvSpPr>
          <p:cNvPr id="51" name="Text 49"/>
          <p:cNvSpPr txBox="1"/>
          <p:nvPr/>
        </p:nvSpPr>
        <p:spPr>
          <a:xfrm>
            <a:off x="914377"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complaint.complaint_refund</a:t>
            </a:r>
            <a:endParaRPr lang="en-US" sz="1200" dirty="0"/>
          </a:p>
        </p:txBody>
      </p:sp>
      <p:sp>
        <p:nvSpPr>
          <p:cNvPr id="52" name="Text 50"/>
          <p:cNvSpPr txBox="1"/>
          <p:nvPr/>
        </p:nvSpPr>
        <p:spPr>
          <a:xfrm>
            <a:off x="914377"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53" name="Text 51"/>
          <p:cNvSpPr txBox="1"/>
          <p:nvPr/>
        </p:nvSpPr>
        <p:spPr>
          <a:xfrm>
            <a:off x="914377"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complaint_id UQ FK</a:t>
            </a:r>
            <a:endParaRPr lang="en-US" sz="1200" dirty="0"/>
          </a:p>
        </p:txBody>
      </p:sp>
      <p:sp>
        <p:nvSpPr>
          <p:cNvPr id="54" name="Text 52"/>
          <p:cNvSpPr txBox="1"/>
          <p:nvPr/>
        </p:nvSpPr>
        <p:spPr>
          <a:xfrm>
            <a:off x="914377"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55" name="Shape 53"/>
          <p:cNvSpPr/>
          <p:nvPr/>
        </p:nvSpPr>
        <p:spPr>
          <a:xfrm>
            <a:off x="3574961" y="4508387"/>
            <a:ext cx="2285943" cy="1079473"/>
          </a:xfrm>
          <a:prstGeom prst="roundRect">
            <a:avLst>
              <a:gd name="adj" fmla="val 7059"/>
            </a:avLst>
          </a:prstGeom>
          <a:solidFill>
            <a:srgbClr val="FCFDFF"/>
          </a:solidFill>
          <a:ln w="12700">
            <a:solidFill>
              <a:srgbClr val="B8306E"/>
            </a:solidFill>
            <a:prstDash val="solid"/>
          </a:ln>
        </p:spPr>
        <p:txBody>
          <a:bodyPr/>
          <a:p/>
        </p:txBody>
      </p:sp>
      <p:sp>
        <p:nvSpPr>
          <p:cNvPr id="56" name="Shape 54"/>
          <p:cNvSpPr/>
          <p:nvPr/>
        </p:nvSpPr>
        <p:spPr>
          <a:xfrm>
            <a:off x="3587660" y="4521087"/>
            <a:ext cx="2260543" cy="289513"/>
          </a:xfrm>
          <a:prstGeom prst="roundRect">
            <a:avLst>
              <a:gd name="adj" fmla="val 21933"/>
            </a:avLst>
          </a:prstGeom>
          <a:solidFill>
            <a:srgbClr val="FAE3ED"/>
          </a:solidFill>
          <a:ln/>
        </p:spPr>
        <p:txBody>
          <a:bodyPr/>
          <a:p/>
        </p:txBody>
      </p:sp>
      <p:sp>
        <p:nvSpPr>
          <p:cNvPr id="57" name="Text 55"/>
          <p:cNvSpPr txBox="1"/>
          <p:nvPr/>
        </p:nvSpPr>
        <p:spPr>
          <a:xfrm>
            <a:off x="3676558"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58" name="Text 56"/>
          <p:cNvSpPr txBox="1"/>
          <p:nvPr/>
        </p:nvSpPr>
        <p:spPr>
          <a:xfrm>
            <a:off x="3676558"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59" name="Text 57"/>
          <p:cNvSpPr txBox="1"/>
          <p:nvPr/>
        </p:nvSpPr>
        <p:spPr>
          <a:xfrm>
            <a:off x="3676558"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reviewer, reviewee</a:t>
            </a:r>
            <a:endParaRPr lang="en-US" sz="1200" dirty="0"/>
          </a:p>
        </p:txBody>
      </p:sp>
      <p:sp>
        <p:nvSpPr>
          <p:cNvPr id="60" name="Text 58"/>
          <p:cNvSpPr txBox="1"/>
          <p:nvPr/>
        </p:nvSpPr>
        <p:spPr>
          <a:xfrm>
            <a:off x="3676558"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overall_rating</a:t>
            </a:r>
            <a:endParaRPr lang="en-US" sz="1200" dirty="0"/>
          </a:p>
        </p:txBody>
      </p:sp>
      <p:sp>
        <p:nvSpPr>
          <p:cNvPr id="61" name="Shape 59"/>
          <p:cNvSpPr/>
          <p:nvPr/>
        </p:nvSpPr>
        <p:spPr>
          <a:xfrm>
            <a:off x="6330792" y="4508387"/>
            <a:ext cx="2285943" cy="1079473"/>
          </a:xfrm>
          <a:prstGeom prst="roundRect">
            <a:avLst>
              <a:gd name="adj" fmla="val 7059"/>
            </a:avLst>
          </a:prstGeom>
          <a:solidFill>
            <a:srgbClr val="FCFDFF"/>
          </a:solidFill>
          <a:ln w="12700">
            <a:solidFill>
              <a:srgbClr val="B4530F"/>
            </a:solidFill>
            <a:prstDash val="solid"/>
          </a:ln>
        </p:spPr>
        <p:txBody>
          <a:bodyPr/>
          <a:p/>
        </p:txBody>
      </p:sp>
      <p:sp>
        <p:nvSpPr>
          <p:cNvPr id="62" name="Shape 60"/>
          <p:cNvSpPr/>
          <p:nvPr/>
        </p:nvSpPr>
        <p:spPr>
          <a:xfrm>
            <a:off x="6343491" y="4521087"/>
            <a:ext cx="2260543" cy="289513"/>
          </a:xfrm>
          <a:prstGeom prst="roundRect">
            <a:avLst>
              <a:gd name="adj" fmla="val 21933"/>
            </a:avLst>
          </a:prstGeom>
          <a:solidFill>
            <a:srgbClr val="FCEBDD"/>
          </a:solidFill>
          <a:ln/>
        </p:spPr>
        <p:txBody>
          <a:bodyPr/>
          <a:p/>
        </p:txBody>
      </p:sp>
      <p:sp>
        <p:nvSpPr>
          <p:cNvPr id="63" name="Text 61"/>
          <p:cNvSpPr txBox="1"/>
          <p:nvPr/>
        </p:nvSpPr>
        <p:spPr>
          <a:xfrm>
            <a:off x="6432389"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invoice.invoice</a:t>
            </a:r>
            <a:endParaRPr lang="en-US" sz="1200" dirty="0"/>
          </a:p>
        </p:txBody>
      </p:sp>
      <p:sp>
        <p:nvSpPr>
          <p:cNvPr id="64" name="Text 62"/>
          <p:cNvSpPr txBox="1"/>
          <p:nvPr/>
        </p:nvSpPr>
        <p:spPr>
          <a:xfrm>
            <a:off x="6432389"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invoice_number</a:t>
            </a:r>
            <a:endParaRPr lang="en-US" sz="1200" dirty="0"/>
          </a:p>
        </p:txBody>
      </p:sp>
      <p:sp>
        <p:nvSpPr>
          <p:cNvPr id="65" name="Text 63"/>
          <p:cNvSpPr txBox="1"/>
          <p:nvPr/>
        </p:nvSpPr>
        <p:spPr>
          <a:xfrm>
            <a:off x="6432389"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payment_id UQ → payment</a:t>
            </a:r>
            <a:endParaRPr lang="en-US" sz="1200" dirty="0"/>
          </a:p>
        </p:txBody>
      </p:sp>
      <p:sp>
        <p:nvSpPr>
          <p:cNvPr id="66" name="Text 64"/>
          <p:cNvSpPr txBox="1"/>
          <p:nvPr/>
        </p:nvSpPr>
        <p:spPr>
          <a:xfrm>
            <a:off x="6432389"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gross, fee, net</a:t>
            </a:r>
            <a:endParaRPr lang="en-US" sz="1200" dirty="0"/>
          </a:p>
        </p:txBody>
      </p:sp>
      <p:sp>
        <p:nvSpPr>
          <p:cNvPr id="67" name="Shape 65"/>
          <p:cNvSpPr/>
          <p:nvPr/>
        </p:nvSpPr>
        <p:spPr>
          <a:xfrm>
            <a:off x="9092973" y="4508387"/>
            <a:ext cx="2285943" cy="1079473"/>
          </a:xfrm>
          <a:prstGeom prst="roundRect">
            <a:avLst>
              <a:gd name="adj" fmla="val 7059"/>
            </a:avLst>
          </a:prstGeom>
          <a:solidFill>
            <a:srgbClr val="FCFDFF"/>
          </a:solidFill>
          <a:ln w="12700">
            <a:solidFill>
              <a:srgbClr val="6A3FC0"/>
            </a:solidFill>
            <a:prstDash val="solid"/>
          </a:ln>
        </p:spPr>
        <p:txBody>
          <a:bodyPr/>
          <a:p/>
        </p:txBody>
      </p:sp>
      <p:sp>
        <p:nvSpPr>
          <p:cNvPr id="68" name="Shape 66"/>
          <p:cNvSpPr/>
          <p:nvPr/>
        </p:nvSpPr>
        <p:spPr>
          <a:xfrm>
            <a:off x="9105672" y="4521087"/>
            <a:ext cx="2260543" cy="289513"/>
          </a:xfrm>
          <a:prstGeom prst="roundRect">
            <a:avLst>
              <a:gd name="adj" fmla="val 21933"/>
            </a:avLst>
          </a:prstGeom>
          <a:solidFill>
            <a:srgbClr val="ECE5FA"/>
          </a:solidFill>
          <a:ln/>
        </p:spPr>
        <p:txBody>
          <a:bodyPr/>
          <a:p/>
        </p:txBody>
      </p:sp>
      <p:sp>
        <p:nvSpPr>
          <p:cNvPr id="69" name="Text 67"/>
          <p:cNvSpPr txBox="1"/>
          <p:nvPr/>
        </p:nvSpPr>
        <p:spPr>
          <a:xfrm>
            <a:off x="9194570"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promotion.coupon</a:t>
            </a:r>
            <a:endParaRPr lang="en-US" sz="1200" dirty="0"/>
          </a:p>
        </p:txBody>
      </p:sp>
      <p:sp>
        <p:nvSpPr>
          <p:cNvPr id="70" name="Text 68"/>
          <p:cNvSpPr txBox="1"/>
          <p:nvPr/>
        </p:nvSpPr>
        <p:spPr>
          <a:xfrm>
            <a:off x="9194570"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code UQ</a:t>
            </a:r>
            <a:endParaRPr lang="en-US" sz="1200" dirty="0"/>
          </a:p>
        </p:txBody>
      </p:sp>
      <p:sp>
        <p:nvSpPr>
          <p:cNvPr id="71" name="Text 69"/>
          <p:cNvSpPr txBox="1"/>
          <p:nvPr/>
        </p:nvSpPr>
        <p:spPr>
          <a:xfrm>
            <a:off x="9194570"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discount type, value</a:t>
            </a:r>
            <a:endParaRPr lang="en-US" sz="1200" dirty="0"/>
          </a:p>
        </p:txBody>
      </p:sp>
      <p:sp>
        <p:nvSpPr>
          <p:cNvPr id="72" name="Text 70"/>
          <p:cNvSpPr txBox="1"/>
          <p:nvPr/>
        </p:nvSpPr>
        <p:spPr>
          <a:xfrm>
            <a:off x="9194570"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total, per-user limit</a:t>
            </a:r>
            <a:endParaRPr lang="en-US" sz="1200" dirty="0"/>
          </a:p>
        </p:txBody>
      </p:sp>
      <p:sp>
        <p:nvSpPr>
          <p:cNvPr id="73" name="Shape 71"/>
          <p:cNvSpPr/>
          <p:nvPr/>
        </p:nvSpPr>
        <p:spPr>
          <a:xfrm>
            <a:off x="8616735" y="2381190"/>
            <a:ext cx="476238" cy="63"/>
          </a:xfrm>
          <a:prstGeom prst="line">
            <a:avLst/>
          </a:prstGeom>
          <a:noFill/>
          <a:ln w="19050">
            <a:solidFill>
              <a:srgbClr val="5C6B8A"/>
            </a:solidFill>
            <a:prstDash val="solid"/>
          </a:ln>
        </p:spPr>
        <p:txBody>
          <a:bodyPr/>
          <a:p/>
        </p:txBody>
      </p:sp>
      <p:sp>
        <p:nvSpPr>
          <p:cNvPr id="74" name="Text 72"/>
          <p:cNvSpPr txBox="1"/>
          <p:nvPr/>
        </p:nvSpPr>
        <p:spPr>
          <a:xfrm>
            <a:off x="8604035"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5" name="Shape 73"/>
          <p:cNvSpPr/>
          <p:nvPr/>
        </p:nvSpPr>
        <p:spPr>
          <a:xfrm>
            <a:off x="3098723" y="3714657"/>
            <a:ext cx="476238" cy="63"/>
          </a:xfrm>
          <a:prstGeom prst="line">
            <a:avLst/>
          </a:prstGeom>
          <a:noFill/>
          <a:ln w="19050">
            <a:solidFill>
              <a:srgbClr val="5C6B8A"/>
            </a:solidFill>
            <a:prstDash val="dash"/>
          </a:ln>
        </p:spPr>
        <p:txBody>
          <a:bodyPr/>
          <a:p/>
        </p:txBody>
      </p:sp>
      <p:sp>
        <p:nvSpPr>
          <p:cNvPr id="76" name="Text 74"/>
          <p:cNvSpPr txBox="1"/>
          <p:nvPr/>
        </p:nvSpPr>
        <p:spPr>
          <a:xfrm>
            <a:off x="3086023"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77" name="Shape 75"/>
          <p:cNvSpPr/>
          <p:nvPr/>
        </p:nvSpPr>
        <p:spPr>
          <a:xfrm>
            <a:off x="5860903" y="3714657"/>
            <a:ext cx="469888" cy="63"/>
          </a:xfrm>
          <a:prstGeom prst="line">
            <a:avLst/>
          </a:prstGeom>
          <a:noFill/>
          <a:ln w="19050">
            <a:solidFill>
              <a:srgbClr val="5C6B8A"/>
            </a:solidFill>
            <a:prstDash val="dash"/>
          </a:ln>
        </p:spPr>
        <p:txBody>
          <a:bodyPr/>
          <a:p/>
        </p:txBody>
      </p:sp>
      <p:sp>
        <p:nvSpPr>
          <p:cNvPr id="78" name="Text 76"/>
          <p:cNvSpPr txBox="1"/>
          <p:nvPr/>
        </p:nvSpPr>
        <p:spPr>
          <a:xfrm>
            <a:off x="5848204" y="3460663"/>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9" name="Shape 77"/>
          <p:cNvSpPr/>
          <p:nvPr/>
        </p:nvSpPr>
        <p:spPr>
          <a:xfrm>
            <a:off x="8616735" y="3714657"/>
            <a:ext cx="476238" cy="63"/>
          </a:xfrm>
          <a:prstGeom prst="line">
            <a:avLst/>
          </a:prstGeom>
          <a:noFill/>
          <a:ln w="19050">
            <a:solidFill>
              <a:srgbClr val="5C6B8A"/>
            </a:solidFill>
            <a:prstDash val="solid"/>
          </a:ln>
        </p:spPr>
        <p:txBody>
          <a:bodyPr/>
          <a:p/>
        </p:txBody>
      </p:sp>
      <p:sp>
        <p:nvSpPr>
          <p:cNvPr id="80" name="Text 78"/>
          <p:cNvSpPr txBox="1"/>
          <p:nvPr/>
        </p:nvSpPr>
        <p:spPr>
          <a:xfrm>
            <a:off x="8604035"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1" name="Shape 79"/>
          <p:cNvSpPr/>
          <p:nvPr/>
        </p:nvSpPr>
        <p:spPr>
          <a:xfrm>
            <a:off x="4717932" y="2920927"/>
            <a:ext cx="63" cy="253994"/>
          </a:xfrm>
          <a:prstGeom prst="line">
            <a:avLst/>
          </a:prstGeom>
          <a:noFill/>
          <a:ln w="19050">
            <a:solidFill>
              <a:srgbClr val="5C6B8A"/>
            </a:solidFill>
            <a:prstDash val="solid"/>
          </a:ln>
        </p:spPr>
        <p:txBody>
          <a:bodyPr/>
          <a:p/>
        </p:txBody>
      </p:sp>
      <p:sp>
        <p:nvSpPr>
          <p:cNvPr id="82" name="Text 80"/>
          <p:cNvSpPr txBox="1"/>
          <p:nvPr/>
        </p:nvSpPr>
        <p:spPr>
          <a:xfrm>
            <a:off x="4794130" y="2939976"/>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83" name="Shape 81"/>
          <p:cNvSpPr/>
          <p:nvPr/>
        </p:nvSpPr>
        <p:spPr>
          <a:xfrm>
            <a:off x="1955751" y="4254394"/>
            <a:ext cx="63" cy="253994"/>
          </a:xfrm>
          <a:prstGeom prst="line">
            <a:avLst/>
          </a:prstGeom>
          <a:noFill/>
          <a:ln w="19050">
            <a:solidFill>
              <a:srgbClr val="5C6B8A"/>
            </a:solidFill>
            <a:prstDash val="solid"/>
          </a:ln>
        </p:spPr>
        <p:txBody>
          <a:bodyPr/>
          <a:p/>
        </p:txBody>
      </p:sp>
      <p:sp>
        <p:nvSpPr>
          <p:cNvPr id="84" name="Text 82"/>
          <p:cNvSpPr txBox="1"/>
          <p:nvPr/>
        </p:nvSpPr>
        <p:spPr>
          <a:xfrm>
            <a:off x="2031949"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5" name="Shape 83"/>
          <p:cNvSpPr/>
          <p:nvPr/>
        </p:nvSpPr>
        <p:spPr>
          <a:xfrm>
            <a:off x="4717932" y="4254394"/>
            <a:ext cx="63" cy="253994"/>
          </a:xfrm>
          <a:prstGeom prst="line">
            <a:avLst/>
          </a:prstGeom>
          <a:noFill/>
          <a:ln w="19050">
            <a:solidFill>
              <a:srgbClr val="5C6B8A"/>
            </a:solidFill>
            <a:prstDash val="dash"/>
          </a:ln>
        </p:spPr>
        <p:txBody>
          <a:bodyPr/>
          <a:p/>
        </p:txBody>
      </p:sp>
      <p:sp>
        <p:nvSpPr>
          <p:cNvPr id="86" name="Text 84"/>
          <p:cNvSpPr txBox="1"/>
          <p:nvPr/>
        </p:nvSpPr>
        <p:spPr>
          <a:xfrm>
            <a:off x="4794130"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7" name="Shape 85"/>
          <p:cNvSpPr/>
          <p:nvPr/>
        </p:nvSpPr>
        <p:spPr>
          <a:xfrm>
            <a:off x="7473763" y="4254394"/>
            <a:ext cx="63" cy="253994"/>
          </a:xfrm>
          <a:prstGeom prst="line">
            <a:avLst/>
          </a:prstGeom>
          <a:noFill/>
          <a:ln w="19050">
            <a:solidFill>
              <a:srgbClr val="5C6B8A"/>
            </a:solidFill>
            <a:prstDash val="dash"/>
          </a:ln>
        </p:spPr>
        <p:txBody>
          <a:bodyPr/>
          <a:p/>
        </p:txBody>
      </p:sp>
      <p:sp>
        <p:nvSpPr>
          <p:cNvPr id="88" name="Text 86"/>
          <p:cNvSpPr txBox="1"/>
          <p:nvPr/>
        </p:nvSpPr>
        <p:spPr>
          <a:xfrm>
            <a:off x="7549961"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9" name="Text 8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Data model</a:t>
            </a:r>
            <a:endParaRPr lang="en-US" sz="1200" dirty="0"/>
          </a:p>
        </p:txBody>
      </p:sp>
      <p:sp>
        <p:nvSpPr>
          <p:cNvPr id="90" name="Text 8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WHERE STATE LIVES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Postgres keeps records; Redis keeps moments</a:t>
            </a:r>
            <a:endParaRPr lang="en-US" sz="3000" dirty="0"/>
          </a:p>
        </p:txBody>
      </p:sp>
      <p:sp>
        <p:nvSpPr>
          <p:cNvPr id="4" name="Shape 2"/>
          <p:cNvSpPr/>
          <p:nvPr/>
        </p:nvSpPr>
        <p:spPr>
          <a:xfrm>
            <a:off x="812780" y="1775376"/>
            <a:ext cx="3181767" cy="3259453"/>
          </a:xfrm>
          <a:prstGeom prst="roundRect">
            <a:avLst>
              <a:gd name="adj" fmla="val 3193"/>
            </a:avLst>
          </a:prstGeom>
          <a:solidFill>
            <a:srgbClr val="FCFDFF"/>
          </a:solidFill>
          <a:ln w="6350">
            <a:solidFill>
              <a:srgbClr val="D5DEEC"/>
            </a:solidFill>
            <a:prstDash val="solid"/>
          </a:ln>
        </p:spPr>
        <p:txBody>
          <a:bodyPr/>
          <a:p/>
        </p:txBody>
      </p:sp>
      <p:sp>
        <p:nvSpPr>
          <p:cNvPr id="5" name="Shape 3"/>
          <p:cNvSpPr/>
          <p:nvPr/>
        </p:nvSpPr>
        <p:spPr>
          <a:xfrm>
            <a:off x="812780" y="1775376"/>
            <a:ext cx="3181767" cy="50799"/>
          </a:xfrm>
          <a:prstGeom prst="roundRect">
            <a:avLst>
              <a:gd name="adj" fmla="val 50000"/>
            </a:avLst>
          </a:prstGeom>
          <a:solidFill>
            <a:srgbClr val="2F5C9A"/>
          </a:solidFill>
          <a:ln/>
        </p:spPr>
        <p:txBody>
          <a:bodyPr/>
          <a:p/>
        </p:txBody>
      </p:sp>
      <p:sp>
        <p:nvSpPr>
          <p:cNvPr id="6" name="Shape 4"/>
          <p:cNvSpPr/>
          <p:nvPr/>
        </p:nvSpPr>
        <p:spPr>
          <a:xfrm>
            <a:off x="971526" y="1978571"/>
            <a:ext cx="330192" cy="330192"/>
          </a:xfrm>
          <a:prstGeom prst="ellipse">
            <a:avLst/>
          </a:prstGeom>
          <a:solidFill>
            <a:srgbClr val="E2EAF6"/>
          </a:solidFill>
          <a:ln/>
        </p:spPr>
        <p:txBody>
          <a:bodyPr/>
          <a:p/>
        </p:txBody>
      </p:sp>
      <p:pic>
        <p:nvPicPr>
          <p:cNvPr id="7" name="Image 0" descr="preencoded.png">    </p:cNvPr>
          <p:cNvPicPr>
            <a:picLocks noChangeAspect="1"/>
          </p:cNvPicPr>
          <p:nvPr/>
        </p:nvPicPr>
        <p:blipFill>
          <a:blip r:embed="rId1"/>
          <a:stretch>
            <a:fillRect/>
          </a:stretch>
        </p:blipFill>
        <p:spPr>
          <a:xfrm>
            <a:off x="1047724" y="2054769"/>
            <a:ext cx="177796" cy="177796"/>
          </a:xfrm>
          <a:prstGeom prst="rect">
            <a:avLst/>
          </a:prstGeom>
        </p:spPr>
      </p:pic>
      <p:sp>
        <p:nvSpPr>
          <p:cNvPr id="8" name="Text 5"/>
          <p:cNvSpPr txBox="1"/>
          <p:nvPr/>
        </p:nvSpPr>
        <p:spPr>
          <a:xfrm>
            <a:off x="1390615" y="2029370"/>
            <a:ext cx="111166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PostgreSQL</a:t>
            </a:r>
            <a:endParaRPr lang="en-US" sz="1500" dirty="0"/>
          </a:p>
        </p:txBody>
      </p:sp>
      <p:sp>
        <p:nvSpPr>
          <p:cNvPr id="9" name="Shape 6"/>
          <p:cNvSpPr/>
          <p:nvPr/>
        </p:nvSpPr>
        <p:spPr>
          <a:xfrm>
            <a:off x="971526" y="2397660"/>
            <a:ext cx="543606" cy="299633"/>
          </a:xfrm>
          <a:prstGeom prst="roundRect">
            <a:avLst>
              <a:gd name="adj" fmla="val 21192"/>
            </a:avLst>
          </a:prstGeom>
          <a:solidFill>
            <a:srgbClr val="E2EAF6"/>
          </a:solidFill>
          <a:ln/>
        </p:spPr>
        <p:txBody>
          <a:bodyPr/>
          <a:p/>
        </p:txBody>
      </p:sp>
      <p:sp>
        <p:nvSpPr>
          <p:cNvPr id="10" name="Text 7"/>
          <p:cNvSpPr txBox="1"/>
          <p:nvPr/>
        </p:nvSpPr>
        <p:spPr>
          <a:xfrm>
            <a:off x="1060423" y="2448459"/>
            <a:ext cx="44200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auth</a:t>
            </a:r>
            <a:endParaRPr lang="en-US" sz="1200" dirty="0"/>
          </a:p>
        </p:txBody>
      </p:sp>
      <p:sp>
        <p:nvSpPr>
          <p:cNvPr id="11" name="Shape 8"/>
          <p:cNvSpPr/>
          <p:nvPr/>
        </p:nvSpPr>
        <p:spPr>
          <a:xfrm>
            <a:off x="1578630" y="2397660"/>
            <a:ext cx="909416" cy="299633"/>
          </a:xfrm>
          <a:prstGeom prst="roundRect">
            <a:avLst>
              <a:gd name="adj" fmla="val 21192"/>
            </a:avLst>
          </a:prstGeom>
          <a:solidFill>
            <a:srgbClr val="E2EAF6"/>
          </a:solidFill>
          <a:ln/>
        </p:spPr>
        <p:txBody>
          <a:bodyPr/>
          <a:p/>
        </p:txBody>
      </p:sp>
      <p:sp>
        <p:nvSpPr>
          <p:cNvPr id="12" name="Text 9"/>
          <p:cNvSpPr txBox="1"/>
          <p:nvPr/>
        </p:nvSpPr>
        <p:spPr>
          <a:xfrm>
            <a:off x="1667528" y="2448459"/>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customer</a:t>
            </a:r>
            <a:endParaRPr lang="en-US" sz="1200" dirty="0"/>
          </a:p>
        </p:txBody>
      </p:sp>
      <p:sp>
        <p:nvSpPr>
          <p:cNvPr id="13" name="Shape 10"/>
          <p:cNvSpPr/>
          <p:nvPr/>
        </p:nvSpPr>
        <p:spPr>
          <a:xfrm>
            <a:off x="2551545" y="2397660"/>
            <a:ext cx="909416" cy="299633"/>
          </a:xfrm>
          <a:prstGeom prst="roundRect">
            <a:avLst>
              <a:gd name="adj" fmla="val 21192"/>
            </a:avLst>
          </a:prstGeom>
          <a:solidFill>
            <a:srgbClr val="E2EAF6"/>
          </a:solidFill>
          <a:ln/>
        </p:spPr>
        <p:txBody>
          <a:bodyPr/>
          <a:p/>
        </p:txBody>
      </p:sp>
      <p:sp>
        <p:nvSpPr>
          <p:cNvPr id="14" name="Text 11"/>
          <p:cNvSpPr txBox="1"/>
          <p:nvPr/>
        </p:nvSpPr>
        <p:spPr>
          <a:xfrm>
            <a:off x="2640443" y="2448459"/>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provider</a:t>
            </a:r>
            <a:endParaRPr lang="en-US" sz="1200" dirty="0"/>
          </a:p>
        </p:txBody>
      </p:sp>
      <p:sp>
        <p:nvSpPr>
          <p:cNvPr id="15" name="Shape 12"/>
          <p:cNvSpPr/>
          <p:nvPr/>
        </p:nvSpPr>
        <p:spPr>
          <a:xfrm>
            <a:off x="971526" y="2760792"/>
            <a:ext cx="1275227" cy="299633"/>
          </a:xfrm>
          <a:prstGeom prst="roundRect">
            <a:avLst>
              <a:gd name="adj" fmla="val 21192"/>
            </a:avLst>
          </a:prstGeom>
          <a:solidFill>
            <a:srgbClr val="E2EAF6"/>
          </a:solidFill>
          <a:ln/>
        </p:spPr>
        <p:txBody>
          <a:bodyPr/>
          <a:p/>
        </p:txBody>
      </p:sp>
      <p:sp>
        <p:nvSpPr>
          <p:cNvPr id="16" name="Text 13"/>
          <p:cNvSpPr txBox="1"/>
          <p:nvPr/>
        </p:nvSpPr>
        <p:spPr>
          <a:xfrm>
            <a:off x="1060423" y="2811591"/>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verification</a:t>
            </a:r>
            <a:endParaRPr lang="en-US" sz="1200" dirty="0"/>
          </a:p>
        </p:txBody>
      </p:sp>
      <p:sp>
        <p:nvSpPr>
          <p:cNvPr id="17" name="Shape 14"/>
          <p:cNvSpPr/>
          <p:nvPr/>
        </p:nvSpPr>
        <p:spPr>
          <a:xfrm>
            <a:off x="2310251" y="2760792"/>
            <a:ext cx="818038" cy="299633"/>
          </a:xfrm>
          <a:prstGeom prst="roundRect">
            <a:avLst>
              <a:gd name="adj" fmla="val 21192"/>
            </a:avLst>
          </a:prstGeom>
          <a:solidFill>
            <a:srgbClr val="E2EAF6"/>
          </a:solidFill>
          <a:ln/>
        </p:spPr>
        <p:txBody>
          <a:bodyPr/>
          <a:p/>
        </p:txBody>
      </p:sp>
      <p:sp>
        <p:nvSpPr>
          <p:cNvPr id="18" name="Text 15"/>
          <p:cNvSpPr txBox="1"/>
          <p:nvPr/>
        </p:nvSpPr>
        <p:spPr>
          <a:xfrm>
            <a:off x="2399149" y="2811591"/>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catalog</a:t>
            </a:r>
            <a:endParaRPr lang="en-US" sz="1200" dirty="0"/>
          </a:p>
        </p:txBody>
      </p:sp>
      <p:sp>
        <p:nvSpPr>
          <p:cNvPr id="19" name="Shape 16"/>
          <p:cNvSpPr/>
          <p:nvPr/>
        </p:nvSpPr>
        <p:spPr>
          <a:xfrm>
            <a:off x="971526" y="3123923"/>
            <a:ext cx="818038" cy="299633"/>
          </a:xfrm>
          <a:prstGeom prst="roundRect">
            <a:avLst>
              <a:gd name="adj" fmla="val 21192"/>
            </a:avLst>
          </a:prstGeom>
          <a:solidFill>
            <a:srgbClr val="E2EAF6"/>
          </a:solidFill>
          <a:ln/>
        </p:spPr>
        <p:txBody>
          <a:bodyPr/>
          <a:p/>
        </p:txBody>
      </p:sp>
      <p:sp>
        <p:nvSpPr>
          <p:cNvPr id="20" name="Text 17"/>
          <p:cNvSpPr txBox="1"/>
          <p:nvPr/>
        </p:nvSpPr>
        <p:spPr>
          <a:xfrm>
            <a:off x="1060423" y="317472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pricing</a:t>
            </a:r>
            <a:endParaRPr lang="en-US" sz="1200" dirty="0"/>
          </a:p>
        </p:txBody>
      </p:sp>
      <p:sp>
        <p:nvSpPr>
          <p:cNvPr id="21" name="Shape 18"/>
          <p:cNvSpPr/>
          <p:nvPr/>
        </p:nvSpPr>
        <p:spPr>
          <a:xfrm>
            <a:off x="1853062" y="3123923"/>
            <a:ext cx="1000894" cy="299633"/>
          </a:xfrm>
          <a:prstGeom prst="roundRect">
            <a:avLst>
              <a:gd name="adj" fmla="val 21192"/>
            </a:avLst>
          </a:prstGeom>
          <a:solidFill>
            <a:srgbClr val="E2EAF6"/>
          </a:solidFill>
          <a:ln/>
        </p:spPr>
        <p:txBody>
          <a:bodyPr/>
          <a:p/>
        </p:txBody>
      </p:sp>
      <p:sp>
        <p:nvSpPr>
          <p:cNvPr id="22" name="Text 19"/>
          <p:cNvSpPr txBox="1"/>
          <p:nvPr/>
        </p:nvSpPr>
        <p:spPr>
          <a:xfrm>
            <a:off x="1941960" y="3174722"/>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promotion</a:t>
            </a:r>
            <a:endParaRPr lang="en-US" sz="1200" dirty="0"/>
          </a:p>
        </p:txBody>
      </p:sp>
      <p:sp>
        <p:nvSpPr>
          <p:cNvPr id="23" name="Shape 20"/>
          <p:cNvSpPr/>
          <p:nvPr/>
        </p:nvSpPr>
        <p:spPr>
          <a:xfrm>
            <a:off x="2917454" y="3123923"/>
            <a:ext cx="818038" cy="299633"/>
          </a:xfrm>
          <a:prstGeom prst="roundRect">
            <a:avLst>
              <a:gd name="adj" fmla="val 21192"/>
            </a:avLst>
          </a:prstGeom>
          <a:solidFill>
            <a:srgbClr val="E2EAF6"/>
          </a:solidFill>
          <a:ln/>
        </p:spPr>
        <p:txBody>
          <a:bodyPr/>
          <a:p/>
        </p:txBody>
      </p:sp>
      <p:sp>
        <p:nvSpPr>
          <p:cNvPr id="24" name="Text 21"/>
          <p:cNvSpPr txBox="1"/>
          <p:nvPr/>
        </p:nvSpPr>
        <p:spPr>
          <a:xfrm>
            <a:off x="3006352" y="317472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booking</a:t>
            </a:r>
            <a:endParaRPr lang="en-US" sz="1200" dirty="0"/>
          </a:p>
        </p:txBody>
      </p:sp>
      <p:sp>
        <p:nvSpPr>
          <p:cNvPr id="25" name="Shape 22"/>
          <p:cNvSpPr/>
          <p:nvPr/>
        </p:nvSpPr>
        <p:spPr>
          <a:xfrm>
            <a:off x="971526" y="3487055"/>
            <a:ext cx="909416" cy="299633"/>
          </a:xfrm>
          <a:prstGeom prst="roundRect">
            <a:avLst>
              <a:gd name="adj" fmla="val 21192"/>
            </a:avLst>
          </a:prstGeom>
          <a:solidFill>
            <a:srgbClr val="E2EAF6"/>
          </a:solidFill>
          <a:ln/>
        </p:spPr>
        <p:txBody>
          <a:bodyPr/>
          <a:p/>
        </p:txBody>
      </p:sp>
      <p:sp>
        <p:nvSpPr>
          <p:cNvPr id="26" name="Text 23"/>
          <p:cNvSpPr txBox="1"/>
          <p:nvPr/>
        </p:nvSpPr>
        <p:spPr>
          <a:xfrm>
            <a:off x="1060423" y="3537854"/>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dispatch</a:t>
            </a:r>
            <a:endParaRPr lang="en-US" sz="1200" dirty="0"/>
          </a:p>
        </p:txBody>
      </p:sp>
      <p:sp>
        <p:nvSpPr>
          <p:cNvPr id="27" name="Shape 24"/>
          <p:cNvSpPr/>
          <p:nvPr/>
        </p:nvSpPr>
        <p:spPr>
          <a:xfrm>
            <a:off x="1944440" y="3487055"/>
            <a:ext cx="909416" cy="299633"/>
          </a:xfrm>
          <a:prstGeom prst="roundRect">
            <a:avLst>
              <a:gd name="adj" fmla="val 21192"/>
            </a:avLst>
          </a:prstGeom>
          <a:solidFill>
            <a:srgbClr val="E2EAF6"/>
          </a:solidFill>
          <a:ln/>
        </p:spPr>
        <p:txBody>
          <a:bodyPr/>
          <a:p/>
        </p:txBody>
      </p:sp>
      <p:sp>
        <p:nvSpPr>
          <p:cNvPr id="28" name="Text 25"/>
          <p:cNvSpPr txBox="1"/>
          <p:nvPr/>
        </p:nvSpPr>
        <p:spPr>
          <a:xfrm>
            <a:off x="2033338" y="3537854"/>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location</a:t>
            </a:r>
            <a:endParaRPr lang="en-US" sz="1200" dirty="0"/>
          </a:p>
        </p:txBody>
      </p:sp>
      <p:sp>
        <p:nvSpPr>
          <p:cNvPr id="29" name="Shape 26"/>
          <p:cNvSpPr/>
          <p:nvPr/>
        </p:nvSpPr>
        <p:spPr>
          <a:xfrm>
            <a:off x="2917355" y="3487055"/>
            <a:ext cx="818038" cy="299633"/>
          </a:xfrm>
          <a:prstGeom prst="roundRect">
            <a:avLst>
              <a:gd name="adj" fmla="val 21192"/>
            </a:avLst>
          </a:prstGeom>
          <a:solidFill>
            <a:srgbClr val="E2EAF6"/>
          </a:solidFill>
          <a:ln/>
        </p:spPr>
        <p:txBody>
          <a:bodyPr/>
          <a:p/>
        </p:txBody>
      </p:sp>
      <p:sp>
        <p:nvSpPr>
          <p:cNvPr id="30" name="Text 27"/>
          <p:cNvSpPr txBox="1"/>
          <p:nvPr/>
        </p:nvSpPr>
        <p:spPr>
          <a:xfrm>
            <a:off x="3006253" y="3537854"/>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payment</a:t>
            </a:r>
            <a:endParaRPr lang="en-US" sz="1200" dirty="0"/>
          </a:p>
        </p:txBody>
      </p:sp>
      <p:sp>
        <p:nvSpPr>
          <p:cNvPr id="31" name="Shape 28"/>
          <p:cNvSpPr/>
          <p:nvPr/>
        </p:nvSpPr>
        <p:spPr>
          <a:xfrm>
            <a:off x="971526" y="3850187"/>
            <a:ext cx="818038" cy="299633"/>
          </a:xfrm>
          <a:prstGeom prst="roundRect">
            <a:avLst>
              <a:gd name="adj" fmla="val 21192"/>
            </a:avLst>
          </a:prstGeom>
          <a:solidFill>
            <a:srgbClr val="E2EAF6"/>
          </a:solidFill>
          <a:ln/>
        </p:spPr>
        <p:txBody>
          <a:bodyPr/>
          <a:p/>
        </p:txBody>
      </p:sp>
      <p:sp>
        <p:nvSpPr>
          <p:cNvPr id="32" name="Text 29"/>
          <p:cNvSpPr txBox="1"/>
          <p:nvPr/>
        </p:nvSpPr>
        <p:spPr>
          <a:xfrm>
            <a:off x="1060423" y="3900985"/>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invoice</a:t>
            </a:r>
            <a:endParaRPr lang="en-US" sz="1200" dirty="0"/>
          </a:p>
        </p:txBody>
      </p:sp>
      <p:sp>
        <p:nvSpPr>
          <p:cNvPr id="33" name="Shape 30"/>
          <p:cNvSpPr/>
          <p:nvPr/>
        </p:nvSpPr>
        <p:spPr>
          <a:xfrm>
            <a:off x="1853062" y="3850187"/>
            <a:ext cx="1275227" cy="299633"/>
          </a:xfrm>
          <a:prstGeom prst="roundRect">
            <a:avLst>
              <a:gd name="adj" fmla="val 21192"/>
            </a:avLst>
          </a:prstGeom>
          <a:solidFill>
            <a:srgbClr val="E2EAF6"/>
          </a:solidFill>
          <a:ln/>
        </p:spPr>
        <p:txBody>
          <a:bodyPr/>
          <a:p/>
        </p:txBody>
      </p:sp>
      <p:sp>
        <p:nvSpPr>
          <p:cNvPr id="34" name="Text 31"/>
          <p:cNvSpPr txBox="1"/>
          <p:nvPr/>
        </p:nvSpPr>
        <p:spPr>
          <a:xfrm>
            <a:off x="1941960" y="3900985"/>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notification</a:t>
            </a:r>
            <a:endParaRPr lang="en-US" sz="1200" dirty="0"/>
          </a:p>
        </p:txBody>
      </p:sp>
      <p:sp>
        <p:nvSpPr>
          <p:cNvPr id="35" name="Shape 32"/>
          <p:cNvSpPr/>
          <p:nvPr/>
        </p:nvSpPr>
        <p:spPr>
          <a:xfrm>
            <a:off x="971526" y="4213318"/>
            <a:ext cx="1000894" cy="299633"/>
          </a:xfrm>
          <a:prstGeom prst="roundRect">
            <a:avLst>
              <a:gd name="adj" fmla="val 21192"/>
            </a:avLst>
          </a:prstGeom>
          <a:solidFill>
            <a:srgbClr val="E2EAF6"/>
          </a:solidFill>
          <a:ln/>
        </p:spPr>
        <p:txBody>
          <a:bodyPr/>
          <a:p/>
        </p:txBody>
      </p:sp>
      <p:sp>
        <p:nvSpPr>
          <p:cNvPr id="36" name="Text 33"/>
          <p:cNvSpPr txBox="1"/>
          <p:nvPr/>
        </p:nvSpPr>
        <p:spPr>
          <a:xfrm>
            <a:off x="1060423" y="4264117"/>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complaint</a:t>
            </a:r>
            <a:endParaRPr lang="en-US" sz="1200" dirty="0"/>
          </a:p>
        </p:txBody>
      </p:sp>
      <p:sp>
        <p:nvSpPr>
          <p:cNvPr id="37" name="Shape 34"/>
          <p:cNvSpPr/>
          <p:nvPr/>
        </p:nvSpPr>
        <p:spPr>
          <a:xfrm>
            <a:off x="2035918" y="4213318"/>
            <a:ext cx="543606" cy="299633"/>
          </a:xfrm>
          <a:prstGeom prst="roundRect">
            <a:avLst>
              <a:gd name="adj" fmla="val 21192"/>
            </a:avLst>
          </a:prstGeom>
          <a:solidFill>
            <a:srgbClr val="E2EAF6"/>
          </a:solidFill>
          <a:ln/>
        </p:spPr>
        <p:txBody>
          <a:bodyPr/>
          <a:p/>
        </p:txBody>
      </p:sp>
      <p:sp>
        <p:nvSpPr>
          <p:cNvPr id="38" name="Text 35"/>
          <p:cNvSpPr txBox="1"/>
          <p:nvPr/>
        </p:nvSpPr>
        <p:spPr>
          <a:xfrm>
            <a:off x="2124816" y="4264117"/>
            <a:ext cx="44200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chat</a:t>
            </a:r>
            <a:endParaRPr lang="en-US" sz="1200" dirty="0"/>
          </a:p>
        </p:txBody>
      </p:sp>
      <p:sp>
        <p:nvSpPr>
          <p:cNvPr id="39" name="Shape 36"/>
          <p:cNvSpPr/>
          <p:nvPr/>
        </p:nvSpPr>
        <p:spPr>
          <a:xfrm>
            <a:off x="2643022" y="4213318"/>
            <a:ext cx="726561" cy="299633"/>
          </a:xfrm>
          <a:prstGeom prst="roundRect">
            <a:avLst>
              <a:gd name="adj" fmla="val 21192"/>
            </a:avLst>
          </a:prstGeom>
          <a:solidFill>
            <a:srgbClr val="E2EAF6"/>
          </a:solidFill>
          <a:ln/>
        </p:spPr>
        <p:txBody>
          <a:bodyPr/>
          <a:p/>
        </p:txBody>
      </p:sp>
      <p:sp>
        <p:nvSpPr>
          <p:cNvPr id="40" name="Text 37"/>
          <p:cNvSpPr txBox="1"/>
          <p:nvPr/>
        </p:nvSpPr>
        <p:spPr>
          <a:xfrm>
            <a:off x="2731920" y="4264117"/>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rating</a:t>
            </a:r>
            <a:endParaRPr lang="en-US" sz="1200" dirty="0"/>
          </a:p>
        </p:txBody>
      </p:sp>
      <p:sp>
        <p:nvSpPr>
          <p:cNvPr id="41" name="Shape 38"/>
          <p:cNvSpPr/>
          <p:nvPr/>
        </p:nvSpPr>
        <p:spPr>
          <a:xfrm>
            <a:off x="971526" y="4576450"/>
            <a:ext cx="635083" cy="299633"/>
          </a:xfrm>
          <a:prstGeom prst="roundRect">
            <a:avLst>
              <a:gd name="adj" fmla="val 21192"/>
            </a:avLst>
          </a:prstGeom>
          <a:solidFill>
            <a:srgbClr val="E2EAF6"/>
          </a:solidFill>
          <a:ln/>
        </p:spPr>
        <p:txBody>
          <a:bodyPr/>
          <a:p/>
        </p:txBody>
      </p:sp>
      <p:sp>
        <p:nvSpPr>
          <p:cNvPr id="42" name="Text 39"/>
          <p:cNvSpPr txBox="1"/>
          <p:nvPr/>
        </p:nvSpPr>
        <p:spPr>
          <a:xfrm>
            <a:off x="1060423" y="4627248"/>
            <a:ext cx="53348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admin</a:t>
            </a:r>
            <a:endParaRPr lang="en-US" sz="1200" dirty="0"/>
          </a:p>
        </p:txBody>
      </p:sp>
      <p:sp>
        <p:nvSpPr>
          <p:cNvPr id="43" name="Shape 40"/>
          <p:cNvSpPr/>
          <p:nvPr/>
        </p:nvSpPr>
        <p:spPr>
          <a:xfrm>
            <a:off x="1670107" y="4576450"/>
            <a:ext cx="726561" cy="299633"/>
          </a:xfrm>
          <a:prstGeom prst="roundRect">
            <a:avLst>
              <a:gd name="adj" fmla="val 21192"/>
            </a:avLst>
          </a:prstGeom>
          <a:solidFill>
            <a:srgbClr val="E2EAF6"/>
          </a:solidFill>
          <a:ln/>
        </p:spPr>
        <p:txBody>
          <a:bodyPr/>
          <a:p/>
        </p:txBody>
      </p:sp>
      <p:sp>
        <p:nvSpPr>
          <p:cNvPr id="44" name="Text 41"/>
          <p:cNvSpPr txBox="1"/>
          <p:nvPr/>
        </p:nvSpPr>
        <p:spPr>
          <a:xfrm>
            <a:off x="1759005" y="4627248"/>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outbox</a:t>
            </a:r>
            <a:endParaRPr lang="en-US" sz="1200" dirty="0"/>
          </a:p>
        </p:txBody>
      </p:sp>
      <p:sp>
        <p:nvSpPr>
          <p:cNvPr id="45" name="Shape 42"/>
          <p:cNvSpPr/>
          <p:nvPr/>
        </p:nvSpPr>
        <p:spPr>
          <a:xfrm>
            <a:off x="4146942" y="1775376"/>
            <a:ext cx="3897810" cy="3259453"/>
          </a:xfrm>
          <a:prstGeom prst="roundRect">
            <a:avLst>
              <a:gd name="adj" fmla="val 3117"/>
            </a:avLst>
          </a:prstGeom>
          <a:solidFill>
            <a:srgbClr val="FCFDFF"/>
          </a:solidFill>
          <a:ln w="6350">
            <a:solidFill>
              <a:srgbClr val="D5DEEC"/>
            </a:solidFill>
            <a:prstDash val="solid"/>
          </a:ln>
        </p:spPr>
        <p:txBody>
          <a:bodyPr/>
          <a:p/>
        </p:txBody>
      </p:sp>
      <p:sp>
        <p:nvSpPr>
          <p:cNvPr id="46" name="Shape 43"/>
          <p:cNvSpPr/>
          <p:nvPr/>
        </p:nvSpPr>
        <p:spPr>
          <a:xfrm>
            <a:off x="4146942" y="1775376"/>
            <a:ext cx="3897810" cy="50799"/>
          </a:xfrm>
          <a:prstGeom prst="roundRect">
            <a:avLst>
              <a:gd name="adj" fmla="val 50000"/>
            </a:avLst>
          </a:prstGeom>
          <a:solidFill>
            <a:srgbClr val="C0352B"/>
          </a:solidFill>
          <a:ln/>
        </p:spPr>
        <p:txBody>
          <a:bodyPr/>
          <a:p/>
        </p:txBody>
      </p:sp>
      <p:sp>
        <p:nvSpPr>
          <p:cNvPr id="47" name="Shape 44"/>
          <p:cNvSpPr/>
          <p:nvPr/>
        </p:nvSpPr>
        <p:spPr>
          <a:xfrm>
            <a:off x="4305688" y="1978571"/>
            <a:ext cx="330192" cy="330192"/>
          </a:xfrm>
          <a:prstGeom prst="ellipse">
            <a:avLst/>
          </a:prstGeom>
          <a:solidFill>
            <a:srgbClr val="FBE4E2"/>
          </a:solidFill>
          <a:ln/>
        </p:spPr>
        <p:txBody>
          <a:bodyPr/>
          <a:p/>
        </p:txBody>
      </p:sp>
      <p:pic>
        <p:nvPicPr>
          <p:cNvPr id="48" name="Image 1" descr="preencoded.png">    </p:cNvPr>
          <p:cNvPicPr>
            <a:picLocks noChangeAspect="1"/>
          </p:cNvPicPr>
          <p:nvPr/>
        </p:nvPicPr>
        <p:blipFill>
          <a:blip r:embed="rId2"/>
          <a:stretch>
            <a:fillRect/>
          </a:stretch>
        </p:blipFill>
        <p:spPr>
          <a:xfrm>
            <a:off x="4381887" y="2054769"/>
            <a:ext cx="177796" cy="177796"/>
          </a:xfrm>
          <a:prstGeom prst="rect">
            <a:avLst/>
          </a:prstGeom>
        </p:spPr>
      </p:pic>
      <p:sp>
        <p:nvSpPr>
          <p:cNvPr id="49" name="Text 45"/>
          <p:cNvSpPr txBox="1"/>
          <p:nvPr/>
        </p:nvSpPr>
        <p:spPr>
          <a:xfrm>
            <a:off x="4724778" y="2029370"/>
            <a:ext cx="551543"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Redis</a:t>
            </a:r>
            <a:endParaRPr lang="en-US" sz="1500" dirty="0"/>
          </a:p>
        </p:txBody>
      </p:sp>
      <p:sp>
        <p:nvSpPr>
          <p:cNvPr id="50" name="Text 46"/>
          <p:cNvSpPr txBox="1"/>
          <p:nvPr/>
        </p:nvSpPr>
        <p:spPr>
          <a:xfrm>
            <a:off x="4305688" y="2397660"/>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auth:otp:session:{phone}</a:t>
            </a:r>
            <a:endParaRPr lang="en-US" sz="1200" dirty="0"/>
          </a:p>
        </p:txBody>
      </p:sp>
      <p:sp>
        <p:nvSpPr>
          <p:cNvPr id="51" name="Text 47"/>
          <p:cNvSpPr txBox="1"/>
          <p:nvPr/>
        </p:nvSpPr>
        <p:spPr>
          <a:xfrm>
            <a:off x="4305688" y="2641435"/>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auth:refresh:{sha256}</a:t>
            </a:r>
            <a:endParaRPr lang="en-US" sz="1200" dirty="0"/>
          </a:p>
        </p:txBody>
      </p:sp>
      <p:sp>
        <p:nvSpPr>
          <p:cNvPr id="52" name="Text 48"/>
          <p:cNvSpPr txBox="1"/>
          <p:nvPr/>
        </p:nvSpPr>
        <p:spPr>
          <a:xfrm>
            <a:off x="4305688" y="2885209"/>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dispatch:offer:booking:{id}</a:t>
            </a:r>
            <a:endParaRPr lang="en-US" sz="1200" dirty="0"/>
          </a:p>
        </p:txBody>
      </p:sp>
      <p:sp>
        <p:nvSpPr>
          <p:cNvPr id="53" name="Text 49"/>
          <p:cNvSpPr txBox="1"/>
          <p:nvPr/>
        </p:nvSpPr>
        <p:spPr>
          <a:xfrm>
            <a:off x="4305688" y="3128983"/>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dispatch:lock:provider:{id}</a:t>
            </a:r>
            <a:endParaRPr lang="en-US" sz="1200" dirty="0"/>
          </a:p>
        </p:txBody>
      </p:sp>
      <p:sp>
        <p:nvSpPr>
          <p:cNvPr id="54" name="Text 50"/>
          <p:cNvSpPr txBox="1"/>
          <p:nvPr/>
        </p:nvSpPr>
        <p:spPr>
          <a:xfrm>
            <a:off x="4305688" y="3372758"/>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location:latest:{providerId}</a:t>
            </a:r>
            <a:endParaRPr lang="en-US" sz="1200" dirty="0"/>
          </a:p>
        </p:txBody>
      </p:sp>
      <p:sp>
        <p:nvSpPr>
          <p:cNvPr id="55" name="Text 51"/>
          <p:cNvSpPr txBox="1"/>
          <p:nvPr/>
        </p:nvSpPr>
        <p:spPr>
          <a:xfrm>
            <a:off x="4305688" y="3616532"/>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payment:idem:{key}</a:t>
            </a:r>
            <a:endParaRPr lang="en-US" sz="1200" dirty="0"/>
          </a:p>
        </p:txBody>
      </p:sp>
      <p:sp>
        <p:nvSpPr>
          <p:cNvPr id="56" name="Text 52"/>
          <p:cNvSpPr txBox="1"/>
          <p:nvPr/>
        </p:nvSpPr>
        <p:spPr>
          <a:xfrm>
            <a:off x="4305688" y="3860307"/>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gw:ratelimit:user:{sub}</a:t>
            </a:r>
            <a:endParaRPr lang="en-US" sz="1200" dirty="0"/>
          </a:p>
        </p:txBody>
      </p:sp>
      <p:sp>
        <p:nvSpPr>
          <p:cNvPr id="57" name="Shape 53"/>
          <p:cNvSpPr/>
          <p:nvPr/>
        </p:nvSpPr>
        <p:spPr>
          <a:xfrm>
            <a:off x="8197149" y="1775376"/>
            <a:ext cx="3181767" cy="3259453"/>
          </a:xfrm>
          <a:prstGeom prst="roundRect">
            <a:avLst>
              <a:gd name="adj" fmla="val 3193"/>
            </a:avLst>
          </a:prstGeom>
          <a:solidFill>
            <a:srgbClr val="FCFDFF"/>
          </a:solidFill>
          <a:ln w="6350">
            <a:solidFill>
              <a:srgbClr val="D5DEEC"/>
            </a:solidFill>
            <a:prstDash val="solid"/>
          </a:ln>
        </p:spPr>
        <p:txBody>
          <a:bodyPr/>
          <a:p/>
        </p:txBody>
      </p:sp>
      <p:sp>
        <p:nvSpPr>
          <p:cNvPr id="58" name="Shape 54"/>
          <p:cNvSpPr/>
          <p:nvPr/>
        </p:nvSpPr>
        <p:spPr>
          <a:xfrm>
            <a:off x="8197149" y="1775376"/>
            <a:ext cx="3181767" cy="50799"/>
          </a:xfrm>
          <a:prstGeom prst="roundRect">
            <a:avLst>
              <a:gd name="adj" fmla="val 50000"/>
            </a:avLst>
          </a:prstGeom>
          <a:solidFill>
            <a:srgbClr val="4B4B9A"/>
          </a:solidFill>
          <a:ln/>
        </p:spPr>
        <p:txBody>
          <a:bodyPr/>
          <a:p/>
        </p:txBody>
      </p:sp>
      <p:sp>
        <p:nvSpPr>
          <p:cNvPr id="59" name="Shape 55"/>
          <p:cNvSpPr/>
          <p:nvPr/>
        </p:nvSpPr>
        <p:spPr>
          <a:xfrm>
            <a:off x="8355895" y="1978571"/>
            <a:ext cx="330192" cy="330192"/>
          </a:xfrm>
          <a:prstGeom prst="ellipse">
            <a:avLst/>
          </a:prstGeom>
          <a:solidFill>
            <a:srgbClr val="E7E7F6"/>
          </a:solidFill>
          <a:ln/>
        </p:spPr>
        <p:txBody>
          <a:bodyPr/>
          <a:p/>
        </p:txBody>
      </p:sp>
      <p:pic>
        <p:nvPicPr>
          <p:cNvPr id="60" name="Image 2" descr="preencoded.png">    </p:cNvPr>
          <p:cNvPicPr>
            <a:picLocks noChangeAspect="1"/>
          </p:cNvPicPr>
          <p:nvPr/>
        </p:nvPicPr>
        <p:blipFill>
          <a:blip r:embed="rId3"/>
          <a:stretch>
            <a:fillRect/>
          </a:stretch>
        </p:blipFill>
        <p:spPr>
          <a:xfrm>
            <a:off x="8432093" y="2054769"/>
            <a:ext cx="177796" cy="177796"/>
          </a:xfrm>
          <a:prstGeom prst="rect">
            <a:avLst/>
          </a:prstGeom>
        </p:spPr>
      </p:pic>
      <p:sp>
        <p:nvSpPr>
          <p:cNvPr id="61" name="Text 56"/>
          <p:cNvSpPr txBox="1"/>
          <p:nvPr/>
        </p:nvSpPr>
        <p:spPr>
          <a:xfrm>
            <a:off x="8774985" y="2029370"/>
            <a:ext cx="565632"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Kafka</a:t>
            </a:r>
            <a:endParaRPr lang="en-US" sz="1500" dirty="0"/>
          </a:p>
        </p:txBody>
      </p:sp>
      <p:sp>
        <p:nvSpPr>
          <p:cNvPr id="62" name="Shape 57"/>
          <p:cNvSpPr/>
          <p:nvPr/>
        </p:nvSpPr>
        <p:spPr>
          <a:xfrm>
            <a:off x="8355895" y="2397660"/>
            <a:ext cx="1270762" cy="299633"/>
          </a:xfrm>
          <a:prstGeom prst="roundRect">
            <a:avLst>
              <a:gd name="adj" fmla="val 21192"/>
            </a:avLst>
          </a:prstGeom>
          <a:solidFill>
            <a:srgbClr val="E7E7F6"/>
          </a:solidFill>
          <a:ln/>
        </p:spPr>
        <p:txBody>
          <a:bodyPr/>
          <a:p/>
        </p:txBody>
      </p:sp>
      <p:sp>
        <p:nvSpPr>
          <p:cNvPr id="63" name="Text 58"/>
          <p:cNvSpPr txBox="1"/>
          <p:nvPr/>
        </p:nvSpPr>
        <p:spPr>
          <a:xfrm>
            <a:off x="8444793" y="2448459"/>
            <a:ext cx="122412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BookingCreated</a:t>
            </a:r>
            <a:endParaRPr lang="en-US" sz="1200" dirty="0"/>
          </a:p>
        </p:txBody>
      </p:sp>
      <p:sp>
        <p:nvSpPr>
          <p:cNvPr id="64" name="Shape 59"/>
          <p:cNvSpPr/>
          <p:nvPr/>
        </p:nvSpPr>
        <p:spPr>
          <a:xfrm>
            <a:off x="9690155" y="2397660"/>
            <a:ext cx="1380694" cy="299633"/>
          </a:xfrm>
          <a:prstGeom prst="roundRect">
            <a:avLst>
              <a:gd name="adj" fmla="val 21192"/>
            </a:avLst>
          </a:prstGeom>
          <a:solidFill>
            <a:srgbClr val="E7E7F6"/>
          </a:solidFill>
          <a:ln/>
        </p:spPr>
        <p:txBody>
          <a:bodyPr/>
          <a:p/>
        </p:txBody>
      </p:sp>
      <p:sp>
        <p:nvSpPr>
          <p:cNvPr id="65" name="Text 60"/>
          <p:cNvSpPr txBox="1"/>
          <p:nvPr/>
        </p:nvSpPr>
        <p:spPr>
          <a:xfrm>
            <a:off x="9779053" y="2448459"/>
            <a:ext cx="134724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ProviderAccepted</a:t>
            </a:r>
            <a:endParaRPr lang="en-US" sz="1200" dirty="0"/>
          </a:p>
        </p:txBody>
      </p:sp>
      <p:sp>
        <p:nvSpPr>
          <p:cNvPr id="66" name="Shape 61"/>
          <p:cNvSpPr/>
          <p:nvPr/>
        </p:nvSpPr>
        <p:spPr>
          <a:xfrm>
            <a:off x="8355895" y="2760792"/>
            <a:ext cx="1346762" cy="299633"/>
          </a:xfrm>
          <a:prstGeom prst="roundRect">
            <a:avLst>
              <a:gd name="adj" fmla="val 21192"/>
            </a:avLst>
          </a:prstGeom>
          <a:solidFill>
            <a:srgbClr val="E7E7F6"/>
          </a:solidFill>
          <a:ln/>
        </p:spPr>
        <p:txBody>
          <a:bodyPr/>
          <a:p/>
        </p:txBody>
      </p:sp>
      <p:sp>
        <p:nvSpPr>
          <p:cNvPr id="67" name="Text 62"/>
          <p:cNvSpPr txBox="1"/>
          <p:nvPr/>
        </p:nvSpPr>
        <p:spPr>
          <a:xfrm>
            <a:off x="8444793" y="2811591"/>
            <a:ext cx="130924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ProviderRejected</a:t>
            </a:r>
            <a:endParaRPr lang="en-US" sz="1200" dirty="0"/>
          </a:p>
        </p:txBody>
      </p:sp>
      <p:sp>
        <p:nvSpPr>
          <p:cNvPr id="68" name="Shape 63"/>
          <p:cNvSpPr/>
          <p:nvPr/>
        </p:nvSpPr>
        <p:spPr>
          <a:xfrm>
            <a:off x="9766155" y="2760792"/>
            <a:ext cx="914873" cy="299633"/>
          </a:xfrm>
          <a:prstGeom prst="roundRect">
            <a:avLst>
              <a:gd name="adj" fmla="val 21192"/>
            </a:avLst>
          </a:prstGeom>
          <a:solidFill>
            <a:srgbClr val="E7E7F6"/>
          </a:solidFill>
          <a:ln/>
        </p:spPr>
        <p:txBody>
          <a:bodyPr/>
          <a:p/>
        </p:txBody>
      </p:sp>
      <p:sp>
        <p:nvSpPr>
          <p:cNvPr id="69" name="Text 64"/>
          <p:cNvSpPr txBox="1"/>
          <p:nvPr/>
        </p:nvSpPr>
        <p:spPr>
          <a:xfrm>
            <a:off x="9855053" y="2811591"/>
            <a:ext cx="825527"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JobStarted</a:t>
            </a:r>
            <a:endParaRPr lang="en-US" sz="1200" dirty="0"/>
          </a:p>
        </p:txBody>
      </p:sp>
      <p:sp>
        <p:nvSpPr>
          <p:cNvPr id="70" name="Shape 65"/>
          <p:cNvSpPr/>
          <p:nvPr/>
        </p:nvSpPr>
        <p:spPr>
          <a:xfrm>
            <a:off x="8355895" y="3123923"/>
            <a:ext cx="1160533" cy="299633"/>
          </a:xfrm>
          <a:prstGeom prst="roundRect">
            <a:avLst>
              <a:gd name="adj" fmla="val 21192"/>
            </a:avLst>
          </a:prstGeom>
          <a:solidFill>
            <a:srgbClr val="E7E7F6"/>
          </a:solidFill>
          <a:ln/>
        </p:spPr>
        <p:txBody>
          <a:bodyPr/>
          <a:p/>
        </p:txBody>
      </p:sp>
      <p:sp>
        <p:nvSpPr>
          <p:cNvPr id="71" name="Text 66"/>
          <p:cNvSpPr txBox="1"/>
          <p:nvPr/>
        </p:nvSpPr>
        <p:spPr>
          <a:xfrm>
            <a:off x="8444793" y="3174722"/>
            <a:ext cx="110066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JobCompleted</a:t>
            </a:r>
            <a:endParaRPr lang="en-US" sz="1200" dirty="0"/>
          </a:p>
        </p:txBody>
      </p:sp>
      <p:sp>
        <p:nvSpPr>
          <p:cNvPr id="72" name="Shape 67"/>
          <p:cNvSpPr/>
          <p:nvPr/>
        </p:nvSpPr>
        <p:spPr>
          <a:xfrm>
            <a:off x="9579926" y="3123923"/>
            <a:ext cx="1516223" cy="299633"/>
          </a:xfrm>
          <a:prstGeom prst="roundRect">
            <a:avLst>
              <a:gd name="adj" fmla="val 21192"/>
            </a:avLst>
          </a:prstGeom>
          <a:solidFill>
            <a:srgbClr val="E7E7F6"/>
          </a:solidFill>
          <a:ln/>
        </p:spPr>
        <p:txBody>
          <a:bodyPr/>
          <a:p/>
        </p:txBody>
      </p:sp>
      <p:sp>
        <p:nvSpPr>
          <p:cNvPr id="73" name="Text 68"/>
          <p:cNvSpPr txBox="1"/>
          <p:nvPr/>
        </p:nvSpPr>
        <p:spPr>
          <a:xfrm>
            <a:off x="9668824" y="3174722"/>
            <a:ext cx="149903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PaymentCompleted</a:t>
            </a:r>
            <a:endParaRPr lang="en-US" sz="1200" dirty="0"/>
          </a:p>
        </p:txBody>
      </p:sp>
      <p:sp>
        <p:nvSpPr>
          <p:cNvPr id="74" name="Shape 69"/>
          <p:cNvSpPr/>
          <p:nvPr/>
        </p:nvSpPr>
        <p:spPr>
          <a:xfrm>
            <a:off x="8355895" y="3487055"/>
            <a:ext cx="1406291" cy="299633"/>
          </a:xfrm>
          <a:prstGeom prst="roundRect">
            <a:avLst>
              <a:gd name="adj" fmla="val 21192"/>
            </a:avLst>
          </a:prstGeom>
          <a:solidFill>
            <a:srgbClr val="E7E7F6"/>
          </a:solidFill>
          <a:ln/>
        </p:spPr>
        <p:txBody>
          <a:bodyPr/>
          <a:p/>
        </p:txBody>
      </p:sp>
      <p:sp>
        <p:nvSpPr>
          <p:cNvPr id="75" name="Text 70"/>
          <p:cNvSpPr txBox="1"/>
          <p:nvPr/>
        </p:nvSpPr>
        <p:spPr>
          <a:xfrm>
            <a:off x="8444793" y="3537854"/>
            <a:ext cx="13759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BookingCancelled</a:t>
            </a:r>
            <a:endParaRPr lang="en-US" sz="1200" dirty="0"/>
          </a:p>
        </p:txBody>
      </p:sp>
      <p:sp>
        <p:nvSpPr>
          <p:cNvPr id="76" name="Shape 71"/>
          <p:cNvSpPr/>
          <p:nvPr/>
        </p:nvSpPr>
        <p:spPr>
          <a:xfrm>
            <a:off x="9825685" y="3487055"/>
            <a:ext cx="1363628" cy="299633"/>
          </a:xfrm>
          <a:prstGeom prst="roundRect">
            <a:avLst>
              <a:gd name="adj" fmla="val 21192"/>
            </a:avLst>
          </a:prstGeom>
          <a:solidFill>
            <a:srgbClr val="E7E7F6"/>
          </a:solidFill>
          <a:ln/>
        </p:spPr>
        <p:txBody>
          <a:bodyPr/>
          <a:p/>
        </p:txBody>
      </p:sp>
      <p:sp>
        <p:nvSpPr>
          <p:cNvPr id="77" name="Text 72"/>
          <p:cNvSpPr txBox="1"/>
          <p:nvPr/>
        </p:nvSpPr>
        <p:spPr>
          <a:xfrm>
            <a:off x="9914583" y="3537854"/>
            <a:ext cx="132813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ReviewSubmitted</a:t>
            </a:r>
            <a:endParaRPr lang="en-US" sz="1200" dirty="0"/>
          </a:p>
        </p:txBody>
      </p:sp>
      <p:sp>
        <p:nvSpPr>
          <p:cNvPr id="78" name="Shape 73"/>
          <p:cNvSpPr/>
          <p:nvPr/>
        </p:nvSpPr>
        <p:spPr>
          <a:xfrm>
            <a:off x="8355895" y="3850187"/>
            <a:ext cx="1406093" cy="299633"/>
          </a:xfrm>
          <a:prstGeom prst="roundRect">
            <a:avLst>
              <a:gd name="adj" fmla="val 21192"/>
            </a:avLst>
          </a:prstGeom>
          <a:solidFill>
            <a:srgbClr val="E7E7F6"/>
          </a:solidFill>
          <a:ln/>
        </p:spPr>
        <p:txBody>
          <a:bodyPr/>
          <a:p/>
        </p:txBody>
      </p:sp>
      <p:sp>
        <p:nvSpPr>
          <p:cNvPr id="79" name="Text 74"/>
          <p:cNvSpPr txBox="1"/>
          <p:nvPr/>
        </p:nvSpPr>
        <p:spPr>
          <a:xfrm>
            <a:off x="8444793" y="3900985"/>
            <a:ext cx="137569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ComplaintCreated</a:t>
            </a:r>
            <a:endParaRPr lang="en-US" sz="1200" dirty="0"/>
          </a:p>
        </p:txBody>
      </p:sp>
      <p:sp>
        <p:nvSpPr>
          <p:cNvPr id="80" name="Shape 75"/>
          <p:cNvSpPr/>
          <p:nvPr/>
        </p:nvSpPr>
        <p:spPr>
          <a:xfrm>
            <a:off x="9825486" y="3850187"/>
            <a:ext cx="783511" cy="299633"/>
          </a:xfrm>
          <a:prstGeom prst="roundRect">
            <a:avLst>
              <a:gd name="adj" fmla="val 21192"/>
            </a:avLst>
          </a:prstGeom>
          <a:solidFill>
            <a:srgbClr val="E7E7F6"/>
          </a:solidFill>
          <a:ln/>
        </p:spPr>
        <p:txBody>
          <a:bodyPr/>
          <a:p/>
        </p:txBody>
      </p:sp>
      <p:sp>
        <p:nvSpPr>
          <p:cNvPr id="81" name="Text 76"/>
          <p:cNvSpPr txBox="1"/>
          <p:nvPr/>
        </p:nvSpPr>
        <p:spPr>
          <a:xfrm>
            <a:off x="9914384" y="3900985"/>
            <a:ext cx="68191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+ 4 more</a:t>
            </a:r>
            <a:endParaRPr lang="en-US" sz="1200" dirty="0"/>
          </a:p>
        </p:txBody>
      </p:sp>
      <p:sp>
        <p:nvSpPr>
          <p:cNvPr id="82" name="Text 7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Data model</a:t>
            </a:r>
            <a:endParaRPr lang="en-US" sz="1200" dirty="0"/>
          </a:p>
        </p:txBody>
      </p:sp>
      <p:sp>
        <p:nvSpPr>
          <p:cNvPr id="83" name="Text 7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READINESS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happy path works end to end; a few edges are stand-ins</a:t>
            </a:r>
            <a:endParaRPr lang="en-US" sz="3000" dirty="0"/>
          </a:p>
        </p:txBody>
      </p:sp>
      <p:sp>
        <p:nvSpPr>
          <p:cNvPr id="4" name="Shape 2"/>
          <p:cNvSpPr/>
          <p:nvPr/>
        </p:nvSpPr>
        <p:spPr>
          <a:xfrm>
            <a:off x="812780" y="1775376"/>
            <a:ext cx="5181470" cy="2459571"/>
          </a:xfrm>
          <a:prstGeom prst="roundRect">
            <a:avLst>
              <a:gd name="adj" fmla="val 4131"/>
            </a:avLst>
          </a:prstGeom>
          <a:solidFill>
            <a:srgbClr val="FCFDFF"/>
          </a:solidFill>
          <a:ln w="6350">
            <a:solidFill>
              <a:srgbClr val="D5DEEC"/>
            </a:solidFill>
            <a:prstDash val="solid"/>
          </a:ln>
        </p:spPr>
        <p:txBody>
          <a:bodyPr/>
          <a:p/>
        </p:txBody>
      </p:sp>
      <p:sp>
        <p:nvSpPr>
          <p:cNvPr id="5" name="Shape 3"/>
          <p:cNvSpPr/>
          <p:nvPr/>
        </p:nvSpPr>
        <p:spPr>
          <a:xfrm>
            <a:off x="812780" y="1775376"/>
            <a:ext cx="5181470" cy="50799"/>
          </a:xfrm>
          <a:prstGeom prst="roundRect">
            <a:avLst>
              <a:gd name="adj" fmla="val 50000"/>
            </a:avLst>
          </a:prstGeom>
          <a:solidFill>
            <a:srgbClr val="2E7D4F"/>
          </a:solidFill>
          <a:ln/>
        </p:spPr>
        <p:txBody>
          <a:bodyPr/>
          <a:p/>
        </p:txBody>
      </p:sp>
      <p:sp>
        <p:nvSpPr>
          <p:cNvPr id="6" name="Shape 4"/>
          <p:cNvSpPr/>
          <p:nvPr/>
        </p:nvSpPr>
        <p:spPr>
          <a:xfrm>
            <a:off x="971526" y="1978571"/>
            <a:ext cx="330192" cy="330192"/>
          </a:xfrm>
          <a:prstGeom prst="ellipse">
            <a:avLst/>
          </a:prstGeom>
          <a:solidFill>
            <a:srgbClr val="E0F2E8"/>
          </a:solidFill>
          <a:ln/>
        </p:spPr>
        <p:txBody>
          <a:bodyPr/>
          <a:p/>
        </p:txBody>
      </p:sp>
      <p:pic>
        <p:nvPicPr>
          <p:cNvPr id="7" name="Image 0" descr="preencoded.png">    </p:cNvPr>
          <p:cNvPicPr>
            <a:picLocks noChangeAspect="1"/>
          </p:cNvPicPr>
          <p:nvPr/>
        </p:nvPicPr>
        <p:blipFill>
          <a:blip r:embed="rId1"/>
          <a:stretch>
            <a:fillRect/>
          </a:stretch>
        </p:blipFill>
        <p:spPr>
          <a:xfrm>
            <a:off x="1047724" y="2054769"/>
            <a:ext cx="177796" cy="177796"/>
          </a:xfrm>
          <a:prstGeom prst="rect">
            <a:avLst/>
          </a:prstGeom>
        </p:spPr>
      </p:pic>
      <p:sp>
        <p:nvSpPr>
          <p:cNvPr id="8" name="Text 5"/>
          <p:cNvSpPr txBox="1"/>
          <p:nvPr/>
        </p:nvSpPr>
        <p:spPr>
          <a:xfrm>
            <a:off x="1390615" y="2029370"/>
            <a:ext cx="1748508"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Works end to end</a:t>
            </a:r>
            <a:endParaRPr lang="en-US" sz="1500" dirty="0"/>
          </a:p>
        </p:txBody>
      </p:sp>
      <p:pic>
        <p:nvPicPr>
          <p:cNvPr id="9" name="Image 1" descr="preencoded.png">    </p:cNvPr>
          <p:cNvPicPr>
            <a:picLocks noChangeAspect="1"/>
          </p:cNvPicPr>
          <p:nvPr/>
        </p:nvPicPr>
        <p:blipFill>
          <a:blip r:embed="rId2"/>
          <a:stretch>
            <a:fillRect/>
          </a:stretch>
        </p:blipFill>
        <p:spPr>
          <a:xfrm>
            <a:off x="971526" y="2405201"/>
            <a:ext cx="190495" cy="190495"/>
          </a:xfrm>
          <a:prstGeom prst="rect">
            <a:avLst/>
          </a:prstGeom>
        </p:spPr>
      </p:pic>
      <p:sp>
        <p:nvSpPr>
          <p:cNvPr id="10" name="Text 6"/>
          <p:cNvSpPr txBox="1"/>
          <p:nvPr/>
        </p:nvSpPr>
        <p:spPr>
          <a:xfrm>
            <a:off x="1250919" y="2397660"/>
            <a:ext cx="283383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OTP, email, Google and Apple sign-in</a:t>
            </a:r>
            <a:endParaRPr lang="en-US" sz="1200" dirty="0"/>
          </a:p>
        </p:txBody>
      </p:sp>
      <p:pic>
        <p:nvPicPr>
          <p:cNvPr id="11" name="Image 2" descr="preencoded.png">    </p:cNvPr>
          <p:cNvPicPr>
            <a:picLocks noChangeAspect="1"/>
          </p:cNvPicPr>
          <p:nvPr/>
        </p:nvPicPr>
        <p:blipFill>
          <a:blip r:embed="rId3"/>
          <a:stretch>
            <a:fillRect/>
          </a:stretch>
        </p:blipFill>
        <p:spPr>
          <a:xfrm>
            <a:off x="971526" y="2699774"/>
            <a:ext cx="190495" cy="190495"/>
          </a:xfrm>
          <a:prstGeom prst="rect">
            <a:avLst/>
          </a:prstGeom>
        </p:spPr>
      </p:pic>
      <p:sp>
        <p:nvSpPr>
          <p:cNvPr id="12" name="Text 7"/>
          <p:cNvSpPr txBox="1"/>
          <p:nvPr/>
        </p:nvSpPr>
        <p:spPr>
          <a:xfrm>
            <a:off x="1250919" y="2692233"/>
            <a:ext cx="293162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Book, dispatch, accept, start, complete</a:t>
            </a:r>
            <a:endParaRPr lang="en-US" sz="1200" dirty="0"/>
          </a:p>
        </p:txBody>
      </p:sp>
      <p:pic>
        <p:nvPicPr>
          <p:cNvPr id="13" name="Image 3" descr="preencoded.png">    </p:cNvPr>
          <p:cNvPicPr>
            <a:picLocks noChangeAspect="1"/>
          </p:cNvPicPr>
          <p:nvPr/>
        </p:nvPicPr>
        <p:blipFill>
          <a:blip r:embed="rId4"/>
          <a:stretch>
            <a:fillRect/>
          </a:stretch>
        </p:blipFill>
        <p:spPr>
          <a:xfrm>
            <a:off x="971526" y="2994347"/>
            <a:ext cx="190495" cy="190495"/>
          </a:xfrm>
          <a:prstGeom prst="rect">
            <a:avLst/>
          </a:prstGeom>
        </p:spPr>
      </p:pic>
      <p:sp>
        <p:nvSpPr>
          <p:cNvPr id="14" name="Text 8"/>
          <p:cNvSpPr txBox="1"/>
          <p:nvPr/>
        </p:nvSpPr>
        <p:spPr>
          <a:xfrm>
            <a:off x="1250919" y="2986807"/>
            <a:ext cx="276705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Razorpay Checkout, verify, webhook</a:t>
            </a:r>
            <a:endParaRPr lang="en-US" sz="1200" dirty="0"/>
          </a:p>
        </p:txBody>
      </p:sp>
      <p:pic>
        <p:nvPicPr>
          <p:cNvPr id="15" name="Image 4" descr="preencoded.png">    </p:cNvPr>
          <p:cNvPicPr>
            <a:picLocks noChangeAspect="1"/>
          </p:cNvPicPr>
          <p:nvPr/>
        </p:nvPicPr>
        <p:blipFill>
          <a:blip r:embed="rId5"/>
          <a:stretch>
            <a:fillRect/>
          </a:stretch>
        </p:blipFill>
        <p:spPr>
          <a:xfrm>
            <a:off x="971526" y="3288920"/>
            <a:ext cx="190495" cy="190495"/>
          </a:xfrm>
          <a:prstGeom prst="rect">
            <a:avLst/>
          </a:prstGeom>
        </p:spPr>
      </p:pic>
      <p:sp>
        <p:nvSpPr>
          <p:cNvPr id="16" name="Text 9"/>
          <p:cNvSpPr txBox="1"/>
          <p:nvPr/>
        </p:nvSpPr>
        <p:spPr>
          <a:xfrm>
            <a:off x="1250919" y="3281380"/>
            <a:ext cx="229589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Outbox to Kafka to consumers</a:t>
            </a:r>
            <a:endParaRPr lang="en-US" sz="1200" dirty="0"/>
          </a:p>
        </p:txBody>
      </p:sp>
      <p:pic>
        <p:nvPicPr>
          <p:cNvPr id="17" name="Image 5" descr="preencoded.png">    </p:cNvPr>
          <p:cNvPicPr>
            <a:picLocks noChangeAspect="1"/>
          </p:cNvPicPr>
          <p:nvPr/>
        </p:nvPicPr>
        <p:blipFill>
          <a:blip r:embed="rId6"/>
          <a:stretch>
            <a:fillRect/>
          </a:stretch>
        </p:blipFill>
        <p:spPr>
          <a:xfrm>
            <a:off x="971526" y="3583493"/>
            <a:ext cx="190495" cy="190495"/>
          </a:xfrm>
          <a:prstGeom prst="rect">
            <a:avLst/>
          </a:prstGeom>
        </p:spPr>
      </p:pic>
      <p:sp>
        <p:nvSpPr>
          <p:cNvPr id="18" name="Text 10"/>
          <p:cNvSpPr txBox="1"/>
          <p:nvPr/>
        </p:nvSpPr>
        <p:spPr>
          <a:xfrm>
            <a:off x="1250919" y="3575953"/>
            <a:ext cx="257781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Agency fallback and Tenant Portal</a:t>
            </a:r>
            <a:endParaRPr lang="en-US" sz="1200" dirty="0"/>
          </a:p>
        </p:txBody>
      </p:sp>
      <p:pic>
        <p:nvPicPr>
          <p:cNvPr id="19" name="Image 6" descr="preencoded.png">    </p:cNvPr>
          <p:cNvPicPr>
            <a:picLocks noChangeAspect="1"/>
          </p:cNvPicPr>
          <p:nvPr/>
        </p:nvPicPr>
        <p:blipFill>
          <a:blip r:embed="rId7"/>
          <a:stretch>
            <a:fillRect/>
          </a:stretch>
        </p:blipFill>
        <p:spPr>
          <a:xfrm>
            <a:off x="971526" y="3878066"/>
            <a:ext cx="190495" cy="190495"/>
          </a:xfrm>
          <a:prstGeom prst="rect">
            <a:avLst/>
          </a:prstGeom>
        </p:spPr>
      </p:pic>
      <p:sp>
        <p:nvSpPr>
          <p:cNvPr id="20" name="Text 11"/>
          <p:cNvSpPr txBox="1"/>
          <p:nvPr/>
        </p:nvSpPr>
        <p:spPr>
          <a:xfrm>
            <a:off x="1250919" y="3870526"/>
            <a:ext cx="258714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Staff invitations, verification queue</a:t>
            </a:r>
            <a:endParaRPr lang="en-US" sz="1200" dirty="0"/>
          </a:p>
        </p:txBody>
      </p:sp>
      <p:sp>
        <p:nvSpPr>
          <p:cNvPr id="21" name="Shape 12"/>
          <p:cNvSpPr/>
          <p:nvPr/>
        </p:nvSpPr>
        <p:spPr>
          <a:xfrm>
            <a:off x="6197445" y="1775376"/>
            <a:ext cx="5181470" cy="2459571"/>
          </a:xfrm>
          <a:prstGeom prst="roundRect">
            <a:avLst>
              <a:gd name="adj" fmla="val 4131"/>
            </a:avLst>
          </a:prstGeom>
          <a:solidFill>
            <a:srgbClr val="FCFDFF"/>
          </a:solidFill>
          <a:ln w="6350">
            <a:solidFill>
              <a:srgbClr val="D5DEEC"/>
            </a:solidFill>
            <a:prstDash val="solid"/>
          </a:ln>
        </p:spPr>
        <p:txBody>
          <a:bodyPr/>
          <a:p/>
        </p:txBody>
      </p:sp>
      <p:sp>
        <p:nvSpPr>
          <p:cNvPr id="22" name="Shape 13"/>
          <p:cNvSpPr/>
          <p:nvPr/>
        </p:nvSpPr>
        <p:spPr>
          <a:xfrm>
            <a:off x="6197445" y="1775376"/>
            <a:ext cx="5181470" cy="50799"/>
          </a:xfrm>
          <a:prstGeom prst="roundRect">
            <a:avLst>
              <a:gd name="adj" fmla="val 50000"/>
            </a:avLst>
          </a:prstGeom>
          <a:solidFill>
            <a:srgbClr val="B4530F"/>
          </a:solidFill>
          <a:ln/>
        </p:spPr>
        <p:txBody>
          <a:bodyPr/>
          <a:p/>
        </p:txBody>
      </p:sp>
      <p:sp>
        <p:nvSpPr>
          <p:cNvPr id="23" name="Shape 14"/>
          <p:cNvSpPr/>
          <p:nvPr/>
        </p:nvSpPr>
        <p:spPr>
          <a:xfrm>
            <a:off x="6356191" y="1978571"/>
            <a:ext cx="330192" cy="330192"/>
          </a:xfrm>
          <a:prstGeom prst="ellipse">
            <a:avLst/>
          </a:prstGeom>
          <a:solidFill>
            <a:srgbClr val="FCEBDD"/>
          </a:solidFill>
          <a:ln/>
        </p:spPr>
        <p:txBody>
          <a:bodyPr/>
          <a:p/>
        </p:txBody>
      </p:sp>
      <p:pic>
        <p:nvPicPr>
          <p:cNvPr id="24" name="Image 7" descr="preencoded.png">    </p:cNvPr>
          <p:cNvPicPr>
            <a:picLocks noChangeAspect="1"/>
          </p:cNvPicPr>
          <p:nvPr/>
        </p:nvPicPr>
        <p:blipFill>
          <a:blip r:embed="rId8"/>
          <a:stretch>
            <a:fillRect/>
          </a:stretch>
        </p:blipFill>
        <p:spPr>
          <a:xfrm>
            <a:off x="6432389" y="2054769"/>
            <a:ext cx="177796" cy="177796"/>
          </a:xfrm>
          <a:prstGeom prst="rect">
            <a:avLst/>
          </a:prstGeom>
        </p:spPr>
      </p:pic>
      <p:sp>
        <p:nvSpPr>
          <p:cNvPr id="25" name="Text 15"/>
          <p:cNvSpPr txBox="1"/>
          <p:nvPr/>
        </p:nvSpPr>
        <p:spPr>
          <a:xfrm>
            <a:off x="6775281" y="2029370"/>
            <a:ext cx="185629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Still stand-ins or open</a:t>
            </a:r>
            <a:endParaRPr lang="en-US" sz="1500" dirty="0"/>
          </a:p>
        </p:txBody>
      </p:sp>
      <p:pic>
        <p:nvPicPr>
          <p:cNvPr id="26" name="Image 8" descr="preencoded.png">    </p:cNvPr>
          <p:cNvPicPr>
            <a:picLocks noChangeAspect="1"/>
          </p:cNvPicPr>
          <p:nvPr/>
        </p:nvPicPr>
        <p:blipFill>
          <a:blip r:embed="rId9"/>
          <a:stretch>
            <a:fillRect/>
          </a:stretch>
        </p:blipFill>
        <p:spPr>
          <a:xfrm>
            <a:off x="6356191" y="2405201"/>
            <a:ext cx="190495" cy="190495"/>
          </a:xfrm>
          <a:prstGeom prst="rect">
            <a:avLst/>
          </a:prstGeom>
        </p:spPr>
      </p:pic>
      <p:sp>
        <p:nvSpPr>
          <p:cNvPr id="27" name="Text 16"/>
          <p:cNvSpPr txBox="1"/>
          <p:nvPr/>
        </p:nvSpPr>
        <p:spPr>
          <a:xfrm>
            <a:off x="6635584" y="2397660"/>
            <a:ext cx="176484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Push: no device tokens</a:t>
            </a:r>
            <a:endParaRPr lang="en-US" sz="1200" dirty="0"/>
          </a:p>
        </p:txBody>
      </p:sp>
      <p:pic>
        <p:nvPicPr>
          <p:cNvPr id="28" name="Image 9" descr="preencoded.png">    </p:cNvPr>
          <p:cNvPicPr>
            <a:picLocks noChangeAspect="1"/>
          </p:cNvPicPr>
          <p:nvPr/>
        </p:nvPicPr>
        <p:blipFill>
          <a:blip r:embed="rId10"/>
          <a:stretch>
            <a:fillRect/>
          </a:stretch>
        </p:blipFill>
        <p:spPr>
          <a:xfrm>
            <a:off x="6356191" y="2699774"/>
            <a:ext cx="190495" cy="190495"/>
          </a:xfrm>
          <a:prstGeom prst="rect">
            <a:avLst/>
          </a:prstGeom>
        </p:spPr>
      </p:pic>
      <p:sp>
        <p:nvSpPr>
          <p:cNvPr id="29" name="Text 17"/>
          <p:cNvSpPr txBox="1"/>
          <p:nvPr/>
        </p:nvSpPr>
        <p:spPr>
          <a:xfrm>
            <a:off x="6635584" y="2692233"/>
            <a:ext cx="197330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Notice SMS only logs</a:t>
            </a:r>
            <a:endParaRPr lang="en-US" sz="1200" dirty="0"/>
          </a:p>
        </p:txBody>
      </p:sp>
      <p:pic>
        <p:nvPicPr>
          <p:cNvPr id="30" name="Image 10" descr="preencoded.png">    </p:cNvPr>
          <p:cNvPicPr>
            <a:picLocks noChangeAspect="1"/>
          </p:cNvPicPr>
          <p:nvPr/>
        </p:nvPicPr>
        <p:blipFill>
          <a:blip r:embed="rId11"/>
          <a:stretch>
            <a:fillRect/>
          </a:stretch>
        </p:blipFill>
        <p:spPr>
          <a:xfrm>
            <a:off x="6356191" y="2994347"/>
            <a:ext cx="190495" cy="190495"/>
          </a:xfrm>
          <a:prstGeom prst="rect">
            <a:avLst/>
          </a:prstGeom>
        </p:spPr>
      </p:pic>
      <p:sp>
        <p:nvSpPr>
          <p:cNvPr id="31" name="Text 18"/>
          <p:cNvSpPr txBox="1"/>
          <p:nvPr/>
        </p:nvSpPr>
        <p:spPr>
          <a:xfrm>
            <a:off x="6635584" y="2986807"/>
            <a:ext cx="148037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Payouts are simulated</a:t>
            </a:r>
            <a:endParaRPr lang="en-US" sz="1200" dirty="0"/>
          </a:p>
        </p:txBody>
      </p:sp>
      <p:pic>
        <p:nvPicPr>
          <p:cNvPr id="32" name="Image 11" descr="preencoded.png">    </p:cNvPr>
          <p:cNvPicPr>
            <a:picLocks noChangeAspect="1"/>
          </p:cNvPicPr>
          <p:nvPr/>
        </p:nvPicPr>
        <p:blipFill>
          <a:blip r:embed="rId12"/>
          <a:stretch>
            <a:fillRect/>
          </a:stretch>
        </p:blipFill>
        <p:spPr>
          <a:xfrm>
            <a:off x="6356191" y="3288920"/>
            <a:ext cx="190495" cy="190495"/>
          </a:xfrm>
          <a:prstGeom prst="rect">
            <a:avLst/>
          </a:prstGeom>
        </p:spPr>
      </p:pic>
      <p:sp>
        <p:nvSpPr>
          <p:cNvPr id="33" name="Text 19"/>
          <p:cNvSpPr txBox="1"/>
          <p:nvPr/>
        </p:nvSpPr>
        <p:spPr>
          <a:xfrm>
            <a:off x="6635584" y="3281380"/>
            <a:ext cx="236257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Refunds don't debit the wallet</a:t>
            </a:r>
            <a:endParaRPr lang="en-US" sz="1200" dirty="0"/>
          </a:p>
        </p:txBody>
      </p:sp>
      <p:pic>
        <p:nvPicPr>
          <p:cNvPr id="34" name="Image 12" descr="preencoded.png">    </p:cNvPr>
          <p:cNvPicPr>
            <a:picLocks noChangeAspect="1"/>
          </p:cNvPicPr>
          <p:nvPr/>
        </p:nvPicPr>
        <p:blipFill>
          <a:blip r:embed="rId13"/>
          <a:stretch>
            <a:fillRect/>
          </a:stretch>
        </p:blipFill>
        <p:spPr>
          <a:xfrm>
            <a:off x="6356191" y="3583493"/>
            <a:ext cx="190495" cy="190495"/>
          </a:xfrm>
          <a:prstGeom prst="rect">
            <a:avLst/>
          </a:prstGeom>
        </p:spPr>
      </p:pic>
      <p:sp>
        <p:nvSpPr>
          <p:cNvPr id="35" name="Text 20"/>
          <p:cNvSpPr txBox="1"/>
          <p:nvPr/>
        </p:nvSpPr>
        <p:spPr>
          <a:xfrm>
            <a:off x="6635584" y="3575953"/>
            <a:ext cx="246702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Coupon redemption never called</a:t>
            </a:r>
            <a:endParaRPr lang="en-US" sz="1200" dirty="0"/>
          </a:p>
        </p:txBody>
      </p:sp>
      <p:pic>
        <p:nvPicPr>
          <p:cNvPr id="36" name="Image 13" descr="preencoded.png">    </p:cNvPr>
          <p:cNvPicPr>
            <a:picLocks noChangeAspect="1"/>
          </p:cNvPicPr>
          <p:nvPr/>
        </p:nvPicPr>
        <p:blipFill>
          <a:blip r:embed="rId14"/>
          <a:stretch>
            <a:fillRect/>
          </a:stretch>
        </p:blipFill>
        <p:spPr>
          <a:xfrm>
            <a:off x="6356191" y="3878066"/>
            <a:ext cx="190495" cy="190495"/>
          </a:xfrm>
          <a:prstGeom prst="rect">
            <a:avLst/>
          </a:prstGeom>
        </p:spPr>
      </p:pic>
      <p:sp>
        <p:nvSpPr>
          <p:cNvPr id="37" name="Text 21"/>
          <p:cNvSpPr txBox="1"/>
          <p:nvPr/>
        </p:nvSpPr>
        <p:spPr>
          <a:xfrm>
            <a:off x="6635584" y="3870526"/>
            <a:ext cx="224855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 provider online/offline state</a:t>
            </a:r>
            <a:endParaRPr lang="en-US" sz="1200" dirty="0"/>
          </a:p>
        </p:txBody>
      </p:sp>
      <p:sp>
        <p:nvSpPr>
          <p:cNvPr id="38" name="Text 22"/>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Readiness</a:t>
            </a:r>
            <a:endParaRPr lang="en-US" sz="1200" dirty="0"/>
          </a:p>
        </p:txBody>
      </p:sp>
      <p:sp>
        <p:nvSpPr>
          <p:cNvPr id="39" name="Text 23"/>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TOPOLOGY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Apps run in Docker; data services run on the host</a:t>
            </a:r>
            <a:endParaRPr lang="en-US" sz="3000" dirty="0"/>
          </a:p>
        </p:txBody>
      </p:sp>
      <p:sp>
        <p:nvSpPr>
          <p:cNvPr id="4" name="Shape 2"/>
          <p:cNvSpPr/>
          <p:nvPr/>
        </p:nvSpPr>
        <p:spPr>
          <a:xfrm>
            <a:off x="812780" y="1803355"/>
            <a:ext cx="10566136" cy="3975001"/>
          </a:xfrm>
          <a:prstGeom prst="roundRect">
            <a:avLst>
              <a:gd name="adj" fmla="val 3195"/>
            </a:avLst>
          </a:prstGeom>
          <a:solidFill>
            <a:srgbClr val="EEF2F8"/>
          </a:solidFill>
          <a:ln w="12700">
            <a:solidFill>
              <a:srgbClr val="5C6B8A"/>
            </a:solidFill>
            <a:prstDash val="dash"/>
          </a:ln>
        </p:spPr>
        <p:txBody>
          <a:bodyPr/>
          <a:p/>
        </p:txBody>
      </p:sp>
      <p:sp>
        <p:nvSpPr>
          <p:cNvPr id="5" name="Text 3"/>
          <p:cNvSpPr txBox="1"/>
          <p:nvPr/>
        </p:nvSpPr>
        <p:spPr>
          <a:xfrm>
            <a:off x="939777" y="1879553"/>
            <a:ext cx="11549599"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5C6B8A"/>
                </a:solidFill>
                <a:latin typeface="Courier New" pitchFamily="34" charset="0"/>
                <a:ea typeface="Courier New" pitchFamily="34" charset="-122"/>
                <a:cs typeface="Courier New" pitchFamily="34" charset="-120"/>
              </a:rPr>
              <a:t>Windows 11 host</a:t>
            </a:r>
            <a:endParaRPr lang="en-US" sz="1200" dirty="0"/>
          </a:p>
        </p:txBody>
      </p:sp>
      <p:sp>
        <p:nvSpPr>
          <p:cNvPr id="6" name="Shape 4"/>
          <p:cNvSpPr/>
          <p:nvPr/>
        </p:nvSpPr>
        <p:spPr>
          <a:xfrm>
            <a:off x="1015975" y="2158946"/>
            <a:ext cx="1650959" cy="1396965"/>
          </a:xfrm>
          <a:prstGeom prst="roundRect">
            <a:avLst>
              <a:gd name="adj" fmla="val 6364"/>
            </a:avLst>
          </a:prstGeom>
          <a:solidFill>
            <a:srgbClr val="FCFDFF"/>
          </a:solidFill>
          <a:ln w="12700">
            <a:solidFill>
              <a:srgbClr val="2454C5"/>
            </a:solidFill>
            <a:prstDash val="solid"/>
          </a:ln>
        </p:spPr>
        <p:txBody>
          <a:bodyPr/>
          <a:p/>
        </p:txBody>
      </p:sp>
      <p:sp>
        <p:nvSpPr>
          <p:cNvPr id="7" name="Shape 5"/>
          <p:cNvSpPr/>
          <p:nvPr/>
        </p:nvSpPr>
        <p:spPr>
          <a:xfrm>
            <a:off x="1015975" y="2158946"/>
            <a:ext cx="50799" cy="1396965"/>
          </a:xfrm>
          <a:prstGeom prst="roundRect">
            <a:avLst>
              <a:gd name="adj" fmla="val 50000"/>
            </a:avLst>
          </a:prstGeom>
          <a:solidFill>
            <a:srgbClr val="2454C5"/>
          </a:solidFill>
          <a:ln/>
        </p:spPr>
        <p:txBody>
          <a:bodyPr/>
          <a:p/>
        </p:txBody>
      </p:sp>
      <p:pic>
        <p:nvPicPr>
          <p:cNvPr id="8" name="Image 0" descr="preencoded.png">    </p:cNvPr>
          <p:cNvPicPr>
            <a:picLocks noChangeAspect="1"/>
          </p:cNvPicPr>
          <p:nvPr/>
        </p:nvPicPr>
        <p:blipFill>
          <a:blip r:embed="rId1"/>
          <a:stretch>
            <a:fillRect/>
          </a:stretch>
        </p:blipFill>
        <p:spPr>
          <a:xfrm>
            <a:off x="1181070" y="2264314"/>
            <a:ext cx="190495" cy="190495"/>
          </a:xfrm>
          <a:prstGeom prst="rect">
            <a:avLst/>
          </a:prstGeom>
        </p:spPr>
      </p:pic>
      <p:sp>
        <p:nvSpPr>
          <p:cNvPr id="9" name="Text 6"/>
          <p:cNvSpPr txBox="1"/>
          <p:nvPr/>
        </p:nvSpPr>
        <p:spPr>
          <a:xfrm>
            <a:off x="1435064" y="2260543"/>
            <a:ext cx="70433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Browser</a:t>
            </a:r>
            <a:endParaRPr lang="en-US" sz="1300" dirty="0"/>
          </a:p>
        </p:txBody>
      </p:sp>
      <p:sp>
        <p:nvSpPr>
          <p:cNvPr id="10" name="Text 7"/>
          <p:cNvSpPr txBox="1"/>
          <p:nvPr/>
        </p:nvSpPr>
        <p:spPr>
          <a:xfrm>
            <a:off x="1181070" y="2483979"/>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:5173 customer</a:t>
            </a:r>
            <a:endParaRPr lang="en-US" sz="1200" dirty="0"/>
          </a:p>
        </p:txBody>
      </p:sp>
      <p:sp>
        <p:nvSpPr>
          <p:cNvPr id="11" name="Text 8"/>
          <p:cNvSpPr txBox="1"/>
          <p:nvPr/>
        </p:nvSpPr>
        <p:spPr>
          <a:xfrm>
            <a:off x="1181070" y="2715053"/>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:5174 provider</a:t>
            </a:r>
            <a:endParaRPr lang="en-US" sz="1200" dirty="0"/>
          </a:p>
        </p:txBody>
      </p:sp>
      <p:sp>
        <p:nvSpPr>
          <p:cNvPr id="12" name="Text 9"/>
          <p:cNvSpPr txBox="1"/>
          <p:nvPr/>
        </p:nvSpPr>
        <p:spPr>
          <a:xfrm>
            <a:off x="1181070" y="2946128"/>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:5175 admin</a:t>
            </a:r>
            <a:endParaRPr lang="en-US" sz="1200" dirty="0"/>
          </a:p>
        </p:txBody>
      </p:sp>
      <p:sp>
        <p:nvSpPr>
          <p:cNvPr id="13" name="Shape 10"/>
          <p:cNvSpPr/>
          <p:nvPr/>
        </p:nvSpPr>
        <p:spPr>
          <a:xfrm>
            <a:off x="1015975" y="3809905"/>
            <a:ext cx="1650959" cy="1777956"/>
          </a:xfrm>
          <a:prstGeom prst="roundRect">
            <a:avLst>
              <a:gd name="adj" fmla="val 5385"/>
            </a:avLst>
          </a:prstGeom>
          <a:solidFill>
            <a:srgbClr val="EEF1F6"/>
          </a:solidFill>
          <a:ln w="12700">
            <a:solidFill>
              <a:srgbClr val="5C6B8A"/>
            </a:solidFill>
            <a:prstDash val="dash"/>
          </a:ln>
        </p:spPr>
        <p:txBody>
          <a:bodyPr/>
          <a:p/>
        </p:txBody>
      </p:sp>
      <p:sp>
        <p:nvSpPr>
          <p:cNvPr id="14" name="Shape 11"/>
          <p:cNvSpPr/>
          <p:nvPr/>
        </p:nvSpPr>
        <p:spPr>
          <a:xfrm>
            <a:off x="1015975" y="3809905"/>
            <a:ext cx="50799" cy="1777956"/>
          </a:xfrm>
          <a:prstGeom prst="roundRect">
            <a:avLst>
              <a:gd name="adj" fmla="val 50000"/>
            </a:avLst>
          </a:prstGeom>
          <a:solidFill>
            <a:srgbClr val="5C6B8A"/>
          </a:solidFill>
          <a:ln/>
        </p:spPr>
        <p:txBody>
          <a:bodyPr/>
          <a:p/>
        </p:txBody>
      </p:sp>
      <p:pic>
        <p:nvPicPr>
          <p:cNvPr id="15" name="Image 1" descr="preencoded.png">    </p:cNvPr>
          <p:cNvPicPr>
            <a:picLocks noChangeAspect="1"/>
          </p:cNvPicPr>
          <p:nvPr/>
        </p:nvPicPr>
        <p:blipFill>
          <a:blip r:embed="rId2"/>
          <a:stretch>
            <a:fillRect/>
          </a:stretch>
        </p:blipFill>
        <p:spPr>
          <a:xfrm>
            <a:off x="1181070" y="4014290"/>
            <a:ext cx="190495" cy="190495"/>
          </a:xfrm>
          <a:prstGeom prst="rect">
            <a:avLst/>
          </a:prstGeom>
        </p:spPr>
      </p:pic>
      <p:sp>
        <p:nvSpPr>
          <p:cNvPr id="16" name="Text 12"/>
          <p:cNvSpPr txBox="1"/>
          <p:nvPr/>
        </p:nvSpPr>
        <p:spPr>
          <a:xfrm>
            <a:off x="1435064" y="3911502"/>
            <a:ext cx="1237457" cy="396071"/>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Or all in Docker</a:t>
            </a:r>
            <a:endParaRPr lang="en-US" sz="1300" dirty="0"/>
          </a:p>
        </p:txBody>
      </p:sp>
      <p:sp>
        <p:nvSpPr>
          <p:cNvPr id="17" name="Text 13"/>
          <p:cNvSpPr txBox="1"/>
          <p:nvPr/>
        </p:nvSpPr>
        <p:spPr>
          <a:xfrm>
            <a:off x="1181070" y="4332973"/>
            <a:ext cx="1521930" cy="617026"/>
          </a:xfrm>
          <a:prstGeom prst="rect">
            <a:avLst/>
          </a:prstGeom>
          <a:noFill/>
          <a:ln/>
        </p:spPr>
        <p:txBody>
          <a:bodyPr wrap="square" lIns="0" tIns="0" rIns="0" bIns="0" rtlCol="0" anchor="t"/>
          <a:lstStyle/>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infra compose file: PG :5533, Redis :6380, Kafka :9095</a:t>
            </a:r>
            <a:endParaRPr lang="en-US" sz="1200" dirty="0"/>
          </a:p>
        </p:txBody>
      </p:sp>
      <p:sp>
        <p:nvSpPr>
          <p:cNvPr id="18" name="Shape 14"/>
          <p:cNvSpPr/>
          <p:nvPr/>
        </p:nvSpPr>
        <p:spPr>
          <a:xfrm>
            <a:off x="2920927" y="2095448"/>
            <a:ext cx="5587860" cy="3555911"/>
          </a:xfrm>
          <a:prstGeom prst="roundRect">
            <a:avLst>
              <a:gd name="adj" fmla="val 3571"/>
            </a:avLst>
          </a:prstGeom>
          <a:solidFill>
            <a:srgbClr val="E3EBFA"/>
          </a:solidFill>
          <a:ln w="12700">
            <a:solidFill>
              <a:srgbClr val="2454C5"/>
            </a:solidFill>
            <a:prstDash val="solid"/>
          </a:ln>
        </p:spPr>
        <p:txBody>
          <a:bodyPr/>
          <a:p/>
        </p:txBody>
      </p:sp>
      <p:sp>
        <p:nvSpPr>
          <p:cNvPr id="19" name="Text 15"/>
          <p:cNvSpPr txBox="1"/>
          <p:nvPr/>
        </p:nvSpPr>
        <p:spPr>
          <a:xfrm>
            <a:off x="3047924" y="2171646"/>
            <a:ext cx="5973931"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2454C5"/>
                </a:solidFill>
                <a:latin typeface="Courier New" pitchFamily="34" charset="0"/>
                <a:ea typeface="Courier New" pitchFamily="34" charset="-122"/>
                <a:cs typeface="Courier New" pitchFamily="34" charset="-120"/>
              </a:rPr>
              <a:t>Docker Desktop · WSL2 · 11 GB</a:t>
            </a:r>
            <a:endParaRPr lang="en-US" sz="1200" dirty="0"/>
          </a:p>
        </p:txBody>
      </p:sp>
      <p:sp>
        <p:nvSpPr>
          <p:cNvPr id="20" name="Shape 16"/>
          <p:cNvSpPr/>
          <p:nvPr/>
        </p:nvSpPr>
        <p:spPr>
          <a:xfrm>
            <a:off x="3073323" y="2476438"/>
            <a:ext cx="1587460" cy="825479"/>
          </a:xfrm>
          <a:prstGeom prst="roundRect">
            <a:avLst>
              <a:gd name="adj" fmla="val 10769"/>
            </a:avLst>
          </a:prstGeom>
          <a:solidFill>
            <a:srgbClr val="FCFDFF"/>
          </a:solidFill>
          <a:ln w="12700">
            <a:solidFill>
              <a:srgbClr val="B8306E"/>
            </a:solidFill>
            <a:prstDash val="solid"/>
          </a:ln>
        </p:spPr>
        <p:txBody>
          <a:bodyPr/>
          <a:p/>
        </p:txBody>
      </p:sp>
      <p:sp>
        <p:nvSpPr>
          <p:cNvPr id="21" name="Shape 17"/>
          <p:cNvSpPr/>
          <p:nvPr/>
        </p:nvSpPr>
        <p:spPr>
          <a:xfrm>
            <a:off x="3073323" y="2476438"/>
            <a:ext cx="50799" cy="825479"/>
          </a:xfrm>
          <a:prstGeom prst="roundRect">
            <a:avLst>
              <a:gd name="adj" fmla="val 50000"/>
            </a:avLst>
          </a:prstGeom>
          <a:solidFill>
            <a:srgbClr val="B8306E"/>
          </a:solidFill>
          <a:ln/>
        </p:spPr>
        <p:txBody>
          <a:bodyPr/>
          <a:p/>
        </p:txBody>
      </p:sp>
      <p:pic>
        <p:nvPicPr>
          <p:cNvPr id="22" name="Image 2" descr="preencoded.png">    </p:cNvPr>
          <p:cNvPicPr>
            <a:picLocks noChangeAspect="1"/>
          </p:cNvPicPr>
          <p:nvPr/>
        </p:nvPicPr>
        <p:blipFill>
          <a:blip r:embed="rId3"/>
          <a:stretch>
            <a:fillRect/>
          </a:stretch>
        </p:blipFill>
        <p:spPr>
          <a:xfrm>
            <a:off x="3238419" y="2581806"/>
            <a:ext cx="190495" cy="190495"/>
          </a:xfrm>
          <a:prstGeom prst="rect">
            <a:avLst/>
          </a:prstGeom>
        </p:spPr>
      </p:pic>
      <p:sp>
        <p:nvSpPr>
          <p:cNvPr id="23" name="Text 18"/>
          <p:cNvSpPr txBox="1"/>
          <p:nvPr/>
        </p:nvSpPr>
        <p:spPr>
          <a:xfrm>
            <a:off x="3492413" y="2578036"/>
            <a:ext cx="972097"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3 web apps</a:t>
            </a:r>
            <a:endParaRPr lang="en-US" sz="1300" dirty="0"/>
          </a:p>
        </p:txBody>
      </p:sp>
      <p:sp>
        <p:nvSpPr>
          <p:cNvPr id="24" name="Text 19"/>
          <p:cNvSpPr txBox="1"/>
          <p:nvPr/>
        </p:nvSpPr>
        <p:spPr>
          <a:xfrm>
            <a:off x="3238419" y="2801471"/>
            <a:ext cx="145081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nginx :80</a:t>
            </a:r>
            <a:endParaRPr lang="en-US" sz="1200" dirty="0"/>
          </a:p>
        </p:txBody>
      </p:sp>
      <p:sp>
        <p:nvSpPr>
          <p:cNvPr id="25" name="Shape 20"/>
          <p:cNvSpPr/>
          <p:nvPr/>
        </p:nvSpPr>
        <p:spPr>
          <a:xfrm>
            <a:off x="4851279" y="2476438"/>
            <a:ext cx="1587460" cy="825479"/>
          </a:xfrm>
          <a:prstGeom prst="roundRect">
            <a:avLst>
              <a:gd name="adj" fmla="val 10769"/>
            </a:avLst>
          </a:prstGeom>
          <a:solidFill>
            <a:srgbClr val="FCFDFF"/>
          </a:solidFill>
          <a:ln w="12700">
            <a:solidFill>
              <a:srgbClr val="3F5F95"/>
            </a:solidFill>
            <a:prstDash val="solid"/>
          </a:ln>
        </p:spPr>
        <p:txBody>
          <a:bodyPr/>
          <a:p/>
        </p:txBody>
      </p:sp>
      <p:sp>
        <p:nvSpPr>
          <p:cNvPr id="26" name="Shape 21"/>
          <p:cNvSpPr/>
          <p:nvPr/>
        </p:nvSpPr>
        <p:spPr>
          <a:xfrm>
            <a:off x="4851279" y="2476438"/>
            <a:ext cx="50799" cy="825479"/>
          </a:xfrm>
          <a:prstGeom prst="roundRect">
            <a:avLst>
              <a:gd name="adj" fmla="val 50000"/>
            </a:avLst>
          </a:prstGeom>
          <a:solidFill>
            <a:srgbClr val="3F5F95"/>
          </a:solidFill>
          <a:ln/>
        </p:spPr>
        <p:txBody>
          <a:bodyPr/>
          <a:p/>
        </p:txBody>
      </p:sp>
      <p:sp>
        <p:nvSpPr>
          <p:cNvPr id="27" name="Text 22"/>
          <p:cNvSpPr txBox="1"/>
          <p:nvPr/>
        </p:nvSpPr>
        <p:spPr>
          <a:xfrm>
            <a:off x="5016375" y="2578036"/>
            <a:ext cx="145081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api-gateway</a:t>
            </a:r>
            <a:endParaRPr lang="en-US" sz="1300" dirty="0"/>
          </a:p>
        </p:txBody>
      </p:sp>
      <p:sp>
        <p:nvSpPr>
          <p:cNvPr id="28" name="Text 23"/>
          <p:cNvSpPr txBox="1"/>
          <p:nvPr/>
        </p:nvSpPr>
        <p:spPr>
          <a:xfrm>
            <a:off x="5016375" y="2801471"/>
            <a:ext cx="145081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:8080</a:t>
            </a:r>
            <a:endParaRPr lang="en-US" sz="1200" dirty="0"/>
          </a:p>
        </p:txBody>
      </p:sp>
      <p:sp>
        <p:nvSpPr>
          <p:cNvPr id="29" name="Shape 24"/>
          <p:cNvSpPr/>
          <p:nvPr/>
        </p:nvSpPr>
        <p:spPr>
          <a:xfrm>
            <a:off x="6629234" y="2476438"/>
            <a:ext cx="1714457" cy="825479"/>
          </a:xfrm>
          <a:prstGeom prst="roundRect">
            <a:avLst>
              <a:gd name="adj" fmla="val 10769"/>
            </a:avLst>
          </a:prstGeom>
          <a:solidFill>
            <a:srgbClr val="FCFDFF"/>
          </a:solidFill>
          <a:ln w="12700">
            <a:solidFill>
              <a:srgbClr val="2454C5"/>
            </a:solidFill>
            <a:prstDash val="solid"/>
          </a:ln>
        </p:spPr>
        <p:txBody>
          <a:bodyPr/>
          <a:p/>
        </p:txBody>
      </p:sp>
      <p:sp>
        <p:nvSpPr>
          <p:cNvPr id="30" name="Shape 25"/>
          <p:cNvSpPr/>
          <p:nvPr/>
        </p:nvSpPr>
        <p:spPr>
          <a:xfrm>
            <a:off x="6629234" y="2476438"/>
            <a:ext cx="50799" cy="825479"/>
          </a:xfrm>
          <a:prstGeom prst="roundRect">
            <a:avLst>
              <a:gd name="adj" fmla="val 50000"/>
            </a:avLst>
          </a:prstGeom>
          <a:solidFill>
            <a:srgbClr val="2454C5"/>
          </a:solidFill>
          <a:ln/>
        </p:spPr>
        <p:txBody>
          <a:bodyPr/>
          <a:p/>
        </p:txBody>
      </p:sp>
      <p:sp>
        <p:nvSpPr>
          <p:cNvPr id="31" name="Text 26"/>
          <p:cNvSpPr txBox="1"/>
          <p:nvPr/>
        </p:nvSpPr>
        <p:spPr>
          <a:xfrm>
            <a:off x="6794330" y="2578036"/>
            <a:ext cx="15930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identity-app</a:t>
            </a:r>
            <a:endParaRPr lang="en-US" sz="1300" dirty="0"/>
          </a:p>
        </p:txBody>
      </p:sp>
      <p:sp>
        <p:nvSpPr>
          <p:cNvPr id="32" name="Text 27"/>
          <p:cNvSpPr txBox="1"/>
          <p:nvPr/>
        </p:nvSpPr>
        <p:spPr>
          <a:xfrm>
            <a:off x="6794330" y="2801471"/>
            <a:ext cx="159304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:8081–83, :8094</a:t>
            </a:r>
            <a:endParaRPr lang="en-US" sz="1200" dirty="0"/>
          </a:p>
        </p:txBody>
      </p:sp>
      <p:sp>
        <p:nvSpPr>
          <p:cNvPr id="33" name="Shape 28"/>
          <p:cNvSpPr/>
          <p:nvPr/>
        </p:nvSpPr>
        <p:spPr>
          <a:xfrm>
            <a:off x="3073323" y="3492413"/>
            <a:ext cx="5270368" cy="2031949"/>
          </a:xfrm>
          <a:prstGeom prst="roundRect">
            <a:avLst>
              <a:gd name="adj" fmla="val 4375"/>
            </a:avLst>
          </a:prstGeom>
          <a:solidFill>
            <a:srgbClr val="FCFDFF"/>
          </a:solidFill>
          <a:ln w="12700">
            <a:solidFill>
              <a:srgbClr val="2454C5"/>
            </a:solidFill>
            <a:prstDash val="solid"/>
          </a:ln>
        </p:spPr>
        <p:txBody>
          <a:bodyPr/>
          <a:p/>
        </p:txBody>
      </p:sp>
      <p:sp>
        <p:nvSpPr>
          <p:cNvPr id="34" name="Text 29"/>
          <p:cNvSpPr txBox="1"/>
          <p:nvPr/>
        </p:nvSpPr>
        <p:spPr>
          <a:xfrm>
            <a:off x="3200320" y="3594010"/>
            <a:ext cx="5618340"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jobs, money, engagement apps · 640–1280 MB</a:t>
            </a:r>
            <a:endParaRPr lang="en-US" sz="1300" dirty="0"/>
          </a:p>
        </p:txBody>
      </p:sp>
      <p:sp>
        <p:nvSpPr>
          <p:cNvPr id="35" name="Shape 30"/>
          <p:cNvSpPr/>
          <p:nvPr/>
        </p:nvSpPr>
        <p:spPr>
          <a:xfrm>
            <a:off x="3200320" y="3901283"/>
            <a:ext cx="909416" cy="299633"/>
          </a:xfrm>
          <a:prstGeom prst="roundRect">
            <a:avLst>
              <a:gd name="adj" fmla="val 21192"/>
            </a:avLst>
          </a:prstGeom>
          <a:solidFill>
            <a:srgbClr val="FCFDFF"/>
          </a:solidFill>
          <a:ln/>
        </p:spPr>
        <p:txBody>
          <a:bodyPr/>
          <a:p/>
        </p:txBody>
      </p:sp>
      <p:sp>
        <p:nvSpPr>
          <p:cNvPr id="36" name="Text 31"/>
          <p:cNvSpPr txBox="1"/>
          <p:nvPr/>
        </p:nvSpPr>
        <p:spPr>
          <a:xfrm>
            <a:off x="3289218" y="3952082"/>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customer</a:t>
            </a:r>
            <a:endParaRPr lang="en-US" sz="1200" dirty="0"/>
          </a:p>
        </p:txBody>
      </p:sp>
      <p:sp>
        <p:nvSpPr>
          <p:cNvPr id="37" name="Shape 32"/>
          <p:cNvSpPr/>
          <p:nvPr/>
        </p:nvSpPr>
        <p:spPr>
          <a:xfrm>
            <a:off x="4160535" y="3901283"/>
            <a:ext cx="909416" cy="299633"/>
          </a:xfrm>
          <a:prstGeom prst="roundRect">
            <a:avLst>
              <a:gd name="adj" fmla="val 21192"/>
            </a:avLst>
          </a:prstGeom>
          <a:solidFill>
            <a:srgbClr val="FCFDFF"/>
          </a:solidFill>
          <a:ln/>
        </p:spPr>
        <p:txBody>
          <a:bodyPr/>
          <a:p/>
        </p:txBody>
      </p:sp>
      <p:sp>
        <p:nvSpPr>
          <p:cNvPr id="38" name="Text 33"/>
          <p:cNvSpPr txBox="1"/>
          <p:nvPr/>
        </p:nvSpPr>
        <p:spPr>
          <a:xfrm>
            <a:off x="4249433" y="3952082"/>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provider</a:t>
            </a:r>
            <a:endParaRPr lang="en-US" sz="1200" dirty="0"/>
          </a:p>
        </p:txBody>
      </p:sp>
      <p:sp>
        <p:nvSpPr>
          <p:cNvPr id="39" name="Shape 34"/>
          <p:cNvSpPr/>
          <p:nvPr/>
        </p:nvSpPr>
        <p:spPr>
          <a:xfrm>
            <a:off x="5120750" y="3901283"/>
            <a:ext cx="818038" cy="299633"/>
          </a:xfrm>
          <a:prstGeom prst="roundRect">
            <a:avLst>
              <a:gd name="adj" fmla="val 21192"/>
            </a:avLst>
          </a:prstGeom>
          <a:solidFill>
            <a:srgbClr val="FCFDFF"/>
          </a:solidFill>
          <a:ln/>
        </p:spPr>
        <p:txBody>
          <a:bodyPr/>
          <a:p/>
        </p:txBody>
      </p:sp>
      <p:sp>
        <p:nvSpPr>
          <p:cNvPr id="40" name="Text 35"/>
          <p:cNvSpPr txBox="1"/>
          <p:nvPr/>
        </p:nvSpPr>
        <p:spPr>
          <a:xfrm>
            <a:off x="5209648" y="395208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booking</a:t>
            </a:r>
            <a:endParaRPr lang="en-US" sz="1200" dirty="0"/>
          </a:p>
        </p:txBody>
      </p:sp>
      <p:sp>
        <p:nvSpPr>
          <p:cNvPr id="41" name="Shape 36"/>
          <p:cNvSpPr/>
          <p:nvPr/>
        </p:nvSpPr>
        <p:spPr>
          <a:xfrm>
            <a:off x="5989587" y="3901283"/>
            <a:ext cx="818038" cy="299633"/>
          </a:xfrm>
          <a:prstGeom prst="roundRect">
            <a:avLst>
              <a:gd name="adj" fmla="val 21192"/>
            </a:avLst>
          </a:prstGeom>
          <a:solidFill>
            <a:srgbClr val="FCFDFF"/>
          </a:solidFill>
          <a:ln/>
        </p:spPr>
        <p:txBody>
          <a:bodyPr/>
          <a:p/>
        </p:txBody>
      </p:sp>
      <p:sp>
        <p:nvSpPr>
          <p:cNvPr id="42" name="Text 37"/>
          <p:cNvSpPr txBox="1"/>
          <p:nvPr/>
        </p:nvSpPr>
        <p:spPr>
          <a:xfrm>
            <a:off x="6078485" y="395208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catalog</a:t>
            </a:r>
            <a:endParaRPr lang="en-US" sz="1200" dirty="0"/>
          </a:p>
        </p:txBody>
      </p:sp>
      <p:sp>
        <p:nvSpPr>
          <p:cNvPr id="43" name="Shape 38"/>
          <p:cNvSpPr/>
          <p:nvPr/>
        </p:nvSpPr>
        <p:spPr>
          <a:xfrm>
            <a:off x="6858424" y="3901283"/>
            <a:ext cx="818038" cy="299633"/>
          </a:xfrm>
          <a:prstGeom prst="roundRect">
            <a:avLst>
              <a:gd name="adj" fmla="val 21192"/>
            </a:avLst>
          </a:prstGeom>
          <a:solidFill>
            <a:srgbClr val="FCFDFF"/>
          </a:solidFill>
          <a:ln/>
        </p:spPr>
        <p:txBody>
          <a:bodyPr/>
          <a:p/>
        </p:txBody>
      </p:sp>
      <p:sp>
        <p:nvSpPr>
          <p:cNvPr id="44" name="Text 39"/>
          <p:cNvSpPr txBox="1"/>
          <p:nvPr/>
        </p:nvSpPr>
        <p:spPr>
          <a:xfrm>
            <a:off x="6947322" y="395208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pricing</a:t>
            </a:r>
            <a:endParaRPr lang="en-US" sz="1200" dirty="0"/>
          </a:p>
        </p:txBody>
      </p:sp>
      <p:sp>
        <p:nvSpPr>
          <p:cNvPr id="45" name="Shape 40"/>
          <p:cNvSpPr/>
          <p:nvPr/>
        </p:nvSpPr>
        <p:spPr>
          <a:xfrm>
            <a:off x="3200320" y="4251715"/>
            <a:ext cx="909416" cy="299633"/>
          </a:xfrm>
          <a:prstGeom prst="roundRect">
            <a:avLst>
              <a:gd name="adj" fmla="val 21192"/>
            </a:avLst>
          </a:prstGeom>
          <a:solidFill>
            <a:srgbClr val="FCFDFF"/>
          </a:solidFill>
          <a:ln/>
        </p:spPr>
        <p:txBody>
          <a:bodyPr/>
          <a:p/>
        </p:txBody>
      </p:sp>
      <p:sp>
        <p:nvSpPr>
          <p:cNvPr id="46" name="Text 41"/>
          <p:cNvSpPr txBox="1"/>
          <p:nvPr/>
        </p:nvSpPr>
        <p:spPr>
          <a:xfrm>
            <a:off x="3289218" y="4302514"/>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dispatch</a:t>
            </a:r>
            <a:endParaRPr lang="en-US" sz="1200" dirty="0"/>
          </a:p>
        </p:txBody>
      </p:sp>
      <p:sp>
        <p:nvSpPr>
          <p:cNvPr id="47" name="Shape 42"/>
          <p:cNvSpPr/>
          <p:nvPr/>
        </p:nvSpPr>
        <p:spPr>
          <a:xfrm>
            <a:off x="4160535" y="4251715"/>
            <a:ext cx="818038" cy="299633"/>
          </a:xfrm>
          <a:prstGeom prst="roundRect">
            <a:avLst>
              <a:gd name="adj" fmla="val 21192"/>
            </a:avLst>
          </a:prstGeom>
          <a:solidFill>
            <a:srgbClr val="FCFDFF"/>
          </a:solidFill>
          <a:ln/>
        </p:spPr>
        <p:txBody>
          <a:bodyPr/>
          <a:p/>
        </p:txBody>
      </p:sp>
      <p:sp>
        <p:nvSpPr>
          <p:cNvPr id="48" name="Text 43"/>
          <p:cNvSpPr txBox="1"/>
          <p:nvPr/>
        </p:nvSpPr>
        <p:spPr>
          <a:xfrm>
            <a:off x="4249433" y="4302514"/>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payment</a:t>
            </a:r>
            <a:endParaRPr lang="en-US" sz="1200" dirty="0"/>
          </a:p>
        </p:txBody>
      </p:sp>
      <p:sp>
        <p:nvSpPr>
          <p:cNvPr id="49" name="Shape 44"/>
          <p:cNvSpPr/>
          <p:nvPr/>
        </p:nvSpPr>
        <p:spPr>
          <a:xfrm>
            <a:off x="5029372" y="4251715"/>
            <a:ext cx="818038" cy="299633"/>
          </a:xfrm>
          <a:prstGeom prst="roundRect">
            <a:avLst>
              <a:gd name="adj" fmla="val 21192"/>
            </a:avLst>
          </a:prstGeom>
          <a:solidFill>
            <a:srgbClr val="FCFDFF"/>
          </a:solidFill>
          <a:ln/>
        </p:spPr>
        <p:txBody>
          <a:bodyPr/>
          <a:p/>
        </p:txBody>
      </p:sp>
      <p:sp>
        <p:nvSpPr>
          <p:cNvPr id="50" name="Text 45"/>
          <p:cNvSpPr txBox="1"/>
          <p:nvPr/>
        </p:nvSpPr>
        <p:spPr>
          <a:xfrm>
            <a:off x="5118270" y="4302514"/>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invoice</a:t>
            </a:r>
            <a:endParaRPr lang="en-US" sz="1200" dirty="0"/>
          </a:p>
        </p:txBody>
      </p:sp>
      <p:sp>
        <p:nvSpPr>
          <p:cNvPr id="51" name="Shape 46"/>
          <p:cNvSpPr/>
          <p:nvPr/>
        </p:nvSpPr>
        <p:spPr>
          <a:xfrm>
            <a:off x="5898209" y="4251715"/>
            <a:ext cx="1275227" cy="299633"/>
          </a:xfrm>
          <a:prstGeom prst="roundRect">
            <a:avLst>
              <a:gd name="adj" fmla="val 21192"/>
            </a:avLst>
          </a:prstGeom>
          <a:solidFill>
            <a:srgbClr val="FCFDFF"/>
          </a:solidFill>
          <a:ln/>
        </p:spPr>
        <p:txBody>
          <a:bodyPr/>
          <a:p/>
        </p:txBody>
      </p:sp>
      <p:sp>
        <p:nvSpPr>
          <p:cNvPr id="52" name="Text 47"/>
          <p:cNvSpPr txBox="1"/>
          <p:nvPr/>
        </p:nvSpPr>
        <p:spPr>
          <a:xfrm>
            <a:off x="5987107" y="4302514"/>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notification</a:t>
            </a:r>
            <a:endParaRPr lang="en-US" sz="1200" dirty="0"/>
          </a:p>
        </p:txBody>
      </p:sp>
      <p:sp>
        <p:nvSpPr>
          <p:cNvPr id="53" name="Shape 48"/>
          <p:cNvSpPr/>
          <p:nvPr/>
        </p:nvSpPr>
        <p:spPr>
          <a:xfrm>
            <a:off x="3200320" y="4602147"/>
            <a:ext cx="1000894" cy="299633"/>
          </a:xfrm>
          <a:prstGeom prst="roundRect">
            <a:avLst>
              <a:gd name="adj" fmla="val 21192"/>
            </a:avLst>
          </a:prstGeom>
          <a:solidFill>
            <a:srgbClr val="FCFDFF"/>
          </a:solidFill>
          <a:ln/>
        </p:spPr>
        <p:txBody>
          <a:bodyPr/>
          <a:p/>
        </p:txBody>
      </p:sp>
      <p:sp>
        <p:nvSpPr>
          <p:cNvPr id="54" name="Text 49"/>
          <p:cNvSpPr txBox="1"/>
          <p:nvPr/>
        </p:nvSpPr>
        <p:spPr>
          <a:xfrm>
            <a:off x="3289218" y="4652945"/>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complaint</a:t>
            </a:r>
            <a:endParaRPr lang="en-US" sz="1200" dirty="0"/>
          </a:p>
        </p:txBody>
      </p:sp>
      <p:sp>
        <p:nvSpPr>
          <p:cNvPr id="55" name="Shape 50"/>
          <p:cNvSpPr/>
          <p:nvPr/>
        </p:nvSpPr>
        <p:spPr>
          <a:xfrm>
            <a:off x="4252012" y="4602147"/>
            <a:ext cx="909416" cy="299633"/>
          </a:xfrm>
          <a:prstGeom prst="roundRect">
            <a:avLst>
              <a:gd name="adj" fmla="val 21192"/>
            </a:avLst>
          </a:prstGeom>
          <a:solidFill>
            <a:srgbClr val="FCFDFF"/>
          </a:solidFill>
          <a:ln/>
        </p:spPr>
        <p:txBody>
          <a:bodyPr/>
          <a:p/>
        </p:txBody>
      </p:sp>
      <p:sp>
        <p:nvSpPr>
          <p:cNvPr id="56" name="Text 51"/>
          <p:cNvSpPr txBox="1"/>
          <p:nvPr/>
        </p:nvSpPr>
        <p:spPr>
          <a:xfrm>
            <a:off x="4340910" y="4652945"/>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location</a:t>
            </a:r>
            <a:endParaRPr lang="en-US" sz="1200" dirty="0"/>
          </a:p>
        </p:txBody>
      </p:sp>
      <p:sp>
        <p:nvSpPr>
          <p:cNvPr id="57" name="Shape 52"/>
          <p:cNvSpPr/>
          <p:nvPr/>
        </p:nvSpPr>
        <p:spPr>
          <a:xfrm>
            <a:off x="5212228" y="4602147"/>
            <a:ext cx="543606" cy="299633"/>
          </a:xfrm>
          <a:prstGeom prst="roundRect">
            <a:avLst>
              <a:gd name="adj" fmla="val 21192"/>
            </a:avLst>
          </a:prstGeom>
          <a:solidFill>
            <a:srgbClr val="FCFDFF"/>
          </a:solidFill>
          <a:ln/>
        </p:spPr>
        <p:txBody>
          <a:bodyPr/>
          <a:p/>
        </p:txBody>
      </p:sp>
      <p:sp>
        <p:nvSpPr>
          <p:cNvPr id="58" name="Text 53"/>
          <p:cNvSpPr txBox="1"/>
          <p:nvPr/>
        </p:nvSpPr>
        <p:spPr>
          <a:xfrm>
            <a:off x="5301125" y="4652945"/>
            <a:ext cx="44200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chat</a:t>
            </a:r>
            <a:endParaRPr lang="en-US" sz="1200" dirty="0"/>
          </a:p>
        </p:txBody>
      </p:sp>
      <p:sp>
        <p:nvSpPr>
          <p:cNvPr id="59" name="Shape 54"/>
          <p:cNvSpPr/>
          <p:nvPr/>
        </p:nvSpPr>
        <p:spPr>
          <a:xfrm>
            <a:off x="5806632" y="4602147"/>
            <a:ext cx="1275227" cy="299633"/>
          </a:xfrm>
          <a:prstGeom prst="roundRect">
            <a:avLst>
              <a:gd name="adj" fmla="val 21192"/>
            </a:avLst>
          </a:prstGeom>
          <a:solidFill>
            <a:srgbClr val="FCFDFF"/>
          </a:solidFill>
          <a:ln/>
        </p:spPr>
        <p:txBody>
          <a:bodyPr/>
          <a:p/>
        </p:txBody>
      </p:sp>
      <p:sp>
        <p:nvSpPr>
          <p:cNvPr id="60" name="Text 55"/>
          <p:cNvSpPr txBox="1"/>
          <p:nvPr/>
        </p:nvSpPr>
        <p:spPr>
          <a:xfrm>
            <a:off x="5895530" y="4652945"/>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verification</a:t>
            </a:r>
            <a:endParaRPr lang="en-US" sz="1200" dirty="0"/>
          </a:p>
        </p:txBody>
      </p:sp>
      <p:sp>
        <p:nvSpPr>
          <p:cNvPr id="61" name="Shape 56"/>
          <p:cNvSpPr/>
          <p:nvPr/>
        </p:nvSpPr>
        <p:spPr>
          <a:xfrm>
            <a:off x="7132658" y="4602147"/>
            <a:ext cx="635083" cy="299633"/>
          </a:xfrm>
          <a:prstGeom prst="roundRect">
            <a:avLst>
              <a:gd name="adj" fmla="val 21192"/>
            </a:avLst>
          </a:prstGeom>
          <a:solidFill>
            <a:srgbClr val="FCFDFF"/>
          </a:solidFill>
          <a:ln/>
        </p:spPr>
        <p:txBody>
          <a:bodyPr/>
          <a:p/>
        </p:txBody>
      </p:sp>
      <p:sp>
        <p:nvSpPr>
          <p:cNvPr id="62" name="Text 57"/>
          <p:cNvSpPr txBox="1"/>
          <p:nvPr/>
        </p:nvSpPr>
        <p:spPr>
          <a:xfrm>
            <a:off x="7221555" y="4652945"/>
            <a:ext cx="53348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admin</a:t>
            </a:r>
            <a:endParaRPr lang="en-US" sz="1200" dirty="0"/>
          </a:p>
        </p:txBody>
      </p:sp>
      <p:sp>
        <p:nvSpPr>
          <p:cNvPr id="63" name="Shape 58"/>
          <p:cNvSpPr/>
          <p:nvPr/>
        </p:nvSpPr>
        <p:spPr>
          <a:xfrm>
            <a:off x="3200320" y="4952579"/>
            <a:ext cx="1000894" cy="299633"/>
          </a:xfrm>
          <a:prstGeom prst="roundRect">
            <a:avLst>
              <a:gd name="adj" fmla="val 21192"/>
            </a:avLst>
          </a:prstGeom>
          <a:solidFill>
            <a:srgbClr val="FCFDFF"/>
          </a:solidFill>
          <a:ln/>
        </p:spPr>
        <p:txBody>
          <a:bodyPr/>
          <a:p/>
        </p:txBody>
      </p:sp>
      <p:sp>
        <p:nvSpPr>
          <p:cNvPr id="64" name="Text 59"/>
          <p:cNvSpPr txBox="1"/>
          <p:nvPr/>
        </p:nvSpPr>
        <p:spPr>
          <a:xfrm>
            <a:off x="3289218" y="5003377"/>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reporting</a:t>
            </a:r>
            <a:endParaRPr lang="en-US" sz="1200" dirty="0"/>
          </a:p>
        </p:txBody>
      </p:sp>
      <p:sp>
        <p:nvSpPr>
          <p:cNvPr id="65" name="Shape 60"/>
          <p:cNvSpPr/>
          <p:nvPr/>
        </p:nvSpPr>
        <p:spPr>
          <a:xfrm>
            <a:off x="4252012" y="4952579"/>
            <a:ext cx="726561" cy="299633"/>
          </a:xfrm>
          <a:prstGeom prst="roundRect">
            <a:avLst>
              <a:gd name="adj" fmla="val 21192"/>
            </a:avLst>
          </a:prstGeom>
          <a:solidFill>
            <a:srgbClr val="FCFDFF"/>
          </a:solidFill>
          <a:ln/>
        </p:spPr>
        <p:txBody>
          <a:bodyPr/>
          <a:p/>
        </p:txBody>
      </p:sp>
      <p:sp>
        <p:nvSpPr>
          <p:cNvPr id="66" name="Text 61"/>
          <p:cNvSpPr txBox="1"/>
          <p:nvPr/>
        </p:nvSpPr>
        <p:spPr>
          <a:xfrm>
            <a:off x="4340910" y="5003377"/>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rating</a:t>
            </a:r>
            <a:endParaRPr lang="en-US" sz="1200" dirty="0"/>
          </a:p>
        </p:txBody>
      </p:sp>
      <p:sp>
        <p:nvSpPr>
          <p:cNvPr id="67" name="Shape 62"/>
          <p:cNvSpPr/>
          <p:nvPr/>
        </p:nvSpPr>
        <p:spPr>
          <a:xfrm>
            <a:off x="5029372" y="4952579"/>
            <a:ext cx="1000894" cy="299633"/>
          </a:xfrm>
          <a:prstGeom prst="roundRect">
            <a:avLst>
              <a:gd name="adj" fmla="val 21192"/>
            </a:avLst>
          </a:prstGeom>
          <a:solidFill>
            <a:srgbClr val="FCFDFF"/>
          </a:solidFill>
          <a:ln/>
        </p:spPr>
        <p:txBody>
          <a:bodyPr/>
          <a:p/>
        </p:txBody>
      </p:sp>
      <p:sp>
        <p:nvSpPr>
          <p:cNvPr id="68" name="Text 63"/>
          <p:cNvSpPr txBox="1"/>
          <p:nvPr/>
        </p:nvSpPr>
        <p:spPr>
          <a:xfrm>
            <a:off x="5118270" y="5003377"/>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promotion</a:t>
            </a:r>
            <a:endParaRPr lang="en-US" sz="1200" dirty="0"/>
          </a:p>
        </p:txBody>
      </p:sp>
      <p:sp>
        <p:nvSpPr>
          <p:cNvPr id="69" name="Shape 64"/>
          <p:cNvSpPr/>
          <p:nvPr/>
        </p:nvSpPr>
        <p:spPr>
          <a:xfrm>
            <a:off x="6081064" y="4952579"/>
            <a:ext cx="726561" cy="299633"/>
          </a:xfrm>
          <a:prstGeom prst="roundRect">
            <a:avLst>
              <a:gd name="adj" fmla="val 21192"/>
            </a:avLst>
          </a:prstGeom>
          <a:solidFill>
            <a:srgbClr val="FCFDFF"/>
          </a:solidFill>
          <a:ln/>
        </p:spPr>
        <p:txBody>
          <a:bodyPr/>
          <a:p/>
        </p:txBody>
      </p:sp>
      <p:sp>
        <p:nvSpPr>
          <p:cNvPr id="70" name="Text 65"/>
          <p:cNvSpPr txBox="1"/>
          <p:nvPr/>
        </p:nvSpPr>
        <p:spPr>
          <a:xfrm>
            <a:off x="6169962" y="5003377"/>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outbox</a:t>
            </a:r>
            <a:endParaRPr lang="en-US" sz="1200" dirty="0"/>
          </a:p>
        </p:txBody>
      </p:sp>
      <p:sp>
        <p:nvSpPr>
          <p:cNvPr id="71" name="Text 66"/>
          <p:cNvSpPr txBox="1"/>
          <p:nvPr/>
        </p:nvSpPr>
        <p:spPr>
          <a:xfrm>
            <a:off x="8762781" y="1904952"/>
            <a:ext cx="2773611"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via host.docker.internal</a:t>
            </a:r>
            <a:endParaRPr lang="en-US" sz="1200" dirty="0"/>
          </a:p>
        </p:txBody>
      </p:sp>
      <p:sp>
        <p:nvSpPr>
          <p:cNvPr id="72" name="Shape 67"/>
          <p:cNvSpPr/>
          <p:nvPr/>
        </p:nvSpPr>
        <p:spPr>
          <a:xfrm>
            <a:off x="8762781" y="2222444"/>
            <a:ext cx="2476438" cy="888978"/>
          </a:xfrm>
          <a:prstGeom prst="roundRect">
            <a:avLst>
              <a:gd name="adj" fmla="val 10000"/>
            </a:avLst>
          </a:prstGeom>
          <a:solidFill>
            <a:srgbClr val="FCFDFF"/>
          </a:solidFill>
          <a:ln w="12700">
            <a:solidFill>
              <a:srgbClr val="2F5C9A"/>
            </a:solidFill>
            <a:prstDash val="solid"/>
          </a:ln>
        </p:spPr>
        <p:txBody>
          <a:bodyPr/>
          <a:p/>
        </p:txBody>
      </p:sp>
      <p:sp>
        <p:nvSpPr>
          <p:cNvPr id="73" name="Shape 68"/>
          <p:cNvSpPr/>
          <p:nvPr/>
        </p:nvSpPr>
        <p:spPr>
          <a:xfrm>
            <a:off x="8762781" y="2222444"/>
            <a:ext cx="50799" cy="888978"/>
          </a:xfrm>
          <a:prstGeom prst="roundRect">
            <a:avLst>
              <a:gd name="adj" fmla="val 50000"/>
            </a:avLst>
          </a:prstGeom>
          <a:solidFill>
            <a:srgbClr val="2F5C9A"/>
          </a:solidFill>
          <a:ln/>
        </p:spPr>
        <p:txBody>
          <a:bodyPr/>
          <a:p/>
        </p:txBody>
      </p:sp>
      <p:pic>
        <p:nvPicPr>
          <p:cNvPr id="74" name="Image 3" descr="preencoded.png">    </p:cNvPr>
          <p:cNvPicPr>
            <a:picLocks noChangeAspect="1"/>
          </p:cNvPicPr>
          <p:nvPr/>
        </p:nvPicPr>
        <p:blipFill>
          <a:blip r:embed="rId4"/>
          <a:stretch>
            <a:fillRect/>
          </a:stretch>
        </p:blipFill>
        <p:spPr>
          <a:xfrm>
            <a:off x="8927877" y="2327812"/>
            <a:ext cx="190495" cy="190495"/>
          </a:xfrm>
          <a:prstGeom prst="rect">
            <a:avLst/>
          </a:prstGeom>
        </p:spPr>
      </p:pic>
      <p:sp>
        <p:nvSpPr>
          <p:cNvPr id="75" name="Text 69"/>
          <p:cNvSpPr txBox="1"/>
          <p:nvPr/>
        </p:nvSpPr>
        <p:spPr>
          <a:xfrm>
            <a:off x="9181870" y="2324042"/>
            <a:ext cx="122890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PostgreSQL 18</a:t>
            </a:r>
            <a:endParaRPr lang="en-US" sz="1300" dirty="0"/>
          </a:p>
        </p:txBody>
      </p:sp>
      <p:sp>
        <p:nvSpPr>
          <p:cNvPr id="76" name="Text 70"/>
          <p:cNvSpPr txBox="1"/>
          <p:nvPr/>
        </p:nvSpPr>
        <p:spPr>
          <a:xfrm>
            <a:off x="8927877" y="2547477"/>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Windows service · :5432</a:t>
            </a:r>
            <a:endParaRPr lang="en-US" sz="1200" dirty="0"/>
          </a:p>
        </p:txBody>
      </p:sp>
      <p:sp>
        <p:nvSpPr>
          <p:cNvPr id="77" name="Shape 71"/>
          <p:cNvSpPr/>
          <p:nvPr/>
        </p:nvSpPr>
        <p:spPr>
          <a:xfrm>
            <a:off x="8762781" y="3301917"/>
            <a:ext cx="2476438" cy="888978"/>
          </a:xfrm>
          <a:prstGeom prst="roundRect">
            <a:avLst>
              <a:gd name="adj" fmla="val 10000"/>
            </a:avLst>
          </a:prstGeom>
          <a:solidFill>
            <a:srgbClr val="FCFDFF"/>
          </a:solidFill>
          <a:ln w="12700">
            <a:solidFill>
              <a:srgbClr val="C0352B"/>
            </a:solidFill>
            <a:prstDash val="solid"/>
          </a:ln>
        </p:spPr>
        <p:txBody>
          <a:bodyPr/>
          <a:p/>
        </p:txBody>
      </p:sp>
      <p:sp>
        <p:nvSpPr>
          <p:cNvPr id="78" name="Shape 72"/>
          <p:cNvSpPr/>
          <p:nvPr/>
        </p:nvSpPr>
        <p:spPr>
          <a:xfrm>
            <a:off x="8762781" y="3301917"/>
            <a:ext cx="50799" cy="888978"/>
          </a:xfrm>
          <a:prstGeom prst="roundRect">
            <a:avLst>
              <a:gd name="adj" fmla="val 50000"/>
            </a:avLst>
          </a:prstGeom>
          <a:solidFill>
            <a:srgbClr val="C0352B"/>
          </a:solidFill>
          <a:ln/>
        </p:spPr>
        <p:txBody>
          <a:bodyPr/>
          <a:p/>
        </p:txBody>
      </p:sp>
      <p:pic>
        <p:nvPicPr>
          <p:cNvPr id="79" name="Image 4" descr="preencoded.png">    </p:cNvPr>
          <p:cNvPicPr>
            <a:picLocks noChangeAspect="1"/>
          </p:cNvPicPr>
          <p:nvPr/>
        </p:nvPicPr>
        <p:blipFill>
          <a:blip r:embed="rId5"/>
          <a:stretch>
            <a:fillRect/>
          </a:stretch>
        </p:blipFill>
        <p:spPr>
          <a:xfrm>
            <a:off x="8927877" y="3407285"/>
            <a:ext cx="190495" cy="190495"/>
          </a:xfrm>
          <a:prstGeom prst="rect">
            <a:avLst/>
          </a:prstGeom>
        </p:spPr>
      </p:pic>
      <p:sp>
        <p:nvSpPr>
          <p:cNvPr id="80" name="Text 73"/>
          <p:cNvSpPr txBox="1"/>
          <p:nvPr/>
        </p:nvSpPr>
        <p:spPr>
          <a:xfrm>
            <a:off x="9181870" y="3403515"/>
            <a:ext cx="48814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81" name="Text 74"/>
          <p:cNvSpPr txBox="1"/>
          <p:nvPr/>
        </p:nvSpPr>
        <p:spPr>
          <a:xfrm>
            <a:off x="8927877" y="3626950"/>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Memurai or container · :6379</a:t>
            </a:r>
            <a:endParaRPr lang="en-US" sz="1200" dirty="0"/>
          </a:p>
        </p:txBody>
      </p:sp>
      <p:sp>
        <p:nvSpPr>
          <p:cNvPr id="82" name="Shape 75"/>
          <p:cNvSpPr/>
          <p:nvPr/>
        </p:nvSpPr>
        <p:spPr>
          <a:xfrm>
            <a:off x="8762781" y="4381390"/>
            <a:ext cx="2476438" cy="1206470"/>
          </a:xfrm>
          <a:prstGeom prst="roundRect">
            <a:avLst>
              <a:gd name="adj" fmla="val 7368"/>
            </a:avLst>
          </a:prstGeom>
          <a:solidFill>
            <a:srgbClr val="FCFDFF"/>
          </a:solidFill>
          <a:ln w="12700">
            <a:solidFill>
              <a:srgbClr val="4B4B9A"/>
            </a:solidFill>
            <a:prstDash val="solid"/>
          </a:ln>
        </p:spPr>
        <p:txBody>
          <a:bodyPr/>
          <a:p/>
        </p:txBody>
      </p:sp>
      <p:sp>
        <p:nvSpPr>
          <p:cNvPr id="83" name="Shape 76"/>
          <p:cNvSpPr/>
          <p:nvPr/>
        </p:nvSpPr>
        <p:spPr>
          <a:xfrm>
            <a:off x="8762781" y="4381390"/>
            <a:ext cx="50799" cy="1206470"/>
          </a:xfrm>
          <a:prstGeom prst="roundRect">
            <a:avLst>
              <a:gd name="adj" fmla="val 50000"/>
            </a:avLst>
          </a:prstGeom>
          <a:solidFill>
            <a:srgbClr val="4B4B9A"/>
          </a:solidFill>
          <a:ln/>
        </p:spPr>
        <p:txBody>
          <a:bodyPr/>
          <a:p/>
        </p:txBody>
      </p:sp>
      <p:pic>
        <p:nvPicPr>
          <p:cNvPr id="84" name="Image 5" descr="preencoded.png">    </p:cNvPr>
          <p:cNvPicPr>
            <a:picLocks noChangeAspect="1"/>
          </p:cNvPicPr>
          <p:nvPr/>
        </p:nvPicPr>
        <p:blipFill>
          <a:blip r:embed="rId6"/>
          <a:stretch>
            <a:fillRect/>
          </a:stretch>
        </p:blipFill>
        <p:spPr>
          <a:xfrm>
            <a:off x="8927877" y="4486758"/>
            <a:ext cx="190495" cy="190495"/>
          </a:xfrm>
          <a:prstGeom prst="rect">
            <a:avLst/>
          </a:prstGeom>
        </p:spPr>
      </p:pic>
      <p:sp>
        <p:nvSpPr>
          <p:cNvPr id="85" name="Text 77"/>
          <p:cNvSpPr txBox="1"/>
          <p:nvPr/>
        </p:nvSpPr>
        <p:spPr>
          <a:xfrm>
            <a:off x="9181870" y="4482988"/>
            <a:ext cx="1338245"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 4.1 KRaft</a:t>
            </a:r>
            <a:endParaRPr lang="en-US" sz="1300" dirty="0"/>
          </a:p>
        </p:txBody>
      </p:sp>
      <p:sp>
        <p:nvSpPr>
          <p:cNvPr id="86" name="Text 78"/>
          <p:cNvSpPr txBox="1"/>
          <p:nvPr/>
        </p:nvSpPr>
        <p:spPr>
          <a:xfrm>
            <a:off x="8927877" y="4706423"/>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C:\kafka · :9094</a:t>
            </a:r>
            <a:endParaRPr lang="en-US" sz="1200" dirty="0"/>
          </a:p>
        </p:txBody>
      </p:sp>
      <p:sp>
        <p:nvSpPr>
          <p:cNvPr id="87" name="Text 79"/>
          <p:cNvSpPr txBox="1"/>
          <p:nvPr/>
        </p:nvSpPr>
        <p:spPr>
          <a:xfrm>
            <a:off x="8927877" y="4937498"/>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start by hand after reboot</a:t>
            </a:r>
            <a:endParaRPr lang="en-US" sz="1200" dirty="0"/>
          </a:p>
        </p:txBody>
      </p:sp>
      <p:sp>
        <p:nvSpPr>
          <p:cNvPr id="88" name="Shape 80"/>
          <p:cNvSpPr/>
          <p:nvPr/>
        </p:nvSpPr>
        <p:spPr>
          <a:xfrm>
            <a:off x="2666933" y="2889178"/>
            <a:ext cx="406390" cy="63"/>
          </a:xfrm>
          <a:prstGeom prst="line">
            <a:avLst/>
          </a:prstGeom>
          <a:noFill/>
          <a:ln w="19050">
            <a:solidFill>
              <a:srgbClr val="5C6B8A"/>
            </a:solidFill>
            <a:prstDash val="solid"/>
            <a:tailEnd type="triangle"/>
          </a:ln>
        </p:spPr>
        <p:txBody>
          <a:bodyPr/>
          <a:p/>
        </p:txBody>
      </p:sp>
      <p:sp>
        <p:nvSpPr>
          <p:cNvPr id="89" name="Shape 81"/>
          <p:cNvSpPr/>
          <p:nvPr/>
        </p:nvSpPr>
        <p:spPr>
          <a:xfrm>
            <a:off x="4660783" y="2889178"/>
            <a:ext cx="190495" cy="63"/>
          </a:xfrm>
          <a:prstGeom prst="line">
            <a:avLst/>
          </a:prstGeom>
          <a:noFill/>
          <a:ln w="19050">
            <a:solidFill>
              <a:srgbClr val="5C6B8A"/>
            </a:solidFill>
            <a:prstDash val="solid"/>
            <a:tailEnd type="triangle"/>
          </a:ln>
        </p:spPr>
        <p:txBody>
          <a:bodyPr/>
          <a:p/>
        </p:txBody>
      </p:sp>
      <p:sp>
        <p:nvSpPr>
          <p:cNvPr id="90" name="Shape 82"/>
          <p:cNvSpPr/>
          <p:nvPr/>
        </p:nvSpPr>
        <p:spPr>
          <a:xfrm>
            <a:off x="6438739" y="2889178"/>
            <a:ext cx="190495" cy="63"/>
          </a:xfrm>
          <a:prstGeom prst="line">
            <a:avLst/>
          </a:prstGeom>
          <a:noFill/>
          <a:ln w="19050">
            <a:solidFill>
              <a:srgbClr val="5C6B8A"/>
            </a:solidFill>
            <a:prstDash val="solid"/>
            <a:tailEnd type="triangle"/>
          </a:ln>
        </p:spPr>
        <p:txBody>
          <a:bodyPr/>
          <a:p/>
        </p:txBody>
      </p:sp>
      <p:sp>
        <p:nvSpPr>
          <p:cNvPr id="91" name="Shape 83"/>
          <p:cNvSpPr/>
          <p:nvPr/>
        </p:nvSpPr>
        <p:spPr>
          <a:xfrm>
            <a:off x="8508787" y="2666933"/>
            <a:ext cx="253994" cy="63"/>
          </a:xfrm>
          <a:prstGeom prst="line">
            <a:avLst/>
          </a:prstGeom>
          <a:noFill/>
          <a:ln w="19050">
            <a:solidFill>
              <a:srgbClr val="2F5C9A"/>
            </a:solidFill>
            <a:prstDash val="solid"/>
            <a:headEnd type="triangle"/>
            <a:tailEnd type="triangle"/>
          </a:ln>
        </p:spPr>
        <p:txBody>
          <a:bodyPr/>
          <a:p/>
        </p:txBody>
      </p:sp>
      <p:sp>
        <p:nvSpPr>
          <p:cNvPr id="92" name="Shape 84"/>
          <p:cNvSpPr/>
          <p:nvPr/>
        </p:nvSpPr>
        <p:spPr>
          <a:xfrm>
            <a:off x="8508787" y="3746406"/>
            <a:ext cx="253994" cy="63"/>
          </a:xfrm>
          <a:prstGeom prst="line">
            <a:avLst/>
          </a:prstGeom>
          <a:noFill/>
          <a:ln w="19050">
            <a:solidFill>
              <a:srgbClr val="C0352B"/>
            </a:solidFill>
            <a:prstDash val="solid"/>
            <a:headEnd type="triangle"/>
            <a:tailEnd type="triangle"/>
          </a:ln>
        </p:spPr>
        <p:txBody>
          <a:bodyPr/>
          <a:p/>
        </p:txBody>
      </p:sp>
      <p:sp>
        <p:nvSpPr>
          <p:cNvPr id="93" name="Shape 85"/>
          <p:cNvSpPr/>
          <p:nvPr/>
        </p:nvSpPr>
        <p:spPr>
          <a:xfrm>
            <a:off x="8508787" y="4984625"/>
            <a:ext cx="253994" cy="63"/>
          </a:xfrm>
          <a:prstGeom prst="line">
            <a:avLst/>
          </a:prstGeom>
          <a:noFill/>
          <a:ln w="19050">
            <a:solidFill>
              <a:srgbClr val="4B4B9A"/>
            </a:solidFill>
            <a:prstDash val="solid"/>
            <a:headEnd type="triangle"/>
            <a:tailEnd type="triangle"/>
          </a:ln>
        </p:spPr>
        <p:txBody>
          <a:bodyPr/>
          <a:p/>
        </p:txBody>
      </p:sp>
      <p:sp>
        <p:nvSpPr>
          <p:cNvPr id="94" name="Text 86"/>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Local deployment</a:t>
            </a:r>
            <a:endParaRPr lang="en-US" sz="1200" dirty="0"/>
          </a:p>
        </p:txBody>
      </p:sp>
      <p:sp>
        <p:nvSpPr>
          <p:cNvPr id="95" name="Text 87"/>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STEPS 1–5</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Build once, then start five service containers</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txBody>
          <a:bodyPr/>
          <a:p/>
        </p:txBody>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Create .env</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Fill every secret with a fresh value</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txBody>
          <a:bodyPr/>
          <a:p/>
        </p:txBody>
      </p:sp>
      <p:sp>
        <p:nvSpPr>
          <p:cNvPr id="9" name="Shape 7"/>
          <p:cNvSpPr/>
          <p:nvPr/>
        </p:nvSpPr>
        <p:spPr>
          <a:xfrm>
            <a:off x="5248144" y="1909913"/>
            <a:ext cx="38099" cy="365711"/>
          </a:xfrm>
          <a:prstGeom prst="roundRect">
            <a:avLst>
              <a:gd name="adj" fmla="val 50000"/>
            </a:avLst>
          </a:prstGeom>
          <a:solidFill>
            <a:srgbClr val="2454C5"/>
          </a:solidFill>
          <a:ln/>
        </p:spPr>
        <p:txBody>
          <a:bodyPr/>
          <a:p/>
        </p:txBody>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cp .env.example .env</a:t>
            </a:r>
            <a:endParaRPr lang="en-US" sz="1200" dirty="0"/>
          </a:p>
        </p:txBody>
      </p:sp>
      <p:sp>
        <p:nvSpPr>
          <p:cNvPr id="11" name="Shape 9"/>
          <p:cNvSpPr/>
          <p:nvPr/>
        </p:nvSpPr>
        <p:spPr>
          <a:xfrm>
            <a:off x="812780" y="2403911"/>
            <a:ext cx="10566136" cy="63"/>
          </a:xfrm>
          <a:prstGeom prst="line">
            <a:avLst/>
          </a:prstGeom>
          <a:noFill/>
          <a:ln w="6350">
            <a:solidFill>
              <a:srgbClr val="D5DEEC"/>
            </a:solidFill>
            <a:prstDash val="solid"/>
          </a:ln>
        </p:spPr>
        <p:txBody>
          <a:bodyPr/>
          <a:p/>
        </p:txBody>
      </p:sp>
      <p:sp>
        <p:nvSpPr>
          <p:cNvPr id="12" name="Text 10"/>
          <p:cNvSpPr txBox="1"/>
          <p:nvPr/>
        </p:nvSpPr>
        <p:spPr>
          <a:xfrm>
            <a:off x="812780" y="2633696"/>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1203295" y="2541028"/>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Build the reactor</a:t>
            </a:r>
            <a:endParaRPr lang="en-US" sz="1300" dirty="0"/>
          </a:p>
        </p:txBody>
      </p:sp>
      <p:sp>
        <p:nvSpPr>
          <p:cNvPr id="14" name="Text 12"/>
          <p:cNvSpPr txBox="1"/>
          <p:nvPr/>
        </p:nvSpPr>
        <p:spPr>
          <a:xfrm>
            <a:off x="1203295" y="2797502"/>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shared libs, 20 services, 4 apps; JDK 25</a:t>
            </a:r>
            <a:endParaRPr lang="en-US" sz="1200" dirty="0"/>
          </a:p>
        </p:txBody>
      </p:sp>
      <p:sp>
        <p:nvSpPr>
          <p:cNvPr id="15" name="Shape 13"/>
          <p:cNvSpPr/>
          <p:nvPr/>
        </p:nvSpPr>
        <p:spPr>
          <a:xfrm>
            <a:off x="5248144" y="2486459"/>
            <a:ext cx="6130772" cy="579026"/>
          </a:xfrm>
          <a:prstGeom prst="roundRect">
            <a:avLst>
              <a:gd name="adj" fmla="val 8773"/>
            </a:avLst>
          </a:prstGeom>
          <a:solidFill>
            <a:srgbClr val="E7EEFA"/>
          </a:solidFill>
          <a:ln/>
        </p:spPr>
        <p:txBody>
          <a:bodyPr/>
          <a:p/>
        </p:txBody>
      </p:sp>
      <p:sp>
        <p:nvSpPr>
          <p:cNvPr id="16" name="Shape 14"/>
          <p:cNvSpPr/>
          <p:nvPr/>
        </p:nvSpPr>
        <p:spPr>
          <a:xfrm>
            <a:off x="5248144" y="2486459"/>
            <a:ext cx="38099" cy="579026"/>
          </a:xfrm>
          <a:prstGeom prst="roundRect">
            <a:avLst>
              <a:gd name="adj" fmla="val 50000"/>
            </a:avLst>
          </a:prstGeom>
          <a:solidFill>
            <a:srgbClr val="2454C5"/>
          </a:solidFill>
          <a:ln/>
        </p:spPr>
        <p:txBody>
          <a:bodyPr/>
          <a:p/>
        </p:txBody>
      </p:sp>
      <p:sp>
        <p:nvSpPr>
          <p:cNvPr id="17" name="Text 15"/>
          <p:cNvSpPr txBox="1"/>
          <p:nvPr/>
        </p:nvSpPr>
        <p:spPr>
          <a:xfrm>
            <a:off x="5413240" y="2562657"/>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cd ji-hajoor   # repository root</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mvn -q -DskipTests -Djacoco.skip=true package</a:t>
            </a:r>
            <a:endParaRPr lang="en-US" sz="1200" dirty="0"/>
          </a:p>
        </p:txBody>
      </p:sp>
      <p:sp>
        <p:nvSpPr>
          <p:cNvPr id="18" name="Shape 16"/>
          <p:cNvSpPr/>
          <p:nvPr/>
        </p:nvSpPr>
        <p:spPr>
          <a:xfrm>
            <a:off x="812780" y="3141683"/>
            <a:ext cx="10566136" cy="63"/>
          </a:xfrm>
          <a:prstGeom prst="line">
            <a:avLst/>
          </a:prstGeom>
          <a:noFill/>
          <a:ln w="6350">
            <a:solidFill>
              <a:srgbClr val="D5DEEC"/>
            </a:solidFill>
            <a:prstDash val="solid"/>
          </a:ln>
        </p:spPr>
        <p:txBody>
          <a:bodyPr/>
          <a:p/>
        </p:txBody>
      </p:sp>
      <p:sp>
        <p:nvSpPr>
          <p:cNvPr id="19" name="Text 17"/>
          <p:cNvSpPr txBox="1"/>
          <p:nvPr/>
        </p:nvSpPr>
        <p:spPr>
          <a:xfrm>
            <a:off x="812780" y="3371468"/>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03</a:t>
            </a:r>
            <a:endParaRPr lang="en-US" sz="1600" dirty="0"/>
          </a:p>
        </p:txBody>
      </p:sp>
      <p:sp>
        <p:nvSpPr>
          <p:cNvPr id="20" name="Text 18"/>
          <p:cNvSpPr txBox="1"/>
          <p:nvPr/>
        </p:nvSpPr>
        <p:spPr>
          <a:xfrm>
            <a:off x="1203295" y="3278800"/>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Rebuild after a change</a:t>
            </a:r>
            <a:endParaRPr lang="en-US" sz="1300" dirty="0"/>
          </a:p>
        </p:txBody>
      </p:sp>
      <p:sp>
        <p:nvSpPr>
          <p:cNvPr id="21" name="Text 19"/>
          <p:cNvSpPr txBox="1"/>
          <p:nvPr/>
        </p:nvSpPr>
        <p:spPr>
          <a:xfrm>
            <a:off x="1203295" y="3535274"/>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Only the deployable that hosts it</a:t>
            </a:r>
            <a:endParaRPr lang="en-US" sz="1200" dirty="0"/>
          </a:p>
        </p:txBody>
      </p:sp>
      <p:sp>
        <p:nvSpPr>
          <p:cNvPr id="22" name="Shape 20"/>
          <p:cNvSpPr/>
          <p:nvPr/>
        </p:nvSpPr>
        <p:spPr>
          <a:xfrm>
            <a:off x="5248144" y="3224231"/>
            <a:ext cx="6130772" cy="579026"/>
          </a:xfrm>
          <a:prstGeom prst="roundRect">
            <a:avLst>
              <a:gd name="adj" fmla="val 8773"/>
            </a:avLst>
          </a:prstGeom>
          <a:solidFill>
            <a:srgbClr val="E7EEFA"/>
          </a:solidFill>
          <a:ln/>
        </p:spPr>
        <p:txBody>
          <a:bodyPr/>
          <a:p/>
        </p:txBody>
      </p:sp>
      <p:sp>
        <p:nvSpPr>
          <p:cNvPr id="23" name="Shape 21"/>
          <p:cNvSpPr/>
          <p:nvPr/>
        </p:nvSpPr>
        <p:spPr>
          <a:xfrm>
            <a:off x="5248144" y="3224231"/>
            <a:ext cx="38099" cy="579026"/>
          </a:xfrm>
          <a:prstGeom prst="roundRect">
            <a:avLst>
              <a:gd name="adj" fmla="val 50000"/>
            </a:avLst>
          </a:prstGeom>
          <a:solidFill>
            <a:srgbClr val="2454C5"/>
          </a:solidFill>
          <a:ln/>
        </p:spPr>
        <p:txBody>
          <a:bodyPr/>
          <a:p/>
        </p:txBody>
      </p:sp>
      <p:sp>
        <p:nvSpPr>
          <p:cNvPr id="24" name="Text 22"/>
          <p:cNvSpPr txBox="1"/>
          <p:nvPr/>
        </p:nvSpPr>
        <p:spPr>
          <a:xfrm>
            <a:off x="5413240" y="3300429"/>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mvn -q -DskipTests -Djacoco.skip=true package \</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  -pl apps/&lt;deployable&gt; -am</a:t>
            </a:r>
            <a:endParaRPr lang="en-US" sz="1200" dirty="0"/>
          </a:p>
        </p:txBody>
      </p:sp>
      <p:sp>
        <p:nvSpPr>
          <p:cNvPr id="25" name="Shape 23"/>
          <p:cNvSpPr/>
          <p:nvPr/>
        </p:nvSpPr>
        <p:spPr>
          <a:xfrm>
            <a:off x="812780" y="3879455"/>
            <a:ext cx="10566136" cy="63"/>
          </a:xfrm>
          <a:prstGeom prst="line">
            <a:avLst/>
          </a:prstGeom>
          <a:noFill/>
          <a:ln w="6350">
            <a:solidFill>
              <a:srgbClr val="D5DEEC"/>
            </a:solidFill>
            <a:prstDash val="solid"/>
          </a:ln>
        </p:spPr>
        <p:txBody>
          <a:bodyPr/>
          <a:p/>
        </p:txBody>
      </p:sp>
      <p:sp>
        <p:nvSpPr>
          <p:cNvPr id="26" name="Text 24"/>
          <p:cNvSpPr txBox="1"/>
          <p:nvPr/>
        </p:nvSpPr>
        <p:spPr>
          <a:xfrm>
            <a:off x="812780" y="410924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04</a:t>
            </a:r>
            <a:endParaRPr lang="en-US" sz="1600" dirty="0"/>
          </a:p>
        </p:txBody>
      </p:sp>
      <p:sp>
        <p:nvSpPr>
          <p:cNvPr id="27" name="Text 25"/>
          <p:cNvSpPr txBox="1"/>
          <p:nvPr/>
        </p:nvSpPr>
        <p:spPr>
          <a:xfrm>
            <a:off x="1203295" y="401657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Start Kafka and Redis</a:t>
            </a:r>
            <a:endParaRPr lang="en-US" sz="1300" dirty="0"/>
          </a:p>
        </p:txBody>
      </p:sp>
      <p:sp>
        <p:nvSpPr>
          <p:cNvPr id="28" name="Text 26"/>
          <p:cNvSpPr txBox="1"/>
          <p:nvPr/>
        </p:nvSpPr>
        <p:spPr>
          <a:xfrm>
            <a:off x="1203295" y="427304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Postgres runs as a Windows service</a:t>
            </a:r>
            <a:endParaRPr lang="en-US" sz="1200" dirty="0"/>
          </a:p>
        </p:txBody>
      </p:sp>
      <p:sp>
        <p:nvSpPr>
          <p:cNvPr id="29" name="Shape 27"/>
          <p:cNvSpPr/>
          <p:nvPr/>
        </p:nvSpPr>
        <p:spPr>
          <a:xfrm>
            <a:off x="5248144" y="3962003"/>
            <a:ext cx="6130772" cy="579026"/>
          </a:xfrm>
          <a:prstGeom prst="roundRect">
            <a:avLst>
              <a:gd name="adj" fmla="val 8773"/>
            </a:avLst>
          </a:prstGeom>
          <a:solidFill>
            <a:srgbClr val="E7EEFA"/>
          </a:solidFill>
          <a:ln/>
        </p:spPr>
        <p:txBody>
          <a:bodyPr/>
          <a:p/>
        </p:txBody>
      </p:sp>
      <p:sp>
        <p:nvSpPr>
          <p:cNvPr id="30" name="Shape 28"/>
          <p:cNvSpPr/>
          <p:nvPr/>
        </p:nvSpPr>
        <p:spPr>
          <a:xfrm>
            <a:off x="5248144" y="3962003"/>
            <a:ext cx="38099" cy="579026"/>
          </a:xfrm>
          <a:prstGeom prst="roundRect">
            <a:avLst>
              <a:gd name="adj" fmla="val 50000"/>
            </a:avLst>
          </a:prstGeom>
          <a:solidFill>
            <a:srgbClr val="2454C5"/>
          </a:solidFill>
          <a:ln/>
        </p:spPr>
        <p:txBody>
          <a:bodyPr/>
          <a:p/>
        </p:txBody>
      </p:sp>
      <p:sp>
        <p:nvSpPr>
          <p:cNvPr id="31" name="Text 29"/>
          <p:cNvSpPr txBox="1"/>
          <p:nvPr/>
        </p:nvSpPr>
        <p:spPr>
          <a:xfrm>
            <a:off x="5413240" y="403820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C:\kafka\bin\windows\kafka-server-start.bat C:\kafka\config\server.properties</a:t>
            </a:r>
            <a:endParaRPr lang="en-US" sz="1200" dirty="0"/>
          </a:p>
        </p:txBody>
      </p:sp>
      <p:sp>
        <p:nvSpPr>
          <p:cNvPr id="32" name="Shape 30"/>
          <p:cNvSpPr/>
          <p:nvPr/>
        </p:nvSpPr>
        <p:spPr>
          <a:xfrm>
            <a:off x="812780" y="4617228"/>
            <a:ext cx="10566136" cy="63"/>
          </a:xfrm>
          <a:prstGeom prst="line">
            <a:avLst/>
          </a:prstGeom>
          <a:noFill/>
          <a:ln w="6350">
            <a:solidFill>
              <a:srgbClr val="D5DEEC"/>
            </a:solidFill>
            <a:prstDash val="solid"/>
          </a:ln>
        </p:spPr>
        <p:txBody>
          <a:bodyPr/>
          <a:p/>
        </p:txBody>
      </p:sp>
      <p:sp>
        <p:nvSpPr>
          <p:cNvPr id="33" name="Text 31"/>
          <p:cNvSpPr txBox="1"/>
          <p:nvPr/>
        </p:nvSpPr>
        <p:spPr>
          <a:xfrm>
            <a:off x="812780" y="479244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05</a:t>
            </a:r>
            <a:endParaRPr lang="en-US" sz="1600" dirty="0"/>
          </a:p>
        </p:txBody>
      </p:sp>
      <p:sp>
        <p:nvSpPr>
          <p:cNvPr id="34" name="Text 32"/>
          <p:cNvSpPr txBox="1"/>
          <p:nvPr/>
        </p:nvSpPr>
        <p:spPr>
          <a:xfrm>
            <a:off x="1203295" y="469977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Start the stack</a:t>
            </a:r>
            <a:endParaRPr lang="en-US" sz="1300" dirty="0"/>
          </a:p>
        </p:txBody>
      </p:sp>
      <p:sp>
        <p:nvSpPr>
          <p:cNvPr id="35" name="Text 33"/>
          <p:cNvSpPr txBox="1"/>
          <p:nvPr/>
        </p:nvSpPr>
        <p:spPr>
          <a:xfrm>
            <a:off x="1203295" y="495625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Waits on every health check</a:t>
            </a:r>
            <a:endParaRPr lang="en-US" sz="1200" dirty="0"/>
          </a:p>
        </p:txBody>
      </p:sp>
      <p:sp>
        <p:nvSpPr>
          <p:cNvPr id="36" name="Shape 34"/>
          <p:cNvSpPr/>
          <p:nvPr/>
        </p:nvSpPr>
        <p:spPr>
          <a:xfrm>
            <a:off x="5248144" y="4751765"/>
            <a:ext cx="6130772" cy="365711"/>
          </a:xfrm>
          <a:prstGeom prst="roundRect">
            <a:avLst>
              <a:gd name="adj" fmla="val 13890"/>
            </a:avLst>
          </a:prstGeom>
          <a:solidFill>
            <a:srgbClr val="E7EEFA"/>
          </a:solidFill>
          <a:ln/>
        </p:spPr>
        <p:txBody>
          <a:bodyPr/>
          <a:p/>
        </p:txBody>
      </p:sp>
      <p:sp>
        <p:nvSpPr>
          <p:cNvPr id="37" name="Shape 35"/>
          <p:cNvSpPr/>
          <p:nvPr/>
        </p:nvSpPr>
        <p:spPr>
          <a:xfrm>
            <a:off x="5248144" y="4751765"/>
            <a:ext cx="38099" cy="365711"/>
          </a:xfrm>
          <a:prstGeom prst="roundRect">
            <a:avLst>
              <a:gd name="adj" fmla="val 50000"/>
            </a:avLst>
          </a:prstGeom>
          <a:solidFill>
            <a:srgbClr val="2454C5"/>
          </a:solidFill>
          <a:ln/>
        </p:spPr>
        <p:txBody>
          <a:bodyPr/>
          <a:p/>
        </p:txBody>
      </p:sp>
      <p:sp>
        <p:nvSpPr>
          <p:cNvPr id="38" name="Text 36"/>
          <p:cNvSpPr txBox="1"/>
          <p:nvPr/>
        </p:nvSpPr>
        <p:spPr>
          <a:xfrm>
            <a:off x="5413240" y="4827963"/>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docker compose -f docker-compose.core.yml up -d --build --wait</a:t>
            </a:r>
            <a:endParaRPr lang="en-US" sz="1200" dirty="0"/>
          </a:p>
        </p:txBody>
      </p:sp>
      <p:sp>
        <p:nvSpPr>
          <p:cNvPr id="39" name="Text 37"/>
          <p:cNvSpPr txBox="1"/>
          <p:nvPr/>
        </p:nvSpPr>
        <p:spPr>
          <a:xfrm>
            <a:off x="812780" y="5423558"/>
            <a:ext cx="11834072" cy="213355"/>
          </a:xfrm>
          <a:prstGeom prst="rect">
            <a:avLst/>
          </a:prstGeom>
          <a:noFill/>
          <a:ln/>
        </p:spPr>
        <p:txBody>
          <a:bodyPr wrap="square" lIns="0" tIns="0" rIns="0" bIns="0" rtlCol="0" anchor="t"/>
          <a:lstStyle/>
          <a:p>
            <a:pPr algn="l" indent="0" marL="0">
              <a:lnSpc>
                <a:spcPct val="116667"/>
              </a:lnSpc>
              <a:buNone/>
            </a:pPr>
            <a:r>
              <a:rPr lang="en-US" sz="1200" b="1" dirty="0">
                <a:solidFill>
                  <a:srgbClr val="B4530F"/>
                </a:solidFill>
                <a:latin typeface="Calibri" pitchFamily="34" charset="0"/>
                <a:ea typeface="Calibri" pitchFamily="34" charset="-122"/>
                <a:cs typeface="Calibri" pitchFamily="34" charset="-120"/>
              </a:rPr>
              <a:t>Never keep the .env.example secrets:</a:t>
            </a:r>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 until 18 Oct it carried the JWT secret leaked in commit 1b5656d.</a:t>
            </a:r>
            <a:endParaRPr lang="en-US" sz="1200" dirty="0"/>
          </a:p>
        </p:txBody>
      </p:sp>
      <p:sp>
        <p:nvSpPr>
          <p:cNvPr id="40" name="Text 38"/>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Local deployment</a:t>
            </a:r>
            <a:endParaRPr lang="en-US" sz="1200" dirty="0"/>
          </a:p>
        </p:txBody>
      </p:sp>
      <p:sp>
        <p:nvSpPr>
          <p:cNvPr id="41" name="Text 39"/>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STEPS 6–9</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Seed data, prove the flows, open the apps</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txBody>
          <a:bodyPr/>
          <a:p/>
        </p:txBody>
      </p:sp>
      <p:sp>
        <p:nvSpPr>
          <p:cNvPr id="5" name="Text 3"/>
          <p:cNvSpPr txBox="1"/>
          <p:nvPr/>
        </p:nvSpPr>
        <p:spPr>
          <a:xfrm>
            <a:off x="812780" y="232513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06</a:t>
            </a:r>
            <a:endParaRPr lang="en-US" sz="1600" dirty="0"/>
          </a:p>
        </p:txBody>
      </p:sp>
      <p:sp>
        <p:nvSpPr>
          <p:cNvPr id="6" name="Text 4"/>
          <p:cNvSpPr txBox="1"/>
          <p:nvPr/>
        </p:nvSpPr>
        <p:spPr>
          <a:xfrm>
            <a:off x="1203295" y="223246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Seed in this order</a:t>
            </a:r>
            <a:endParaRPr lang="en-US" sz="1300" dirty="0"/>
          </a:p>
        </p:txBody>
      </p:sp>
      <p:sp>
        <p:nvSpPr>
          <p:cNvPr id="7" name="Text 5"/>
          <p:cNvSpPr txBox="1"/>
          <p:nvPr/>
        </p:nvSpPr>
        <p:spPr>
          <a:xfrm>
            <a:off x="1203295" y="248893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Catalog, pricing, providers, agency</a:t>
            </a:r>
            <a:endParaRPr lang="en-US" sz="1200" dirty="0"/>
          </a:p>
        </p:txBody>
      </p:sp>
      <p:sp>
        <p:nvSpPr>
          <p:cNvPr id="8" name="Shape 6"/>
          <p:cNvSpPr/>
          <p:nvPr/>
        </p:nvSpPr>
        <p:spPr>
          <a:xfrm>
            <a:off x="5248144" y="1857924"/>
            <a:ext cx="6130772" cy="1218971"/>
          </a:xfrm>
          <a:prstGeom prst="roundRect">
            <a:avLst>
              <a:gd name="adj" fmla="val 4167"/>
            </a:avLst>
          </a:prstGeom>
          <a:solidFill>
            <a:srgbClr val="E7EEFA"/>
          </a:solidFill>
          <a:ln/>
        </p:spPr>
        <p:txBody>
          <a:bodyPr/>
          <a:p/>
        </p:txBody>
      </p:sp>
      <p:sp>
        <p:nvSpPr>
          <p:cNvPr id="9" name="Shape 7"/>
          <p:cNvSpPr/>
          <p:nvPr/>
        </p:nvSpPr>
        <p:spPr>
          <a:xfrm>
            <a:off x="5248144" y="1857924"/>
            <a:ext cx="38099" cy="1218971"/>
          </a:xfrm>
          <a:prstGeom prst="roundRect">
            <a:avLst>
              <a:gd name="adj" fmla="val 50000"/>
            </a:avLst>
          </a:prstGeom>
          <a:solidFill>
            <a:srgbClr val="2454C5"/>
          </a:solidFill>
          <a:ln/>
        </p:spPr>
        <p:txBody>
          <a:bodyPr/>
          <a:p/>
        </p:txBody>
      </p:sp>
      <p:sp>
        <p:nvSpPr>
          <p:cNvPr id="10" name="Text 8"/>
          <p:cNvSpPr txBox="1"/>
          <p:nvPr/>
        </p:nvSpPr>
        <p:spPr>
          <a:xfrm>
            <a:off x="5413240" y="1934122"/>
            <a:ext cx="6539321" cy="106657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 docker/local-infra.sh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docker/seed-catalog.sql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docker/seed-pricing.sh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docker/seed-provider-profiles.sql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docker/seed-tenants.sql</a:t>
            </a:r>
            <a:endParaRPr lang="en-US" sz="1200" dirty="0"/>
          </a:p>
        </p:txBody>
      </p:sp>
      <p:sp>
        <p:nvSpPr>
          <p:cNvPr id="11" name="Shape 9"/>
          <p:cNvSpPr/>
          <p:nvPr/>
        </p:nvSpPr>
        <p:spPr>
          <a:xfrm>
            <a:off x="812780" y="3153093"/>
            <a:ext cx="10566136" cy="63"/>
          </a:xfrm>
          <a:prstGeom prst="line">
            <a:avLst/>
          </a:prstGeom>
          <a:noFill/>
          <a:ln w="6350">
            <a:solidFill>
              <a:srgbClr val="D5DEEC"/>
            </a:solidFill>
            <a:prstDash val="solid"/>
          </a:ln>
        </p:spPr>
        <p:txBody>
          <a:bodyPr/>
          <a:p/>
        </p:txBody>
      </p:sp>
      <p:sp>
        <p:nvSpPr>
          <p:cNvPr id="12" name="Text 10"/>
          <p:cNvSpPr txBox="1"/>
          <p:nvPr/>
        </p:nvSpPr>
        <p:spPr>
          <a:xfrm>
            <a:off x="812780" y="3489535"/>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07</a:t>
            </a:r>
            <a:endParaRPr lang="en-US" sz="1600" dirty="0"/>
          </a:p>
        </p:txBody>
      </p:sp>
      <p:sp>
        <p:nvSpPr>
          <p:cNvPr id="13" name="Text 11"/>
          <p:cNvSpPr txBox="1"/>
          <p:nvPr/>
        </p:nvSpPr>
        <p:spPr>
          <a:xfrm>
            <a:off x="1203295" y="3396867"/>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Run the checks</a:t>
            </a:r>
            <a:endParaRPr lang="en-US" sz="1300" dirty="0"/>
          </a:p>
        </p:txBody>
      </p:sp>
      <p:sp>
        <p:nvSpPr>
          <p:cNvPr id="14" name="Text 12"/>
          <p:cNvSpPr txBox="1"/>
          <p:nvPr/>
        </p:nvSpPr>
        <p:spPr>
          <a:xfrm>
            <a:off x="1203295" y="3653341"/>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Booking flow, outbox path, sign-up</a:t>
            </a:r>
            <a:endParaRPr lang="en-US" sz="1200" dirty="0"/>
          </a:p>
        </p:txBody>
      </p:sp>
      <p:sp>
        <p:nvSpPr>
          <p:cNvPr id="15" name="Shape 13"/>
          <p:cNvSpPr/>
          <p:nvPr/>
        </p:nvSpPr>
        <p:spPr>
          <a:xfrm>
            <a:off x="5248144" y="3235641"/>
            <a:ext cx="6130772" cy="792341"/>
          </a:xfrm>
          <a:prstGeom prst="roundRect">
            <a:avLst>
              <a:gd name="adj" fmla="val 6411"/>
            </a:avLst>
          </a:prstGeom>
          <a:solidFill>
            <a:srgbClr val="E7EEFA"/>
          </a:solidFill>
          <a:ln/>
        </p:spPr>
        <p:txBody>
          <a:bodyPr/>
          <a:p/>
        </p:txBody>
      </p:sp>
      <p:sp>
        <p:nvSpPr>
          <p:cNvPr id="16" name="Shape 14"/>
          <p:cNvSpPr/>
          <p:nvPr/>
        </p:nvSpPr>
        <p:spPr>
          <a:xfrm>
            <a:off x="5248144" y="3235641"/>
            <a:ext cx="38099" cy="792341"/>
          </a:xfrm>
          <a:prstGeom prst="roundRect">
            <a:avLst>
              <a:gd name="adj" fmla="val 50000"/>
            </a:avLst>
          </a:prstGeom>
          <a:solidFill>
            <a:srgbClr val="2454C5"/>
          </a:solidFill>
          <a:ln/>
        </p:spPr>
        <p:txBody>
          <a:bodyPr/>
          <a:p/>
        </p:txBody>
      </p:sp>
      <p:sp>
        <p:nvSpPr>
          <p:cNvPr id="17" name="Text 15"/>
          <p:cNvSpPr txBox="1"/>
          <p:nvPr/>
        </p:nvSpPr>
        <p:spPr>
          <a:xfrm>
            <a:off x="5413240" y="3311839"/>
            <a:ext cx="6539321" cy="63994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docker/smoke-flows.sh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docker/verify-outbox-flow.sh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docker/verify-signup.sh</a:t>
            </a:r>
            <a:endParaRPr lang="en-US" sz="1200" dirty="0"/>
          </a:p>
        </p:txBody>
      </p:sp>
      <p:sp>
        <p:nvSpPr>
          <p:cNvPr id="18" name="Shape 16"/>
          <p:cNvSpPr/>
          <p:nvPr/>
        </p:nvSpPr>
        <p:spPr>
          <a:xfrm>
            <a:off x="812780" y="4104180"/>
            <a:ext cx="10566136" cy="63"/>
          </a:xfrm>
          <a:prstGeom prst="line">
            <a:avLst/>
          </a:prstGeom>
          <a:noFill/>
          <a:ln w="6350">
            <a:solidFill>
              <a:srgbClr val="D5DEEC"/>
            </a:solidFill>
            <a:prstDash val="solid"/>
          </a:ln>
        </p:spPr>
        <p:txBody>
          <a:bodyPr/>
          <a:p/>
        </p:txBody>
      </p:sp>
      <p:sp>
        <p:nvSpPr>
          <p:cNvPr id="19" name="Text 17"/>
          <p:cNvSpPr txBox="1"/>
          <p:nvPr/>
        </p:nvSpPr>
        <p:spPr>
          <a:xfrm>
            <a:off x="812780" y="4279396"/>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08</a:t>
            </a:r>
            <a:endParaRPr lang="en-US" sz="1600" dirty="0"/>
          </a:p>
        </p:txBody>
      </p:sp>
      <p:sp>
        <p:nvSpPr>
          <p:cNvPr id="20" name="Text 18"/>
          <p:cNvSpPr txBox="1"/>
          <p:nvPr/>
        </p:nvSpPr>
        <p:spPr>
          <a:xfrm>
            <a:off x="1203295" y="4186728"/>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Open the apps</a:t>
            </a:r>
            <a:endParaRPr lang="en-US" sz="1300" dirty="0"/>
          </a:p>
        </p:txBody>
      </p:sp>
      <p:sp>
        <p:nvSpPr>
          <p:cNvPr id="21" name="Text 19"/>
          <p:cNvSpPr txBox="1"/>
          <p:nvPr/>
        </p:nvSpPr>
        <p:spPr>
          <a:xfrm>
            <a:off x="1203295" y="4443202"/>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Test users when DEV_SEED_ENABLED=true</a:t>
            </a:r>
            <a:endParaRPr lang="en-US" sz="1200" dirty="0"/>
          </a:p>
        </p:txBody>
      </p:sp>
      <p:sp>
        <p:nvSpPr>
          <p:cNvPr id="22" name="Shape 20"/>
          <p:cNvSpPr/>
          <p:nvPr/>
        </p:nvSpPr>
        <p:spPr>
          <a:xfrm>
            <a:off x="5248144" y="4238717"/>
            <a:ext cx="6130772" cy="365711"/>
          </a:xfrm>
          <a:prstGeom prst="roundRect">
            <a:avLst>
              <a:gd name="adj" fmla="val 13890"/>
            </a:avLst>
          </a:prstGeom>
          <a:solidFill>
            <a:srgbClr val="E7EEFA"/>
          </a:solidFill>
          <a:ln/>
        </p:spPr>
        <p:txBody>
          <a:bodyPr/>
          <a:p/>
        </p:txBody>
      </p:sp>
      <p:sp>
        <p:nvSpPr>
          <p:cNvPr id="23" name="Shape 21"/>
          <p:cNvSpPr/>
          <p:nvPr/>
        </p:nvSpPr>
        <p:spPr>
          <a:xfrm>
            <a:off x="5248144" y="4238717"/>
            <a:ext cx="38099" cy="365711"/>
          </a:xfrm>
          <a:prstGeom prst="roundRect">
            <a:avLst>
              <a:gd name="adj" fmla="val 50000"/>
            </a:avLst>
          </a:prstGeom>
          <a:solidFill>
            <a:srgbClr val="2454C5"/>
          </a:solidFill>
          <a:ln/>
        </p:spPr>
        <p:txBody>
          <a:bodyPr/>
          <a:p/>
        </p:txBody>
      </p:sp>
      <p:sp>
        <p:nvSpPr>
          <p:cNvPr id="24" name="Text 22"/>
          <p:cNvSpPr txBox="1"/>
          <p:nvPr/>
        </p:nvSpPr>
        <p:spPr>
          <a:xfrm>
            <a:off x="5413240" y="4314916"/>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:5173 customer · :5174 provider · :5175 admin</a:t>
            </a:r>
            <a:endParaRPr lang="en-US" sz="1200" dirty="0"/>
          </a:p>
        </p:txBody>
      </p:sp>
      <p:sp>
        <p:nvSpPr>
          <p:cNvPr id="25" name="Shape 23"/>
          <p:cNvSpPr/>
          <p:nvPr/>
        </p:nvSpPr>
        <p:spPr>
          <a:xfrm>
            <a:off x="812780" y="4732715"/>
            <a:ext cx="10566136" cy="63"/>
          </a:xfrm>
          <a:prstGeom prst="line">
            <a:avLst/>
          </a:prstGeom>
          <a:noFill/>
          <a:ln w="6350">
            <a:solidFill>
              <a:srgbClr val="D5DEEC"/>
            </a:solidFill>
            <a:prstDash val="solid"/>
          </a:ln>
        </p:spPr>
        <p:txBody>
          <a:bodyPr/>
          <a:p/>
        </p:txBody>
      </p:sp>
      <p:sp>
        <p:nvSpPr>
          <p:cNvPr id="26" name="Text 24"/>
          <p:cNvSpPr txBox="1"/>
          <p:nvPr/>
        </p:nvSpPr>
        <p:spPr>
          <a:xfrm>
            <a:off x="812780" y="496250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09</a:t>
            </a:r>
            <a:endParaRPr lang="en-US" sz="1600" dirty="0"/>
          </a:p>
        </p:txBody>
      </p:sp>
      <p:sp>
        <p:nvSpPr>
          <p:cNvPr id="27" name="Text 25"/>
          <p:cNvSpPr txBox="1"/>
          <p:nvPr/>
        </p:nvSpPr>
        <p:spPr>
          <a:xfrm>
            <a:off x="1203295" y="486983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Iterate on one app</a:t>
            </a:r>
            <a:endParaRPr lang="en-US" sz="1300" dirty="0"/>
          </a:p>
        </p:txBody>
      </p:sp>
      <p:sp>
        <p:nvSpPr>
          <p:cNvPr id="28" name="Text 26"/>
          <p:cNvSpPr txBox="1"/>
          <p:nvPr/>
        </p:nvSpPr>
        <p:spPr>
          <a:xfrm>
            <a:off x="1203295" y="512630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Vite proxies /api to the stack</a:t>
            </a:r>
            <a:endParaRPr lang="en-US" sz="1200" dirty="0"/>
          </a:p>
        </p:txBody>
      </p:sp>
      <p:sp>
        <p:nvSpPr>
          <p:cNvPr id="29" name="Shape 27"/>
          <p:cNvSpPr/>
          <p:nvPr/>
        </p:nvSpPr>
        <p:spPr>
          <a:xfrm>
            <a:off x="5248144" y="4815263"/>
            <a:ext cx="6130772" cy="579026"/>
          </a:xfrm>
          <a:prstGeom prst="roundRect">
            <a:avLst>
              <a:gd name="adj" fmla="val 8773"/>
            </a:avLst>
          </a:prstGeom>
          <a:solidFill>
            <a:srgbClr val="E7EEFA"/>
          </a:solidFill>
          <a:ln/>
        </p:spPr>
        <p:txBody>
          <a:bodyPr/>
          <a:p/>
        </p:txBody>
      </p:sp>
      <p:sp>
        <p:nvSpPr>
          <p:cNvPr id="30" name="Shape 28"/>
          <p:cNvSpPr/>
          <p:nvPr/>
        </p:nvSpPr>
        <p:spPr>
          <a:xfrm>
            <a:off x="5248144" y="4815263"/>
            <a:ext cx="38099" cy="579026"/>
          </a:xfrm>
          <a:prstGeom prst="roundRect">
            <a:avLst>
              <a:gd name="adj" fmla="val 50000"/>
            </a:avLst>
          </a:prstGeom>
          <a:solidFill>
            <a:srgbClr val="2454C5"/>
          </a:solidFill>
          <a:ln/>
        </p:spPr>
        <p:txBody>
          <a:bodyPr/>
          <a:p/>
        </p:txBody>
      </p:sp>
      <p:sp>
        <p:nvSpPr>
          <p:cNvPr id="31" name="Text 29"/>
          <p:cNvSpPr txBox="1"/>
          <p:nvPr/>
        </p:nvSpPr>
        <p:spPr>
          <a:xfrm>
            <a:off x="5413240" y="489146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cd frontend/customer-app</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npm install &amp;&amp; npm run dev</a:t>
            </a:r>
            <a:endParaRPr lang="en-US" sz="1200" dirty="0"/>
          </a:p>
        </p:txBody>
      </p:sp>
      <p:sp>
        <p:nvSpPr>
          <p:cNvPr id="32" name="Text 3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Local deployment</a:t>
            </a:r>
            <a:endParaRPr lang="en-US" sz="1200" dirty="0"/>
          </a:p>
        </p:txBody>
      </p:sp>
      <p:sp>
        <p:nvSpPr>
          <p:cNvPr id="33" name="Text 3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TOPOLOGY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data tier is ready; the path into the cluster is not</a:t>
            </a:r>
            <a:endParaRPr lang="en-US" sz="3000" dirty="0"/>
          </a:p>
        </p:txBody>
      </p:sp>
      <p:sp>
        <p:nvSpPr>
          <p:cNvPr id="4" name="Shape 2"/>
          <p:cNvSpPr/>
          <p:nvPr/>
        </p:nvSpPr>
        <p:spPr>
          <a:xfrm>
            <a:off x="812780" y="1803355"/>
            <a:ext cx="10566136" cy="3975001"/>
          </a:xfrm>
          <a:prstGeom prst="roundRect">
            <a:avLst>
              <a:gd name="adj" fmla="val 3195"/>
            </a:avLst>
          </a:prstGeom>
          <a:solidFill>
            <a:srgbClr val="F0F4FA"/>
          </a:solidFill>
          <a:ln w="12700">
            <a:solidFill>
              <a:srgbClr val="3F5F95"/>
            </a:solidFill>
            <a:prstDash val="dash"/>
          </a:ln>
        </p:spPr>
        <p:txBody>
          <a:bodyPr/>
          <a:p/>
        </p:txBody>
      </p:sp>
      <p:sp>
        <p:nvSpPr>
          <p:cNvPr id="5" name="Text 3"/>
          <p:cNvSpPr txBox="1"/>
          <p:nvPr/>
        </p:nvSpPr>
        <p:spPr>
          <a:xfrm>
            <a:off x="939777" y="1879553"/>
            <a:ext cx="11549599"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3F5F95"/>
                </a:solidFill>
                <a:latin typeface="Courier New" pitchFamily="34" charset="0"/>
                <a:ea typeface="Courier New" pitchFamily="34" charset="-122"/>
                <a:cs typeface="Courier New" pitchFamily="34" charset="-120"/>
              </a:rPr>
              <a:t>AWS · ap-south-1</a:t>
            </a:r>
            <a:endParaRPr lang="en-US" sz="1200" dirty="0"/>
          </a:p>
        </p:txBody>
      </p:sp>
      <p:sp>
        <p:nvSpPr>
          <p:cNvPr id="6" name="Shape 4"/>
          <p:cNvSpPr/>
          <p:nvPr/>
        </p:nvSpPr>
        <p:spPr>
          <a:xfrm>
            <a:off x="965176" y="2158946"/>
            <a:ext cx="1904952" cy="634984"/>
          </a:xfrm>
          <a:prstGeom prst="roundRect">
            <a:avLst>
              <a:gd name="adj" fmla="val 14000"/>
            </a:avLst>
          </a:prstGeom>
          <a:solidFill>
            <a:srgbClr val="FCFDFF"/>
          </a:solidFill>
          <a:ln w="12700">
            <a:solidFill>
              <a:srgbClr val="2454C5"/>
            </a:solidFill>
            <a:prstDash val="solid"/>
          </a:ln>
        </p:spPr>
        <p:txBody>
          <a:bodyPr/>
          <a:p/>
        </p:txBody>
      </p:sp>
      <p:sp>
        <p:nvSpPr>
          <p:cNvPr id="7" name="Shape 5"/>
          <p:cNvSpPr/>
          <p:nvPr/>
        </p:nvSpPr>
        <p:spPr>
          <a:xfrm>
            <a:off x="965176" y="2158946"/>
            <a:ext cx="50799" cy="634984"/>
          </a:xfrm>
          <a:prstGeom prst="roundRect">
            <a:avLst>
              <a:gd name="adj" fmla="val 50000"/>
            </a:avLst>
          </a:prstGeom>
          <a:solidFill>
            <a:srgbClr val="2454C5"/>
          </a:solidFill>
          <a:ln/>
        </p:spPr>
        <p:txBody>
          <a:bodyPr/>
          <a:p/>
        </p:txBody>
      </p:sp>
      <p:pic>
        <p:nvPicPr>
          <p:cNvPr id="8" name="Image 0" descr="preencoded.png">    </p:cNvPr>
          <p:cNvPicPr>
            <a:picLocks noChangeAspect="1"/>
          </p:cNvPicPr>
          <p:nvPr/>
        </p:nvPicPr>
        <p:blipFill>
          <a:blip r:embed="rId1"/>
          <a:stretch>
            <a:fillRect/>
          </a:stretch>
        </p:blipFill>
        <p:spPr>
          <a:xfrm>
            <a:off x="1130272" y="2226215"/>
            <a:ext cx="190495" cy="190495"/>
          </a:xfrm>
          <a:prstGeom prst="rect">
            <a:avLst/>
          </a:prstGeom>
        </p:spPr>
      </p:pic>
      <p:sp>
        <p:nvSpPr>
          <p:cNvPr id="9" name="Text 6"/>
          <p:cNvSpPr txBox="1"/>
          <p:nvPr/>
        </p:nvSpPr>
        <p:spPr>
          <a:xfrm>
            <a:off x="1384265" y="2222444"/>
            <a:ext cx="49578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Users</a:t>
            </a:r>
            <a:endParaRPr lang="en-US" sz="1300" dirty="0"/>
          </a:p>
        </p:txBody>
      </p:sp>
      <p:sp>
        <p:nvSpPr>
          <p:cNvPr id="10" name="Text 7"/>
          <p:cNvSpPr txBox="1"/>
          <p:nvPr/>
        </p:nvSpPr>
        <p:spPr>
          <a:xfrm>
            <a:off x="1130272" y="2445879"/>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web, iOS, Android</a:t>
            </a:r>
            <a:endParaRPr lang="en-US" sz="1200" dirty="0"/>
          </a:p>
        </p:txBody>
      </p:sp>
      <p:sp>
        <p:nvSpPr>
          <p:cNvPr id="11" name="Shape 8"/>
          <p:cNvSpPr/>
          <p:nvPr/>
        </p:nvSpPr>
        <p:spPr>
          <a:xfrm>
            <a:off x="965176" y="2984425"/>
            <a:ext cx="1904952" cy="825479"/>
          </a:xfrm>
          <a:prstGeom prst="roundRect">
            <a:avLst>
              <a:gd name="adj" fmla="val 10769"/>
            </a:avLst>
          </a:prstGeom>
          <a:solidFill>
            <a:srgbClr val="FCFDFF"/>
          </a:solidFill>
          <a:ln w="12700">
            <a:solidFill>
              <a:srgbClr val="3F5F95"/>
            </a:solidFill>
            <a:prstDash val="solid"/>
          </a:ln>
        </p:spPr>
        <p:txBody>
          <a:bodyPr/>
          <a:p/>
        </p:txBody>
      </p:sp>
      <p:sp>
        <p:nvSpPr>
          <p:cNvPr id="12" name="Shape 9"/>
          <p:cNvSpPr/>
          <p:nvPr/>
        </p:nvSpPr>
        <p:spPr>
          <a:xfrm>
            <a:off x="965176" y="2984425"/>
            <a:ext cx="50799" cy="825479"/>
          </a:xfrm>
          <a:prstGeom prst="roundRect">
            <a:avLst>
              <a:gd name="adj" fmla="val 50000"/>
            </a:avLst>
          </a:prstGeom>
          <a:solidFill>
            <a:srgbClr val="3F5F95"/>
          </a:solidFill>
          <a:ln/>
        </p:spPr>
        <p:txBody>
          <a:bodyPr/>
          <a:p/>
        </p:txBody>
      </p:sp>
      <p:sp>
        <p:nvSpPr>
          <p:cNvPr id="13" name="Text 10"/>
          <p:cNvSpPr txBox="1"/>
          <p:nvPr/>
        </p:nvSpPr>
        <p:spPr>
          <a:xfrm>
            <a:off x="1130272" y="3060623"/>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4" name="Text 11"/>
          <p:cNvSpPr txBox="1"/>
          <p:nvPr/>
        </p:nvSpPr>
        <p:spPr>
          <a:xfrm>
            <a:off x="1130272" y="3284059"/>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HTTP API + WAF</a:t>
            </a:r>
            <a:endParaRPr lang="en-US" sz="1200" dirty="0"/>
          </a:p>
        </p:txBody>
      </p:sp>
      <p:sp>
        <p:nvSpPr>
          <p:cNvPr id="15" name="Text 12"/>
          <p:cNvSpPr txBox="1"/>
          <p:nvPr/>
        </p:nvSpPr>
        <p:spPr>
          <a:xfrm>
            <a:off x="1130272" y="3515133"/>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routes yet</a:t>
            </a:r>
            <a:endParaRPr lang="en-US" sz="1200" dirty="0"/>
          </a:p>
        </p:txBody>
      </p:sp>
      <p:sp>
        <p:nvSpPr>
          <p:cNvPr id="16" name="Shape 13"/>
          <p:cNvSpPr/>
          <p:nvPr/>
        </p:nvSpPr>
        <p:spPr>
          <a:xfrm>
            <a:off x="965176" y="4000400"/>
            <a:ext cx="1904952" cy="698483"/>
          </a:xfrm>
          <a:prstGeom prst="roundRect">
            <a:avLst>
              <a:gd name="adj" fmla="val 12727"/>
            </a:avLst>
          </a:prstGeom>
          <a:solidFill>
            <a:srgbClr val="FCEBDD"/>
          </a:solidFill>
          <a:ln w="12700">
            <a:solidFill>
              <a:srgbClr val="B4530F"/>
            </a:solidFill>
            <a:prstDash val="dash"/>
          </a:ln>
        </p:spPr>
        <p:txBody>
          <a:bodyPr/>
          <a:p/>
        </p:txBody>
      </p:sp>
      <p:sp>
        <p:nvSpPr>
          <p:cNvPr id="17" name="Shape 14"/>
          <p:cNvSpPr/>
          <p:nvPr/>
        </p:nvSpPr>
        <p:spPr>
          <a:xfrm>
            <a:off x="965176" y="4000400"/>
            <a:ext cx="50799" cy="698483"/>
          </a:xfrm>
          <a:prstGeom prst="roundRect">
            <a:avLst>
              <a:gd name="adj" fmla="val 50000"/>
            </a:avLst>
          </a:prstGeom>
          <a:solidFill>
            <a:srgbClr val="B4530F"/>
          </a:solidFill>
          <a:ln/>
        </p:spPr>
        <p:txBody>
          <a:bodyPr/>
          <a:p/>
        </p:txBody>
      </p:sp>
      <p:sp>
        <p:nvSpPr>
          <p:cNvPr id="18" name="Text 15"/>
          <p:cNvSpPr txBox="1"/>
          <p:nvPr/>
        </p:nvSpPr>
        <p:spPr>
          <a:xfrm>
            <a:off x="1130272" y="4076598"/>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CloudFront + S3</a:t>
            </a:r>
            <a:endParaRPr lang="en-US" sz="1300" dirty="0"/>
          </a:p>
        </p:txBody>
      </p:sp>
      <p:sp>
        <p:nvSpPr>
          <p:cNvPr id="19" name="Text 16"/>
          <p:cNvSpPr txBox="1"/>
          <p:nvPr/>
        </p:nvSpPr>
        <p:spPr>
          <a:xfrm>
            <a:off x="1130272" y="4300033"/>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B4530F"/>
                </a:solidFill>
                <a:latin typeface="Calibri" pitchFamily="34" charset="0"/>
                <a:ea typeface="Calibri" pitchFamily="34" charset="-122"/>
                <a:cs typeface="Calibri" pitchFamily="34" charset="-120"/>
              </a:rPr>
              <a:t>SPA hosting: Railway only</a:t>
            </a:r>
            <a:endParaRPr lang="en-US" sz="1200" dirty="0"/>
          </a:p>
        </p:txBody>
      </p:sp>
      <p:sp>
        <p:nvSpPr>
          <p:cNvPr id="20" name="Shape 17"/>
          <p:cNvSpPr/>
          <p:nvPr/>
        </p:nvSpPr>
        <p:spPr>
          <a:xfrm>
            <a:off x="965176" y="4889378"/>
            <a:ext cx="1904952" cy="761981"/>
          </a:xfrm>
          <a:prstGeom prst="roundRect">
            <a:avLst>
              <a:gd name="adj" fmla="val 11667"/>
            </a:avLst>
          </a:prstGeom>
          <a:solidFill>
            <a:srgbClr val="FCFDFF"/>
          </a:solidFill>
          <a:ln w="12700">
            <a:solidFill>
              <a:srgbClr val="5C6B8A"/>
            </a:solidFill>
            <a:prstDash val="solid"/>
          </a:ln>
        </p:spPr>
        <p:txBody>
          <a:bodyPr/>
          <a:p/>
        </p:txBody>
      </p:sp>
      <p:sp>
        <p:nvSpPr>
          <p:cNvPr id="21" name="Shape 18"/>
          <p:cNvSpPr/>
          <p:nvPr/>
        </p:nvSpPr>
        <p:spPr>
          <a:xfrm>
            <a:off x="965176" y="4889378"/>
            <a:ext cx="50799" cy="761981"/>
          </a:xfrm>
          <a:prstGeom prst="roundRect">
            <a:avLst>
              <a:gd name="adj" fmla="val 50000"/>
            </a:avLst>
          </a:prstGeom>
          <a:solidFill>
            <a:srgbClr val="5C6B8A"/>
          </a:solidFill>
          <a:ln/>
        </p:spPr>
        <p:txBody>
          <a:bodyPr/>
          <a:p/>
        </p:txBody>
      </p:sp>
      <p:pic>
        <p:nvPicPr>
          <p:cNvPr id="22" name="Image 1" descr="preencoded.png">    </p:cNvPr>
          <p:cNvPicPr>
            <a:picLocks noChangeAspect="1"/>
          </p:cNvPicPr>
          <p:nvPr/>
        </p:nvPicPr>
        <p:blipFill>
          <a:blip r:embed="rId2"/>
          <a:stretch>
            <a:fillRect/>
          </a:stretch>
        </p:blipFill>
        <p:spPr>
          <a:xfrm>
            <a:off x="1130272" y="4969346"/>
            <a:ext cx="190495" cy="190495"/>
          </a:xfrm>
          <a:prstGeom prst="rect">
            <a:avLst/>
          </a:prstGeom>
        </p:spPr>
      </p:pic>
      <p:sp>
        <p:nvSpPr>
          <p:cNvPr id="23" name="Text 19"/>
          <p:cNvSpPr txBox="1"/>
          <p:nvPr/>
        </p:nvSpPr>
        <p:spPr>
          <a:xfrm>
            <a:off x="1384265" y="4965576"/>
            <a:ext cx="127501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GitHub Actions</a:t>
            </a:r>
            <a:endParaRPr lang="en-US" sz="1300" dirty="0"/>
          </a:p>
        </p:txBody>
      </p:sp>
      <p:sp>
        <p:nvSpPr>
          <p:cNvPr id="24" name="Text 20"/>
          <p:cNvSpPr txBox="1"/>
          <p:nvPr/>
        </p:nvSpPr>
        <p:spPr>
          <a:xfrm>
            <a:off x="1130272" y="5189011"/>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OIDC → ECR (missing)</a:t>
            </a:r>
            <a:endParaRPr lang="en-US" sz="1200" dirty="0"/>
          </a:p>
        </p:txBody>
      </p:sp>
      <p:sp>
        <p:nvSpPr>
          <p:cNvPr id="25" name="Shape 21"/>
          <p:cNvSpPr/>
          <p:nvPr/>
        </p:nvSpPr>
        <p:spPr>
          <a:xfrm>
            <a:off x="3111422" y="2095448"/>
            <a:ext cx="8115097" cy="2743131"/>
          </a:xfrm>
          <a:prstGeom prst="roundRect">
            <a:avLst>
              <a:gd name="adj" fmla="val 4630"/>
            </a:avLst>
          </a:prstGeom>
          <a:solidFill>
            <a:srgbClr val="E6EEF9"/>
          </a:solidFill>
          <a:ln w="12700">
            <a:solidFill>
              <a:srgbClr val="2454C5"/>
            </a:solidFill>
            <a:prstDash val="solid"/>
          </a:ln>
        </p:spPr>
        <p:txBody>
          <a:bodyPr/>
          <a:p/>
        </p:txBody>
      </p:sp>
      <p:sp>
        <p:nvSpPr>
          <p:cNvPr id="26" name="Text 22"/>
          <p:cNvSpPr txBox="1"/>
          <p:nvPr/>
        </p:nvSpPr>
        <p:spPr>
          <a:xfrm>
            <a:off x="3238419" y="2171646"/>
            <a:ext cx="8804436"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2454C5"/>
                </a:solidFill>
                <a:latin typeface="Courier New" pitchFamily="34" charset="0"/>
                <a:ea typeface="Courier New" pitchFamily="34" charset="-122"/>
                <a:cs typeface="Courier New" pitchFamily="34" charset="-120"/>
              </a:rPr>
              <a:t>VPC · 3 AZs · flow logs</a:t>
            </a:r>
            <a:endParaRPr lang="en-US" sz="1200" dirty="0"/>
          </a:p>
        </p:txBody>
      </p:sp>
      <p:sp>
        <p:nvSpPr>
          <p:cNvPr id="27" name="Shape 23"/>
          <p:cNvSpPr/>
          <p:nvPr/>
        </p:nvSpPr>
        <p:spPr>
          <a:xfrm>
            <a:off x="3238419" y="2412940"/>
            <a:ext cx="7861103" cy="507987"/>
          </a:xfrm>
          <a:prstGeom prst="roundRect">
            <a:avLst>
              <a:gd name="adj" fmla="val 15000"/>
            </a:avLst>
          </a:prstGeom>
          <a:solidFill>
            <a:srgbClr val="FCFDFF"/>
          </a:solidFill>
          <a:ln w="6350">
            <a:solidFill>
              <a:srgbClr val="D5DEEC"/>
            </a:solidFill>
            <a:prstDash val="solid"/>
          </a:ln>
        </p:spPr>
        <p:txBody>
          <a:bodyPr/>
          <a:p/>
        </p:txBody>
      </p:sp>
      <p:sp>
        <p:nvSpPr>
          <p:cNvPr id="28" name="Text 24"/>
          <p:cNvSpPr txBox="1"/>
          <p:nvPr/>
        </p:nvSpPr>
        <p:spPr>
          <a:xfrm>
            <a:off x="3346366" y="2560276"/>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2454C5"/>
                </a:solidFill>
                <a:latin typeface="Courier New" pitchFamily="34" charset="0"/>
                <a:ea typeface="Courier New" pitchFamily="34" charset="-122"/>
                <a:cs typeface="Courier New" pitchFamily="34" charset="-120"/>
              </a:rPr>
              <a:t>Public</a:t>
            </a:r>
            <a:endParaRPr lang="en-US" sz="1200" dirty="0"/>
          </a:p>
        </p:txBody>
      </p:sp>
      <p:sp>
        <p:nvSpPr>
          <p:cNvPr id="29" name="Shape 25"/>
          <p:cNvSpPr/>
          <p:nvPr/>
        </p:nvSpPr>
        <p:spPr>
          <a:xfrm>
            <a:off x="4248044" y="2517117"/>
            <a:ext cx="1294574" cy="299633"/>
          </a:xfrm>
          <a:prstGeom prst="roundRect">
            <a:avLst>
              <a:gd name="adj" fmla="val 21192"/>
            </a:avLst>
          </a:prstGeom>
          <a:solidFill>
            <a:srgbClr val="E3EBFA"/>
          </a:solidFill>
          <a:ln/>
        </p:spPr>
        <p:txBody>
          <a:bodyPr/>
          <a:p/>
        </p:txBody>
      </p:sp>
      <p:sp>
        <p:nvSpPr>
          <p:cNvPr id="30" name="Text 26"/>
          <p:cNvSpPr txBox="1"/>
          <p:nvPr/>
        </p:nvSpPr>
        <p:spPr>
          <a:xfrm>
            <a:off x="4336942" y="2567915"/>
            <a:ext cx="125079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NAT gateway ×3</a:t>
            </a:r>
            <a:endParaRPr lang="en-US" sz="1200" dirty="0"/>
          </a:p>
        </p:txBody>
      </p:sp>
      <p:sp>
        <p:nvSpPr>
          <p:cNvPr id="31" name="Shape 27"/>
          <p:cNvSpPr/>
          <p:nvPr/>
        </p:nvSpPr>
        <p:spPr>
          <a:xfrm>
            <a:off x="5618816" y="2504417"/>
            <a:ext cx="1609189" cy="325032"/>
          </a:xfrm>
          <a:prstGeom prst="roundRect">
            <a:avLst>
              <a:gd name="adj" fmla="val 19536"/>
            </a:avLst>
          </a:prstGeom>
          <a:solidFill>
            <a:srgbClr val="FCEBDD"/>
          </a:solidFill>
          <a:ln w="12700">
            <a:solidFill>
              <a:srgbClr val="B4530F"/>
            </a:solidFill>
            <a:prstDash val="dash"/>
          </a:ln>
        </p:spPr>
        <p:txBody>
          <a:bodyPr/>
          <a:p/>
        </p:txBody>
      </p:sp>
      <p:sp>
        <p:nvSpPr>
          <p:cNvPr id="32" name="Text 28"/>
          <p:cNvSpPr txBox="1"/>
          <p:nvPr/>
        </p:nvSpPr>
        <p:spPr>
          <a:xfrm>
            <a:off x="5720413" y="2567915"/>
            <a:ext cx="157471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ALB or NLB: missing</a:t>
            </a:r>
            <a:endParaRPr lang="en-US" sz="1200" dirty="0"/>
          </a:p>
        </p:txBody>
      </p:sp>
      <p:sp>
        <p:nvSpPr>
          <p:cNvPr id="33" name="Shape 29"/>
          <p:cNvSpPr/>
          <p:nvPr/>
        </p:nvSpPr>
        <p:spPr>
          <a:xfrm>
            <a:off x="3238419" y="3009825"/>
            <a:ext cx="7861103" cy="952476"/>
          </a:xfrm>
          <a:prstGeom prst="roundRect">
            <a:avLst>
              <a:gd name="adj" fmla="val 8000"/>
            </a:avLst>
          </a:prstGeom>
          <a:solidFill>
            <a:srgbClr val="FCFDFF"/>
          </a:solidFill>
          <a:ln w="6350">
            <a:solidFill>
              <a:srgbClr val="D5DEEC"/>
            </a:solidFill>
            <a:prstDash val="solid"/>
          </a:ln>
        </p:spPr>
        <p:txBody>
          <a:bodyPr/>
          <a:p/>
        </p:txBody>
      </p:sp>
      <p:sp>
        <p:nvSpPr>
          <p:cNvPr id="34" name="Text 30"/>
          <p:cNvSpPr txBox="1"/>
          <p:nvPr/>
        </p:nvSpPr>
        <p:spPr>
          <a:xfrm>
            <a:off x="3346366" y="3379405"/>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0B7F74"/>
                </a:solidFill>
                <a:latin typeface="Courier New" pitchFamily="34" charset="0"/>
                <a:ea typeface="Courier New" pitchFamily="34" charset="-122"/>
                <a:cs typeface="Courier New" pitchFamily="34" charset="-120"/>
              </a:rPr>
              <a:t>Private</a:t>
            </a:r>
            <a:endParaRPr lang="en-US" sz="1200" dirty="0"/>
          </a:p>
        </p:txBody>
      </p:sp>
      <p:sp>
        <p:nvSpPr>
          <p:cNvPr id="35" name="Shape 31"/>
          <p:cNvSpPr/>
          <p:nvPr/>
        </p:nvSpPr>
        <p:spPr>
          <a:xfrm>
            <a:off x="4248044" y="3336246"/>
            <a:ext cx="2418496" cy="299633"/>
          </a:xfrm>
          <a:prstGeom prst="roundRect">
            <a:avLst>
              <a:gd name="adj" fmla="val 21192"/>
            </a:avLst>
          </a:prstGeom>
          <a:solidFill>
            <a:srgbClr val="DDF2EF"/>
          </a:solidFill>
          <a:ln/>
        </p:spPr>
        <p:txBody>
          <a:bodyPr/>
          <a:p/>
        </p:txBody>
      </p:sp>
      <p:sp>
        <p:nvSpPr>
          <p:cNvPr id="36" name="Text 32"/>
          <p:cNvSpPr txBox="1"/>
          <p:nvPr/>
        </p:nvSpPr>
        <p:spPr>
          <a:xfrm>
            <a:off x="4336942" y="3387045"/>
            <a:ext cx="2509584"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EKS 1.29 · t3.xlarge + c5.2xlarge</a:t>
            </a:r>
            <a:endParaRPr lang="en-US" sz="1200" dirty="0"/>
          </a:p>
        </p:txBody>
      </p:sp>
      <p:sp>
        <p:nvSpPr>
          <p:cNvPr id="37" name="Shape 33"/>
          <p:cNvSpPr/>
          <p:nvPr/>
        </p:nvSpPr>
        <p:spPr>
          <a:xfrm>
            <a:off x="6742738" y="3336246"/>
            <a:ext cx="2075207" cy="299633"/>
          </a:xfrm>
          <a:prstGeom prst="roundRect">
            <a:avLst>
              <a:gd name="adj" fmla="val 21192"/>
            </a:avLst>
          </a:prstGeom>
          <a:solidFill>
            <a:srgbClr val="DDF2EF"/>
          </a:solidFill>
          <a:ln/>
        </p:spPr>
        <p:txBody>
          <a:bodyPr/>
          <a:p/>
        </p:txBody>
      </p:sp>
      <p:sp>
        <p:nvSpPr>
          <p:cNvPr id="38" name="Text 34"/>
          <p:cNvSpPr txBox="1"/>
          <p:nvPr/>
        </p:nvSpPr>
        <p:spPr>
          <a:xfrm>
            <a:off x="6831635" y="3387045"/>
            <a:ext cx="2125101"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5 deployables · 1 namespace</a:t>
            </a:r>
            <a:endParaRPr lang="en-US" sz="1200" dirty="0"/>
          </a:p>
        </p:txBody>
      </p:sp>
      <p:sp>
        <p:nvSpPr>
          <p:cNvPr id="39" name="Shape 35"/>
          <p:cNvSpPr/>
          <p:nvPr/>
        </p:nvSpPr>
        <p:spPr>
          <a:xfrm>
            <a:off x="8894143" y="3336246"/>
            <a:ext cx="1928665" cy="299633"/>
          </a:xfrm>
          <a:prstGeom prst="roundRect">
            <a:avLst>
              <a:gd name="adj" fmla="val 21192"/>
            </a:avLst>
          </a:prstGeom>
          <a:solidFill>
            <a:srgbClr val="DDF2EF"/>
          </a:solidFill>
          <a:ln/>
        </p:spPr>
        <p:txBody>
          <a:bodyPr/>
          <a:p/>
        </p:txBody>
      </p:sp>
      <p:sp>
        <p:nvSpPr>
          <p:cNvPr id="40" name="Text 36"/>
          <p:cNvSpPr txBox="1"/>
          <p:nvPr/>
        </p:nvSpPr>
        <p:spPr>
          <a:xfrm>
            <a:off x="8983041" y="3387045"/>
            <a:ext cx="1960974"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HPA 3–20 · non-root pods</a:t>
            </a:r>
            <a:endParaRPr lang="en-US" sz="1200" dirty="0"/>
          </a:p>
        </p:txBody>
      </p:sp>
      <p:sp>
        <p:nvSpPr>
          <p:cNvPr id="41" name="Shape 37"/>
          <p:cNvSpPr/>
          <p:nvPr/>
        </p:nvSpPr>
        <p:spPr>
          <a:xfrm>
            <a:off x="3238419" y="4063898"/>
            <a:ext cx="7861103" cy="634984"/>
          </a:xfrm>
          <a:prstGeom prst="roundRect">
            <a:avLst>
              <a:gd name="adj" fmla="val 12000"/>
            </a:avLst>
          </a:prstGeom>
          <a:solidFill>
            <a:srgbClr val="FCFDFF"/>
          </a:solidFill>
          <a:ln w="6350">
            <a:solidFill>
              <a:srgbClr val="D5DEEC"/>
            </a:solidFill>
            <a:prstDash val="solid"/>
          </a:ln>
        </p:spPr>
        <p:txBody>
          <a:bodyPr/>
          <a:p/>
        </p:txBody>
      </p:sp>
      <p:sp>
        <p:nvSpPr>
          <p:cNvPr id="42" name="Text 38"/>
          <p:cNvSpPr txBox="1"/>
          <p:nvPr/>
        </p:nvSpPr>
        <p:spPr>
          <a:xfrm>
            <a:off x="3346366" y="4274733"/>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2F5C9A"/>
                </a:solidFill>
                <a:latin typeface="Courier New" pitchFamily="34" charset="0"/>
                <a:ea typeface="Courier New" pitchFamily="34" charset="-122"/>
                <a:cs typeface="Courier New" pitchFamily="34" charset="-120"/>
              </a:rPr>
              <a:t>Data</a:t>
            </a:r>
            <a:endParaRPr lang="en-US" sz="1200" dirty="0"/>
          </a:p>
        </p:txBody>
      </p:sp>
      <p:sp>
        <p:nvSpPr>
          <p:cNvPr id="43" name="Shape 39"/>
          <p:cNvSpPr/>
          <p:nvPr/>
        </p:nvSpPr>
        <p:spPr>
          <a:xfrm>
            <a:off x="4248044" y="4231574"/>
            <a:ext cx="1846018" cy="299633"/>
          </a:xfrm>
          <a:prstGeom prst="roundRect">
            <a:avLst>
              <a:gd name="adj" fmla="val 21192"/>
            </a:avLst>
          </a:prstGeom>
          <a:solidFill>
            <a:srgbClr val="E2EAF6"/>
          </a:solidFill>
          <a:ln/>
        </p:spPr>
        <p:txBody>
          <a:bodyPr/>
          <a:p/>
        </p:txBody>
      </p:sp>
      <p:sp>
        <p:nvSpPr>
          <p:cNvPr id="44" name="Text 40"/>
          <p:cNvSpPr txBox="1"/>
          <p:nvPr/>
        </p:nvSpPr>
        <p:spPr>
          <a:xfrm>
            <a:off x="4336942" y="4282373"/>
            <a:ext cx="186840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RDS Postgres · Multi-AZ</a:t>
            </a:r>
            <a:endParaRPr lang="en-US" sz="1200" dirty="0"/>
          </a:p>
        </p:txBody>
      </p:sp>
      <p:sp>
        <p:nvSpPr>
          <p:cNvPr id="45" name="Shape 41"/>
          <p:cNvSpPr/>
          <p:nvPr/>
        </p:nvSpPr>
        <p:spPr>
          <a:xfrm>
            <a:off x="6170260" y="4231574"/>
            <a:ext cx="1644311" cy="299633"/>
          </a:xfrm>
          <a:prstGeom prst="roundRect">
            <a:avLst>
              <a:gd name="adj" fmla="val 21192"/>
            </a:avLst>
          </a:prstGeom>
          <a:solidFill>
            <a:srgbClr val="E7E7F6"/>
          </a:solidFill>
          <a:ln/>
        </p:spPr>
        <p:txBody>
          <a:bodyPr/>
          <a:p/>
        </p:txBody>
      </p:sp>
      <p:sp>
        <p:nvSpPr>
          <p:cNvPr id="46" name="Text 42"/>
          <p:cNvSpPr txBox="1"/>
          <p:nvPr/>
        </p:nvSpPr>
        <p:spPr>
          <a:xfrm>
            <a:off x="6259158" y="4282373"/>
            <a:ext cx="164249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MSK · TLS + SCRAM</a:t>
            </a:r>
            <a:endParaRPr lang="en-US" sz="1200" dirty="0"/>
          </a:p>
        </p:txBody>
      </p:sp>
      <p:sp>
        <p:nvSpPr>
          <p:cNvPr id="47" name="Shape 43"/>
          <p:cNvSpPr/>
          <p:nvPr/>
        </p:nvSpPr>
        <p:spPr>
          <a:xfrm>
            <a:off x="7890769" y="4231574"/>
            <a:ext cx="1873501" cy="299633"/>
          </a:xfrm>
          <a:prstGeom prst="roundRect">
            <a:avLst>
              <a:gd name="adj" fmla="val 21192"/>
            </a:avLst>
          </a:prstGeom>
          <a:solidFill>
            <a:srgbClr val="FBE4E2"/>
          </a:solidFill>
          <a:ln/>
        </p:spPr>
        <p:txBody>
          <a:bodyPr/>
          <a:p/>
        </p:txBody>
      </p:sp>
      <p:sp>
        <p:nvSpPr>
          <p:cNvPr id="48" name="Text 44"/>
          <p:cNvSpPr txBox="1"/>
          <p:nvPr/>
        </p:nvSpPr>
        <p:spPr>
          <a:xfrm>
            <a:off x="7979667" y="4282373"/>
            <a:ext cx="189919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ElastiCache · TLS + auth</a:t>
            </a:r>
            <a:endParaRPr lang="en-US" sz="1200" dirty="0"/>
          </a:p>
        </p:txBody>
      </p:sp>
      <p:sp>
        <p:nvSpPr>
          <p:cNvPr id="49" name="Shape 45"/>
          <p:cNvSpPr/>
          <p:nvPr/>
        </p:nvSpPr>
        <p:spPr>
          <a:xfrm>
            <a:off x="3111422" y="5016375"/>
            <a:ext cx="8115097" cy="634984"/>
          </a:xfrm>
          <a:prstGeom prst="roundRect">
            <a:avLst>
              <a:gd name="adj" fmla="val 12000"/>
            </a:avLst>
          </a:prstGeom>
          <a:solidFill>
            <a:srgbClr val="FCFDFF"/>
          </a:solidFill>
          <a:ln w="6350">
            <a:solidFill>
              <a:srgbClr val="D5DEEC"/>
            </a:solidFill>
            <a:prstDash val="solid"/>
          </a:ln>
        </p:spPr>
        <p:txBody>
          <a:bodyPr/>
          <a:p/>
        </p:txBody>
      </p:sp>
      <p:sp>
        <p:nvSpPr>
          <p:cNvPr id="50" name="Text 46"/>
          <p:cNvSpPr txBox="1"/>
          <p:nvPr/>
        </p:nvSpPr>
        <p:spPr>
          <a:xfrm>
            <a:off x="3219370" y="5227209"/>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6A3FC0"/>
                </a:solidFill>
                <a:latin typeface="Courier New" pitchFamily="34" charset="0"/>
                <a:ea typeface="Courier New" pitchFamily="34" charset="-122"/>
                <a:cs typeface="Courier New" pitchFamily="34" charset="-120"/>
              </a:rPr>
              <a:t>Regional</a:t>
            </a:r>
            <a:endParaRPr lang="en-US" sz="1200" dirty="0"/>
          </a:p>
        </p:txBody>
      </p:sp>
      <p:sp>
        <p:nvSpPr>
          <p:cNvPr id="51" name="Shape 47"/>
          <p:cNvSpPr/>
          <p:nvPr/>
        </p:nvSpPr>
        <p:spPr>
          <a:xfrm>
            <a:off x="4121047" y="5184050"/>
            <a:ext cx="1287232" cy="299633"/>
          </a:xfrm>
          <a:prstGeom prst="roundRect">
            <a:avLst>
              <a:gd name="adj" fmla="val 21192"/>
            </a:avLst>
          </a:prstGeom>
          <a:solidFill>
            <a:srgbClr val="ECE5FA"/>
          </a:solidFill>
          <a:ln/>
        </p:spPr>
        <p:txBody>
          <a:bodyPr/>
          <a:p/>
        </p:txBody>
      </p:sp>
      <p:sp>
        <p:nvSpPr>
          <p:cNvPr id="52" name="Text 48"/>
          <p:cNvSpPr txBox="1"/>
          <p:nvPr/>
        </p:nvSpPr>
        <p:spPr>
          <a:xfrm>
            <a:off x="4209945" y="5234849"/>
            <a:ext cx="124256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KMS: rds, s3, pii</a:t>
            </a:r>
            <a:endParaRPr lang="en-US" sz="1200" dirty="0"/>
          </a:p>
        </p:txBody>
      </p:sp>
      <p:sp>
        <p:nvSpPr>
          <p:cNvPr id="53" name="Shape 49"/>
          <p:cNvSpPr/>
          <p:nvPr/>
        </p:nvSpPr>
        <p:spPr>
          <a:xfrm>
            <a:off x="5484477" y="5184050"/>
            <a:ext cx="1338328" cy="299633"/>
          </a:xfrm>
          <a:prstGeom prst="roundRect">
            <a:avLst>
              <a:gd name="adj" fmla="val 21192"/>
            </a:avLst>
          </a:prstGeom>
          <a:solidFill>
            <a:srgbClr val="ECE5FA"/>
          </a:solidFill>
          <a:ln/>
        </p:spPr>
        <p:txBody>
          <a:bodyPr/>
          <a:p/>
        </p:txBody>
      </p:sp>
      <p:sp>
        <p:nvSpPr>
          <p:cNvPr id="54" name="Text 50"/>
          <p:cNvSpPr txBox="1"/>
          <p:nvPr/>
        </p:nvSpPr>
        <p:spPr>
          <a:xfrm>
            <a:off x="5573375" y="5234849"/>
            <a:ext cx="1299797"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Secrets Manager</a:t>
            </a:r>
            <a:endParaRPr lang="en-US" sz="1200" dirty="0"/>
          </a:p>
        </p:txBody>
      </p:sp>
      <p:sp>
        <p:nvSpPr>
          <p:cNvPr id="55" name="Shape 51"/>
          <p:cNvSpPr/>
          <p:nvPr/>
        </p:nvSpPr>
        <p:spPr>
          <a:xfrm>
            <a:off x="6899003" y="5184050"/>
            <a:ext cx="1058836" cy="299633"/>
          </a:xfrm>
          <a:prstGeom prst="roundRect">
            <a:avLst>
              <a:gd name="adj" fmla="val 21192"/>
            </a:avLst>
          </a:prstGeom>
          <a:solidFill>
            <a:srgbClr val="E0F2E8"/>
          </a:solidFill>
          <a:ln/>
        </p:spPr>
        <p:txBody>
          <a:bodyPr/>
          <a:p/>
        </p:txBody>
      </p:sp>
      <p:sp>
        <p:nvSpPr>
          <p:cNvPr id="56" name="Text 52"/>
          <p:cNvSpPr txBox="1"/>
          <p:nvPr/>
        </p:nvSpPr>
        <p:spPr>
          <a:xfrm>
            <a:off x="6987901" y="5234849"/>
            <a:ext cx="98676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4 S3 buckets</a:t>
            </a:r>
            <a:endParaRPr lang="en-US" sz="1200" dirty="0"/>
          </a:p>
        </p:txBody>
      </p:sp>
      <p:sp>
        <p:nvSpPr>
          <p:cNvPr id="57" name="Shape 53"/>
          <p:cNvSpPr/>
          <p:nvPr/>
        </p:nvSpPr>
        <p:spPr>
          <a:xfrm>
            <a:off x="8034037" y="5184050"/>
            <a:ext cx="1002283" cy="299633"/>
          </a:xfrm>
          <a:prstGeom prst="roundRect">
            <a:avLst>
              <a:gd name="adj" fmla="val 21192"/>
            </a:avLst>
          </a:prstGeom>
          <a:solidFill>
            <a:srgbClr val="EEF1F6"/>
          </a:solidFill>
          <a:ln/>
        </p:spPr>
        <p:txBody>
          <a:bodyPr/>
          <a:p/>
        </p:txBody>
      </p:sp>
      <p:sp>
        <p:nvSpPr>
          <p:cNvPr id="58" name="Text 54"/>
          <p:cNvSpPr txBox="1"/>
          <p:nvPr/>
        </p:nvSpPr>
        <p:spPr>
          <a:xfrm>
            <a:off x="8122935" y="5234849"/>
            <a:ext cx="92342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CloudWatch</a:t>
            </a:r>
            <a:endParaRPr lang="en-US" sz="1200" dirty="0"/>
          </a:p>
        </p:txBody>
      </p:sp>
      <p:sp>
        <p:nvSpPr>
          <p:cNvPr id="59" name="Shape 55"/>
          <p:cNvSpPr/>
          <p:nvPr/>
        </p:nvSpPr>
        <p:spPr>
          <a:xfrm>
            <a:off x="1917652" y="2793930"/>
            <a:ext cx="63" cy="190495"/>
          </a:xfrm>
          <a:prstGeom prst="line">
            <a:avLst/>
          </a:prstGeom>
          <a:noFill/>
          <a:ln w="19050">
            <a:solidFill>
              <a:srgbClr val="5C6B8A"/>
            </a:solidFill>
            <a:prstDash val="solid"/>
            <a:tailEnd type="triangle"/>
          </a:ln>
        </p:spPr>
        <p:txBody>
          <a:bodyPr/>
          <a:p/>
        </p:txBody>
      </p:sp>
      <p:sp>
        <p:nvSpPr>
          <p:cNvPr id="60" name="Shape 56"/>
          <p:cNvSpPr/>
          <p:nvPr/>
        </p:nvSpPr>
        <p:spPr>
          <a:xfrm>
            <a:off x="2870128" y="3486063"/>
            <a:ext cx="368291" cy="63"/>
          </a:xfrm>
          <a:prstGeom prst="line">
            <a:avLst/>
          </a:prstGeom>
          <a:noFill/>
          <a:ln w="19050">
            <a:solidFill>
              <a:srgbClr val="B4530F"/>
            </a:solidFill>
            <a:prstDash val="dash"/>
            <a:tailEnd type="triangle"/>
          </a:ln>
        </p:spPr>
        <p:txBody>
          <a:bodyPr/>
          <a:p/>
        </p:txBody>
      </p:sp>
      <p:sp>
        <p:nvSpPr>
          <p:cNvPr id="61"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Production deployment</a:t>
            </a:r>
            <a:endParaRPr lang="en-US" sz="1200" dirty="0"/>
          </a:p>
        </p:txBody>
      </p:sp>
      <p:sp>
        <p:nvSpPr>
          <p:cNvPr id="62"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STEPS 1–6</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Provision AWS in two Terraform phases</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txBody>
          <a:bodyPr/>
          <a:p/>
        </p:txBody>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Clear the blockers</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Start with the stray edit</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txBody>
          <a:bodyPr/>
          <a:p/>
        </p:txBody>
      </p:sp>
      <p:sp>
        <p:nvSpPr>
          <p:cNvPr id="9" name="Shape 7"/>
          <p:cNvSpPr/>
          <p:nvPr/>
        </p:nvSpPr>
        <p:spPr>
          <a:xfrm>
            <a:off x="5248144" y="1909913"/>
            <a:ext cx="38099" cy="365711"/>
          </a:xfrm>
          <a:prstGeom prst="roundRect">
            <a:avLst>
              <a:gd name="adj" fmla="val 50000"/>
            </a:avLst>
          </a:prstGeom>
          <a:solidFill>
            <a:srgbClr val="2454C5"/>
          </a:solidFill>
          <a:ln/>
        </p:spPr>
        <p:txBody>
          <a:bodyPr/>
          <a:p/>
        </p:txBody>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delete the stray '32wqa' on line 1 of api_gateway/main.tf</a:t>
            </a:r>
            <a:endParaRPr lang="en-US" sz="1200" dirty="0"/>
          </a:p>
        </p:txBody>
      </p:sp>
      <p:sp>
        <p:nvSpPr>
          <p:cNvPr id="11" name="Shape 9"/>
          <p:cNvSpPr/>
          <p:nvPr/>
        </p:nvSpPr>
        <p:spPr>
          <a:xfrm>
            <a:off x="812780" y="2403911"/>
            <a:ext cx="10566136" cy="63"/>
          </a:xfrm>
          <a:prstGeom prst="line">
            <a:avLst/>
          </a:prstGeom>
          <a:noFill/>
          <a:ln w="6350">
            <a:solidFill>
              <a:srgbClr val="D5DEEC"/>
            </a:solidFill>
            <a:prstDash val="solid"/>
          </a:ln>
        </p:spPr>
        <p:txBody>
          <a:bodyPr/>
          <a:p/>
        </p:txBody>
      </p:sp>
      <p:sp>
        <p:nvSpPr>
          <p:cNvPr id="12" name="Text 10"/>
          <p:cNvSpPr txBox="1"/>
          <p:nvPr/>
        </p:nvSpPr>
        <p:spPr>
          <a:xfrm>
            <a:off x="812780" y="2633696"/>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1203295" y="2541028"/>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Bootstrap once</a:t>
            </a:r>
            <a:endParaRPr lang="en-US" sz="1300" dirty="0"/>
          </a:p>
        </p:txBody>
      </p:sp>
      <p:sp>
        <p:nvSpPr>
          <p:cNvPr id="14" name="Text 12"/>
          <p:cNvSpPr txBox="1"/>
          <p:nvPr/>
        </p:nvSpPr>
        <p:spPr>
          <a:xfrm>
            <a:off x="1203295" y="2797502"/>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State, locks, ECR, OIDC roles</a:t>
            </a:r>
            <a:endParaRPr lang="en-US" sz="1200" dirty="0"/>
          </a:p>
        </p:txBody>
      </p:sp>
      <p:sp>
        <p:nvSpPr>
          <p:cNvPr id="15" name="Shape 13"/>
          <p:cNvSpPr/>
          <p:nvPr/>
        </p:nvSpPr>
        <p:spPr>
          <a:xfrm>
            <a:off x="5248144" y="2486459"/>
            <a:ext cx="6130772" cy="579026"/>
          </a:xfrm>
          <a:prstGeom prst="roundRect">
            <a:avLst>
              <a:gd name="adj" fmla="val 8773"/>
            </a:avLst>
          </a:prstGeom>
          <a:solidFill>
            <a:srgbClr val="E7EEFA"/>
          </a:solidFill>
          <a:ln/>
        </p:spPr>
        <p:txBody>
          <a:bodyPr/>
          <a:p/>
        </p:txBody>
      </p:sp>
      <p:sp>
        <p:nvSpPr>
          <p:cNvPr id="16" name="Shape 14"/>
          <p:cNvSpPr/>
          <p:nvPr/>
        </p:nvSpPr>
        <p:spPr>
          <a:xfrm>
            <a:off x="5248144" y="2486459"/>
            <a:ext cx="38099" cy="579026"/>
          </a:xfrm>
          <a:prstGeom prst="roundRect">
            <a:avLst>
              <a:gd name="adj" fmla="val 50000"/>
            </a:avLst>
          </a:prstGeom>
          <a:solidFill>
            <a:srgbClr val="2454C5"/>
          </a:solidFill>
          <a:ln/>
        </p:spPr>
        <p:txBody>
          <a:bodyPr/>
          <a:p/>
        </p:txBody>
      </p:sp>
      <p:sp>
        <p:nvSpPr>
          <p:cNvPr id="17" name="Text 15"/>
          <p:cNvSpPr txBox="1"/>
          <p:nvPr/>
        </p:nvSpPr>
        <p:spPr>
          <a:xfrm>
            <a:off x="5413240" y="2562657"/>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jihajoor-terraform-state (versioned, KMS)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jihajoor-terraform-locks (DynamoDB)</a:t>
            </a:r>
            <a:endParaRPr lang="en-US" sz="1200" dirty="0"/>
          </a:p>
        </p:txBody>
      </p:sp>
      <p:sp>
        <p:nvSpPr>
          <p:cNvPr id="18" name="Shape 16"/>
          <p:cNvSpPr/>
          <p:nvPr/>
        </p:nvSpPr>
        <p:spPr>
          <a:xfrm>
            <a:off x="812780" y="3141683"/>
            <a:ext cx="10566136" cy="63"/>
          </a:xfrm>
          <a:prstGeom prst="line">
            <a:avLst/>
          </a:prstGeom>
          <a:noFill/>
          <a:ln w="6350">
            <a:solidFill>
              <a:srgbClr val="D5DEEC"/>
            </a:solidFill>
            <a:prstDash val="solid"/>
          </a:ln>
        </p:spPr>
        <p:txBody>
          <a:bodyPr/>
          <a:p/>
        </p:txBody>
      </p:sp>
      <p:sp>
        <p:nvSpPr>
          <p:cNvPr id="19" name="Text 17"/>
          <p:cNvSpPr txBox="1"/>
          <p:nvPr/>
        </p:nvSpPr>
        <p:spPr>
          <a:xfrm>
            <a:off x="812780" y="3371468"/>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03</a:t>
            </a:r>
            <a:endParaRPr lang="en-US" sz="1600" dirty="0"/>
          </a:p>
        </p:txBody>
      </p:sp>
      <p:sp>
        <p:nvSpPr>
          <p:cNvPr id="20" name="Text 18"/>
          <p:cNvSpPr txBox="1"/>
          <p:nvPr/>
        </p:nvSpPr>
        <p:spPr>
          <a:xfrm>
            <a:off x="1203295" y="3278800"/>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Phase 1: platform</a:t>
            </a:r>
            <a:endParaRPr lang="en-US" sz="1300" dirty="0"/>
          </a:p>
        </p:txBody>
      </p:sp>
      <p:sp>
        <p:nvSpPr>
          <p:cNvPr id="21" name="Text 19"/>
          <p:cNvSpPr txBox="1"/>
          <p:nvPr/>
        </p:nvSpPr>
        <p:spPr>
          <a:xfrm>
            <a:off x="1203295" y="3535274"/>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Network, EKS, data, edge</a:t>
            </a:r>
            <a:endParaRPr lang="en-US" sz="1200" dirty="0"/>
          </a:p>
        </p:txBody>
      </p:sp>
      <p:sp>
        <p:nvSpPr>
          <p:cNvPr id="22" name="Shape 20"/>
          <p:cNvSpPr/>
          <p:nvPr/>
        </p:nvSpPr>
        <p:spPr>
          <a:xfrm>
            <a:off x="5248144" y="3224231"/>
            <a:ext cx="6130772" cy="579026"/>
          </a:xfrm>
          <a:prstGeom prst="roundRect">
            <a:avLst>
              <a:gd name="adj" fmla="val 8773"/>
            </a:avLst>
          </a:prstGeom>
          <a:solidFill>
            <a:srgbClr val="E7EEFA"/>
          </a:solidFill>
          <a:ln/>
        </p:spPr>
        <p:txBody>
          <a:bodyPr/>
          <a:p/>
        </p:txBody>
      </p:sp>
      <p:sp>
        <p:nvSpPr>
          <p:cNvPr id="23" name="Shape 21"/>
          <p:cNvSpPr/>
          <p:nvPr/>
        </p:nvSpPr>
        <p:spPr>
          <a:xfrm>
            <a:off x="5248144" y="3224231"/>
            <a:ext cx="38099" cy="579026"/>
          </a:xfrm>
          <a:prstGeom prst="roundRect">
            <a:avLst>
              <a:gd name="adj" fmla="val 50000"/>
            </a:avLst>
          </a:prstGeom>
          <a:solidFill>
            <a:srgbClr val="2454C5"/>
          </a:solidFill>
          <a:ln/>
        </p:spPr>
        <p:txBody>
          <a:bodyPr/>
          <a:p/>
        </p:txBody>
      </p:sp>
      <p:sp>
        <p:nvSpPr>
          <p:cNvPr id="24" name="Text 22"/>
          <p:cNvSpPr txBox="1"/>
          <p:nvPr/>
        </p:nvSpPr>
        <p:spPr>
          <a:xfrm>
            <a:off x="5413240" y="3300429"/>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init -backend-config=…</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apply -target=module.kms -target=…</a:t>
            </a:r>
            <a:endParaRPr lang="en-US" sz="1200" dirty="0"/>
          </a:p>
        </p:txBody>
      </p:sp>
      <p:sp>
        <p:nvSpPr>
          <p:cNvPr id="25" name="Shape 23"/>
          <p:cNvSpPr/>
          <p:nvPr/>
        </p:nvSpPr>
        <p:spPr>
          <a:xfrm>
            <a:off x="812780" y="3879455"/>
            <a:ext cx="10566136" cy="63"/>
          </a:xfrm>
          <a:prstGeom prst="line">
            <a:avLst/>
          </a:prstGeom>
          <a:noFill/>
          <a:ln w="6350">
            <a:solidFill>
              <a:srgbClr val="D5DEEC"/>
            </a:solidFill>
            <a:prstDash val="solid"/>
          </a:ln>
        </p:spPr>
        <p:txBody>
          <a:bodyPr/>
          <a:p/>
        </p:txBody>
      </p:sp>
      <p:sp>
        <p:nvSpPr>
          <p:cNvPr id="26" name="Text 24"/>
          <p:cNvSpPr txBox="1"/>
          <p:nvPr/>
        </p:nvSpPr>
        <p:spPr>
          <a:xfrm>
            <a:off x="812780" y="410924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04</a:t>
            </a:r>
            <a:endParaRPr lang="en-US" sz="1600" dirty="0"/>
          </a:p>
        </p:txBody>
      </p:sp>
      <p:sp>
        <p:nvSpPr>
          <p:cNvPr id="27" name="Text 25"/>
          <p:cNvSpPr txBox="1"/>
          <p:nvPr/>
        </p:nvSpPr>
        <p:spPr>
          <a:xfrm>
            <a:off x="1203295" y="401657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Phase 2: IAM, namespace</a:t>
            </a:r>
            <a:endParaRPr lang="en-US" sz="1300" dirty="0"/>
          </a:p>
        </p:txBody>
      </p:sp>
      <p:sp>
        <p:nvSpPr>
          <p:cNvPr id="28" name="Text 26"/>
          <p:cNvSpPr txBox="1"/>
          <p:nvPr/>
        </p:nvSpPr>
        <p:spPr>
          <a:xfrm>
            <a:off x="1203295" y="427304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EKS endpoint and CA into tfvars</a:t>
            </a:r>
            <a:endParaRPr lang="en-US" sz="1200" dirty="0"/>
          </a:p>
        </p:txBody>
      </p:sp>
      <p:sp>
        <p:nvSpPr>
          <p:cNvPr id="29" name="Shape 27"/>
          <p:cNvSpPr/>
          <p:nvPr/>
        </p:nvSpPr>
        <p:spPr>
          <a:xfrm>
            <a:off x="5248144" y="3962003"/>
            <a:ext cx="6130772" cy="579026"/>
          </a:xfrm>
          <a:prstGeom prst="roundRect">
            <a:avLst>
              <a:gd name="adj" fmla="val 8773"/>
            </a:avLst>
          </a:prstGeom>
          <a:solidFill>
            <a:srgbClr val="E7EEFA"/>
          </a:solidFill>
          <a:ln/>
        </p:spPr>
        <p:txBody>
          <a:bodyPr/>
          <a:p/>
        </p:txBody>
      </p:sp>
      <p:sp>
        <p:nvSpPr>
          <p:cNvPr id="30" name="Shape 28"/>
          <p:cNvSpPr/>
          <p:nvPr/>
        </p:nvSpPr>
        <p:spPr>
          <a:xfrm>
            <a:off x="5248144" y="3962003"/>
            <a:ext cx="38099" cy="579026"/>
          </a:xfrm>
          <a:prstGeom prst="roundRect">
            <a:avLst>
              <a:gd name="adj" fmla="val 50000"/>
            </a:avLst>
          </a:prstGeom>
          <a:solidFill>
            <a:srgbClr val="2454C5"/>
          </a:solidFill>
          <a:ln/>
        </p:spPr>
        <p:txBody>
          <a:bodyPr/>
          <a:p/>
        </p:txBody>
      </p:sp>
      <p:sp>
        <p:nvSpPr>
          <p:cNvPr id="31" name="Text 29"/>
          <p:cNvSpPr txBox="1"/>
          <p:nvPr/>
        </p:nvSpPr>
        <p:spPr>
          <a:xfrm>
            <a:off x="5413240" y="403820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apply -target=module.iam -target=module.k8s_namespaces</a:t>
            </a:r>
            <a:endParaRPr lang="en-US" sz="1200" dirty="0"/>
          </a:p>
        </p:txBody>
      </p:sp>
      <p:sp>
        <p:nvSpPr>
          <p:cNvPr id="32" name="Shape 30"/>
          <p:cNvSpPr/>
          <p:nvPr/>
        </p:nvSpPr>
        <p:spPr>
          <a:xfrm>
            <a:off x="812780" y="4617228"/>
            <a:ext cx="10566136" cy="63"/>
          </a:xfrm>
          <a:prstGeom prst="line">
            <a:avLst/>
          </a:prstGeom>
          <a:noFill/>
          <a:ln w="6350">
            <a:solidFill>
              <a:srgbClr val="D5DEEC"/>
            </a:solidFill>
            <a:prstDash val="solid"/>
          </a:ln>
        </p:spPr>
        <p:txBody>
          <a:bodyPr/>
          <a:p/>
        </p:txBody>
      </p:sp>
      <p:sp>
        <p:nvSpPr>
          <p:cNvPr id="33" name="Text 31"/>
          <p:cNvSpPr txBox="1"/>
          <p:nvPr/>
        </p:nvSpPr>
        <p:spPr>
          <a:xfrm>
            <a:off x="812780" y="479244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05</a:t>
            </a:r>
            <a:endParaRPr lang="en-US" sz="1600" dirty="0"/>
          </a:p>
        </p:txBody>
      </p:sp>
      <p:sp>
        <p:nvSpPr>
          <p:cNvPr id="34" name="Text 32"/>
          <p:cNvSpPr txBox="1"/>
          <p:nvPr/>
        </p:nvSpPr>
        <p:spPr>
          <a:xfrm>
            <a:off x="1203295" y="469977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Load real secrets</a:t>
            </a:r>
            <a:endParaRPr lang="en-US" sz="1300" dirty="0"/>
          </a:p>
        </p:txBody>
      </p:sp>
      <p:sp>
        <p:nvSpPr>
          <p:cNvPr id="35" name="Text 33"/>
          <p:cNvSpPr txBox="1"/>
          <p:nvPr/>
        </p:nvSpPr>
        <p:spPr>
          <a:xfrm>
            <a:off x="1203295" y="495625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Replace the placeholders</a:t>
            </a:r>
            <a:endParaRPr lang="en-US" sz="1200" dirty="0"/>
          </a:p>
        </p:txBody>
      </p:sp>
      <p:sp>
        <p:nvSpPr>
          <p:cNvPr id="36" name="Shape 34"/>
          <p:cNvSpPr/>
          <p:nvPr/>
        </p:nvSpPr>
        <p:spPr>
          <a:xfrm>
            <a:off x="5248144" y="4751765"/>
            <a:ext cx="6130772" cy="365711"/>
          </a:xfrm>
          <a:prstGeom prst="roundRect">
            <a:avLst>
              <a:gd name="adj" fmla="val 13890"/>
            </a:avLst>
          </a:prstGeom>
          <a:solidFill>
            <a:srgbClr val="E7EEFA"/>
          </a:solidFill>
          <a:ln/>
        </p:spPr>
        <p:txBody>
          <a:bodyPr/>
          <a:p/>
        </p:txBody>
      </p:sp>
      <p:sp>
        <p:nvSpPr>
          <p:cNvPr id="37" name="Shape 35"/>
          <p:cNvSpPr/>
          <p:nvPr/>
        </p:nvSpPr>
        <p:spPr>
          <a:xfrm>
            <a:off x="5248144" y="4751765"/>
            <a:ext cx="38099" cy="365711"/>
          </a:xfrm>
          <a:prstGeom prst="roundRect">
            <a:avLst>
              <a:gd name="adj" fmla="val 50000"/>
            </a:avLst>
          </a:prstGeom>
          <a:solidFill>
            <a:srgbClr val="2454C5"/>
          </a:solidFill>
          <a:ln/>
        </p:spPr>
        <p:txBody>
          <a:bodyPr/>
          <a:p/>
        </p:txBody>
      </p:sp>
      <p:sp>
        <p:nvSpPr>
          <p:cNvPr id="38" name="Text 36"/>
          <p:cNvSpPr txBox="1"/>
          <p:nvPr/>
        </p:nvSpPr>
        <p:spPr>
          <a:xfrm>
            <a:off x="5413240" y="4827963"/>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Secrets Manager → External Secrets → &lt;svc&gt;-secrets</a:t>
            </a:r>
            <a:endParaRPr lang="en-US" sz="1200" dirty="0"/>
          </a:p>
        </p:txBody>
      </p:sp>
      <p:sp>
        <p:nvSpPr>
          <p:cNvPr id="39" name="Shape 37"/>
          <p:cNvSpPr/>
          <p:nvPr/>
        </p:nvSpPr>
        <p:spPr>
          <a:xfrm>
            <a:off x="812780" y="5245763"/>
            <a:ext cx="10566136" cy="63"/>
          </a:xfrm>
          <a:prstGeom prst="line">
            <a:avLst/>
          </a:prstGeom>
          <a:noFill/>
          <a:ln w="6350">
            <a:solidFill>
              <a:srgbClr val="D5DEEC"/>
            </a:solidFill>
            <a:prstDash val="solid"/>
          </a:ln>
        </p:spPr>
        <p:txBody>
          <a:bodyPr/>
          <a:p/>
        </p:txBody>
      </p:sp>
      <p:sp>
        <p:nvSpPr>
          <p:cNvPr id="40" name="Text 38"/>
          <p:cNvSpPr txBox="1"/>
          <p:nvPr/>
        </p:nvSpPr>
        <p:spPr>
          <a:xfrm>
            <a:off x="812780" y="5420979"/>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06</a:t>
            </a:r>
            <a:endParaRPr lang="en-US" sz="1600" dirty="0"/>
          </a:p>
        </p:txBody>
      </p:sp>
      <p:sp>
        <p:nvSpPr>
          <p:cNvPr id="41" name="Text 39"/>
          <p:cNvSpPr txBox="1"/>
          <p:nvPr/>
        </p:nvSpPr>
        <p:spPr>
          <a:xfrm>
            <a:off x="1203295" y="5328311"/>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Prepare the database</a:t>
            </a:r>
            <a:endParaRPr lang="en-US" sz="1300" dirty="0"/>
          </a:p>
        </p:txBody>
      </p:sp>
      <p:sp>
        <p:nvSpPr>
          <p:cNvPr id="42" name="Text 40"/>
          <p:cNvSpPr txBox="1"/>
          <p:nvPr/>
        </p:nvSpPr>
        <p:spPr>
          <a:xfrm>
            <a:off x="1203295" y="5584785"/>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Per-service roles and schemas</a:t>
            </a:r>
            <a:endParaRPr lang="en-US" sz="1200" dirty="0"/>
          </a:p>
        </p:txBody>
      </p:sp>
      <p:sp>
        <p:nvSpPr>
          <p:cNvPr id="43" name="Shape 41"/>
          <p:cNvSpPr/>
          <p:nvPr/>
        </p:nvSpPr>
        <p:spPr>
          <a:xfrm>
            <a:off x="5248144" y="5380300"/>
            <a:ext cx="6130772" cy="365711"/>
          </a:xfrm>
          <a:prstGeom prst="roundRect">
            <a:avLst>
              <a:gd name="adj" fmla="val 13890"/>
            </a:avLst>
          </a:prstGeom>
          <a:solidFill>
            <a:srgbClr val="E7EEFA"/>
          </a:solidFill>
          <a:ln/>
        </p:spPr>
        <p:txBody>
          <a:bodyPr/>
          <a:p/>
        </p:txBody>
      </p:sp>
      <p:sp>
        <p:nvSpPr>
          <p:cNvPr id="44" name="Shape 42"/>
          <p:cNvSpPr/>
          <p:nvPr/>
        </p:nvSpPr>
        <p:spPr>
          <a:xfrm>
            <a:off x="5248144" y="5380300"/>
            <a:ext cx="38099" cy="365711"/>
          </a:xfrm>
          <a:prstGeom prst="roundRect">
            <a:avLst>
              <a:gd name="adj" fmla="val 50000"/>
            </a:avLst>
          </a:prstGeom>
          <a:solidFill>
            <a:srgbClr val="2454C5"/>
          </a:solidFill>
          <a:ln/>
        </p:spPr>
        <p:txBody>
          <a:bodyPr/>
          <a:p/>
        </p:txBody>
      </p:sp>
      <p:sp>
        <p:nvSpPr>
          <p:cNvPr id="45" name="Text 43"/>
          <p:cNvSpPr txBox="1"/>
          <p:nvPr/>
        </p:nvSpPr>
        <p:spPr>
          <a:xfrm>
            <a:off x="5413240" y="5456498"/>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init-db.sql for RDS, then a Flyway Job</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Production deployment</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STEPS 7–12</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Ship a commit: staging first, production by approval</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txBody>
          <a:bodyPr/>
          <a:p/>
        </p:txBody>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07</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Install cluster add-ons</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LB controller, secrets, monitoring</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txBody>
          <a:bodyPr/>
          <a:p/>
        </p:txBody>
      </p:sp>
      <p:sp>
        <p:nvSpPr>
          <p:cNvPr id="9" name="Shape 7"/>
          <p:cNvSpPr/>
          <p:nvPr/>
        </p:nvSpPr>
        <p:spPr>
          <a:xfrm>
            <a:off x="5248144" y="1909913"/>
            <a:ext cx="38099" cy="365711"/>
          </a:xfrm>
          <a:prstGeom prst="roundRect">
            <a:avLst>
              <a:gd name="adj" fmla="val 50000"/>
            </a:avLst>
          </a:prstGeom>
          <a:solidFill>
            <a:srgbClr val="2454C5"/>
          </a:solidFill>
          <a:ln/>
        </p:spPr>
        <p:txBody>
          <a:bodyPr/>
          <a:p/>
        </p:txBody>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helm install … infra/k8s/observability/*-values.yaml</a:t>
            </a:r>
            <a:endParaRPr lang="en-US" sz="1200" dirty="0"/>
          </a:p>
        </p:txBody>
      </p:sp>
      <p:sp>
        <p:nvSpPr>
          <p:cNvPr id="11" name="Shape 9"/>
          <p:cNvSpPr/>
          <p:nvPr/>
        </p:nvSpPr>
        <p:spPr>
          <a:xfrm>
            <a:off x="812780" y="2403911"/>
            <a:ext cx="10566136" cy="63"/>
          </a:xfrm>
          <a:prstGeom prst="line">
            <a:avLst/>
          </a:prstGeom>
          <a:noFill/>
          <a:ln w="6350">
            <a:solidFill>
              <a:srgbClr val="D5DEEC"/>
            </a:solidFill>
            <a:prstDash val="solid"/>
          </a:ln>
        </p:spPr>
        <p:txBody>
          <a:bodyPr/>
          <a:p/>
        </p:txBody>
      </p:sp>
      <p:sp>
        <p:nvSpPr>
          <p:cNvPr id="12" name="Text 10"/>
          <p:cNvSpPr txBox="1"/>
          <p:nvPr/>
        </p:nvSpPr>
        <p:spPr>
          <a:xfrm>
            <a:off x="812780" y="257912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08</a:t>
            </a:r>
            <a:endParaRPr lang="en-US" sz="1600" dirty="0"/>
          </a:p>
        </p:txBody>
      </p:sp>
      <p:sp>
        <p:nvSpPr>
          <p:cNvPr id="13" name="Text 11"/>
          <p:cNvSpPr txBox="1"/>
          <p:nvPr/>
        </p:nvSpPr>
        <p:spPr>
          <a:xfrm>
            <a:off x="1203295" y="248645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Merge to main</a:t>
            </a:r>
            <a:endParaRPr lang="en-US" sz="1300" dirty="0"/>
          </a:p>
        </p:txBody>
      </p:sp>
      <p:sp>
        <p:nvSpPr>
          <p:cNvPr id="14" name="Text 12"/>
          <p:cNvSpPr txBox="1"/>
          <p:nvPr/>
        </p:nvSpPr>
        <p:spPr>
          <a:xfrm>
            <a:off x="1203295" y="274293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Tests, coverage, Trivy, ECR push</a:t>
            </a:r>
            <a:endParaRPr lang="en-US" sz="1200" dirty="0"/>
          </a:p>
        </p:txBody>
      </p:sp>
      <p:sp>
        <p:nvSpPr>
          <p:cNvPr id="15" name="Shape 13"/>
          <p:cNvSpPr/>
          <p:nvPr/>
        </p:nvSpPr>
        <p:spPr>
          <a:xfrm>
            <a:off x="5248144" y="2538448"/>
            <a:ext cx="6130772" cy="365711"/>
          </a:xfrm>
          <a:prstGeom prst="roundRect">
            <a:avLst>
              <a:gd name="adj" fmla="val 13890"/>
            </a:avLst>
          </a:prstGeom>
          <a:solidFill>
            <a:srgbClr val="E7EEFA"/>
          </a:solidFill>
          <a:ln/>
        </p:spPr>
        <p:txBody>
          <a:bodyPr/>
          <a:p/>
        </p:txBody>
      </p:sp>
      <p:sp>
        <p:nvSpPr>
          <p:cNvPr id="16" name="Shape 14"/>
          <p:cNvSpPr/>
          <p:nvPr/>
        </p:nvSpPr>
        <p:spPr>
          <a:xfrm>
            <a:off x="5248144" y="2538448"/>
            <a:ext cx="38099" cy="365711"/>
          </a:xfrm>
          <a:prstGeom prst="roundRect">
            <a:avLst>
              <a:gd name="adj" fmla="val 50000"/>
            </a:avLst>
          </a:prstGeom>
          <a:solidFill>
            <a:srgbClr val="2454C5"/>
          </a:solidFill>
          <a:ln/>
        </p:spPr>
        <p:txBody>
          <a:bodyPr/>
          <a:p/>
        </p:txBody>
      </p:sp>
      <p:sp>
        <p:nvSpPr>
          <p:cNvPr id="17" name="Text 15"/>
          <p:cNvSpPr txBox="1"/>
          <p:nvPr/>
        </p:nvSpPr>
        <p:spPr>
          <a:xfrm>
            <a:off x="5413240" y="2614646"/>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vars: IMAGE_PUSH_ENABLED, STAGING_DEPLOY_ENABLED</a:t>
            </a:r>
            <a:endParaRPr lang="en-US" sz="1200" dirty="0"/>
          </a:p>
        </p:txBody>
      </p:sp>
      <p:sp>
        <p:nvSpPr>
          <p:cNvPr id="18" name="Shape 16"/>
          <p:cNvSpPr/>
          <p:nvPr/>
        </p:nvSpPr>
        <p:spPr>
          <a:xfrm>
            <a:off x="812780" y="3032446"/>
            <a:ext cx="10566136" cy="63"/>
          </a:xfrm>
          <a:prstGeom prst="line">
            <a:avLst/>
          </a:prstGeom>
          <a:noFill/>
          <a:ln w="6350">
            <a:solidFill>
              <a:srgbClr val="D5DEEC"/>
            </a:solidFill>
            <a:prstDash val="solid"/>
          </a:ln>
        </p:spPr>
        <p:txBody>
          <a:bodyPr/>
          <a:p/>
        </p:txBody>
      </p:sp>
      <p:sp>
        <p:nvSpPr>
          <p:cNvPr id="19" name="Text 17"/>
          <p:cNvSpPr txBox="1"/>
          <p:nvPr/>
        </p:nvSpPr>
        <p:spPr>
          <a:xfrm>
            <a:off x="812780" y="320766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09</a:t>
            </a:r>
            <a:endParaRPr lang="en-US" sz="1600" dirty="0"/>
          </a:p>
        </p:txBody>
      </p:sp>
      <p:sp>
        <p:nvSpPr>
          <p:cNvPr id="20" name="Text 18"/>
          <p:cNvSpPr txBox="1"/>
          <p:nvPr/>
        </p:nvSpPr>
        <p:spPr>
          <a:xfrm>
            <a:off x="1203295" y="311499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Staging deploys itself</a:t>
            </a:r>
            <a:endParaRPr lang="en-US" sz="1300" dirty="0"/>
          </a:p>
        </p:txBody>
      </p:sp>
      <p:sp>
        <p:nvSpPr>
          <p:cNvPr id="21" name="Text 19"/>
          <p:cNvSpPr txBox="1"/>
          <p:nvPr/>
        </p:nvSpPr>
        <p:spPr>
          <a:xfrm>
            <a:off x="1203295" y="337146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Preflight, then Helm per deployable</a:t>
            </a:r>
            <a:endParaRPr lang="en-US" sz="1200" dirty="0"/>
          </a:p>
        </p:txBody>
      </p:sp>
      <p:sp>
        <p:nvSpPr>
          <p:cNvPr id="22" name="Shape 20"/>
          <p:cNvSpPr/>
          <p:nvPr/>
        </p:nvSpPr>
        <p:spPr>
          <a:xfrm>
            <a:off x="5248144" y="3166983"/>
            <a:ext cx="6130772" cy="365711"/>
          </a:xfrm>
          <a:prstGeom prst="roundRect">
            <a:avLst>
              <a:gd name="adj" fmla="val 13890"/>
            </a:avLst>
          </a:prstGeom>
          <a:solidFill>
            <a:srgbClr val="E7EEFA"/>
          </a:solidFill>
          <a:ln/>
        </p:spPr>
        <p:txBody>
          <a:bodyPr/>
          <a:p/>
        </p:txBody>
      </p:sp>
      <p:sp>
        <p:nvSpPr>
          <p:cNvPr id="23" name="Shape 21"/>
          <p:cNvSpPr/>
          <p:nvPr/>
        </p:nvSpPr>
        <p:spPr>
          <a:xfrm>
            <a:off x="5248144" y="3166983"/>
            <a:ext cx="38099" cy="365711"/>
          </a:xfrm>
          <a:prstGeom prst="roundRect">
            <a:avLst>
              <a:gd name="adj" fmla="val 50000"/>
            </a:avLst>
          </a:prstGeom>
          <a:solidFill>
            <a:srgbClr val="2454C5"/>
          </a:solidFill>
          <a:ln/>
        </p:spPr>
        <p:txBody>
          <a:bodyPr/>
          <a:p/>
        </p:txBody>
      </p:sp>
      <p:sp>
        <p:nvSpPr>
          <p:cNvPr id="24" name="Text 22"/>
          <p:cNvSpPr txBox="1"/>
          <p:nvPr/>
        </p:nvSpPr>
        <p:spPr>
          <a:xfrm>
            <a:off x="5413240" y="324318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helm upgrade --install jihajoor-&lt;deployable&gt; --atomic --wait</a:t>
            </a:r>
            <a:endParaRPr lang="en-US" sz="1200" dirty="0"/>
          </a:p>
        </p:txBody>
      </p:sp>
      <p:sp>
        <p:nvSpPr>
          <p:cNvPr id="25" name="Shape 23"/>
          <p:cNvSpPr/>
          <p:nvPr/>
        </p:nvSpPr>
        <p:spPr>
          <a:xfrm>
            <a:off x="812780" y="3660981"/>
            <a:ext cx="10566136" cy="63"/>
          </a:xfrm>
          <a:prstGeom prst="line">
            <a:avLst/>
          </a:prstGeom>
          <a:noFill/>
          <a:ln w="6350">
            <a:solidFill>
              <a:srgbClr val="D5DEEC"/>
            </a:solidFill>
            <a:prstDash val="solid"/>
          </a:ln>
        </p:spPr>
        <p:txBody>
          <a:bodyPr/>
          <a:p/>
        </p:txBody>
      </p:sp>
      <p:sp>
        <p:nvSpPr>
          <p:cNvPr id="26" name="Text 24"/>
          <p:cNvSpPr txBox="1"/>
          <p:nvPr/>
        </p:nvSpPr>
        <p:spPr>
          <a:xfrm>
            <a:off x="812780" y="3890766"/>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10</a:t>
            </a:r>
            <a:endParaRPr lang="en-US" sz="1600" dirty="0"/>
          </a:p>
        </p:txBody>
      </p:sp>
      <p:sp>
        <p:nvSpPr>
          <p:cNvPr id="27" name="Text 25"/>
          <p:cNvSpPr txBox="1"/>
          <p:nvPr/>
        </p:nvSpPr>
        <p:spPr>
          <a:xfrm>
            <a:off x="1203295" y="3798098"/>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Promote to production</a:t>
            </a:r>
            <a:endParaRPr lang="en-US" sz="1300" dirty="0"/>
          </a:p>
        </p:txBody>
      </p:sp>
      <p:sp>
        <p:nvSpPr>
          <p:cNvPr id="28" name="Text 26"/>
          <p:cNvSpPr txBox="1"/>
          <p:nvPr/>
        </p:nvSpPr>
        <p:spPr>
          <a:xfrm>
            <a:off x="1203295" y="4054572"/>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Same SHA; reviewers approve</a:t>
            </a:r>
            <a:endParaRPr lang="en-US" sz="1200" dirty="0"/>
          </a:p>
        </p:txBody>
      </p:sp>
      <p:sp>
        <p:nvSpPr>
          <p:cNvPr id="29" name="Shape 27"/>
          <p:cNvSpPr/>
          <p:nvPr/>
        </p:nvSpPr>
        <p:spPr>
          <a:xfrm>
            <a:off x="5248144" y="3743529"/>
            <a:ext cx="6130772" cy="579026"/>
          </a:xfrm>
          <a:prstGeom prst="roundRect">
            <a:avLst>
              <a:gd name="adj" fmla="val 8773"/>
            </a:avLst>
          </a:prstGeom>
          <a:solidFill>
            <a:srgbClr val="E7EEFA"/>
          </a:solidFill>
          <a:ln/>
        </p:spPr>
        <p:txBody>
          <a:bodyPr/>
          <a:p/>
        </p:txBody>
      </p:sp>
      <p:sp>
        <p:nvSpPr>
          <p:cNvPr id="30" name="Shape 28"/>
          <p:cNvSpPr/>
          <p:nvPr/>
        </p:nvSpPr>
        <p:spPr>
          <a:xfrm>
            <a:off x="5248144" y="3743529"/>
            <a:ext cx="38099" cy="579026"/>
          </a:xfrm>
          <a:prstGeom prst="roundRect">
            <a:avLst>
              <a:gd name="adj" fmla="val 50000"/>
            </a:avLst>
          </a:prstGeom>
          <a:solidFill>
            <a:srgbClr val="2454C5"/>
          </a:solidFill>
          <a:ln/>
        </p:spPr>
        <p:txBody>
          <a:bodyPr/>
          <a:p/>
        </p:txBody>
      </p:sp>
      <p:sp>
        <p:nvSpPr>
          <p:cNvPr id="31" name="Text 29"/>
          <p:cNvSpPr txBox="1"/>
          <p:nvPr/>
        </p:nvSpPr>
        <p:spPr>
          <a:xfrm>
            <a:off x="5413240" y="3819727"/>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gh workflow run cd-production.yml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-f image_tag=&lt;sha&gt; -f services=all</a:t>
            </a:r>
            <a:endParaRPr lang="en-US" sz="1200" dirty="0"/>
          </a:p>
        </p:txBody>
      </p:sp>
      <p:sp>
        <p:nvSpPr>
          <p:cNvPr id="32" name="Shape 30"/>
          <p:cNvSpPr/>
          <p:nvPr/>
        </p:nvSpPr>
        <p:spPr>
          <a:xfrm>
            <a:off x="812780" y="4398753"/>
            <a:ext cx="10566136" cy="63"/>
          </a:xfrm>
          <a:prstGeom prst="line">
            <a:avLst/>
          </a:prstGeom>
          <a:noFill/>
          <a:ln w="6350">
            <a:solidFill>
              <a:srgbClr val="D5DEEC"/>
            </a:solidFill>
            <a:prstDash val="solid"/>
          </a:ln>
        </p:spPr>
        <p:txBody>
          <a:bodyPr/>
          <a:p/>
        </p:txBody>
      </p:sp>
      <p:sp>
        <p:nvSpPr>
          <p:cNvPr id="33" name="Text 31"/>
          <p:cNvSpPr txBox="1"/>
          <p:nvPr/>
        </p:nvSpPr>
        <p:spPr>
          <a:xfrm>
            <a:off x="812780" y="4573969"/>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11</a:t>
            </a:r>
            <a:endParaRPr lang="en-US" sz="1600" dirty="0"/>
          </a:p>
        </p:txBody>
      </p:sp>
      <p:sp>
        <p:nvSpPr>
          <p:cNvPr id="34" name="Text 32"/>
          <p:cNvSpPr txBox="1"/>
          <p:nvPr/>
        </p:nvSpPr>
        <p:spPr>
          <a:xfrm>
            <a:off x="1203295" y="4481301"/>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Publish the web apps</a:t>
            </a:r>
            <a:endParaRPr lang="en-US" sz="1300" dirty="0"/>
          </a:p>
        </p:txBody>
      </p:sp>
      <p:sp>
        <p:nvSpPr>
          <p:cNvPr id="35" name="Text 33"/>
          <p:cNvSpPr txBox="1"/>
          <p:nvPr/>
        </p:nvSpPr>
        <p:spPr>
          <a:xfrm>
            <a:off x="1203295" y="4737775"/>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Railway builds each app</a:t>
            </a:r>
            <a:endParaRPr lang="en-US" sz="1200" dirty="0"/>
          </a:p>
        </p:txBody>
      </p:sp>
      <p:sp>
        <p:nvSpPr>
          <p:cNvPr id="36" name="Shape 34"/>
          <p:cNvSpPr/>
          <p:nvPr/>
        </p:nvSpPr>
        <p:spPr>
          <a:xfrm>
            <a:off x="5248144" y="4533291"/>
            <a:ext cx="6130772" cy="365711"/>
          </a:xfrm>
          <a:prstGeom prst="roundRect">
            <a:avLst>
              <a:gd name="adj" fmla="val 13890"/>
            </a:avLst>
          </a:prstGeom>
          <a:solidFill>
            <a:srgbClr val="E7EEFA"/>
          </a:solidFill>
          <a:ln/>
        </p:spPr>
        <p:txBody>
          <a:bodyPr/>
          <a:p/>
        </p:txBody>
      </p:sp>
      <p:sp>
        <p:nvSpPr>
          <p:cNvPr id="37" name="Shape 35"/>
          <p:cNvSpPr/>
          <p:nvPr/>
        </p:nvSpPr>
        <p:spPr>
          <a:xfrm>
            <a:off x="5248144" y="4533291"/>
            <a:ext cx="38099" cy="365711"/>
          </a:xfrm>
          <a:prstGeom prst="roundRect">
            <a:avLst>
              <a:gd name="adj" fmla="val 50000"/>
            </a:avLst>
          </a:prstGeom>
          <a:solidFill>
            <a:srgbClr val="2454C5"/>
          </a:solidFill>
          <a:ln/>
        </p:spPr>
        <p:txBody>
          <a:bodyPr/>
          <a:p/>
        </p:txBody>
      </p:sp>
      <p:sp>
        <p:nvSpPr>
          <p:cNvPr id="38" name="Text 36"/>
          <p:cNvSpPr txBox="1"/>
          <p:nvPr/>
        </p:nvSpPr>
        <p:spPr>
          <a:xfrm>
            <a:off x="5413240" y="4609489"/>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frontend/&lt;app&gt;: nginx image from main (railway.json)</a:t>
            </a:r>
            <a:endParaRPr lang="en-US" sz="1200" dirty="0"/>
          </a:p>
        </p:txBody>
      </p:sp>
      <p:sp>
        <p:nvSpPr>
          <p:cNvPr id="39" name="Shape 37"/>
          <p:cNvSpPr/>
          <p:nvPr/>
        </p:nvSpPr>
        <p:spPr>
          <a:xfrm>
            <a:off x="812780" y="5027288"/>
            <a:ext cx="10566136" cy="63"/>
          </a:xfrm>
          <a:prstGeom prst="line">
            <a:avLst/>
          </a:prstGeom>
          <a:noFill/>
          <a:ln w="6350">
            <a:solidFill>
              <a:srgbClr val="D5DEEC"/>
            </a:solidFill>
            <a:prstDash val="solid"/>
          </a:ln>
        </p:spPr>
        <p:txBody>
          <a:bodyPr/>
          <a:p/>
        </p:txBody>
      </p:sp>
      <p:sp>
        <p:nvSpPr>
          <p:cNvPr id="40" name="Text 38"/>
          <p:cNvSpPr txBox="1"/>
          <p:nvPr/>
        </p:nvSpPr>
        <p:spPr>
          <a:xfrm>
            <a:off x="812780" y="5202504"/>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12</a:t>
            </a:r>
            <a:endParaRPr lang="en-US" sz="1600" dirty="0"/>
          </a:p>
        </p:txBody>
      </p:sp>
      <p:sp>
        <p:nvSpPr>
          <p:cNvPr id="41" name="Text 39"/>
          <p:cNvSpPr txBox="1"/>
          <p:nvPr/>
        </p:nvSpPr>
        <p:spPr>
          <a:xfrm>
            <a:off x="1203295" y="5109836"/>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Watch, then roll back</a:t>
            </a:r>
            <a:endParaRPr lang="en-US" sz="1300" dirty="0"/>
          </a:p>
        </p:txBody>
      </p:sp>
      <p:sp>
        <p:nvSpPr>
          <p:cNvPr id="42" name="Text 40"/>
          <p:cNvSpPr txBox="1"/>
          <p:nvPr/>
        </p:nvSpPr>
        <p:spPr>
          <a:xfrm>
            <a:off x="1203295" y="536631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Alarms, .DLT topics, errors</a:t>
            </a:r>
            <a:endParaRPr lang="en-US" sz="1200" dirty="0"/>
          </a:p>
        </p:txBody>
      </p:sp>
      <p:sp>
        <p:nvSpPr>
          <p:cNvPr id="43" name="Shape 41"/>
          <p:cNvSpPr/>
          <p:nvPr/>
        </p:nvSpPr>
        <p:spPr>
          <a:xfrm>
            <a:off x="5248144" y="5161826"/>
            <a:ext cx="6130772" cy="365711"/>
          </a:xfrm>
          <a:prstGeom prst="roundRect">
            <a:avLst>
              <a:gd name="adj" fmla="val 13890"/>
            </a:avLst>
          </a:prstGeom>
          <a:solidFill>
            <a:srgbClr val="E7EEFA"/>
          </a:solidFill>
          <a:ln/>
        </p:spPr>
        <p:txBody>
          <a:bodyPr/>
          <a:p/>
        </p:txBody>
      </p:sp>
      <p:sp>
        <p:nvSpPr>
          <p:cNvPr id="44" name="Shape 42"/>
          <p:cNvSpPr/>
          <p:nvPr/>
        </p:nvSpPr>
        <p:spPr>
          <a:xfrm>
            <a:off x="5248144" y="5161826"/>
            <a:ext cx="38099" cy="365711"/>
          </a:xfrm>
          <a:prstGeom prst="roundRect">
            <a:avLst>
              <a:gd name="adj" fmla="val 50000"/>
            </a:avLst>
          </a:prstGeom>
          <a:solidFill>
            <a:srgbClr val="2454C5"/>
          </a:solidFill>
          <a:ln/>
        </p:spPr>
        <p:txBody>
          <a:bodyPr/>
          <a:p/>
        </p:txBody>
      </p:sp>
      <p:sp>
        <p:nvSpPr>
          <p:cNvPr id="45" name="Text 43"/>
          <p:cNvSpPr txBox="1"/>
          <p:nvPr/>
        </p:nvSpPr>
        <p:spPr>
          <a:xfrm>
            <a:off x="5413240" y="5238024"/>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re-run cd-production with the previous SHA</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Production deployment</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DELIVERY PIPELINE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GitHub Actions carries a commit from PR to release</a:t>
            </a:r>
            <a:endParaRPr lang="en-US" sz="3000" dirty="0"/>
          </a:p>
        </p:txBody>
      </p:sp>
      <p:sp>
        <p:nvSpPr>
          <p:cNvPr id="4" name="Shape 2"/>
          <p:cNvSpPr/>
          <p:nvPr/>
        </p:nvSpPr>
        <p:spPr>
          <a:xfrm>
            <a:off x="812780" y="1775376"/>
            <a:ext cx="1788076" cy="1613951"/>
          </a:xfrm>
          <a:prstGeom prst="roundRect">
            <a:avLst>
              <a:gd name="adj" fmla="val 6295"/>
            </a:avLst>
          </a:prstGeom>
          <a:solidFill>
            <a:srgbClr val="FCFDFF"/>
          </a:solidFill>
          <a:ln w="6350">
            <a:solidFill>
              <a:srgbClr val="D5DEEC"/>
            </a:solidFill>
            <a:prstDash val="solid"/>
          </a:ln>
        </p:spPr>
        <p:txBody>
          <a:bodyPr/>
          <a:p/>
        </p:txBody>
      </p:sp>
      <p:sp>
        <p:nvSpPr>
          <p:cNvPr id="5" name="Shape 3"/>
          <p:cNvSpPr/>
          <p:nvPr/>
        </p:nvSpPr>
        <p:spPr>
          <a:xfrm>
            <a:off x="812780" y="1775376"/>
            <a:ext cx="1788076" cy="50799"/>
          </a:xfrm>
          <a:prstGeom prst="roundRect">
            <a:avLst>
              <a:gd name="adj" fmla="val 50000"/>
            </a:avLst>
          </a:prstGeom>
          <a:solidFill>
            <a:srgbClr val="2454C5"/>
          </a:solidFill>
          <a:ln/>
        </p:spPr>
        <p:txBody>
          <a:bodyPr/>
          <a:p/>
        </p:txBody>
      </p:sp>
      <p:sp>
        <p:nvSpPr>
          <p:cNvPr id="6" name="Shape 4"/>
          <p:cNvSpPr/>
          <p:nvPr/>
        </p:nvSpPr>
        <p:spPr>
          <a:xfrm>
            <a:off x="1478223" y="1978571"/>
            <a:ext cx="457189" cy="457189"/>
          </a:xfrm>
          <a:prstGeom prst="ellipse">
            <a:avLst/>
          </a:prstGeom>
          <a:solidFill>
            <a:srgbClr val="E3EBFA"/>
          </a:solidFill>
          <a:ln/>
        </p:spPr>
        <p:txBody>
          <a:bodyPr/>
          <a:p/>
        </p:txBody>
      </p:sp>
      <p:pic>
        <p:nvPicPr>
          <p:cNvPr id="7" name="Image 0" descr="preencoded.png">    </p:cNvPr>
          <p:cNvPicPr>
            <a:picLocks noChangeAspect="1"/>
          </p:cNvPicPr>
          <p:nvPr/>
        </p:nvPicPr>
        <p:blipFill>
          <a:blip r:embed="rId1"/>
          <a:stretch>
            <a:fillRect/>
          </a:stretch>
        </p:blipFill>
        <p:spPr>
          <a:xfrm>
            <a:off x="1586171" y="2086518"/>
            <a:ext cx="241294" cy="241294"/>
          </a:xfrm>
          <a:prstGeom prst="rect">
            <a:avLst/>
          </a:prstGeom>
        </p:spPr>
      </p:pic>
      <p:sp>
        <p:nvSpPr>
          <p:cNvPr id="8" name="Text 5"/>
          <p:cNvSpPr txBox="1"/>
          <p:nvPr/>
        </p:nvSpPr>
        <p:spPr>
          <a:xfrm>
            <a:off x="1184654" y="2511958"/>
            <a:ext cx="1044327"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Pull request</a:t>
            </a:r>
            <a:endParaRPr lang="en-US" sz="1300" dirty="0"/>
          </a:p>
        </p:txBody>
      </p:sp>
      <p:sp>
        <p:nvSpPr>
          <p:cNvPr id="9" name="Text 6"/>
          <p:cNvSpPr txBox="1"/>
          <p:nvPr/>
        </p:nvSpPr>
        <p:spPr>
          <a:xfrm>
            <a:off x="883291" y="2819230"/>
            <a:ext cx="1647054"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Changed services: lint, Helm, build</a:t>
            </a:r>
            <a:endParaRPr lang="en-US" sz="1200" dirty="0"/>
          </a:p>
        </p:txBody>
      </p:sp>
      <p:sp>
        <p:nvSpPr>
          <p:cNvPr id="10" name="Shape 7"/>
          <p:cNvSpPr/>
          <p:nvPr/>
        </p:nvSpPr>
        <p:spPr>
          <a:xfrm>
            <a:off x="2677053" y="2518803"/>
            <a:ext cx="253994" cy="126997"/>
          </a:xfrm>
          <a:prstGeom prst="rightArrow">
            <a:avLst/>
          </a:prstGeom>
          <a:solidFill>
            <a:srgbClr val="5C6B8A"/>
          </a:solidFill>
          <a:ln/>
        </p:spPr>
        <p:txBody>
          <a:bodyPr/>
          <a:p/>
        </p:txBody>
      </p:sp>
      <p:sp>
        <p:nvSpPr>
          <p:cNvPr id="11" name="Shape 8"/>
          <p:cNvSpPr/>
          <p:nvPr/>
        </p:nvSpPr>
        <p:spPr>
          <a:xfrm>
            <a:off x="3007245" y="1775376"/>
            <a:ext cx="1788175" cy="1613951"/>
          </a:xfrm>
          <a:prstGeom prst="roundRect">
            <a:avLst>
              <a:gd name="adj" fmla="val 6295"/>
            </a:avLst>
          </a:prstGeom>
          <a:solidFill>
            <a:srgbClr val="FCFDFF"/>
          </a:solidFill>
          <a:ln w="6350">
            <a:solidFill>
              <a:srgbClr val="D5DEEC"/>
            </a:solidFill>
            <a:prstDash val="solid"/>
          </a:ln>
        </p:spPr>
        <p:txBody>
          <a:bodyPr/>
          <a:p/>
        </p:txBody>
      </p:sp>
      <p:sp>
        <p:nvSpPr>
          <p:cNvPr id="12" name="Shape 9"/>
          <p:cNvSpPr/>
          <p:nvPr/>
        </p:nvSpPr>
        <p:spPr>
          <a:xfrm>
            <a:off x="3007245" y="1775376"/>
            <a:ext cx="1788175" cy="50799"/>
          </a:xfrm>
          <a:prstGeom prst="roundRect">
            <a:avLst>
              <a:gd name="adj" fmla="val 50000"/>
            </a:avLst>
          </a:prstGeom>
          <a:solidFill>
            <a:srgbClr val="0B7F74"/>
          </a:solidFill>
          <a:ln/>
        </p:spPr>
        <p:txBody>
          <a:bodyPr/>
          <a:p/>
        </p:txBody>
      </p:sp>
      <p:sp>
        <p:nvSpPr>
          <p:cNvPr id="13" name="Shape 10"/>
          <p:cNvSpPr/>
          <p:nvPr/>
        </p:nvSpPr>
        <p:spPr>
          <a:xfrm>
            <a:off x="3672689" y="1978571"/>
            <a:ext cx="457189" cy="457189"/>
          </a:xfrm>
          <a:prstGeom prst="ellipse">
            <a:avLst/>
          </a:prstGeom>
          <a:solidFill>
            <a:srgbClr val="DDF2EF"/>
          </a:solidFill>
          <a:ln/>
        </p:spPr>
        <p:txBody>
          <a:bodyPr/>
          <a:p/>
        </p:txBody>
      </p:sp>
      <p:pic>
        <p:nvPicPr>
          <p:cNvPr id="14" name="Image 1" descr="preencoded.png">    </p:cNvPr>
          <p:cNvPicPr>
            <a:picLocks noChangeAspect="1"/>
          </p:cNvPicPr>
          <p:nvPr/>
        </p:nvPicPr>
        <p:blipFill>
          <a:blip r:embed="rId2"/>
          <a:stretch>
            <a:fillRect/>
          </a:stretch>
        </p:blipFill>
        <p:spPr>
          <a:xfrm>
            <a:off x="3780636" y="2086518"/>
            <a:ext cx="241294" cy="241294"/>
          </a:xfrm>
          <a:prstGeom prst="rect">
            <a:avLst/>
          </a:prstGeom>
        </p:spPr>
      </p:pic>
      <p:sp>
        <p:nvSpPr>
          <p:cNvPr id="15" name="Text 11"/>
          <p:cNvSpPr txBox="1"/>
          <p:nvPr/>
        </p:nvSpPr>
        <p:spPr>
          <a:xfrm>
            <a:off x="3445565" y="2511958"/>
            <a:ext cx="91153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CI on main</a:t>
            </a:r>
            <a:endParaRPr lang="en-US" sz="1300" dirty="0"/>
          </a:p>
        </p:txBody>
      </p:sp>
      <p:sp>
        <p:nvSpPr>
          <p:cNvPr id="16" name="Text 12"/>
          <p:cNvSpPr txBox="1"/>
          <p:nvPr/>
        </p:nvSpPr>
        <p:spPr>
          <a:xfrm>
            <a:off x="3077750" y="2819230"/>
            <a:ext cx="1647165"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Tests, 80% coverage, Trivy, ECR</a:t>
            </a:r>
            <a:endParaRPr lang="en-US" sz="1200" dirty="0"/>
          </a:p>
        </p:txBody>
      </p:sp>
      <p:sp>
        <p:nvSpPr>
          <p:cNvPr id="17" name="Shape 13"/>
          <p:cNvSpPr/>
          <p:nvPr/>
        </p:nvSpPr>
        <p:spPr>
          <a:xfrm>
            <a:off x="4871618" y="2518803"/>
            <a:ext cx="253994" cy="126997"/>
          </a:xfrm>
          <a:prstGeom prst="rightArrow">
            <a:avLst/>
          </a:prstGeom>
          <a:solidFill>
            <a:srgbClr val="5C6B8A"/>
          </a:solidFill>
          <a:ln/>
        </p:spPr>
        <p:txBody>
          <a:bodyPr/>
          <a:p/>
        </p:txBody>
      </p:sp>
      <p:sp>
        <p:nvSpPr>
          <p:cNvPr id="18" name="Shape 14"/>
          <p:cNvSpPr/>
          <p:nvPr/>
        </p:nvSpPr>
        <p:spPr>
          <a:xfrm>
            <a:off x="5201810" y="1775376"/>
            <a:ext cx="1788076" cy="1613951"/>
          </a:xfrm>
          <a:prstGeom prst="roundRect">
            <a:avLst>
              <a:gd name="adj" fmla="val 6295"/>
            </a:avLst>
          </a:prstGeom>
          <a:solidFill>
            <a:srgbClr val="FCFDFF"/>
          </a:solidFill>
          <a:ln w="6350">
            <a:solidFill>
              <a:srgbClr val="D5DEEC"/>
            </a:solidFill>
            <a:prstDash val="solid"/>
          </a:ln>
        </p:spPr>
        <p:txBody>
          <a:bodyPr/>
          <a:p/>
        </p:txBody>
      </p:sp>
      <p:sp>
        <p:nvSpPr>
          <p:cNvPr id="19" name="Shape 15"/>
          <p:cNvSpPr/>
          <p:nvPr/>
        </p:nvSpPr>
        <p:spPr>
          <a:xfrm>
            <a:off x="5201810" y="1775376"/>
            <a:ext cx="1788076" cy="50799"/>
          </a:xfrm>
          <a:prstGeom prst="roundRect">
            <a:avLst>
              <a:gd name="adj" fmla="val 50000"/>
            </a:avLst>
          </a:prstGeom>
          <a:solidFill>
            <a:srgbClr val="6A3FC0"/>
          </a:solidFill>
          <a:ln/>
        </p:spPr>
        <p:txBody>
          <a:bodyPr/>
          <a:p/>
        </p:txBody>
      </p:sp>
      <p:sp>
        <p:nvSpPr>
          <p:cNvPr id="20" name="Shape 16"/>
          <p:cNvSpPr/>
          <p:nvPr/>
        </p:nvSpPr>
        <p:spPr>
          <a:xfrm>
            <a:off x="5867253" y="1978571"/>
            <a:ext cx="457189" cy="457189"/>
          </a:xfrm>
          <a:prstGeom prst="ellipse">
            <a:avLst/>
          </a:prstGeom>
          <a:solidFill>
            <a:srgbClr val="ECE5FA"/>
          </a:solidFill>
          <a:ln/>
        </p:spPr>
        <p:txBody>
          <a:bodyPr/>
          <a:p/>
        </p:txBody>
      </p:sp>
      <p:pic>
        <p:nvPicPr>
          <p:cNvPr id="21" name="Image 2" descr="preencoded.png">    </p:cNvPr>
          <p:cNvPicPr>
            <a:picLocks noChangeAspect="1"/>
          </p:cNvPicPr>
          <p:nvPr/>
        </p:nvPicPr>
        <p:blipFill>
          <a:blip r:embed="rId3"/>
          <a:stretch>
            <a:fillRect/>
          </a:stretch>
        </p:blipFill>
        <p:spPr>
          <a:xfrm>
            <a:off x="5975201" y="2086518"/>
            <a:ext cx="241294" cy="241294"/>
          </a:xfrm>
          <a:prstGeom prst="rect">
            <a:avLst/>
          </a:prstGeom>
        </p:spPr>
      </p:pic>
      <p:sp>
        <p:nvSpPr>
          <p:cNvPr id="22" name="Text 17"/>
          <p:cNvSpPr txBox="1"/>
          <p:nvPr/>
        </p:nvSpPr>
        <p:spPr>
          <a:xfrm>
            <a:off x="5782523" y="2511958"/>
            <a:ext cx="62655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Staging</a:t>
            </a:r>
            <a:endParaRPr lang="en-US" sz="1300" dirty="0"/>
          </a:p>
        </p:txBody>
      </p:sp>
      <p:sp>
        <p:nvSpPr>
          <p:cNvPr id="23" name="Text 18"/>
          <p:cNvSpPr txBox="1"/>
          <p:nvPr/>
        </p:nvSpPr>
        <p:spPr>
          <a:xfrm>
            <a:off x="5272321" y="2819230"/>
            <a:ext cx="1647054"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Preflight, Helm --atomic, health</a:t>
            </a:r>
            <a:endParaRPr lang="en-US" sz="1200" dirty="0"/>
          </a:p>
        </p:txBody>
      </p:sp>
      <p:sp>
        <p:nvSpPr>
          <p:cNvPr id="24" name="Shape 19"/>
          <p:cNvSpPr/>
          <p:nvPr/>
        </p:nvSpPr>
        <p:spPr>
          <a:xfrm>
            <a:off x="7066083" y="2518803"/>
            <a:ext cx="253994" cy="126997"/>
          </a:xfrm>
          <a:prstGeom prst="rightArrow">
            <a:avLst/>
          </a:prstGeom>
          <a:solidFill>
            <a:srgbClr val="5C6B8A"/>
          </a:solidFill>
          <a:ln/>
        </p:spPr>
        <p:txBody>
          <a:bodyPr/>
          <a:p/>
        </p:txBody>
      </p:sp>
      <p:sp>
        <p:nvSpPr>
          <p:cNvPr id="25" name="Shape 20"/>
          <p:cNvSpPr/>
          <p:nvPr/>
        </p:nvSpPr>
        <p:spPr>
          <a:xfrm>
            <a:off x="7396275" y="1775376"/>
            <a:ext cx="1788175" cy="1613951"/>
          </a:xfrm>
          <a:prstGeom prst="roundRect">
            <a:avLst>
              <a:gd name="adj" fmla="val 6295"/>
            </a:avLst>
          </a:prstGeom>
          <a:solidFill>
            <a:srgbClr val="FCFDFF"/>
          </a:solidFill>
          <a:ln w="6350">
            <a:solidFill>
              <a:srgbClr val="D5DEEC"/>
            </a:solidFill>
            <a:prstDash val="solid"/>
          </a:ln>
        </p:spPr>
        <p:txBody>
          <a:bodyPr/>
          <a:p/>
        </p:txBody>
      </p:sp>
      <p:sp>
        <p:nvSpPr>
          <p:cNvPr id="26" name="Shape 21"/>
          <p:cNvSpPr/>
          <p:nvPr/>
        </p:nvSpPr>
        <p:spPr>
          <a:xfrm>
            <a:off x="7396275" y="1775376"/>
            <a:ext cx="1788175" cy="50799"/>
          </a:xfrm>
          <a:prstGeom prst="roundRect">
            <a:avLst>
              <a:gd name="adj" fmla="val 50000"/>
            </a:avLst>
          </a:prstGeom>
          <a:solidFill>
            <a:srgbClr val="B4530F"/>
          </a:solidFill>
          <a:ln/>
        </p:spPr>
        <p:txBody>
          <a:bodyPr/>
          <a:p/>
        </p:txBody>
      </p:sp>
      <p:sp>
        <p:nvSpPr>
          <p:cNvPr id="27" name="Shape 22"/>
          <p:cNvSpPr/>
          <p:nvPr/>
        </p:nvSpPr>
        <p:spPr>
          <a:xfrm>
            <a:off x="8061719" y="1978571"/>
            <a:ext cx="457189" cy="457189"/>
          </a:xfrm>
          <a:prstGeom prst="ellipse">
            <a:avLst/>
          </a:prstGeom>
          <a:solidFill>
            <a:srgbClr val="FCEBDD"/>
          </a:solidFill>
          <a:ln/>
        </p:spPr>
        <p:txBody>
          <a:bodyPr/>
          <a:p/>
        </p:txBody>
      </p:sp>
      <p:pic>
        <p:nvPicPr>
          <p:cNvPr id="28" name="Image 3" descr="preencoded.png">    </p:cNvPr>
          <p:cNvPicPr>
            <a:picLocks noChangeAspect="1"/>
          </p:cNvPicPr>
          <p:nvPr/>
        </p:nvPicPr>
        <p:blipFill>
          <a:blip r:embed="rId4"/>
          <a:stretch>
            <a:fillRect/>
          </a:stretch>
        </p:blipFill>
        <p:spPr>
          <a:xfrm>
            <a:off x="8169666" y="2086518"/>
            <a:ext cx="241294" cy="241294"/>
          </a:xfrm>
          <a:prstGeom prst="rect">
            <a:avLst/>
          </a:prstGeom>
        </p:spPr>
      </p:pic>
      <p:sp>
        <p:nvSpPr>
          <p:cNvPr id="29" name="Text 23"/>
          <p:cNvSpPr txBox="1"/>
          <p:nvPr/>
        </p:nvSpPr>
        <p:spPr>
          <a:xfrm>
            <a:off x="7817482" y="2511958"/>
            <a:ext cx="94576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Production</a:t>
            </a:r>
            <a:endParaRPr lang="en-US" sz="1300" dirty="0"/>
          </a:p>
        </p:txBody>
      </p:sp>
      <p:sp>
        <p:nvSpPr>
          <p:cNvPr id="30" name="Text 24"/>
          <p:cNvSpPr txBox="1"/>
          <p:nvPr/>
        </p:nvSpPr>
        <p:spPr>
          <a:xfrm>
            <a:off x="7466780" y="2819230"/>
            <a:ext cx="1647165"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Manual run, reviewers approve</a:t>
            </a:r>
            <a:endParaRPr lang="en-US" sz="1200" dirty="0"/>
          </a:p>
        </p:txBody>
      </p:sp>
      <p:sp>
        <p:nvSpPr>
          <p:cNvPr id="31" name="Shape 25"/>
          <p:cNvSpPr/>
          <p:nvPr/>
        </p:nvSpPr>
        <p:spPr>
          <a:xfrm>
            <a:off x="9260648" y="2518803"/>
            <a:ext cx="253994" cy="126997"/>
          </a:xfrm>
          <a:prstGeom prst="rightArrow">
            <a:avLst/>
          </a:prstGeom>
          <a:solidFill>
            <a:srgbClr val="5C6B8A"/>
          </a:solidFill>
          <a:ln/>
        </p:spPr>
        <p:txBody>
          <a:bodyPr/>
          <a:p/>
        </p:txBody>
      </p:sp>
      <p:sp>
        <p:nvSpPr>
          <p:cNvPr id="32" name="Shape 26"/>
          <p:cNvSpPr/>
          <p:nvPr/>
        </p:nvSpPr>
        <p:spPr>
          <a:xfrm>
            <a:off x="9590840" y="1775376"/>
            <a:ext cx="1788076" cy="1613951"/>
          </a:xfrm>
          <a:prstGeom prst="roundRect">
            <a:avLst>
              <a:gd name="adj" fmla="val 6295"/>
            </a:avLst>
          </a:prstGeom>
          <a:solidFill>
            <a:srgbClr val="FCFDFF"/>
          </a:solidFill>
          <a:ln w="6350">
            <a:solidFill>
              <a:srgbClr val="D5DEEC"/>
            </a:solidFill>
            <a:prstDash val="solid"/>
          </a:ln>
        </p:spPr>
        <p:txBody>
          <a:bodyPr/>
          <a:p/>
        </p:txBody>
      </p:sp>
      <p:sp>
        <p:nvSpPr>
          <p:cNvPr id="33" name="Shape 27"/>
          <p:cNvSpPr/>
          <p:nvPr/>
        </p:nvSpPr>
        <p:spPr>
          <a:xfrm>
            <a:off x="9590840" y="1775376"/>
            <a:ext cx="1788076" cy="50799"/>
          </a:xfrm>
          <a:prstGeom prst="roundRect">
            <a:avLst>
              <a:gd name="adj" fmla="val 50000"/>
            </a:avLst>
          </a:prstGeom>
          <a:solidFill>
            <a:srgbClr val="2E7D4F"/>
          </a:solidFill>
          <a:ln/>
        </p:spPr>
        <p:txBody>
          <a:bodyPr/>
          <a:p/>
        </p:txBody>
      </p:sp>
      <p:sp>
        <p:nvSpPr>
          <p:cNvPr id="34" name="Shape 28"/>
          <p:cNvSpPr/>
          <p:nvPr/>
        </p:nvSpPr>
        <p:spPr>
          <a:xfrm>
            <a:off x="10256283" y="1978571"/>
            <a:ext cx="457189" cy="457189"/>
          </a:xfrm>
          <a:prstGeom prst="ellipse">
            <a:avLst/>
          </a:prstGeom>
          <a:solidFill>
            <a:srgbClr val="E0F2E8"/>
          </a:solidFill>
          <a:ln/>
        </p:spPr>
        <p:txBody>
          <a:bodyPr/>
          <a:p/>
        </p:txBody>
      </p:sp>
      <p:pic>
        <p:nvPicPr>
          <p:cNvPr id="35" name="Image 4" descr="preencoded.png">    </p:cNvPr>
          <p:cNvPicPr>
            <a:picLocks noChangeAspect="1"/>
          </p:cNvPicPr>
          <p:nvPr/>
        </p:nvPicPr>
        <p:blipFill>
          <a:blip r:embed="rId5"/>
          <a:stretch>
            <a:fillRect/>
          </a:stretch>
        </p:blipFill>
        <p:spPr>
          <a:xfrm>
            <a:off x="10364231" y="2086518"/>
            <a:ext cx="241294" cy="241294"/>
          </a:xfrm>
          <a:prstGeom prst="rect">
            <a:avLst/>
          </a:prstGeom>
        </p:spPr>
      </p:pic>
      <p:sp>
        <p:nvSpPr>
          <p:cNvPr id="36" name="Text 29"/>
          <p:cNvSpPr txBox="1"/>
          <p:nvPr/>
        </p:nvSpPr>
        <p:spPr>
          <a:xfrm>
            <a:off x="10150122" y="2511958"/>
            <a:ext cx="66951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Release</a:t>
            </a:r>
            <a:endParaRPr lang="en-US" sz="1300" dirty="0"/>
          </a:p>
        </p:txBody>
      </p:sp>
      <p:sp>
        <p:nvSpPr>
          <p:cNvPr id="37" name="Text 30"/>
          <p:cNvSpPr txBox="1"/>
          <p:nvPr/>
        </p:nvSpPr>
        <p:spPr>
          <a:xfrm>
            <a:off x="9692576" y="2819230"/>
            <a:ext cx="1584603" cy="205735"/>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Tagged production-N</a:t>
            </a:r>
            <a:endParaRPr lang="en-US" sz="1200" dirty="0"/>
          </a:p>
        </p:txBody>
      </p:sp>
      <p:sp>
        <p:nvSpPr>
          <p:cNvPr id="38" name="Text 31"/>
          <p:cNvSpPr txBox="1"/>
          <p:nvPr/>
        </p:nvSpPr>
        <p:spPr>
          <a:xfrm>
            <a:off x="812780" y="3643321"/>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B4530F"/>
                </a:solidFill>
                <a:latin typeface="Courier New" pitchFamily="34" charset="0"/>
                <a:ea typeface="Courier New" pitchFamily="34" charset="-122"/>
                <a:cs typeface="Courier New" pitchFamily="34" charset="-120"/>
              </a:rPr>
              <a:t>NOT AUTOMATED YET</a:t>
            </a:r>
            <a:endParaRPr lang="en-US" sz="1200" dirty="0"/>
          </a:p>
        </p:txBody>
      </p:sp>
      <p:sp>
        <p:nvSpPr>
          <p:cNvPr id="39" name="Shape 32"/>
          <p:cNvSpPr/>
          <p:nvPr/>
        </p:nvSpPr>
        <p:spPr>
          <a:xfrm>
            <a:off x="812780" y="3945533"/>
            <a:ext cx="2565336" cy="459669"/>
          </a:xfrm>
          <a:prstGeom prst="roundRect">
            <a:avLst>
              <a:gd name="adj" fmla="val 16577"/>
            </a:avLst>
          </a:prstGeom>
          <a:solidFill>
            <a:srgbClr val="FCEBDD"/>
          </a:solidFill>
          <a:ln w="12700">
            <a:solidFill>
              <a:srgbClr val="B4530F"/>
            </a:solidFill>
            <a:prstDash val="dash"/>
          </a:ln>
        </p:spPr>
        <p:txBody>
          <a:bodyPr/>
          <a:p/>
        </p:txBody>
      </p:sp>
      <p:sp>
        <p:nvSpPr>
          <p:cNvPr id="40" name="Text 33"/>
          <p:cNvSpPr txBox="1"/>
          <p:nvPr/>
        </p:nvSpPr>
        <p:spPr>
          <a:xfrm>
            <a:off x="939777" y="4072530"/>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Terraform plan and apply</a:t>
            </a:r>
            <a:endParaRPr lang="en-US" sz="1200" dirty="0"/>
          </a:p>
        </p:txBody>
      </p:sp>
      <p:sp>
        <p:nvSpPr>
          <p:cNvPr id="41" name="Shape 34"/>
          <p:cNvSpPr/>
          <p:nvPr/>
        </p:nvSpPr>
        <p:spPr>
          <a:xfrm>
            <a:off x="3479713" y="3945533"/>
            <a:ext cx="2565336" cy="459669"/>
          </a:xfrm>
          <a:prstGeom prst="roundRect">
            <a:avLst>
              <a:gd name="adj" fmla="val 16577"/>
            </a:avLst>
          </a:prstGeom>
          <a:solidFill>
            <a:srgbClr val="FCEBDD"/>
          </a:solidFill>
          <a:ln w="12700">
            <a:solidFill>
              <a:srgbClr val="B4530F"/>
            </a:solidFill>
            <a:prstDash val="dash"/>
          </a:ln>
        </p:spPr>
        <p:txBody>
          <a:bodyPr/>
          <a:p/>
        </p:txBody>
      </p:sp>
      <p:sp>
        <p:nvSpPr>
          <p:cNvPr id="42" name="Text 35"/>
          <p:cNvSpPr txBox="1"/>
          <p:nvPr/>
        </p:nvSpPr>
        <p:spPr>
          <a:xfrm>
            <a:off x="3606710" y="4072530"/>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Web app deploy</a:t>
            </a:r>
            <a:endParaRPr lang="en-US" sz="1200" dirty="0"/>
          </a:p>
        </p:txBody>
      </p:sp>
      <p:sp>
        <p:nvSpPr>
          <p:cNvPr id="43" name="Shape 36"/>
          <p:cNvSpPr/>
          <p:nvPr/>
        </p:nvSpPr>
        <p:spPr>
          <a:xfrm>
            <a:off x="6146646" y="3945533"/>
            <a:ext cx="2565336" cy="459669"/>
          </a:xfrm>
          <a:prstGeom prst="roundRect">
            <a:avLst>
              <a:gd name="adj" fmla="val 16577"/>
            </a:avLst>
          </a:prstGeom>
          <a:solidFill>
            <a:srgbClr val="FCEBDD"/>
          </a:solidFill>
          <a:ln w="12700">
            <a:solidFill>
              <a:srgbClr val="B4530F"/>
            </a:solidFill>
            <a:prstDash val="dash"/>
          </a:ln>
        </p:spPr>
        <p:txBody>
          <a:bodyPr/>
          <a:p/>
        </p:txBody>
      </p:sp>
      <p:sp>
        <p:nvSpPr>
          <p:cNvPr id="44" name="Text 37"/>
          <p:cNvSpPr txBox="1"/>
          <p:nvPr/>
        </p:nvSpPr>
        <p:spPr>
          <a:xfrm>
            <a:off x="6273643" y="4072530"/>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Migrations as a Job</a:t>
            </a:r>
            <a:endParaRPr lang="en-US" sz="1200" dirty="0"/>
          </a:p>
        </p:txBody>
      </p:sp>
      <p:sp>
        <p:nvSpPr>
          <p:cNvPr id="45" name="Shape 38"/>
          <p:cNvSpPr/>
          <p:nvPr/>
        </p:nvSpPr>
        <p:spPr>
          <a:xfrm>
            <a:off x="8813580" y="3945533"/>
            <a:ext cx="2565336" cy="459669"/>
          </a:xfrm>
          <a:prstGeom prst="roundRect">
            <a:avLst>
              <a:gd name="adj" fmla="val 16577"/>
            </a:avLst>
          </a:prstGeom>
          <a:solidFill>
            <a:srgbClr val="FCEBDD"/>
          </a:solidFill>
          <a:ln w="12700">
            <a:solidFill>
              <a:srgbClr val="B4530F"/>
            </a:solidFill>
            <a:prstDash val="dash"/>
          </a:ln>
        </p:spPr>
        <p:txBody>
          <a:bodyPr/>
          <a:p/>
        </p:txBody>
      </p:sp>
      <p:sp>
        <p:nvSpPr>
          <p:cNvPr id="46" name="Text 39"/>
          <p:cNvSpPr txBox="1"/>
          <p:nvPr/>
        </p:nvSpPr>
        <p:spPr>
          <a:xfrm>
            <a:off x="8940576" y="4072530"/>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IaC, secret, npm scans</a:t>
            </a:r>
            <a:endParaRPr lang="en-US" sz="1200" dirty="0"/>
          </a:p>
        </p:txBody>
      </p:sp>
      <p:sp>
        <p:nvSpPr>
          <p:cNvPr id="47" name="Text 4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Production deployment</a:t>
            </a:r>
            <a:endParaRPr lang="en-US" sz="1200" dirty="0"/>
          </a:p>
        </p:txBody>
      </p:sp>
      <p:sp>
        <p:nvSpPr>
          <p:cNvPr id="48" name="Text 4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Ten blockers stand between Terraform and live traffic</a:t>
            </a:r>
            <a:endParaRPr lang="en-US" sz="3000" dirty="0"/>
          </a:p>
        </p:txBody>
      </p:sp>
      <p:sp>
        <p:nvSpPr>
          <p:cNvPr id="4" name="Shape 2"/>
          <p:cNvSpPr/>
          <p:nvPr/>
        </p:nvSpPr>
        <p:spPr>
          <a:xfrm>
            <a:off x="812780" y="1775376"/>
            <a:ext cx="10566136" cy="287529"/>
          </a:xfrm>
          <a:prstGeom prst="rect">
            <a:avLst/>
          </a:prstGeom>
          <a:solidFill>
            <a:srgbClr val="2454C5"/>
          </a:solidFill>
          <a:ln/>
        </p:spPr>
        <p:txBody>
          <a:bodyPr/>
          <a:p/>
        </p:txBody>
      </p:sp>
      <p:sp>
        <p:nvSpPr>
          <p:cNvPr id="5" name="Shape 3"/>
          <p:cNvSpPr/>
          <p:nvPr/>
        </p:nvSpPr>
        <p:spPr>
          <a:xfrm>
            <a:off x="812780" y="2059730"/>
            <a:ext cx="528227" cy="63"/>
          </a:xfrm>
          <a:prstGeom prst="line">
            <a:avLst/>
          </a:prstGeom>
          <a:noFill/>
          <a:ln w="6350">
            <a:solidFill>
              <a:srgbClr val="D5DEEC"/>
            </a:solidFill>
            <a:prstDash val="solid"/>
          </a:ln>
        </p:spPr>
        <p:txBody>
          <a:bodyPr/>
          <a:p/>
        </p:txBody>
      </p:sp>
      <p:sp>
        <p:nvSpPr>
          <p:cNvPr id="6" name="Text 4"/>
          <p:cNvSpPr txBox="1"/>
          <p:nvPr/>
        </p:nvSpPr>
        <p:spPr>
          <a:xfrm>
            <a:off x="904217" y="1828715"/>
            <a:ext cx="42155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1341007" y="2059730"/>
            <a:ext cx="5600064" cy="63"/>
          </a:xfrm>
          <a:prstGeom prst="line">
            <a:avLst/>
          </a:prstGeom>
          <a:noFill/>
          <a:ln w="6350">
            <a:solidFill>
              <a:srgbClr val="D5DEEC"/>
            </a:solidFill>
            <a:prstDash val="solid"/>
          </a:ln>
        </p:spPr>
        <p:txBody>
          <a:bodyPr/>
          <a:p/>
        </p:txBody>
      </p:sp>
      <p:sp>
        <p:nvSpPr>
          <p:cNvPr id="8" name="Text 6"/>
          <p:cNvSpPr txBox="1"/>
          <p:nvPr/>
        </p:nvSpPr>
        <p:spPr>
          <a:xfrm>
            <a:off x="1432445" y="1828715"/>
            <a:ext cx="6067251"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Blocker</a:t>
            </a:r>
            <a:endParaRPr lang="en-US" sz="1200" dirty="0"/>
          </a:p>
        </p:txBody>
      </p:sp>
      <p:sp>
        <p:nvSpPr>
          <p:cNvPr id="9" name="Shape 7"/>
          <p:cNvSpPr/>
          <p:nvPr/>
        </p:nvSpPr>
        <p:spPr>
          <a:xfrm>
            <a:off x="6941071" y="2059730"/>
            <a:ext cx="4437845" cy="63"/>
          </a:xfrm>
          <a:prstGeom prst="line">
            <a:avLst/>
          </a:prstGeom>
          <a:noFill/>
          <a:ln w="6350">
            <a:solidFill>
              <a:srgbClr val="D5DEEC"/>
            </a:solidFill>
            <a:prstDash val="solid"/>
          </a:ln>
        </p:spPr>
        <p:txBody>
          <a:bodyPr/>
          <a:p/>
        </p:txBody>
      </p:sp>
      <p:sp>
        <p:nvSpPr>
          <p:cNvPr id="10" name="Text 8"/>
          <p:cNvSpPr txBox="1"/>
          <p:nvPr/>
        </p:nvSpPr>
        <p:spPr>
          <a:xfrm>
            <a:off x="7032509" y="1828715"/>
            <a:ext cx="4765565"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528227" cy="63"/>
          </a:xfrm>
          <a:prstGeom prst="line">
            <a:avLst/>
          </a:prstGeom>
          <a:noFill/>
          <a:ln w="6350">
            <a:solidFill>
              <a:srgbClr val="D5DEEC"/>
            </a:solidFill>
            <a:prstDash val="solid"/>
          </a:ln>
        </p:spPr>
        <p:txBody>
          <a:bodyPr/>
          <a:p/>
        </p:txBody>
      </p:sp>
      <p:sp>
        <p:nvSpPr>
          <p:cNvPr id="12" name="Text 10"/>
          <p:cNvSpPr txBox="1"/>
          <p:nvPr/>
        </p:nvSpPr>
        <p:spPr>
          <a:xfrm>
            <a:off x="904217" y="2116243"/>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1</a:t>
            </a:r>
            <a:endParaRPr lang="en-US" sz="1200" dirty="0"/>
          </a:p>
        </p:txBody>
      </p:sp>
      <p:sp>
        <p:nvSpPr>
          <p:cNvPr id="13" name="Shape 11"/>
          <p:cNvSpPr/>
          <p:nvPr/>
        </p:nvSpPr>
        <p:spPr>
          <a:xfrm>
            <a:off x="1341007" y="2350433"/>
            <a:ext cx="5600064" cy="63"/>
          </a:xfrm>
          <a:prstGeom prst="line">
            <a:avLst/>
          </a:prstGeom>
          <a:noFill/>
          <a:ln w="6350">
            <a:solidFill>
              <a:srgbClr val="D5DEEC"/>
            </a:solidFill>
            <a:prstDash val="solid"/>
          </a:ln>
        </p:spPr>
        <p:txBody>
          <a:bodyPr/>
          <a:p/>
        </p:txBody>
      </p:sp>
      <p:sp>
        <p:nvSpPr>
          <p:cNvPr id="14" name="Text 12"/>
          <p:cNvSpPr txBox="1"/>
          <p:nvPr/>
        </p:nvSpPr>
        <p:spPr>
          <a:xfrm>
            <a:off x="1432445" y="2116243"/>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Stray "32wqa" in api_gateway/main.tf breaks plan</a:t>
            </a:r>
            <a:endParaRPr lang="en-US" sz="1200" dirty="0"/>
          </a:p>
        </p:txBody>
      </p:sp>
      <p:sp>
        <p:nvSpPr>
          <p:cNvPr id="15" name="Shape 13"/>
          <p:cNvSpPr/>
          <p:nvPr/>
        </p:nvSpPr>
        <p:spPr>
          <a:xfrm>
            <a:off x="6941071" y="2350433"/>
            <a:ext cx="4437845" cy="63"/>
          </a:xfrm>
          <a:prstGeom prst="line">
            <a:avLst/>
          </a:prstGeom>
          <a:noFill/>
          <a:ln w="6350">
            <a:solidFill>
              <a:srgbClr val="D5DEEC"/>
            </a:solidFill>
            <a:prstDash val="solid"/>
          </a:ln>
        </p:spPr>
        <p:txBody>
          <a:bodyPr/>
          <a:p/>
        </p:txBody>
      </p:sp>
      <p:sp>
        <p:nvSpPr>
          <p:cNvPr id="16" name="Text 14"/>
          <p:cNvSpPr txBox="1"/>
          <p:nvPr/>
        </p:nvSpPr>
        <p:spPr>
          <a:xfrm>
            <a:off x="7032509" y="2116243"/>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Delete it; it is committed</a:t>
            </a:r>
            <a:endParaRPr lang="en-US" sz="1200" dirty="0"/>
          </a:p>
        </p:txBody>
      </p:sp>
      <p:sp>
        <p:nvSpPr>
          <p:cNvPr id="17" name="Shape 15"/>
          <p:cNvSpPr/>
          <p:nvPr/>
        </p:nvSpPr>
        <p:spPr>
          <a:xfrm>
            <a:off x="812780" y="2353608"/>
            <a:ext cx="10566136" cy="290704"/>
          </a:xfrm>
          <a:prstGeom prst="rect">
            <a:avLst/>
          </a:prstGeom>
          <a:solidFill>
            <a:srgbClr val="EEF2F9"/>
          </a:solidFill>
          <a:ln/>
        </p:spPr>
        <p:txBody>
          <a:bodyPr/>
          <a:p/>
        </p:txBody>
      </p:sp>
      <p:sp>
        <p:nvSpPr>
          <p:cNvPr id="18" name="Shape 16"/>
          <p:cNvSpPr/>
          <p:nvPr/>
        </p:nvSpPr>
        <p:spPr>
          <a:xfrm>
            <a:off x="812780" y="2641137"/>
            <a:ext cx="528227" cy="63"/>
          </a:xfrm>
          <a:prstGeom prst="line">
            <a:avLst/>
          </a:prstGeom>
          <a:noFill/>
          <a:ln w="6350">
            <a:solidFill>
              <a:srgbClr val="D5DEEC"/>
            </a:solidFill>
            <a:prstDash val="solid"/>
          </a:ln>
        </p:spPr>
        <p:txBody>
          <a:bodyPr/>
          <a:p/>
        </p:txBody>
      </p:sp>
      <p:sp>
        <p:nvSpPr>
          <p:cNvPr id="19" name="Text 17"/>
          <p:cNvSpPr txBox="1"/>
          <p:nvPr/>
        </p:nvSpPr>
        <p:spPr>
          <a:xfrm>
            <a:off x="904217" y="2406947"/>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2</a:t>
            </a:r>
            <a:endParaRPr lang="en-US" sz="1200" dirty="0"/>
          </a:p>
        </p:txBody>
      </p:sp>
      <p:sp>
        <p:nvSpPr>
          <p:cNvPr id="20" name="Shape 18"/>
          <p:cNvSpPr/>
          <p:nvPr/>
        </p:nvSpPr>
        <p:spPr>
          <a:xfrm>
            <a:off x="1341007" y="2641137"/>
            <a:ext cx="5600064" cy="63"/>
          </a:xfrm>
          <a:prstGeom prst="line">
            <a:avLst/>
          </a:prstGeom>
          <a:noFill/>
          <a:ln w="6350">
            <a:solidFill>
              <a:srgbClr val="D5DEEC"/>
            </a:solidFill>
            <a:prstDash val="solid"/>
          </a:ln>
        </p:spPr>
        <p:txBody>
          <a:bodyPr/>
          <a:p/>
        </p:txBody>
      </p:sp>
      <p:sp>
        <p:nvSpPr>
          <p:cNvPr id="21" name="Text 19"/>
          <p:cNvSpPr txBox="1"/>
          <p:nvPr/>
        </p:nvSpPr>
        <p:spPr>
          <a:xfrm>
            <a:off x="1432445" y="2406947"/>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HTTP API has no routes, integrations or VPC Link</a:t>
            </a:r>
            <a:endParaRPr lang="en-US" sz="1200" dirty="0"/>
          </a:p>
        </p:txBody>
      </p:sp>
      <p:sp>
        <p:nvSpPr>
          <p:cNvPr id="22" name="Shape 20"/>
          <p:cNvSpPr/>
          <p:nvPr/>
        </p:nvSpPr>
        <p:spPr>
          <a:xfrm>
            <a:off x="6941071" y="2641137"/>
            <a:ext cx="4437845" cy="63"/>
          </a:xfrm>
          <a:prstGeom prst="line">
            <a:avLst/>
          </a:prstGeom>
          <a:noFill/>
          <a:ln w="6350">
            <a:solidFill>
              <a:srgbClr val="D5DEEC"/>
            </a:solidFill>
            <a:prstDash val="solid"/>
          </a:ln>
        </p:spPr>
        <p:txBody>
          <a:bodyPr/>
          <a:p/>
        </p:txBody>
      </p:sp>
      <p:sp>
        <p:nvSpPr>
          <p:cNvPr id="23" name="Text 21"/>
          <p:cNvSpPr txBox="1"/>
          <p:nvPr/>
        </p:nvSpPr>
        <p:spPr>
          <a:xfrm>
            <a:off x="7032509" y="2406947"/>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ALB ingress, or VPC Link + NLB</a:t>
            </a:r>
            <a:endParaRPr lang="en-US" sz="1200" dirty="0"/>
          </a:p>
        </p:txBody>
      </p:sp>
      <p:sp>
        <p:nvSpPr>
          <p:cNvPr id="24" name="Shape 22"/>
          <p:cNvSpPr/>
          <p:nvPr/>
        </p:nvSpPr>
        <p:spPr>
          <a:xfrm>
            <a:off x="812780" y="2931841"/>
            <a:ext cx="528227" cy="63"/>
          </a:xfrm>
          <a:prstGeom prst="line">
            <a:avLst/>
          </a:prstGeom>
          <a:noFill/>
          <a:ln w="6350">
            <a:solidFill>
              <a:srgbClr val="D5DEEC"/>
            </a:solidFill>
            <a:prstDash val="solid"/>
          </a:ln>
        </p:spPr>
        <p:txBody>
          <a:bodyPr/>
          <a:p/>
        </p:txBody>
      </p:sp>
      <p:sp>
        <p:nvSpPr>
          <p:cNvPr id="25" name="Text 23"/>
          <p:cNvSpPr txBox="1"/>
          <p:nvPr/>
        </p:nvSpPr>
        <p:spPr>
          <a:xfrm>
            <a:off x="904217" y="2697651"/>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3</a:t>
            </a:r>
            <a:endParaRPr lang="en-US" sz="1200" dirty="0"/>
          </a:p>
        </p:txBody>
      </p:sp>
      <p:sp>
        <p:nvSpPr>
          <p:cNvPr id="26" name="Shape 24"/>
          <p:cNvSpPr/>
          <p:nvPr/>
        </p:nvSpPr>
        <p:spPr>
          <a:xfrm>
            <a:off x="1341007" y="2931841"/>
            <a:ext cx="5600064" cy="63"/>
          </a:xfrm>
          <a:prstGeom prst="line">
            <a:avLst/>
          </a:prstGeom>
          <a:noFill/>
          <a:ln w="6350">
            <a:solidFill>
              <a:srgbClr val="D5DEEC"/>
            </a:solidFill>
            <a:prstDash val="solid"/>
          </a:ln>
        </p:spPr>
        <p:txBody>
          <a:bodyPr/>
          <a:p/>
        </p:txBody>
      </p:sp>
      <p:sp>
        <p:nvSpPr>
          <p:cNvPr id="27" name="Text 25"/>
          <p:cNvSpPr txBox="1"/>
          <p:nvPr/>
        </p:nvSpPr>
        <p:spPr>
          <a:xfrm>
            <a:off x="1432445" y="2697651"/>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WAFv2 cannot attach to an HTTP API stage</a:t>
            </a:r>
            <a:endParaRPr lang="en-US" sz="1200" dirty="0"/>
          </a:p>
        </p:txBody>
      </p:sp>
      <p:sp>
        <p:nvSpPr>
          <p:cNvPr id="28" name="Shape 26"/>
          <p:cNvSpPr/>
          <p:nvPr/>
        </p:nvSpPr>
        <p:spPr>
          <a:xfrm>
            <a:off x="6941071" y="2931841"/>
            <a:ext cx="4437845" cy="63"/>
          </a:xfrm>
          <a:prstGeom prst="line">
            <a:avLst/>
          </a:prstGeom>
          <a:noFill/>
          <a:ln w="6350">
            <a:solidFill>
              <a:srgbClr val="D5DEEC"/>
            </a:solidFill>
            <a:prstDash val="solid"/>
          </a:ln>
        </p:spPr>
        <p:txBody>
          <a:bodyPr/>
          <a:p/>
        </p:txBody>
      </p:sp>
      <p:sp>
        <p:nvSpPr>
          <p:cNvPr id="29" name="Text 27"/>
          <p:cNvSpPr txBox="1"/>
          <p:nvPr/>
        </p:nvSpPr>
        <p:spPr>
          <a:xfrm>
            <a:off x="7032509" y="2697651"/>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Move WAF to the ALB or CloudFront</a:t>
            </a:r>
            <a:endParaRPr lang="en-US" sz="1200" dirty="0"/>
          </a:p>
        </p:txBody>
      </p:sp>
      <p:sp>
        <p:nvSpPr>
          <p:cNvPr id="30" name="Shape 28"/>
          <p:cNvSpPr/>
          <p:nvPr/>
        </p:nvSpPr>
        <p:spPr>
          <a:xfrm>
            <a:off x="812780" y="2935016"/>
            <a:ext cx="10566136" cy="290704"/>
          </a:xfrm>
          <a:prstGeom prst="rect">
            <a:avLst/>
          </a:prstGeom>
          <a:solidFill>
            <a:srgbClr val="EEF2F9"/>
          </a:solidFill>
          <a:ln/>
        </p:spPr>
        <p:txBody>
          <a:bodyPr/>
          <a:p/>
        </p:txBody>
      </p:sp>
      <p:sp>
        <p:nvSpPr>
          <p:cNvPr id="31" name="Shape 29"/>
          <p:cNvSpPr/>
          <p:nvPr/>
        </p:nvSpPr>
        <p:spPr>
          <a:xfrm>
            <a:off x="812780" y="3222544"/>
            <a:ext cx="528227" cy="63"/>
          </a:xfrm>
          <a:prstGeom prst="line">
            <a:avLst/>
          </a:prstGeom>
          <a:noFill/>
          <a:ln w="6350">
            <a:solidFill>
              <a:srgbClr val="D5DEEC"/>
            </a:solidFill>
            <a:prstDash val="solid"/>
          </a:ln>
        </p:spPr>
        <p:txBody>
          <a:bodyPr/>
          <a:p/>
        </p:txBody>
      </p:sp>
      <p:sp>
        <p:nvSpPr>
          <p:cNvPr id="32" name="Text 30"/>
          <p:cNvSpPr txBox="1"/>
          <p:nvPr/>
        </p:nvSpPr>
        <p:spPr>
          <a:xfrm>
            <a:off x="904217" y="2988354"/>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4</a:t>
            </a:r>
            <a:endParaRPr lang="en-US" sz="1200" dirty="0"/>
          </a:p>
        </p:txBody>
      </p:sp>
      <p:sp>
        <p:nvSpPr>
          <p:cNvPr id="33" name="Shape 31"/>
          <p:cNvSpPr/>
          <p:nvPr/>
        </p:nvSpPr>
        <p:spPr>
          <a:xfrm>
            <a:off x="1341007" y="3222544"/>
            <a:ext cx="5600064" cy="63"/>
          </a:xfrm>
          <a:prstGeom prst="line">
            <a:avLst/>
          </a:prstGeom>
          <a:noFill/>
          <a:ln w="6350">
            <a:solidFill>
              <a:srgbClr val="D5DEEC"/>
            </a:solidFill>
            <a:prstDash val="solid"/>
          </a:ln>
        </p:spPr>
        <p:txBody>
          <a:bodyPr/>
          <a:p/>
        </p:txBody>
      </p:sp>
      <p:sp>
        <p:nvSpPr>
          <p:cNvPr id="34" name="Text 32"/>
          <p:cNvSpPr txBox="1"/>
          <p:nvPr/>
        </p:nvSpPr>
        <p:spPr>
          <a:xfrm>
            <a:off x="1432445" y="2988354"/>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JWT authorizer needs JWKS; tokens are HMAC</a:t>
            </a:r>
            <a:endParaRPr lang="en-US" sz="1200" dirty="0"/>
          </a:p>
        </p:txBody>
      </p:sp>
      <p:sp>
        <p:nvSpPr>
          <p:cNvPr id="35" name="Shape 33"/>
          <p:cNvSpPr/>
          <p:nvPr/>
        </p:nvSpPr>
        <p:spPr>
          <a:xfrm>
            <a:off x="6941071" y="3222544"/>
            <a:ext cx="4437845" cy="63"/>
          </a:xfrm>
          <a:prstGeom prst="line">
            <a:avLst/>
          </a:prstGeom>
          <a:noFill/>
          <a:ln w="6350">
            <a:solidFill>
              <a:srgbClr val="D5DEEC"/>
            </a:solidFill>
            <a:prstDash val="solid"/>
          </a:ln>
        </p:spPr>
        <p:txBody>
          <a:bodyPr/>
          <a:p/>
        </p:txBody>
      </p:sp>
      <p:sp>
        <p:nvSpPr>
          <p:cNvPr id="36" name="Text 34"/>
          <p:cNvSpPr txBox="1"/>
          <p:nvPr/>
        </p:nvSpPr>
        <p:spPr>
          <a:xfrm>
            <a:off x="7032509" y="2988354"/>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Drop it, or move auth to RS256</a:t>
            </a:r>
            <a:endParaRPr lang="en-US" sz="1200" dirty="0"/>
          </a:p>
        </p:txBody>
      </p:sp>
      <p:sp>
        <p:nvSpPr>
          <p:cNvPr id="37" name="Shape 35"/>
          <p:cNvSpPr/>
          <p:nvPr/>
        </p:nvSpPr>
        <p:spPr>
          <a:xfrm>
            <a:off x="812780" y="3513248"/>
            <a:ext cx="528227" cy="63"/>
          </a:xfrm>
          <a:prstGeom prst="line">
            <a:avLst/>
          </a:prstGeom>
          <a:noFill/>
          <a:ln w="6350">
            <a:solidFill>
              <a:srgbClr val="D5DEEC"/>
            </a:solidFill>
            <a:prstDash val="solid"/>
          </a:ln>
        </p:spPr>
        <p:txBody>
          <a:bodyPr/>
          <a:p/>
        </p:txBody>
      </p:sp>
      <p:sp>
        <p:nvSpPr>
          <p:cNvPr id="38" name="Text 36"/>
          <p:cNvSpPr txBox="1"/>
          <p:nvPr/>
        </p:nvSpPr>
        <p:spPr>
          <a:xfrm>
            <a:off x="904217" y="3279058"/>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5</a:t>
            </a:r>
            <a:endParaRPr lang="en-US" sz="1200" dirty="0"/>
          </a:p>
        </p:txBody>
      </p:sp>
      <p:sp>
        <p:nvSpPr>
          <p:cNvPr id="39" name="Shape 37"/>
          <p:cNvSpPr/>
          <p:nvPr/>
        </p:nvSpPr>
        <p:spPr>
          <a:xfrm>
            <a:off x="1341007" y="3513248"/>
            <a:ext cx="5600064" cy="63"/>
          </a:xfrm>
          <a:prstGeom prst="line">
            <a:avLst/>
          </a:prstGeom>
          <a:noFill/>
          <a:ln w="6350">
            <a:solidFill>
              <a:srgbClr val="D5DEEC"/>
            </a:solidFill>
            <a:prstDash val="solid"/>
          </a:ln>
        </p:spPr>
        <p:txBody>
          <a:bodyPr/>
          <a:p/>
        </p:txBody>
      </p:sp>
      <p:sp>
        <p:nvSpPr>
          <p:cNvPr id="40" name="Text 38"/>
          <p:cNvSpPr txBox="1"/>
          <p:nvPr/>
        </p:nvSpPr>
        <p:spPr>
          <a:xfrm>
            <a:off x="1432445" y="3279058"/>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ECR, OIDC roles, state bucket or lock table</a:t>
            </a:r>
            <a:endParaRPr lang="en-US" sz="1200" dirty="0"/>
          </a:p>
        </p:txBody>
      </p:sp>
      <p:sp>
        <p:nvSpPr>
          <p:cNvPr id="41" name="Shape 39"/>
          <p:cNvSpPr/>
          <p:nvPr/>
        </p:nvSpPr>
        <p:spPr>
          <a:xfrm>
            <a:off x="6941071" y="3513248"/>
            <a:ext cx="4437845" cy="63"/>
          </a:xfrm>
          <a:prstGeom prst="line">
            <a:avLst/>
          </a:prstGeom>
          <a:noFill/>
          <a:ln w="6350">
            <a:solidFill>
              <a:srgbClr val="D5DEEC"/>
            </a:solidFill>
            <a:prstDash val="solid"/>
          </a:ln>
        </p:spPr>
        <p:txBody>
          <a:bodyPr/>
          <a:p/>
        </p:txBody>
      </p:sp>
      <p:sp>
        <p:nvSpPr>
          <p:cNvPr id="42" name="Text 40"/>
          <p:cNvSpPr txBox="1"/>
          <p:nvPr/>
        </p:nvSpPr>
        <p:spPr>
          <a:xfrm>
            <a:off x="7032509" y="3279058"/>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Add a bootstrap Terraform stack</a:t>
            </a:r>
            <a:endParaRPr lang="en-US" sz="1200" dirty="0"/>
          </a:p>
        </p:txBody>
      </p:sp>
      <p:sp>
        <p:nvSpPr>
          <p:cNvPr id="43" name="Shape 41"/>
          <p:cNvSpPr/>
          <p:nvPr/>
        </p:nvSpPr>
        <p:spPr>
          <a:xfrm>
            <a:off x="812780" y="3516423"/>
            <a:ext cx="10566136" cy="290704"/>
          </a:xfrm>
          <a:prstGeom prst="rect">
            <a:avLst/>
          </a:prstGeom>
          <a:solidFill>
            <a:srgbClr val="EEF2F9"/>
          </a:solidFill>
          <a:ln/>
        </p:spPr>
        <p:txBody>
          <a:bodyPr/>
          <a:p/>
        </p:txBody>
      </p:sp>
      <p:sp>
        <p:nvSpPr>
          <p:cNvPr id="44" name="Shape 42"/>
          <p:cNvSpPr/>
          <p:nvPr/>
        </p:nvSpPr>
        <p:spPr>
          <a:xfrm>
            <a:off x="812780" y="3803952"/>
            <a:ext cx="528227" cy="63"/>
          </a:xfrm>
          <a:prstGeom prst="line">
            <a:avLst/>
          </a:prstGeom>
          <a:noFill/>
          <a:ln w="6350">
            <a:solidFill>
              <a:srgbClr val="D5DEEC"/>
            </a:solidFill>
            <a:prstDash val="solid"/>
          </a:ln>
        </p:spPr>
        <p:txBody>
          <a:bodyPr/>
          <a:p/>
        </p:txBody>
      </p:sp>
      <p:sp>
        <p:nvSpPr>
          <p:cNvPr id="45" name="Text 43"/>
          <p:cNvSpPr txBox="1"/>
          <p:nvPr/>
        </p:nvSpPr>
        <p:spPr>
          <a:xfrm>
            <a:off x="904217" y="3569762"/>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6</a:t>
            </a:r>
            <a:endParaRPr lang="en-US" sz="1200" dirty="0"/>
          </a:p>
        </p:txBody>
      </p:sp>
      <p:sp>
        <p:nvSpPr>
          <p:cNvPr id="46" name="Shape 44"/>
          <p:cNvSpPr/>
          <p:nvPr/>
        </p:nvSpPr>
        <p:spPr>
          <a:xfrm>
            <a:off x="1341007" y="3803952"/>
            <a:ext cx="5600064" cy="63"/>
          </a:xfrm>
          <a:prstGeom prst="line">
            <a:avLst/>
          </a:prstGeom>
          <a:noFill/>
          <a:ln w="6350">
            <a:solidFill>
              <a:srgbClr val="D5DEEC"/>
            </a:solidFill>
            <a:prstDash val="solid"/>
          </a:ln>
        </p:spPr>
        <p:txBody>
          <a:bodyPr/>
          <a:p/>
        </p:txBody>
      </p:sp>
      <p:sp>
        <p:nvSpPr>
          <p:cNvPr id="47" name="Text 45"/>
          <p:cNvSpPr txBox="1"/>
          <p:nvPr/>
        </p:nvSpPr>
        <p:spPr>
          <a:xfrm>
            <a:off x="1432445" y="3569762"/>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Secrets are placeholders, never synced to K8s</a:t>
            </a:r>
            <a:endParaRPr lang="en-US" sz="1200" dirty="0"/>
          </a:p>
        </p:txBody>
      </p:sp>
      <p:sp>
        <p:nvSpPr>
          <p:cNvPr id="48" name="Shape 46"/>
          <p:cNvSpPr/>
          <p:nvPr/>
        </p:nvSpPr>
        <p:spPr>
          <a:xfrm>
            <a:off x="6941071" y="3803952"/>
            <a:ext cx="4437845" cy="63"/>
          </a:xfrm>
          <a:prstGeom prst="line">
            <a:avLst/>
          </a:prstGeom>
          <a:noFill/>
          <a:ln w="6350">
            <a:solidFill>
              <a:srgbClr val="D5DEEC"/>
            </a:solidFill>
            <a:prstDash val="solid"/>
          </a:ln>
        </p:spPr>
        <p:txBody>
          <a:bodyPr/>
          <a:p/>
        </p:txBody>
      </p:sp>
      <p:sp>
        <p:nvSpPr>
          <p:cNvPr id="49" name="Text 47"/>
          <p:cNvSpPr txBox="1"/>
          <p:nvPr/>
        </p:nvSpPr>
        <p:spPr>
          <a:xfrm>
            <a:off x="7032509" y="3569762"/>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External Secrets; align key names</a:t>
            </a:r>
            <a:endParaRPr lang="en-US" sz="1200" dirty="0"/>
          </a:p>
        </p:txBody>
      </p:sp>
      <p:sp>
        <p:nvSpPr>
          <p:cNvPr id="50" name="Shape 48"/>
          <p:cNvSpPr/>
          <p:nvPr/>
        </p:nvSpPr>
        <p:spPr>
          <a:xfrm>
            <a:off x="812780" y="4094655"/>
            <a:ext cx="528227" cy="63"/>
          </a:xfrm>
          <a:prstGeom prst="line">
            <a:avLst/>
          </a:prstGeom>
          <a:noFill/>
          <a:ln w="6350">
            <a:solidFill>
              <a:srgbClr val="D5DEEC"/>
            </a:solidFill>
            <a:prstDash val="solid"/>
          </a:ln>
        </p:spPr>
        <p:txBody>
          <a:bodyPr/>
          <a:p/>
        </p:txBody>
      </p:sp>
      <p:sp>
        <p:nvSpPr>
          <p:cNvPr id="51" name="Text 49"/>
          <p:cNvSpPr txBox="1"/>
          <p:nvPr/>
        </p:nvSpPr>
        <p:spPr>
          <a:xfrm>
            <a:off x="904217" y="3860465"/>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7</a:t>
            </a:r>
            <a:endParaRPr lang="en-US" sz="1200" dirty="0"/>
          </a:p>
        </p:txBody>
      </p:sp>
      <p:sp>
        <p:nvSpPr>
          <p:cNvPr id="52" name="Shape 50"/>
          <p:cNvSpPr/>
          <p:nvPr/>
        </p:nvSpPr>
        <p:spPr>
          <a:xfrm>
            <a:off x="1341007" y="4094655"/>
            <a:ext cx="5600064" cy="63"/>
          </a:xfrm>
          <a:prstGeom prst="line">
            <a:avLst/>
          </a:prstGeom>
          <a:noFill/>
          <a:ln w="6350">
            <a:solidFill>
              <a:srgbClr val="D5DEEC"/>
            </a:solidFill>
            <a:prstDash val="solid"/>
          </a:ln>
        </p:spPr>
        <p:txBody>
          <a:bodyPr/>
          <a:p/>
        </p:txBody>
      </p:sp>
      <p:sp>
        <p:nvSpPr>
          <p:cNvPr id="53" name="Text 51"/>
          <p:cNvSpPr txBox="1"/>
          <p:nvPr/>
        </p:nvSpPr>
        <p:spPr>
          <a:xfrm>
            <a:off x="1432445" y="3860465"/>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Helm passes no Kafka SASL or Redis TLS settings</a:t>
            </a:r>
            <a:endParaRPr lang="en-US" sz="1200" dirty="0"/>
          </a:p>
        </p:txBody>
      </p:sp>
      <p:sp>
        <p:nvSpPr>
          <p:cNvPr id="54" name="Shape 52"/>
          <p:cNvSpPr/>
          <p:nvPr/>
        </p:nvSpPr>
        <p:spPr>
          <a:xfrm>
            <a:off x="6941071" y="4094655"/>
            <a:ext cx="4437845" cy="63"/>
          </a:xfrm>
          <a:prstGeom prst="line">
            <a:avLst/>
          </a:prstGeom>
          <a:noFill/>
          <a:ln w="6350">
            <a:solidFill>
              <a:srgbClr val="D5DEEC"/>
            </a:solidFill>
            <a:prstDash val="solid"/>
          </a:ln>
        </p:spPr>
        <p:txBody>
          <a:bodyPr/>
          <a:p/>
        </p:txBody>
      </p:sp>
      <p:sp>
        <p:nvSpPr>
          <p:cNvPr id="55" name="Text 53"/>
          <p:cNvSpPr txBox="1"/>
          <p:nvPr/>
        </p:nvSpPr>
        <p:spPr>
          <a:xfrm>
            <a:off x="7032509" y="3860465"/>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Wire SCRAM, TLS and auth tokens</a:t>
            </a:r>
            <a:endParaRPr lang="en-US" sz="1200" dirty="0"/>
          </a:p>
        </p:txBody>
      </p:sp>
      <p:sp>
        <p:nvSpPr>
          <p:cNvPr id="56" name="Shape 54"/>
          <p:cNvSpPr/>
          <p:nvPr/>
        </p:nvSpPr>
        <p:spPr>
          <a:xfrm>
            <a:off x="812780" y="4097830"/>
            <a:ext cx="10566136" cy="290704"/>
          </a:xfrm>
          <a:prstGeom prst="rect">
            <a:avLst/>
          </a:prstGeom>
          <a:solidFill>
            <a:srgbClr val="EEF2F9"/>
          </a:solidFill>
          <a:ln/>
        </p:spPr>
        <p:txBody>
          <a:bodyPr/>
          <a:p/>
        </p:txBody>
      </p:sp>
      <p:sp>
        <p:nvSpPr>
          <p:cNvPr id="57" name="Shape 55"/>
          <p:cNvSpPr/>
          <p:nvPr/>
        </p:nvSpPr>
        <p:spPr>
          <a:xfrm>
            <a:off x="812780" y="4385359"/>
            <a:ext cx="528227" cy="63"/>
          </a:xfrm>
          <a:prstGeom prst="line">
            <a:avLst/>
          </a:prstGeom>
          <a:noFill/>
          <a:ln w="6350">
            <a:solidFill>
              <a:srgbClr val="D5DEEC"/>
            </a:solidFill>
            <a:prstDash val="solid"/>
          </a:ln>
        </p:spPr>
        <p:txBody>
          <a:bodyPr/>
          <a:p/>
        </p:txBody>
      </p:sp>
      <p:sp>
        <p:nvSpPr>
          <p:cNvPr id="58" name="Text 56"/>
          <p:cNvSpPr txBox="1"/>
          <p:nvPr/>
        </p:nvSpPr>
        <p:spPr>
          <a:xfrm>
            <a:off x="904217" y="4151169"/>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8</a:t>
            </a:r>
            <a:endParaRPr lang="en-US" sz="1200" dirty="0"/>
          </a:p>
        </p:txBody>
      </p:sp>
      <p:sp>
        <p:nvSpPr>
          <p:cNvPr id="59" name="Shape 57"/>
          <p:cNvSpPr/>
          <p:nvPr/>
        </p:nvSpPr>
        <p:spPr>
          <a:xfrm>
            <a:off x="1341007" y="4385359"/>
            <a:ext cx="5600064" cy="63"/>
          </a:xfrm>
          <a:prstGeom prst="line">
            <a:avLst/>
          </a:prstGeom>
          <a:noFill/>
          <a:ln w="6350">
            <a:solidFill>
              <a:srgbClr val="D5DEEC"/>
            </a:solidFill>
            <a:prstDash val="solid"/>
          </a:ln>
        </p:spPr>
        <p:txBody>
          <a:bodyPr/>
          <a:p/>
        </p:txBody>
      </p:sp>
      <p:sp>
        <p:nvSpPr>
          <p:cNvPr id="60" name="Text 58"/>
          <p:cNvSpPr txBox="1"/>
          <p:nvPr/>
        </p:nvSpPr>
        <p:spPr>
          <a:xfrm>
            <a:off x="1432445" y="4151169"/>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Flyway runs in every replica at startup</a:t>
            </a:r>
            <a:endParaRPr lang="en-US" sz="1200" dirty="0"/>
          </a:p>
        </p:txBody>
      </p:sp>
      <p:sp>
        <p:nvSpPr>
          <p:cNvPr id="61" name="Shape 59"/>
          <p:cNvSpPr/>
          <p:nvPr/>
        </p:nvSpPr>
        <p:spPr>
          <a:xfrm>
            <a:off x="6941071" y="4385359"/>
            <a:ext cx="4437845" cy="63"/>
          </a:xfrm>
          <a:prstGeom prst="line">
            <a:avLst/>
          </a:prstGeom>
          <a:noFill/>
          <a:ln w="6350">
            <a:solidFill>
              <a:srgbClr val="D5DEEC"/>
            </a:solidFill>
            <a:prstDash val="solid"/>
          </a:ln>
        </p:spPr>
        <p:txBody>
          <a:bodyPr/>
          <a:p/>
        </p:txBody>
      </p:sp>
      <p:sp>
        <p:nvSpPr>
          <p:cNvPr id="62" name="Text 60"/>
          <p:cNvSpPr txBox="1"/>
          <p:nvPr/>
        </p:nvSpPr>
        <p:spPr>
          <a:xfrm>
            <a:off x="7032509" y="4151169"/>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Run migrations as a pre-deploy Job</a:t>
            </a:r>
            <a:endParaRPr lang="en-US" sz="1200" dirty="0"/>
          </a:p>
        </p:txBody>
      </p:sp>
      <p:sp>
        <p:nvSpPr>
          <p:cNvPr id="63" name="Shape 61"/>
          <p:cNvSpPr/>
          <p:nvPr/>
        </p:nvSpPr>
        <p:spPr>
          <a:xfrm>
            <a:off x="812780" y="4676063"/>
            <a:ext cx="528227" cy="63"/>
          </a:xfrm>
          <a:prstGeom prst="line">
            <a:avLst/>
          </a:prstGeom>
          <a:noFill/>
          <a:ln w="6350">
            <a:solidFill>
              <a:srgbClr val="D5DEEC"/>
            </a:solidFill>
            <a:prstDash val="solid"/>
          </a:ln>
        </p:spPr>
        <p:txBody>
          <a:bodyPr/>
          <a:p/>
        </p:txBody>
      </p:sp>
      <p:sp>
        <p:nvSpPr>
          <p:cNvPr id="64" name="Text 62"/>
          <p:cNvSpPr txBox="1"/>
          <p:nvPr/>
        </p:nvSpPr>
        <p:spPr>
          <a:xfrm>
            <a:off x="904217" y="4441873"/>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9</a:t>
            </a:r>
            <a:endParaRPr lang="en-US" sz="1200" dirty="0"/>
          </a:p>
        </p:txBody>
      </p:sp>
      <p:sp>
        <p:nvSpPr>
          <p:cNvPr id="65" name="Shape 63"/>
          <p:cNvSpPr/>
          <p:nvPr/>
        </p:nvSpPr>
        <p:spPr>
          <a:xfrm>
            <a:off x="1341007" y="4676063"/>
            <a:ext cx="5600064" cy="63"/>
          </a:xfrm>
          <a:prstGeom prst="line">
            <a:avLst/>
          </a:prstGeom>
          <a:noFill/>
          <a:ln w="6350">
            <a:solidFill>
              <a:srgbClr val="D5DEEC"/>
            </a:solidFill>
            <a:prstDash val="solid"/>
          </a:ln>
        </p:spPr>
        <p:txBody>
          <a:bodyPr/>
          <a:p/>
        </p:txBody>
      </p:sp>
      <p:sp>
        <p:nvSpPr>
          <p:cNvPr id="66" name="Text 64"/>
          <p:cNvSpPr txBox="1"/>
          <p:nvPr/>
        </p:nvSpPr>
        <p:spPr>
          <a:xfrm>
            <a:off x="1432445" y="4441873"/>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Web apps are hosted only on Railway</a:t>
            </a:r>
            <a:endParaRPr lang="en-US" sz="1200" dirty="0"/>
          </a:p>
        </p:txBody>
      </p:sp>
      <p:sp>
        <p:nvSpPr>
          <p:cNvPr id="67" name="Shape 65"/>
          <p:cNvSpPr/>
          <p:nvPr/>
        </p:nvSpPr>
        <p:spPr>
          <a:xfrm>
            <a:off x="6941071" y="4676063"/>
            <a:ext cx="4437845" cy="63"/>
          </a:xfrm>
          <a:prstGeom prst="line">
            <a:avLst/>
          </a:prstGeom>
          <a:noFill/>
          <a:ln w="6350">
            <a:solidFill>
              <a:srgbClr val="D5DEEC"/>
            </a:solidFill>
            <a:prstDash val="solid"/>
          </a:ln>
        </p:spPr>
        <p:txBody>
          <a:bodyPr/>
          <a:p/>
        </p:txBody>
      </p:sp>
      <p:sp>
        <p:nvSpPr>
          <p:cNvPr id="68" name="Text 66"/>
          <p:cNvSpPr txBox="1"/>
          <p:nvPr/>
        </p:nvSpPr>
        <p:spPr>
          <a:xfrm>
            <a:off x="7032509" y="4441873"/>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S3 + CloudFront, or keep Railway</a:t>
            </a:r>
            <a:endParaRPr lang="en-US" sz="1200" dirty="0"/>
          </a:p>
        </p:txBody>
      </p:sp>
      <p:sp>
        <p:nvSpPr>
          <p:cNvPr id="69" name="Shape 67"/>
          <p:cNvSpPr/>
          <p:nvPr/>
        </p:nvSpPr>
        <p:spPr>
          <a:xfrm>
            <a:off x="812780" y="4679238"/>
            <a:ext cx="10566136" cy="290704"/>
          </a:xfrm>
          <a:prstGeom prst="rect">
            <a:avLst/>
          </a:prstGeom>
          <a:solidFill>
            <a:srgbClr val="EEF2F9"/>
          </a:solidFill>
          <a:ln/>
        </p:spPr>
        <p:txBody>
          <a:bodyPr/>
          <a:p/>
        </p:txBody>
      </p:sp>
      <p:sp>
        <p:nvSpPr>
          <p:cNvPr id="70" name="Shape 68"/>
          <p:cNvSpPr/>
          <p:nvPr/>
        </p:nvSpPr>
        <p:spPr>
          <a:xfrm>
            <a:off x="812780" y="4966766"/>
            <a:ext cx="528227" cy="63"/>
          </a:xfrm>
          <a:prstGeom prst="line">
            <a:avLst/>
          </a:prstGeom>
          <a:noFill/>
          <a:ln w="6350">
            <a:solidFill>
              <a:srgbClr val="D5DEEC"/>
            </a:solidFill>
            <a:prstDash val="solid"/>
          </a:ln>
        </p:spPr>
        <p:txBody>
          <a:bodyPr/>
          <a:p/>
        </p:txBody>
      </p:sp>
      <p:sp>
        <p:nvSpPr>
          <p:cNvPr id="71" name="Text 69"/>
          <p:cNvSpPr txBox="1"/>
          <p:nvPr/>
        </p:nvSpPr>
        <p:spPr>
          <a:xfrm>
            <a:off x="904217" y="4732576"/>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10</a:t>
            </a:r>
            <a:endParaRPr lang="en-US" sz="1200" dirty="0"/>
          </a:p>
        </p:txBody>
      </p:sp>
      <p:sp>
        <p:nvSpPr>
          <p:cNvPr id="72" name="Shape 70"/>
          <p:cNvSpPr/>
          <p:nvPr/>
        </p:nvSpPr>
        <p:spPr>
          <a:xfrm>
            <a:off x="1341007" y="4966766"/>
            <a:ext cx="5600064" cy="63"/>
          </a:xfrm>
          <a:prstGeom prst="line">
            <a:avLst/>
          </a:prstGeom>
          <a:noFill/>
          <a:ln w="6350">
            <a:solidFill>
              <a:srgbClr val="D5DEEC"/>
            </a:solidFill>
            <a:prstDash val="solid"/>
          </a:ln>
        </p:spPr>
        <p:txBody>
          <a:bodyPr/>
          <a:p/>
        </p:txBody>
      </p:sp>
      <p:sp>
        <p:nvSpPr>
          <p:cNvPr id="73" name="Text 71"/>
          <p:cNvSpPr txBox="1"/>
          <p:nvPr/>
        </p:nvSpPr>
        <p:spPr>
          <a:xfrm>
            <a:off x="1432445" y="4732576"/>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NetworkPolicies are not enforced by vpc-cni</a:t>
            </a:r>
            <a:endParaRPr lang="en-US" sz="1200" dirty="0"/>
          </a:p>
        </p:txBody>
      </p:sp>
      <p:sp>
        <p:nvSpPr>
          <p:cNvPr id="74" name="Shape 72"/>
          <p:cNvSpPr/>
          <p:nvPr/>
        </p:nvSpPr>
        <p:spPr>
          <a:xfrm>
            <a:off x="6941071" y="4966766"/>
            <a:ext cx="4437845" cy="63"/>
          </a:xfrm>
          <a:prstGeom prst="line">
            <a:avLst/>
          </a:prstGeom>
          <a:noFill/>
          <a:ln w="6350">
            <a:solidFill>
              <a:srgbClr val="D5DEEC"/>
            </a:solidFill>
            <a:prstDash val="solid"/>
          </a:ln>
        </p:spPr>
        <p:txBody>
          <a:bodyPr/>
          <a:p/>
        </p:txBody>
      </p:sp>
      <p:sp>
        <p:nvSpPr>
          <p:cNvPr id="75" name="Text 73"/>
          <p:cNvSpPr txBox="1"/>
          <p:nvPr/>
        </p:nvSpPr>
        <p:spPr>
          <a:xfrm>
            <a:off x="7032509" y="4732576"/>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Set enableNetworkPolicy</a:t>
            </a:r>
            <a:endParaRPr lang="en-US" sz="1200" dirty="0"/>
          </a:p>
        </p:txBody>
      </p:sp>
      <p:sp>
        <p:nvSpPr>
          <p:cNvPr id="76" name="Text 7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Production deployment</a:t>
            </a:r>
            <a:endParaRPr lang="en-US" sz="1200" dirty="0"/>
          </a:p>
        </p:txBody>
      </p:sp>
      <p:sp>
        <p:nvSpPr>
          <p:cNvPr id="77" name="Text 7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78756" y="634984"/>
            <a:ext cx="1396965" cy="1396965"/>
          </a:xfrm>
          <a:prstGeom prst="ellipse">
            <a:avLst/>
          </a:prstGeom>
          <a:solidFill>
            <a:srgbClr val="FFFFFF">
              <a:alpha val="14000"/>
            </a:srgbClr>
          </a:solidFill>
          <a:ln/>
        </p:spPr>
        <p:txBody>
          <a:bodyPr/>
          <a:p/>
        </p:txBody>
      </p:sp>
      <p:pic>
        <p:nvPicPr>
          <p:cNvPr id="3" name="Image 0" descr="preencoded.png">    </p:cNvPr>
          <p:cNvPicPr>
            <a:picLocks noChangeAspect="1"/>
          </p:cNvPicPr>
          <p:nvPr/>
        </p:nvPicPr>
        <p:blipFill>
          <a:blip r:embed="rId2"/>
          <a:stretch>
            <a:fillRect/>
          </a:stretch>
        </p:blipFill>
        <p:spPr>
          <a:xfrm>
            <a:off x="10127997" y="984225"/>
            <a:ext cx="698483" cy="698483"/>
          </a:xfrm>
          <a:prstGeom prst="rect">
            <a:avLst/>
          </a:prstGeom>
        </p:spPr>
      </p:pic>
      <p:sp>
        <p:nvSpPr>
          <p:cNvPr id="4" name="Text 1"/>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50" kern="0" dirty="0">
                <a:solidFill>
                  <a:srgbClr val="F8FAFF"/>
                </a:solidFill>
                <a:latin typeface="Courier New" pitchFamily="34" charset="0"/>
                <a:ea typeface="Courier New" pitchFamily="34" charset="-122"/>
                <a:cs typeface="Courier New" pitchFamily="34" charset="-120"/>
              </a:rPr>
              <a:t>SECURITY · FIX TODAY</a:t>
            </a:r>
            <a:endParaRPr lang="en-US" sz="1200" dirty="0"/>
          </a:p>
        </p:txBody>
      </p:sp>
      <p:sp>
        <p:nvSpPr>
          <p:cNvPr id="5" name="Text 2"/>
          <p:cNvSpPr txBox="1"/>
          <p:nvPr/>
        </p:nvSpPr>
        <p:spPr>
          <a:xfrm>
            <a:off x="812780" y="2245363"/>
            <a:ext cx="9600960" cy="2011511"/>
          </a:xfrm>
          <a:prstGeom prst="rect">
            <a:avLst/>
          </a:prstGeom>
          <a:noFill/>
          <a:ln/>
        </p:spPr>
        <p:txBody>
          <a:bodyPr wrap="square" lIns="0" tIns="0" rIns="0" bIns="0" rtlCol="0" anchor="t"/>
          <a:lstStyle/>
          <a:p>
            <a:pPr algn="l" indent="0" marL="0">
              <a:lnSpc>
                <a:spcPct val="91667"/>
              </a:lnSpc>
              <a:buNone/>
            </a:pPr>
            <a:r>
              <a:rPr lang="en-US" sz="4800" b="1" dirty="0">
                <a:solidFill>
                  <a:srgbClr val="F8FAFF"/>
                </a:solidFill>
                <a:latin typeface="Calibri" pitchFamily="34" charset="0"/>
                <a:ea typeface="Calibri" pitchFamily="34" charset="-122"/>
                <a:cs typeface="Calibri" pitchFamily="34" charset="-120"/>
              </a:rPr>
              <a:t>The secret that signed the leaked token must be rotated everywhere</a:t>
            </a:r>
            <a:endParaRPr lang="en-US" sz="4800" dirty="0"/>
          </a:p>
        </p:txBody>
      </p:sp>
      <p:sp>
        <p:nvSpPr>
          <p:cNvPr id="6" name="Text 3"/>
          <p:cNvSpPr txBox="1"/>
          <p:nvPr/>
        </p:nvSpPr>
        <p:spPr>
          <a:xfrm>
            <a:off x="812780" y="5476143"/>
            <a:ext cx="10667733" cy="568906"/>
          </a:xfrm>
          <a:prstGeom prst="rect">
            <a:avLst/>
          </a:prstGeom>
          <a:noFill/>
          <a:ln/>
        </p:spPr>
        <p:txBody>
          <a:bodyPr wrap="square" lIns="0" tIns="0" rIns="0" bIns="0" rtlCol="0" anchor="t"/>
          <a:lstStyle/>
          <a:p>
            <a:pPr algn="l" indent="0" marL="0">
              <a:lnSpc>
                <a:spcPct val="116667"/>
              </a:lnSpc>
              <a:buNone/>
            </a:pPr>
            <a:r>
              <a:rPr lang="en-US" sz="1600" dirty="0">
                <a:solidFill>
                  <a:srgbClr val="F8FAFF"/>
                </a:solidFill>
                <a:latin typeface="Calibri" pitchFamily="34" charset="0"/>
                <a:ea typeface="Calibri" pitchFamily="34" charset="-122"/>
                <a:cs typeface="Calibri" pitchFamily="34" charset="-120"/>
              </a:rPr>
              <a:t>Commit 1b5656d of the old home-fix repository is public on GitHub with that JWT_SECRET in it. .env.example stopped carrying it on 18 October, but any .env or environment still set to it accepts a SUPER_ADMIN token anyone can mint.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ARCHITECTURE · TRUST BOUNDARIES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Each boundary has controls and at least one gap</a:t>
            </a:r>
            <a:endParaRPr lang="en-US" sz="3000" dirty="0"/>
          </a:p>
        </p:txBody>
      </p:sp>
      <p:sp>
        <p:nvSpPr>
          <p:cNvPr id="4" name="Shape 2"/>
          <p:cNvSpPr/>
          <p:nvPr/>
        </p:nvSpPr>
        <p:spPr>
          <a:xfrm>
            <a:off x="812780" y="1775376"/>
            <a:ext cx="2374841" cy="2298246"/>
          </a:xfrm>
          <a:prstGeom prst="roundRect">
            <a:avLst>
              <a:gd name="adj" fmla="val 4421"/>
            </a:avLst>
          </a:prstGeom>
          <a:solidFill>
            <a:srgbClr val="FCFDFF"/>
          </a:solidFill>
          <a:ln w="6350">
            <a:solidFill>
              <a:srgbClr val="D5DEEC"/>
            </a:solidFill>
            <a:prstDash val="solid"/>
          </a:ln>
        </p:spPr>
        <p:txBody>
          <a:bodyPr/>
          <a:p/>
        </p:txBody>
      </p:sp>
      <p:sp>
        <p:nvSpPr>
          <p:cNvPr id="5" name="Shape 3"/>
          <p:cNvSpPr/>
          <p:nvPr/>
        </p:nvSpPr>
        <p:spPr>
          <a:xfrm>
            <a:off x="819130" y="1781726"/>
            <a:ext cx="2362141" cy="426630"/>
          </a:xfrm>
          <a:prstGeom prst="roundRect">
            <a:avLst>
              <a:gd name="adj" fmla="val 22326"/>
            </a:avLst>
          </a:prstGeom>
          <a:solidFill>
            <a:srgbClr val="3F5F95"/>
          </a:solidFill>
          <a:ln/>
        </p:spPr>
        <p:txBody>
          <a:bodyPr/>
          <a:p/>
        </p:txBody>
      </p:sp>
      <p:pic>
        <p:nvPicPr>
          <p:cNvPr id="6" name="Image 0" descr="preencoded.png">    </p:cNvPr>
          <p:cNvPicPr>
            <a:picLocks noChangeAspect="1"/>
          </p:cNvPicPr>
          <p:nvPr/>
        </p:nvPicPr>
        <p:blipFill>
          <a:blip r:embed="rId1"/>
          <a:stretch>
            <a:fillRect/>
          </a:stretch>
        </p:blipFill>
        <p:spPr>
          <a:xfrm>
            <a:off x="946126" y="1893443"/>
            <a:ext cx="203195" cy="203195"/>
          </a:xfrm>
          <a:prstGeom prst="rect">
            <a:avLst/>
          </a:prstGeom>
        </p:spPr>
      </p:pic>
      <p:sp>
        <p:nvSpPr>
          <p:cNvPr id="7" name="Text 4"/>
          <p:cNvSpPr txBox="1"/>
          <p:nvPr/>
        </p:nvSpPr>
        <p:spPr>
          <a:xfrm>
            <a:off x="1225519" y="1870624"/>
            <a:ext cx="644707"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Clients</a:t>
            </a:r>
            <a:endParaRPr lang="en-US" sz="1400" dirty="0"/>
          </a:p>
        </p:txBody>
      </p:sp>
      <p:sp>
        <p:nvSpPr>
          <p:cNvPr id="8" name="Text 5"/>
          <p:cNvSpPr txBox="1"/>
          <p:nvPr/>
        </p:nvSpPr>
        <p:spPr>
          <a:xfrm>
            <a:off x="946126"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9" name="Image 1" descr="preencoded.png">    </p:cNvPr>
          <p:cNvPicPr>
            <a:picLocks noChangeAspect="1"/>
          </p:cNvPicPr>
          <p:nvPr/>
        </p:nvPicPr>
        <p:blipFill>
          <a:blip r:embed="rId2"/>
          <a:stretch>
            <a:fillRect/>
          </a:stretch>
        </p:blipFill>
        <p:spPr>
          <a:xfrm>
            <a:off x="946126" y="2594307"/>
            <a:ext cx="190495" cy="190495"/>
          </a:xfrm>
          <a:prstGeom prst="rect">
            <a:avLst/>
          </a:prstGeom>
        </p:spPr>
      </p:pic>
      <p:sp>
        <p:nvSpPr>
          <p:cNvPr id="10" name="Text 6"/>
          <p:cNvSpPr txBox="1"/>
          <p:nvPr/>
        </p:nvSpPr>
        <p:spPr>
          <a:xfrm>
            <a:off x="1225519" y="2586767"/>
            <a:ext cx="1650721"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15-min access tokens</a:t>
            </a:r>
            <a:endParaRPr lang="en-US" sz="1200" dirty="0"/>
          </a:p>
        </p:txBody>
      </p:sp>
      <p:pic>
        <p:nvPicPr>
          <p:cNvPr id="11" name="Image 2" descr="preencoded.png">    </p:cNvPr>
          <p:cNvPicPr>
            <a:picLocks noChangeAspect="1"/>
          </p:cNvPicPr>
          <p:nvPr/>
        </p:nvPicPr>
        <p:blipFill>
          <a:blip r:embed="rId3"/>
          <a:stretch>
            <a:fillRect/>
          </a:stretch>
        </p:blipFill>
        <p:spPr>
          <a:xfrm>
            <a:off x="946126" y="2876180"/>
            <a:ext cx="190495" cy="190495"/>
          </a:xfrm>
          <a:prstGeom prst="rect">
            <a:avLst/>
          </a:prstGeom>
        </p:spPr>
      </p:pic>
      <p:sp>
        <p:nvSpPr>
          <p:cNvPr id="12" name="Text 7"/>
          <p:cNvSpPr txBox="1"/>
          <p:nvPr/>
        </p:nvSpPr>
        <p:spPr>
          <a:xfrm>
            <a:off x="1225519" y="2868640"/>
            <a:ext cx="1214455"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rotation</a:t>
            </a:r>
            <a:endParaRPr lang="en-US" sz="1200" dirty="0"/>
          </a:p>
        </p:txBody>
      </p:sp>
      <p:sp>
        <p:nvSpPr>
          <p:cNvPr id="13" name="Text 8"/>
          <p:cNvSpPr txBox="1"/>
          <p:nvPr/>
        </p:nvSpPr>
        <p:spPr>
          <a:xfrm>
            <a:off x="946126"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14" name="Image 3" descr="preencoded.png">    </p:cNvPr>
          <p:cNvPicPr>
            <a:picLocks noChangeAspect="1"/>
          </p:cNvPicPr>
          <p:nvPr/>
        </p:nvPicPr>
        <p:blipFill>
          <a:blip r:embed="rId4"/>
          <a:stretch>
            <a:fillRect/>
          </a:stretch>
        </p:blipFill>
        <p:spPr>
          <a:xfrm>
            <a:off x="946126" y="3447567"/>
            <a:ext cx="190495" cy="190495"/>
          </a:xfrm>
          <a:prstGeom prst="rect">
            <a:avLst/>
          </a:prstGeom>
        </p:spPr>
      </p:pic>
      <p:sp>
        <p:nvSpPr>
          <p:cNvPr id="15" name="Text 9"/>
          <p:cNvSpPr txBox="1"/>
          <p:nvPr/>
        </p:nvSpPr>
        <p:spPr>
          <a:xfrm>
            <a:off x="1225519" y="3440026"/>
            <a:ext cx="177417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in localStorage</a:t>
            </a:r>
            <a:endParaRPr lang="en-US" sz="1200" dirty="0"/>
          </a:p>
        </p:txBody>
      </p:sp>
      <p:pic>
        <p:nvPicPr>
          <p:cNvPr id="16" name="Image 4" descr="preencoded.png">    </p:cNvPr>
          <p:cNvPicPr>
            <a:picLocks noChangeAspect="1"/>
          </p:cNvPicPr>
          <p:nvPr/>
        </p:nvPicPr>
        <p:blipFill>
          <a:blip r:embed="rId5"/>
          <a:stretch>
            <a:fillRect/>
          </a:stretch>
        </p:blipFill>
        <p:spPr>
          <a:xfrm>
            <a:off x="946126" y="3729440"/>
            <a:ext cx="190495" cy="190495"/>
          </a:xfrm>
          <a:prstGeom prst="rect">
            <a:avLst/>
          </a:prstGeom>
        </p:spPr>
      </p:pic>
      <p:sp>
        <p:nvSpPr>
          <p:cNvPr id="17" name="Text 10"/>
          <p:cNvSpPr txBox="1"/>
          <p:nvPr/>
        </p:nvSpPr>
        <p:spPr>
          <a:xfrm>
            <a:off x="1225519" y="3721900"/>
            <a:ext cx="131535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 CSP or HSTS</a:t>
            </a:r>
            <a:endParaRPr lang="en-US" sz="1200" dirty="0"/>
          </a:p>
        </p:txBody>
      </p:sp>
      <p:sp>
        <p:nvSpPr>
          <p:cNvPr id="18" name="Shape 11"/>
          <p:cNvSpPr/>
          <p:nvPr/>
        </p:nvSpPr>
        <p:spPr>
          <a:xfrm>
            <a:off x="3251119" y="2867350"/>
            <a:ext cx="228594" cy="114297"/>
          </a:xfrm>
          <a:prstGeom prst="rightArrow">
            <a:avLst/>
          </a:prstGeom>
          <a:solidFill>
            <a:srgbClr val="5C6B8A"/>
          </a:solidFill>
          <a:ln/>
        </p:spPr>
        <p:txBody>
          <a:bodyPr/>
          <a:p/>
        </p:txBody>
      </p:sp>
      <p:sp>
        <p:nvSpPr>
          <p:cNvPr id="19" name="Shape 12"/>
          <p:cNvSpPr/>
          <p:nvPr/>
        </p:nvSpPr>
        <p:spPr>
          <a:xfrm>
            <a:off x="3543211" y="1775376"/>
            <a:ext cx="2374841" cy="2298246"/>
          </a:xfrm>
          <a:prstGeom prst="roundRect">
            <a:avLst>
              <a:gd name="adj" fmla="val 4421"/>
            </a:avLst>
          </a:prstGeom>
          <a:solidFill>
            <a:srgbClr val="FCFDFF"/>
          </a:solidFill>
          <a:ln w="6350">
            <a:solidFill>
              <a:srgbClr val="D5DEEC"/>
            </a:solidFill>
            <a:prstDash val="solid"/>
          </a:ln>
        </p:spPr>
        <p:txBody>
          <a:bodyPr/>
          <a:p/>
        </p:txBody>
      </p:sp>
      <p:sp>
        <p:nvSpPr>
          <p:cNvPr id="20" name="Shape 13"/>
          <p:cNvSpPr/>
          <p:nvPr/>
        </p:nvSpPr>
        <p:spPr>
          <a:xfrm>
            <a:off x="3549561" y="1781726"/>
            <a:ext cx="2362141" cy="426630"/>
          </a:xfrm>
          <a:prstGeom prst="roundRect">
            <a:avLst>
              <a:gd name="adj" fmla="val 22326"/>
            </a:avLst>
          </a:prstGeom>
          <a:solidFill>
            <a:srgbClr val="2454C5"/>
          </a:solidFill>
          <a:ln/>
        </p:spPr>
        <p:txBody>
          <a:bodyPr/>
          <a:p/>
        </p:txBody>
      </p:sp>
      <p:pic>
        <p:nvPicPr>
          <p:cNvPr id="21" name="Image 5" descr="preencoded.png">    </p:cNvPr>
          <p:cNvPicPr>
            <a:picLocks noChangeAspect="1"/>
          </p:cNvPicPr>
          <p:nvPr/>
        </p:nvPicPr>
        <p:blipFill>
          <a:blip r:embed="rId6"/>
          <a:stretch>
            <a:fillRect/>
          </a:stretch>
        </p:blipFill>
        <p:spPr>
          <a:xfrm>
            <a:off x="3676558" y="1893443"/>
            <a:ext cx="203195" cy="203195"/>
          </a:xfrm>
          <a:prstGeom prst="rect">
            <a:avLst/>
          </a:prstGeom>
        </p:spPr>
      </p:pic>
      <p:sp>
        <p:nvSpPr>
          <p:cNvPr id="22" name="Text 14"/>
          <p:cNvSpPr txBox="1"/>
          <p:nvPr/>
        </p:nvSpPr>
        <p:spPr>
          <a:xfrm>
            <a:off x="3955951" y="1870624"/>
            <a:ext cx="472071"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Edge</a:t>
            </a:r>
            <a:endParaRPr lang="en-US" sz="1400" dirty="0"/>
          </a:p>
        </p:txBody>
      </p:sp>
      <p:sp>
        <p:nvSpPr>
          <p:cNvPr id="23" name="Text 15"/>
          <p:cNvSpPr txBox="1"/>
          <p:nvPr/>
        </p:nvSpPr>
        <p:spPr>
          <a:xfrm>
            <a:off x="3676558"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24" name="Image 6" descr="preencoded.png">    </p:cNvPr>
          <p:cNvPicPr>
            <a:picLocks noChangeAspect="1"/>
          </p:cNvPicPr>
          <p:nvPr/>
        </p:nvPicPr>
        <p:blipFill>
          <a:blip r:embed="rId7"/>
          <a:stretch>
            <a:fillRect/>
          </a:stretch>
        </p:blipFill>
        <p:spPr>
          <a:xfrm>
            <a:off x="3676558" y="2594307"/>
            <a:ext cx="190495" cy="190495"/>
          </a:xfrm>
          <a:prstGeom prst="rect">
            <a:avLst/>
          </a:prstGeom>
        </p:spPr>
      </p:pic>
      <p:sp>
        <p:nvSpPr>
          <p:cNvPr id="25" name="Text 16"/>
          <p:cNvSpPr txBox="1"/>
          <p:nvPr/>
        </p:nvSpPr>
        <p:spPr>
          <a:xfrm>
            <a:off x="3955951" y="2586767"/>
            <a:ext cx="1470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Token introspection</a:t>
            </a:r>
            <a:endParaRPr lang="en-US" sz="1200" dirty="0"/>
          </a:p>
        </p:txBody>
      </p:sp>
      <p:pic>
        <p:nvPicPr>
          <p:cNvPr id="26" name="Image 7" descr="preencoded.png">    </p:cNvPr>
          <p:cNvPicPr>
            <a:picLocks noChangeAspect="1"/>
          </p:cNvPicPr>
          <p:nvPr/>
        </p:nvPicPr>
        <p:blipFill>
          <a:blip r:embed="rId8"/>
          <a:stretch>
            <a:fillRect/>
          </a:stretch>
        </p:blipFill>
        <p:spPr>
          <a:xfrm>
            <a:off x="3676558" y="2876180"/>
            <a:ext cx="190495" cy="190495"/>
          </a:xfrm>
          <a:prstGeom prst="rect">
            <a:avLst/>
          </a:prstGeom>
        </p:spPr>
      </p:pic>
      <p:sp>
        <p:nvSpPr>
          <p:cNvPr id="27" name="Text 17"/>
          <p:cNvSpPr txBox="1"/>
          <p:nvPr/>
        </p:nvSpPr>
        <p:spPr>
          <a:xfrm>
            <a:off x="3955951" y="2868640"/>
            <a:ext cx="143214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Per-user rate limits</a:t>
            </a:r>
            <a:endParaRPr lang="en-US" sz="1200" dirty="0"/>
          </a:p>
        </p:txBody>
      </p:sp>
      <p:sp>
        <p:nvSpPr>
          <p:cNvPr id="28" name="Text 18"/>
          <p:cNvSpPr txBox="1"/>
          <p:nvPr/>
        </p:nvSpPr>
        <p:spPr>
          <a:xfrm>
            <a:off x="3676558"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29" name="Image 8" descr="preencoded.png">    </p:cNvPr>
          <p:cNvPicPr>
            <a:picLocks noChangeAspect="1"/>
          </p:cNvPicPr>
          <p:nvPr/>
        </p:nvPicPr>
        <p:blipFill>
          <a:blip r:embed="rId9"/>
          <a:stretch>
            <a:fillRect/>
          </a:stretch>
        </p:blipFill>
        <p:spPr>
          <a:xfrm>
            <a:off x="3676558" y="3447567"/>
            <a:ext cx="190495" cy="190495"/>
          </a:xfrm>
          <a:prstGeom prst="rect">
            <a:avLst/>
          </a:prstGeom>
        </p:spPr>
      </p:pic>
      <p:sp>
        <p:nvSpPr>
          <p:cNvPr id="30" name="Text 19"/>
          <p:cNvSpPr txBox="1"/>
          <p:nvPr/>
        </p:nvSpPr>
        <p:spPr>
          <a:xfrm>
            <a:off x="3955951" y="3440026"/>
            <a:ext cx="1457812"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 per-IP login limit</a:t>
            </a:r>
            <a:endParaRPr lang="en-US" sz="1200" dirty="0"/>
          </a:p>
        </p:txBody>
      </p:sp>
      <p:pic>
        <p:nvPicPr>
          <p:cNvPr id="31" name="Image 9" descr="preencoded.png">    </p:cNvPr>
          <p:cNvPicPr>
            <a:picLocks noChangeAspect="1"/>
          </p:cNvPicPr>
          <p:nvPr/>
        </p:nvPicPr>
        <p:blipFill>
          <a:blip r:embed="rId10"/>
          <a:stretch>
            <a:fillRect/>
          </a:stretch>
        </p:blipFill>
        <p:spPr>
          <a:xfrm>
            <a:off x="3676558" y="3729440"/>
            <a:ext cx="190495" cy="190495"/>
          </a:xfrm>
          <a:prstGeom prst="rect">
            <a:avLst/>
          </a:prstGeom>
        </p:spPr>
      </p:pic>
      <p:sp>
        <p:nvSpPr>
          <p:cNvPr id="32" name="Text 20"/>
          <p:cNvSpPr txBox="1"/>
          <p:nvPr/>
        </p:nvSpPr>
        <p:spPr>
          <a:xfrm>
            <a:off x="3955951" y="3721900"/>
            <a:ext cx="128790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WAF can't attach</a:t>
            </a:r>
            <a:endParaRPr lang="en-US" sz="1200" dirty="0"/>
          </a:p>
        </p:txBody>
      </p:sp>
      <p:sp>
        <p:nvSpPr>
          <p:cNvPr id="33" name="Shape 21"/>
          <p:cNvSpPr/>
          <p:nvPr/>
        </p:nvSpPr>
        <p:spPr>
          <a:xfrm>
            <a:off x="5981550" y="2867350"/>
            <a:ext cx="228594" cy="114297"/>
          </a:xfrm>
          <a:prstGeom prst="rightArrow">
            <a:avLst/>
          </a:prstGeom>
          <a:solidFill>
            <a:srgbClr val="5C6B8A"/>
          </a:solidFill>
          <a:ln/>
        </p:spPr>
        <p:txBody>
          <a:bodyPr/>
          <a:p/>
        </p:txBody>
      </p:sp>
      <p:sp>
        <p:nvSpPr>
          <p:cNvPr id="34" name="Shape 22"/>
          <p:cNvSpPr/>
          <p:nvPr/>
        </p:nvSpPr>
        <p:spPr>
          <a:xfrm>
            <a:off x="6273643" y="1775376"/>
            <a:ext cx="2374841" cy="2298246"/>
          </a:xfrm>
          <a:prstGeom prst="roundRect">
            <a:avLst>
              <a:gd name="adj" fmla="val 4421"/>
            </a:avLst>
          </a:prstGeom>
          <a:solidFill>
            <a:srgbClr val="FCFDFF"/>
          </a:solidFill>
          <a:ln w="6350">
            <a:solidFill>
              <a:srgbClr val="D5DEEC"/>
            </a:solidFill>
            <a:prstDash val="solid"/>
          </a:ln>
        </p:spPr>
        <p:txBody>
          <a:bodyPr/>
          <a:p/>
        </p:txBody>
      </p:sp>
      <p:sp>
        <p:nvSpPr>
          <p:cNvPr id="35" name="Shape 23"/>
          <p:cNvSpPr/>
          <p:nvPr/>
        </p:nvSpPr>
        <p:spPr>
          <a:xfrm>
            <a:off x="6279993" y="1781726"/>
            <a:ext cx="2362141" cy="426630"/>
          </a:xfrm>
          <a:prstGeom prst="roundRect">
            <a:avLst>
              <a:gd name="adj" fmla="val 22326"/>
            </a:avLst>
          </a:prstGeom>
          <a:solidFill>
            <a:srgbClr val="0B7F74"/>
          </a:solidFill>
          <a:ln/>
        </p:spPr>
        <p:txBody>
          <a:bodyPr/>
          <a:p/>
        </p:txBody>
      </p:sp>
      <p:pic>
        <p:nvPicPr>
          <p:cNvPr id="36" name="Image 10" descr="preencoded.png">    </p:cNvPr>
          <p:cNvPicPr>
            <a:picLocks noChangeAspect="1"/>
          </p:cNvPicPr>
          <p:nvPr/>
        </p:nvPicPr>
        <p:blipFill>
          <a:blip r:embed="rId11"/>
          <a:stretch>
            <a:fillRect/>
          </a:stretch>
        </p:blipFill>
        <p:spPr>
          <a:xfrm>
            <a:off x="6406990" y="1893443"/>
            <a:ext cx="203195" cy="203195"/>
          </a:xfrm>
          <a:prstGeom prst="rect">
            <a:avLst/>
          </a:prstGeom>
        </p:spPr>
      </p:pic>
      <p:sp>
        <p:nvSpPr>
          <p:cNvPr id="37" name="Text 24"/>
          <p:cNvSpPr txBox="1"/>
          <p:nvPr/>
        </p:nvSpPr>
        <p:spPr>
          <a:xfrm>
            <a:off x="6686383" y="1870624"/>
            <a:ext cx="774077"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Services</a:t>
            </a:r>
            <a:endParaRPr lang="en-US" sz="1400" dirty="0"/>
          </a:p>
        </p:txBody>
      </p:sp>
      <p:sp>
        <p:nvSpPr>
          <p:cNvPr id="38" name="Text 25"/>
          <p:cNvSpPr txBox="1"/>
          <p:nvPr/>
        </p:nvSpPr>
        <p:spPr>
          <a:xfrm>
            <a:off x="6406990"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39" name="Image 11" descr="preencoded.png">    </p:cNvPr>
          <p:cNvPicPr>
            <a:picLocks noChangeAspect="1"/>
          </p:cNvPicPr>
          <p:nvPr/>
        </p:nvPicPr>
        <p:blipFill>
          <a:blip r:embed="rId12"/>
          <a:stretch>
            <a:fillRect/>
          </a:stretch>
        </p:blipFill>
        <p:spPr>
          <a:xfrm>
            <a:off x="6406990" y="2594307"/>
            <a:ext cx="190495" cy="190495"/>
          </a:xfrm>
          <a:prstGeom prst="rect">
            <a:avLst/>
          </a:prstGeom>
        </p:spPr>
      </p:pic>
      <p:sp>
        <p:nvSpPr>
          <p:cNvPr id="40" name="Text 26"/>
          <p:cNvSpPr txBox="1"/>
          <p:nvPr/>
        </p:nvSpPr>
        <p:spPr>
          <a:xfrm>
            <a:off x="6686383" y="2586767"/>
            <a:ext cx="163183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RBAC and ownership</a:t>
            </a:r>
            <a:endParaRPr lang="en-US" sz="1200" dirty="0"/>
          </a:p>
        </p:txBody>
      </p:sp>
      <p:pic>
        <p:nvPicPr>
          <p:cNvPr id="41" name="Image 12" descr="preencoded.png">    </p:cNvPr>
          <p:cNvPicPr>
            <a:picLocks noChangeAspect="1"/>
          </p:cNvPicPr>
          <p:nvPr/>
        </p:nvPicPr>
        <p:blipFill>
          <a:blip r:embed="rId13"/>
          <a:stretch>
            <a:fillRect/>
          </a:stretch>
        </p:blipFill>
        <p:spPr>
          <a:xfrm>
            <a:off x="6406990" y="2876180"/>
            <a:ext cx="190495" cy="190495"/>
          </a:xfrm>
          <a:prstGeom prst="rect">
            <a:avLst/>
          </a:prstGeom>
        </p:spPr>
      </p:pic>
      <p:sp>
        <p:nvSpPr>
          <p:cNvPr id="42" name="Text 27"/>
          <p:cNvSpPr txBox="1"/>
          <p:nvPr/>
        </p:nvSpPr>
        <p:spPr>
          <a:xfrm>
            <a:off x="6686383" y="2868640"/>
            <a:ext cx="153715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Keyed /internal APIs</a:t>
            </a:r>
            <a:endParaRPr lang="en-US" sz="1200" dirty="0"/>
          </a:p>
        </p:txBody>
      </p:sp>
      <p:sp>
        <p:nvSpPr>
          <p:cNvPr id="43" name="Text 28"/>
          <p:cNvSpPr txBox="1"/>
          <p:nvPr/>
        </p:nvSpPr>
        <p:spPr>
          <a:xfrm>
            <a:off x="6406990"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44" name="Image 13" descr="preencoded.png">    </p:cNvPr>
          <p:cNvPicPr>
            <a:picLocks noChangeAspect="1"/>
          </p:cNvPicPr>
          <p:nvPr/>
        </p:nvPicPr>
        <p:blipFill>
          <a:blip r:embed="rId14"/>
          <a:stretch>
            <a:fillRect/>
          </a:stretch>
        </p:blipFill>
        <p:spPr>
          <a:xfrm>
            <a:off x="6406990" y="3447567"/>
            <a:ext cx="190495" cy="190495"/>
          </a:xfrm>
          <a:prstGeom prst="rect">
            <a:avLst/>
          </a:prstGeom>
        </p:spPr>
      </p:pic>
      <p:sp>
        <p:nvSpPr>
          <p:cNvPr id="45" name="Text 29"/>
          <p:cNvSpPr txBox="1"/>
          <p:nvPr/>
        </p:nvSpPr>
        <p:spPr>
          <a:xfrm>
            <a:off x="6686383" y="3440026"/>
            <a:ext cx="175495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One shared HMAC key</a:t>
            </a:r>
            <a:endParaRPr lang="en-US" sz="1200" dirty="0"/>
          </a:p>
        </p:txBody>
      </p:sp>
      <p:pic>
        <p:nvPicPr>
          <p:cNvPr id="46" name="Image 14" descr="preencoded.png">    </p:cNvPr>
          <p:cNvPicPr>
            <a:picLocks noChangeAspect="1"/>
          </p:cNvPicPr>
          <p:nvPr/>
        </p:nvPicPr>
        <p:blipFill>
          <a:blip r:embed="rId15"/>
          <a:stretch>
            <a:fillRect/>
          </a:stretch>
        </p:blipFill>
        <p:spPr>
          <a:xfrm>
            <a:off x="6406990" y="3729440"/>
            <a:ext cx="190495" cy="190495"/>
          </a:xfrm>
          <a:prstGeom prst="rect">
            <a:avLst/>
          </a:prstGeom>
        </p:spPr>
      </p:pic>
      <p:sp>
        <p:nvSpPr>
          <p:cNvPr id="47" name="Text 30"/>
          <p:cNvSpPr txBox="1"/>
          <p:nvPr/>
        </p:nvSpPr>
        <p:spPr>
          <a:xfrm>
            <a:off x="6686383" y="3721900"/>
            <a:ext cx="1470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Shared internal key</a:t>
            </a:r>
            <a:endParaRPr lang="en-US" sz="1200" dirty="0"/>
          </a:p>
        </p:txBody>
      </p:sp>
      <p:sp>
        <p:nvSpPr>
          <p:cNvPr id="48" name="Shape 31"/>
          <p:cNvSpPr/>
          <p:nvPr/>
        </p:nvSpPr>
        <p:spPr>
          <a:xfrm>
            <a:off x="8711982" y="2867350"/>
            <a:ext cx="228594" cy="114297"/>
          </a:xfrm>
          <a:prstGeom prst="rightArrow">
            <a:avLst/>
          </a:prstGeom>
          <a:solidFill>
            <a:srgbClr val="5C6B8A"/>
          </a:solidFill>
          <a:ln/>
        </p:spPr>
        <p:txBody>
          <a:bodyPr/>
          <a:p/>
        </p:txBody>
      </p:sp>
      <p:sp>
        <p:nvSpPr>
          <p:cNvPr id="49" name="Shape 32"/>
          <p:cNvSpPr/>
          <p:nvPr/>
        </p:nvSpPr>
        <p:spPr>
          <a:xfrm>
            <a:off x="9004075" y="1775376"/>
            <a:ext cx="2374841" cy="2298246"/>
          </a:xfrm>
          <a:prstGeom prst="roundRect">
            <a:avLst>
              <a:gd name="adj" fmla="val 4421"/>
            </a:avLst>
          </a:prstGeom>
          <a:solidFill>
            <a:srgbClr val="FCFDFF"/>
          </a:solidFill>
          <a:ln w="6350">
            <a:solidFill>
              <a:srgbClr val="D5DEEC"/>
            </a:solidFill>
            <a:prstDash val="solid"/>
          </a:ln>
        </p:spPr>
        <p:txBody>
          <a:bodyPr/>
          <a:p/>
        </p:txBody>
      </p:sp>
      <p:sp>
        <p:nvSpPr>
          <p:cNvPr id="50" name="Shape 33"/>
          <p:cNvSpPr/>
          <p:nvPr/>
        </p:nvSpPr>
        <p:spPr>
          <a:xfrm>
            <a:off x="9010425" y="1781726"/>
            <a:ext cx="2362141" cy="426630"/>
          </a:xfrm>
          <a:prstGeom prst="roundRect">
            <a:avLst>
              <a:gd name="adj" fmla="val 22326"/>
            </a:avLst>
          </a:prstGeom>
          <a:solidFill>
            <a:srgbClr val="6A3FC0"/>
          </a:solidFill>
          <a:ln/>
        </p:spPr>
        <p:txBody>
          <a:bodyPr/>
          <a:p/>
        </p:txBody>
      </p:sp>
      <p:pic>
        <p:nvPicPr>
          <p:cNvPr id="51" name="Image 15" descr="preencoded.png">    </p:cNvPr>
          <p:cNvPicPr>
            <a:picLocks noChangeAspect="1"/>
          </p:cNvPicPr>
          <p:nvPr/>
        </p:nvPicPr>
        <p:blipFill>
          <a:blip r:embed="rId16"/>
          <a:stretch>
            <a:fillRect/>
          </a:stretch>
        </p:blipFill>
        <p:spPr>
          <a:xfrm>
            <a:off x="9137422" y="1893443"/>
            <a:ext cx="203195" cy="203195"/>
          </a:xfrm>
          <a:prstGeom prst="rect">
            <a:avLst/>
          </a:prstGeom>
        </p:spPr>
      </p:pic>
      <p:sp>
        <p:nvSpPr>
          <p:cNvPr id="52" name="Text 34"/>
          <p:cNvSpPr txBox="1"/>
          <p:nvPr/>
        </p:nvSpPr>
        <p:spPr>
          <a:xfrm>
            <a:off x="9416815" y="1870624"/>
            <a:ext cx="450442"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Data</a:t>
            </a:r>
            <a:endParaRPr lang="en-US" sz="1400" dirty="0"/>
          </a:p>
        </p:txBody>
      </p:sp>
      <p:sp>
        <p:nvSpPr>
          <p:cNvPr id="53" name="Text 35"/>
          <p:cNvSpPr txBox="1"/>
          <p:nvPr/>
        </p:nvSpPr>
        <p:spPr>
          <a:xfrm>
            <a:off x="9137422"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54" name="Image 16" descr="preencoded.png">    </p:cNvPr>
          <p:cNvPicPr>
            <a:picLocks noChangeAspect="1"/>
          </p:cNvPicPr>
          <p:nvPr/>
        </p:nvPicPr>
        <p:blipFill>
          <a:blip r:embed="rId17"/>
          <a:stretch>
            <a:fillRect/>
          </a:stretch>
        </p:blipFill>
        <p:spPr>
          <a:xfrm>
            <a:off x="9137422" y="2594307"/>
            <a:ext cx="190495" cy="190495"/>
          </a:xfrm>
          <a:prstGeom prst="rect">
            <a:avLst/>
          </a:prstGeom>
        </p:spPr>
      </p:pic>
      <p:sp>
        <p:nvSpPr>
          <p:cNvPr id="55" name="Text 36"/>
          <p:cNvSpPr txBox="1"/>
          <p:nvPr/>
        </p:nvSpPr>
        <p:spPr>
          <a:xfrm>
            <a:off x="9416815" y="2586767"/>
            <a:ext cx="891645"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KMS at rest</a:t>
            </a:r>
            <a:endParaRPr lang="en-US" sz="1200" dirty="0"/>
          </a:p>
        </p:txBody>
      </p:sp>
      <p:pic>
        <p:nvPicPr>
          <p:cNvPr id="56" name="Image 17" descr="preencoded.png">    </p:cNvPr>
          <p:cNvPicPr>
            <a:picLocks noChangeAspect="1"/>
          </p:cNvPicPr>
          <p:nvPr/>
        </p:nvPicPr>
        <p:blipFill>
          <a:blip r:embed="rId18"/>
          <a:stretch>
            <a:fillRect/>
          </a:stretch>
        </p:blipFill>
        <p:spPr>
          <a:xfrm>
            <a:off x="9137422" y="2876180"/>
            <a:ext cx="190495" cy="190495"/>
          </a:xfrm>
          <a:prstGeom prst="rect">
            <a:avLst/>
          </a:prstGeom>
        </p:spPr>
      </p:pic>
      <p:sp>
        <p:nvSpPr>
          <p:cNvPr id="57" name="Text 37"/>
          <p:cNvSpPr txBox="1"/>
          <p:nvPr/>
        </p:nvSpPr>
        <p:spPr>
          <a:xfrm>
            <a:off x="9416815" y="2868640"/>
            <a:ext cx="154637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TLS Redis and MSK</a:t>
            </a:r>
            <a:endParaRPr lang="en-US" sz="1200" dirty="0"/>
          </a:p>
        </p:txBody>
      </p:sp>
      <p:sp>
        <p:nvSpPr>
          <p:cNvPr id="58" name="Text 38"/>
          <p:cNvSpPr txBox="1"/>
          <p:nvPr/>
        </p:nvSpPr>
        <p:spPr>
          <a:xfrm>
            <a:off x="9137422"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59" name="Image 18" descr="preencoded.png">    </p:cNvPr>
          <p:cNvPicPr>
            <a:picLocks noChangeAspect="1"/>
          </p:cNvPicPr>
          <p:nvPr/>
        </p:nvPicPr>
        <p:blipFill>
          <a:blip r:embed="rId19"/>
          <a:stretch>
            <a:fillRect/>
          </a:stretch>
        </p:blipFill>
        <p:spPr>
          <a:xfrm>
            <a:off x="9137422" y="3447567"/>
            <a:ext cx="190495" cy="190495"/>
          </a:xfrm>
          <a:prstGeom prst="rect">
            <a:avLst/>
          </a:prstGeom>
        </p:spPr>
      </p:pic>
      <p:sp>
        <p:nvSpPr>
          <p:cNvPr id="60" name="Text 39"/>
          <p:cNvSpPr txBox="1"/>
          <p:nvPr/>
        </p:nvSpPr>
        <p:spPr>
          <a:xfrm>
            <a:off x="9416815" y="3440026"/>
            <a:ext cx="152426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RDS TLS not forced</a:t>
            </a:r>
            <a:endParaRPr lang="en-US" sz="1200" dirty="0"/>
          </a:p>
        </p:txBody>
      </p:sp>
      <p:pic>
        <p:nvPicPr>
          <p:cNvPr id="61" name="Image 19" descr="preencoded.png">    </p:cNvPr>
          <p:cNvPicPr>
            <a:picLocks noChangeAspect="1"/>
          </p:cNvPicPr>
          <p:nvPr/>
        </p:nvPicPr>
        <p:blipFill>
          <a:blip r:embed="rId20"/>
          <a:stretch>
            <a:fillRect/>
          </a:stretch>
        </p:blipFill>
        <p:spPr>
          <a:xfrm>
            <a:off x="9137422" y="3729440"/>
            <a:ext cx="190495" cy="190495"/>
          </a:xfrm>
          <a:prstGeom prst="rect">
            <a:avLst/>
          </a:prstGeom>
        </p:spPr>
      </p:pic>
      <p:sp>
        <p:nvSpPr>
          <p:cNvPr id="62" name="Text 40"/>
          <p:cNvSpPr txBox="1"/>
          <p:nvPr/>
        </p:nvSpPr>
        <p:spPr>
          <a:xfrm>
            <a:off x="9416815" y="3721900"/>
            <a:ext cx="159382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Pods read all secrets</a:t>
            </a:r>
            <a:endParaRPr lang="en-US" sz="1200" dirty="0"/>
          </a:p>
        </p:txBody>
      </p:sp>
      <p:sp>
        <p:nvSpPr>
          <p:cNvPr id="63" name="Shape 41"/>
          <p:cNvSpPr/>
          <p:nvPr/>
        </p:nvSpPr>
        <p:spPr>
          <a:xfrm>
            <a:off x="812780" y="4327615"/>
            <a:ext cx="10566136" cy="482588"/>
          </a:xfrm>
          <a:prstGeom prst="roundRect">
            <a:avLst>
              <a:gd name="adj" fmla="val 18421"/>
            </a:avLst>
          </a:prstGeom>
          <a:solidFill>
            <a:srgbClr val="FBE4E2"/>
          </a:solidFill>
          <a:ln/>
        </p:spPr>
        <p:txBody>
          <a:bodyPr/>
          <a:p/>
        </p:txBody>
      </p:sp>
      <p:pic>
        <p:nvPicPr>
          <p:cNvPr id="64" name="Image 20" descr="preencoded.png">    </p:cNvPr>
          <p:cNvPicPr>
            <a:picLocks noChangeAspect="1"/>
          </p:cNvPicPr>
          <p:nvPr/>
        </p:nvPicPr>
        <p:blipFill>
          <a:blip r:embed="rId21"/>
          <a:stretch>
            <a:fillRect/>
          </a:stretch>
        </p:blipFill>
        <p:spPr>
          <a:xfrm>
            <a:off x="977876" y="4454612"/>
            <a:ext cx="228594" cy="228594"/>
          </a:xfrm>
          <a:prstGeom prst="rect">
            <a:avLst/>
          </a:prstGeom>
        </p:spPr>
      </p:pic>
      <p:sp>
        <p:nvSpPr>
          <p:cNvPr id="65" name="Text 42"/>
          <p:cNvSpPr txBox="1"/>
          <p:nvPr/>
        </p:nvSpPr>
        <p:spPr>
          <a:xfrm>
            <a:off x="1320767" y="4462252"/>
            <a:ext cx="6391306"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Operations:</a:t>
            </a:r>
            <a:pPr algn="l" indent="0" marL="0">
              <a:lnSpc>
                <a:spcPct val="116667"/>
              </a:lnSpc>
              <a:buNone/>
            </a:pPr>
            <a:r>
              <a:rPr lang="en-US" sz="1200" dirty="0">
                <a:solidFill>
                  <a:srgbClr val="1F3A70"/>
                </a:solidFill>
                <a:latin typeface="Calibri" pitchFamily="34" charset="0"/>
                <a:ea typeface="Calibri" pitchFamily="34" charset="-122"/>
                <a:cs typeface="Calibri" pitchFamily="34" charset="-120"/>
              </a:rPr>
              <a:t> EKS API open to 0.0.0.0/0; rotate the leaked JWT secret wherever it is still set.</a:t>
            </a:r>
            <a:endParaRPr lang="en-US" sz="1200" dirty="0"/>
          </a:p>
        </p:txBody>
      </p:sp>
      <p:sp>
        <p:nvSpPr>
          <p:cNvPr id="66" name="Text 4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67" name="Text 4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 STRENGTHS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foundations are solid</a:t>
            </a:r>
            <a:endParaRPr lang="en-US" sz="3000" dirty="0"/>
          </a:p>
        </p:txBody>
      </p:sp>
      <p:sp>
        <p:nvSpPr>
          <p:cNvPr id="4" name="Shape 2"/>
          <p:cNvSpPr/>
          <p:nvPr/>
        </p:nvSpPr>
        <p:spPr>
          <a:xfrm>
            <a:off x="812780" y="1775376"/>
            <a:ext cx="3420382" cy="1233060"/>
          </a:xfrm>
          <a:prstGeom prst="roundRect">
            <a:avLst>
              <a:gd name="adj" fmla="val 8239"/>
            </a:avLst>
          </a:prstGeom>
          <a:solidFill>
            <a:srgbClr val="FCFDFF"/>
          </a:solidFill>
          <a:ln w="6350">
            <a:solidFill>
              <a:srgbClr val="D5DEEC"/>
            </a:solidFill>
            <a:prstDash val="solid"/>
          </a:ln>
        </p:spPr>
        <p:txBody>
          <a:bodyPr/>
          <a:p/>
        </p:txBody>
      </p:sp>
      <p:sp>
        <p:nvSpPr>
          <p:cNvPr id="5" name="Shape 3"/>
          <p:cNvSpPr/>
          <p:nvPr/>
        </p:nvSpPr>
        <p:spPr>
          <a:xfrm>
            <a:off x="812780" y="1775376"/>
            <a:ext cx="3420382" cy="38099"/>
          </a:xfrm>
          <a:prstGeom prst="roundRect">
            <a:avLst>
              <a:gd name="adj" fmla="val 50000"/>
            </a:avLst>
          </a:prstGeom>
          <a:solidFill>
            <a:srgbClr val="2454C5"/>
          </a:solidFill>
          <a:ln/>
        </p:spPr>
        <p:txBody>
          <a:bodyPr/>
          <a:p/>
        </p:txBody>
      </p:sp>
      <p:sp>
        <p:nvSpPr>
          <p:cNvPr id="6" name="Shape 4"/>
          <p:cNvSpPr/>
          <p:nvPr/>
        </p:nvSpPr>
        <p:spPr>
          <a:xfrm>
            <a:off x="984225" y="1978571"/>
            <a:ext cx="355591" cy="355591"/>
          </a:xfrm>
          <a:prstGeom prst="ellipse">
            <a:avLst/>
          </a:prstGeom>
          <a:solidFill>
            <a:srgbClr val="E3EBFA"/>
          </a:solidFill>
          <a:ln/>
        </p:spPr>
        <p:txBody>
          <a:bodyPr/>
          <a:p/>
        </p:txBody>
      </p:sp>
      <p:pic>
        <p:nvPicPr>
          <p:cNvPr id="7" name="Image 0" descr="preencoded.png">    </p:cNvPr>
          <p:cNvPicPr>
            <a:picLocks noChangeAspect="1"/>
          </p:cNvPicPr>
          <p:nvPr/>
        </p:nvPicPr>
        <p:blipFill>
          <a:blip r:embed="rId1"/>
          <a:stretch>
            <a:fillRect/>
          </a:stretch>
        </p:blipFill>
        <p:spPr>
          <a:xfrm>
            <a:off x="1066773" y="2061119"/>
            <a:ext cx="190495" cy="190495"/>
          </a:xfrm>
          <a:prstGeom prst="rect">
            <a:avLst/>
          </a:prstGeom>
        </p:spPr>
      </p:pic>
      <p:sp>
        <p:nvSpPr>
          <p:cNvPr id="8" name="Text 5"/>
          <p:cNvSpPr txBox="1"/>
          <p:nvPr/>
        </p:nvSpPr>
        <p:spPr>
          <a:xfrm>
            <a:off x="1428714" y="2034430"/>
            <a:ext cx="872198"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Sessions</a:t>
            </a:r>
            <a:endParaRPr lang="en-US" sz="1600" dirty="0"/>
          </a:p>
        </p:txBody>
      </p:sp>
      <p:sp>
        <p:nvSpPr>
          <p:cNvPr id="9" name="Text 6"/>
          <p:cNvSpPr txBox="1"/>
          <p:nvPr/>
        </p:nvSpPr>
        <p:spPr>
          <a:xfrm>
            <a:off x="984225" y="2410360"/>
            <a:ext cx="3446789"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bcrypt 12, timing-safe login, rotating refresh tokens with replay detection</a:t>
            </a:r>
            <a:endParaRPr lang="en-US" sz="1200" dirty="0"/>
          </a:p>
        </p:txBody>
      </p:sp>
      <p:sp>
        <p:nvSpPr>
          <p:cNvPr id="10" name="Shape 7"/>
          <p:cNvSpPr/>
          <p:nvPr/>
        </p:nvSpPr>
        <p:spPr>
          <a:xfrm>
            <a:off x="4385558" y="1775376"/>
            <a:ext cx="3420481" cy="1233060"/>
          </a:xfrm>
          <a:prstGeom prst="roundRect">
            <a:avLst>
              <a:gd name="adj" fmla="val 8239"/>
            </a:avLst>
          </a:prstGeom>
          <a:solidFill>
            <a:srgbClr val="FCFDFF"/>
          </a:solidFill>
          <a:ln w="6350">
            <a:solidFill>
              <a:srgbClr val="D5DEEC"/>
            </a:solidFill>
            <a:prstDash val="solid"/>
          </a:ln>
        </p:spPr>
        <p:txBody>
          <a:bodyPr/>
          <a:p/>
        </p:txBody>
      </p:sp>
      <p:sp>
        <p:nvSpPr>
          <p:cNvPr id="11" name="Shape 8"/>
          <p:cNvSpPr/>
          <p:nvPr/>
        </p:nvSpPr>
        <p:spPr>
          <a:xfrm>
            <a:off x="4385558" y="1775376"/>
            <a:ext cx="3420481" cy="38099"/>
          </a:xfrm>
          <a:prstGeom prst="roundRect">
            <a:avLst>
              <a:gd name="adj" fmla="val 50000"/>
            </a:avLst>
          </a:prstGeom>
          <a:solidFill>
            <a:srgbClr val="0B7F74"/>
          </a:solidFill>
          <a:ln/>
        </p:spPr>
        <p:txBody>
          <a:bodyPr/>
          <a:p/>
        </p:txBody>
      </p:sp>
      <p:sp>
        <p:nvSpPr>
          <p:cNvPr id="12" name="Shape 9"/>
          <p:cNvSpPr/>
          <p:nvPr/>
        </p:nvSpPr>
        <p:spPr>
          <a:xfrm>
            <a:off x="4557003" y="1978571"/>
            <a:ext cx="355591" cy="355591"/>
          </a:xfrm>
          <a:prstGeom prst="ellipse">
            <a:avLst/>
          </a:prstGeom>
          <a:solidFill>
            <a:srgbClr val="DDF2EF"/>
          </a:solidFill>
          <a:ln/>
        </p:spPr>
        <p:txBody>
          <a:bodyPr/>
          <a:p/>
        </p:txBody>
      </p:sp>
      <p:pic>
        <p:nvPicPr>
          <p:cNvPr id="13" name="Image 1" descr="preencoded.png">    </p:cNvPr>
          <p:cNvPicPr>
            <a:picLocks noChangeAspect="1"/>
          </p:cNvPicPr>
          <p:nvPr/>
        </p:nvPicPr>
        <p:blipFill>
          <a:blip r:embed="rId2"/>
          <a:stretch>
            <a:fillRect/>
          </a:stretch>
        </p:blipFill>
        <p:spPr>
          <a:xfrm>
            <a:off x="4639551" y="2061119"/>
            <a:ext cx="190495" cy="190495"/>
          </a:xfrm>
          <a:prstGeom prst="rect">
            <a:avLst/>
          </a:prstGeom>
        </p:spPr>
      </p:pic>
      <p:sp>
        <p:nvSpPr>
          <p:cNvPr id="14" name="Text 10"/>
          <p:cNvSpPr txBox="1"/>
          <p:nvPr/>
        </p:nvSpPr>
        <p:spPr>
          <a:xfrm>
            <a:off x="5001492" y="2034430"/>
            <a:ext cx="704634"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Access</a:t>
            </a:r>
            <a:endParaRPr lang="en-US" sz="1600" dirty="0"/>
          </a:p>
        </p:txBody>
      </p:sp>
      <p:sp>
        <p:nvSpPr>
          <p:cNvPr id="15" name="Text 11"/>
          <p:cNvSpPr txBox="1"/>
          <p:nvPr/>
        </p:nvSpPr>
        <p:spPr>
          <a:xfrm>
            <a:off x="4557003" y="2410360"/>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Strict firewall closes path tricks; ownership checks answer 404</a:t>
            </a:r>
            <a:endParaRPr lang="en-US" sz="1200" dirty="0"/>
          </a:p>
        </p:txBody>
      </p:sp>
      <p:sp>
        <p:nvSpPr>
          <p:cNvPr id="16" name="Shape 12"/>
          <p:cNvSpPr/>
          <p:nvPr/>
        </p:nvSpPr>
        <p:spPr>
          <a:xfrm>
            <a:off x="7958435" y="1775376"/>
            <a:ext cx="3420481" cy="1233060"/>
          </a:xfrm>
          <a:prstGeom prst="roundRect">
            <a:avLst>
              <a:gd name="adj" fmla="val 8239"/>
            </a:avLst>
          </a:prstGeom>
          <a:solidFill>
            <a:srgbClr val="FCFDFF"/>
          </a:solidFill>
          <a:ln w="6350">
            <a:solidFill>
              <a:srgbClr val="D5DEEC"/>
            </a:solidFill>
            <a:prstDash val="solid"/>
          </a:ln>
        </p:spPr>
        <p:txBody>
          <a:bodyPr/>
          <a:p/>
        </p:txBody>
      </p:sp>
      <p:sp>
        <p:nvSpPr>
          <p:cNvPr id="17" name="Shape 13"/>
          <p:cNvSpPr/>
          <p:nvPr/>
        </p:nvSpPr>
        <p:spPr>
          <a:xfrm>
            <a:off x="7958435" y="1775376"/>
            <a:ext cx="3420481" cy="38099"/>
          </a:xfrm>
          <a:prstGeom prst="roundRect">
            <a:avLst>
              <a:gd name="adj" fmla="val 50000"/>
            </a:avLst>
          </a:prstGeom>
          <a:solidFill>
            <a:srgbClr val="B4530F"/>
          </a:solidFill>
          <a:ln/>
        </p:spPr>
        <p:txBody>
          <a:bodyPr/>
          <a:p/>
        </p:txBody>
      </p:sp>
      <p:sp>
        <p:nvSpPr>
          <p:cNvPr id="18" name="Shape 14"/>
          <p:cNvSpPr/>
          <p:nvPr/>
        </p:nvSpPr>
        <p:spPr>
          <a:xfrm>
            <a:off x="8129880" y="1978571"/>
            <a:ext cx="355591" cy="355591"/>
          </a:xfrm>
          <a:prstGeom prst="ellipse">
            <a:avLst/>
          </a:prstGeom>
          <a:solidFill>
            <a:srgbClr val="FCEBDD"/>
          </a:solidFill>
          <a:ln/>
        </p:spPr>
        <p:txBody>
          <a:bodyPr/>
          <a:p/>
        </p:txBody>
      </p:sp>
      <p:pic>
        <p:nvPicPr>
          <p:cNvPr id="19" name="Image 2" descr="preencoded.png">    </p:cNvPr>
          <p:cNvPicPr>
            <a:picLocks noChangeAspect="1"/>
          </p:cNvPicPr>
          <p:nvPr/>
        </p:nvPicPr>
        <p:blipFill>
          <a:blip r:embed="rId3"/>
          <a:stretch>
            <a:fillRect/>
          </a:stretch>
        </p:blipFill>
        <p:spPr>
          <a:xfrm>
            <a:off x="8212428" y="2061119"/>
            <a:ext cx="190495" cy="190495"/>
          </a:xfrm>
          <a:prstGeom prst="rect">
            <a:avLst/>
          </a:prstGeom>
        </p:spPr>
      </p:pic>
      <p:sp>
        <p:nvSpPr>
          <p:cNvPr id="20" name="Text 15"/>
          <p:cNvSpPr txBox="1"/>
          <p:nvPr/>
        </p:nvSpPr>
        <p:spPr>
          <a:xfrm>
            <a:off x="8574369" y="2034430"/>
            <a:ext cx="1014546"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Payments</a:t>
            </a:r>
            <a:endParaRPr lang="en-US" sz="1600" dirty="0"/>
          </a:p>
        </p:txBody>
      </p:sp>
      <p:sp>
        <p:nvSpPr>
          <p:cNvPr id="21" name="Text 16"/>
          <p:cNvSpPr txBox="1"/>
          <p:nvPr/>
        </p:nvSpPr>
        <p:spPr>
          <a:xfrm>
            <a:off x="8129880" y="2410360"/>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Razorpay HMAC plus read-back, signed webhook, server-side amounts</a:t>
            </a:r>
            <a:endParaRPr lang="en-US" sz="1200" dirty="0"/>
          </a:p>
        </p:txBody>
      </p:sp>
      <p:sp>
        <p:nvSpPr>
          <p:cNvPr id="22" name="Shape 17"/>
          <p:cNvSpPr/>
          <p:nvPr/>
        </p:nvSpPr>
        <p:spPr>
          <a:xfrm>
            <a:off x="812780" y="3160832"/>
            <a:ext cx="3420382" cy="1233060"/>
          </a:xfrm>
          <a:prstGeom prst="roundRect">
            <a:avLst>
              <a:gd name="adj" fmla="val 8239"/>
            </a:avLst>
          </a:prstGeom>
          <a:solidFill>
            <a:srgbClr val="FCFDFF"/>
          </a:solidFill>
          <a:ln w="6350">
            <a:solidFill>
              <a:srgbClr val="D5DEEC"/>
            </a:solidFill>
            <a:prstDash val="solid"/>
          </a:ln>
        </p:spPr>
        <p:txBody>
          <a:bodyPr/>
          <a:p/>
        </p:txBody>
      </p:sp>
      <p:sp>
        <p:nvSpPr>
          <p:cNvPr id="23" name="Shape 18"/>
          <p:cNvSpPr/>
          <p:nvPr/>
        </p:nvSpPr>
        <p:spPr>
          <a:xfrm>
            <a:off x="812780" y="3160832"/>
            <a:ext cx="3420382" cy="38099"/>
          </a:xfrm>
          <a:prstGeom prst="roundRect">
            <a:avLst>
              <a:gd name="adj" fmla="val 50000"/>
            </a:avLst>
          </a:prstGeom>
          <a:solidFill>
            <a:srgbClr val="6A3FC0"/>
          </a:solidFill>
          <a:ln/>
        </p:spPr>
        <p:txBody>
          <a:bodyPr/>
          <a:p/>
        </p:txBody>
      </p:sp>
      <p:sp>
        <p:nvSpPr>
          <p:cNvPr id="24" name="Shape 19"/>
          <p:cNvSpPr/>
          <p:nvPr/>
        </p:nvSpPr>
        <p:spPr>
          <a:xfrm>
            <a:off x="984225" y="3364027"/>
            <a:ext cx="355591" cy="355591"/>
          </a:xfrm>
          <a:prstGeom prst="ellipse">
            <a:avLst/>
          </a:prstGeom>
          <a:solidFill>
            <a:srgbClr val="ECE5FA"/>
          </a:solidFill>
          <a:ln/>
        </p:spPr>
        <p:txBody>
          <a:bodyPr/>
          <a:p/>
        </p:txBody>
      </p:sp>
      <p:pic>
        <p:nvPicPr>
          <p:cNvPr id="25" name="Image 3" descr="preencoded.png">    </p:cNvPr>
          <p:cNvPicPr>
            <a:picLocks noChangeAspect="1"/>
          </p:cNvPicPr>
          <p:nvPr/>
        </p:nvPicPr>
        <p:blipFill>
          <a:blip r:embed="rId4"/>
          <a:stretch>
            <a:fillRect/>
          </a:stretch>
        </p:blipFill>
        <p:spPr>
          <a:xfrm>
            <a:off x="1066773" y="3446575"/>
            <a:ext cx="190495" cy="190495"/>
          </a:xfrm>
          <a:prstGeom prst="rect">
            <a:avLst/>
          </a:prstGeom>
        </p:spPr>
      </p:pic>
      <p:sp>
        <p:nvSpPr>
          <p:cNvPr id="26" name="Text 20"/>
          <p:cNvSpPr txBox="1"/>
          <p:nvPr/>
        </p:nvSpPr>
        <p:spPr>
          <a:xfrm>
            <a:off x="1428714" y="3419886"/>
            <a:ext cx="1333689"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Internal APIs</a:t>
            </a:r>
            <a:endParaRPr lang="en-US" sz="1600" dirty="0"/>
          </a:p>
        </p:txBody>
      </p:sp>
      <p:sp>
        <p:nvSpPr>
          <p:cNvPr id="27" name="Text 21"/>
          <p:cNvSpPr txBox="1"/>
          <p:nvPr/>
        </p:nvSpPr>
        <p:spPr>
          <a:xfrm>
            <a:off x="984225" y="3795816"/>
            <a:ext cx="3446789"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Constant-time key check that fails closed; never routed at the edge</a:t>
            </a:r>
            <a:endParaRPr lang="en-US" sz="1200" dirty="0"/>
          </a:p>
        </p:txBody>
      </p:sp>
      <p:sp>
        <p:nvSpPr>
          <p:cNvPr id="28" name="Shape 22"/>
          <p:cNvSpPr/>
          <p:nvPr/>
        </p:nvSpPr>
        <p:spPr>
          <a:xfrm>
            <a:off x="4385558" y="3160832"/>
            <a:ext cx="3420481" cy="1233060"/>
          </a:xfrm>
          <a:prstGeom prst="roundRect">
            <a:avLst>
              <a:gd name="adj" fmla="val 8239"/>
            </a:avLst>
          </a:prstGeom>
          <a:solidFill>
            <a:srgbClr val="FCFDFF"/>
          </a:solidFill>
          <a:ln w="6350">
            <a:solidFill>
              <a:srgbClr val="D5DEEC"/>
            </a:solidFill>
            <a:prstDash val="solid"/>
          </a:ln>
        </p:spPr>
        <p:txBody>
          <a:bodyPr/>
          <a:p/>
        </p:txBody>
      </p:sp>
      <p:sp>
        <p:nvSpPr>
          <p:cNvPr id="29" name="Shape 23"/>
          <p:cNvSpPr/>
          <p:nvPr/>
        </p:nvSpPr>
        <p:spPr>
          <a:xfrm>
            <a:off x="4385558" y="3160832"/>
            <a:ext cx="3420481" cy="38099"/>
          </a:xfrm>
          <a:prstGeom prst="roundRect">
            <a:avLst>
              <a:gd name="adj" fmla="val 50000"/>
            </a:avLst>
          </a:prstGeom>
          <a:solidFill>
            <a:srgbClr val="2F5C9A"/>
          </a:solidFill>
          <a:ln/>
        </p:spPr>
        <p:txBody>
          <a:bodyPr/>
          <a:p/>
        </p:txBody>
      </p:sp>
      <p:sp>
        <p:nvSpPr>
          <p:cNvPr id="30" name="Shape 24"/>
          <p:cNvSpPr/>
          <p:nvPr/>
        </p:nvSpPr>
        <p:spPr>
          <a:xfrm>
            <a:off x="4557003" y="3364027"/>
            <a:ext cx="355591" cy="355591"/>
          </a:xfrm>
          <a:prstGeom prst="ellipse">
            <a:avLst/>
          </a:prstGeom>
          <a:solidFill>
            <a:srgbClr val="E2EAF6"/>
          </a:solidFill>
          <a:ln/>
        </p:spPr>
        <p:txBody>
          <a:bodyPr/>
          <a:p/>
        </p:txBody>
      </p:sp>
      <p:pic>
        <p:nvPicPr>
          <p:cNvPr id="31" name="Image 4" descr="preencoded.png">    </p:cNvPr>
          <p:cNvPicPr>
            <a:picLocks noChangeAspect="1"/>
          </p:cNvPicPr>
          <p:nvPr/>
        </p:nvPicPr>
        <p:blipFill>
          <a:blip r:embed="rId5"/>
          <a:stretch>
            <a:fillRect/>
          </a:stretch>
        </p:blipFill>
        <p:spPr>
          <a:xfrm>
            <a:off x="4639551" y="3446575"/>
            <a:ext cx="190495" cy="190495"/>
          </a:xfrm>
          <a:prstGeom prst="rect">
            <a:avLst/>
          </a:prstGeom>
        </p:spPr>
      </p:pic>
      <p:sp>
        <p:nvSpPr>
          <p:cNvPr id="32" name="Text 25"/>
          <p:cNvSpPr txBox="1"/>
          <p:nvPr/>
        </p:nvSpPr>
        <p:spPr>
          <a:xfrm>
            <a:off x="5001492" y="3419886"/>
            <a:ext cx="1243791"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Data at rest</a:t>
            </a:r>
            <a:endParaRPr lang="en-US" sz="1600" dirty="0"/>
          </a:p>
        </p:txBody>
      </p:sp>
      <p:sp>
        <p:nvSpPr>
          <p:cNvPr id="33" name="Text 26"/>
          <p:cNvSpPr txBox="1"/>
          <p:nvPr/>
        </p:nvSpPr>
        <p:spPr>
          <a:xfrm>
            <a:off x="4557003" y="3795816"/>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Private KMS-encrypted RDS, TLS Redis and MSK, locked-down S3</a:t>
            </a:r>
            <a:endParaRPr lang="en-US" sz="1200" dirty="0"/>
          </a:p>
        </p:txBody>
      </p:sp>
      <p:sp>
        <p:nvSpPr>
          <p:cNvPr id="34" name="Shape 27"/>
          <p:cNvSpPr/>
          <p:nvPr/>
        </p:nvSpPr>
        <p:spPr>
          <a:xfrm>
            <a:off x="7958435" y="3160832"/>
            <a:ext cx="3420481" cy="1233060"/>
          </a:xfrm>
          <a:prstGeom prst="roundRect">
            <a:avLst>
              <a:gd name="adj" fmla="val 8239"/>
            </a:avLst>
          </a:prstGeom>
          <a:solidFill>
            <a:srgbClr val="FCFDFF"/>
          </a:solidFill>
          <a:ln w="6350">
            <a:solidFill>
              <a:srgbClr val="D5DEEC"/>
            </a:solidFill>
            <a:prstDash val="solid"/>
          </a:ln>
        </p:spPr>
        <p:txBody>
          <a:bodyPr/>
          <a:p/>
        </p:txBody>
      </p:sp>
      <p:sp>
        <p:nvSpPr>
          <p:cNvPr id="35" name="Shape 28"/>
          <p:cNvSpPr/>
          <p:nvPr/>
        </p:nvSpPr>
        <p:spPr>
          <a:xfrm>
            <a:off x="7958435" y="3160832"/>
            <a:ext cx="3420481" cy="38099"/>
          </a:xfrm>
          <a:prstGeom prst="roundRect">
            <a:avLst>
              <a:gd name="adj" fmla="val 50000"/>
            </a:avLst>
          </a:prstGeom>
          <a:solidFill>
            <a:srgbClr val="2E7D4F"/>
          </a:solidFill>
          <a:ln/>
        </p:spPr>
        <p:txBody>
          <a:bodyPr/>
          <a:p/>
        </p:txBody>
      </p:sp>
      <p:sp>
        <p:nvSpPr>
          <p:cNvPr id="36" name="Shape 29"/>
          <p:cNvSpPr/>
          <p:nvPr/>
        </p:nvSpPr>
        <p:spPr>
          <a:xfrm>
            <a:off x="8129880" y="3364027"/>
            <a:ext cx="355591" cy="355591"/>
          </a:xfrm>
          <a:prstGeom prst="ellipse">
            <a:avLst/>
          </a:prstGeom>
          <a:solidFill>
            <a:srgbClr val="E0F2E8"/>
          </a:solidFill>
          <a:ln/>
        </p:spPr>
        <p:txBody>
          <a:bodyPr/>
          <a:p/>
        </p:txBody>
      </p:sp>
      <p:pic>
        <p:nvPicPr>
          <p:cNvPr id="37" name="Image 5" descr="preencoded.png">    </p:cNvPr>
          <p:cNvPicPr>
            <a:picLocks noChangeAspect="1"/>
          </p:cNvPicPr>
          <p:nvPr/>
        </p:nvPicPr>
        <p:blipFill>
          <a:blip r:embed="rId6"/>
          <a:stretch>
            <a:fillRect/>
          </a:stretch>
        </p:blipFill>
        <p:spPr>
          <a:xfrm>
            <a:off x="8212428" y="3446575"/>
            <a:ext cx="190495" cy="190495"/>
          </a:xfrm>
          <a:prstGeom prst="rect">
            <a:avLst/>
          </a:prstGeom>
        </p:spPr>
      </p:pic>
      <p:sp>
        <p:nvSpPr>
          <p:cNvPr id="38" name="Text 30"/>
          <p:cNvSpPr txBox="1"/>
          <p:nvPr/>
        </p:nvSpPr>
        <p:spPr>
          <a:xfrm>
            <a:off x="8574369" y="3419886"/>
            <a:ext cx="881533"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Delivery</a:t>
            </a:r>
            <a:endParaRPr lang="en-US" sz="1600" dirty="0"/>
          </a:p>
        </p:txBody>
      </p:sp>
      <p:sp>
        <p:nvSpPr>
          <p:cNvPr id="39" name="Text 31"/>
          <p:cNvSpPr txBox="1"/>
          <p:nvPr/>
        </p:nvSpPr>
        <p:spPr>
          <a:xfrm>
            <a:off x="8129880" y="3795816"/>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Non-root read-only pods, Trivy gate, OIDC to AWS, no secret defaults</a:t>
            </a:r>
            <a:endParaRPr lang="en-US" sz="1200" dirty="0"/>
          </a:p>
        </p:txBody>
      </p:sp>
      <p:sp>
        <p:nvSpPr>
          <p:cNvPr id="40" name="Text 32"/>
          <p:cNvSpPr txBox="1"/>
          <p:nvPr/>
        </p:nvSpPr>
        <p:spPr>
          <a:xfrm>
            <a:off x="812780" y="4647885"/>
            <a:ext cx="11834072"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Fixed since the last review: payment callback binding, location ownership, self-registration as ADMIN.</a:t>
            </a:r>
            <a:endParaRPr lang="en-US" sz="1200" dirty="0"/>
          </a:p>
        </p:txBody>
      </p:sp>
      <p:sp>
        <p:nvSpPr>
          <p:cNvPr id="41" name="Text 3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42" name="Text 3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IDENTITY AND ACCESS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One Critical and four High findings sit in identity</a:t>
            </a:r>
            <a:endParaRPr lang="en-US" sz="3000" dirty="0"/>
          </a:p>
        </p:txBody>
      </p:sp>
      <p:sp>
        <p:nvSpPr>
          <p:cNvPr id="4" name="Shape 2"/>
          <p:cNvSpPr/>
          <p:nvPr/>
        </p:nvSpPr>
        <p:spPr>
          <a:xfrm>
            <a:off x="812780" y="1775376"/>
            <a:ext cx="10566136" cy="287529"/>
          </a:xfrm>
          <a:prstGeom prst="rect">
            <a:avLst/>
          </a:prstGeom>
          <a:solidFill>
            <a:srgbClr val="2454C5"/>
          </a:solidFill>
          <a:ln/>
        </p:spPr>
        <p:txBody>
          <a:bodyPr/>
          <a:p/>
        </p:txBody>
      </p:sp>
      <p:sp>
        <p:nvSpPr>
          <p:cNvPr id="5" name="Shape 3"/>
          <p:cNvSpPr/>
          <p:nvPr/>
        </p:nvSpPr>
        <p:spPr>
          <a:xfrm>
            <a:off x="812780" y="2059730"/>
            <a:ext cx="1267885" cy="63"/>
          </a:xfrm>
          <a:prstGeom prst="line">
            <a:avLst/>
          </a:prstGeom>
          <a:noFill/>
          <a:ln w="6350">
            <a:solidFill>
              <a:srgbClr val="D5DEEC"/>
            </a:solidFill>
            <a:prstDash val="solid"/>
          </a:ln>
        </p:spPr>
        <p:txBody>
          <a:bodyPr/>
          <a:p/>
        </p:txBody>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txBody>
          <a:bodyPr/>
          <a:p/>
        </p:txBody>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txBody>
          <a:bodyPr/>
          <a:p/>
        </p:txBody>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txBody>
          <a:bodyPr/>
          <a:p/>
        </p:txBody>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C0352B"/>
                </a:solidFill>
                <a:latin typeface="Calibri" pitchFamily="34" charset="0"/>
                <a:ea typeface="Calibri" pitchFamily="34" charset="-122"/>
                <a:cs typeface="Calibri" pitchFamily="34" charset="-120"/>
              </a:rPr>
              <a:t>Critical</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txBody>
          <a:bodyPr/>
          <a:p/>
        </p:txBody>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The leaked JWT secret may still be set somewhere</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txBody>
          <a:bodyPr/>
          <a:p/>
        </p:txBody>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Rotate per env; refuse dev values</a:t>
            </a:r>
            <a:endParaRPr lang="en-US" sz="1200" dirty="0"/>
          </a:p>
        </p:txBody>
      </p:sp>
      <p:sp>
        <p:nvSpPr>
          <p:cNvPr id="17" name="Shape 15"/>
          <p:cNvSpPr/>
          <p:nvPr/>
        </p:nvSpPr>
        <p:spPr>
          <a:xfrm>
            <a:off x="812780" y="2353608"/>
            <a:ext cx="10566136" cy="290704"/>
          </a:xfrm>
          <a:prstGeom prst="rect">
            <a:avLst/>
          </a:prstGeom>
          <a:solidFill>
            <a:srgbClr val="EEF2F9"/>
          </a:solidFill>
          <a:ln/>
        </p:spPr>
        <p:txBody>
          <a:bodyPr/>
          <a:p/>
        </p:txBody>
      </p:sp>
      <p:sp>
        <p:nvSpPr>
          <p:cNvPr id="18" name="Shape 16"/>
          <p:cNvSpPr/>
          <p:nvPr/>
        </p:nvSpPr>
        <p:spPr>
          <a:xfrm>
            <a:off x="812780" y="2641137"/>
            <a:ext cx="1267885" cy="63"/>
          </a:xfrm>
          <a:prstGeom prst="line">
            <a:avLst/>
          </a:prstGeom>
          <a:noFill/>
          <a:ln w="6350">
            <a:solidFill>
              <a:srgbClr val="D5DEEC"/>
            </a:solidFill>
            <a:prstDash val="solid"/>
          </a:ln>
        </p:spPr>
        <p:txBody>
          <a:bodyPr/>
          <a:p/>
        </p:txBody>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txBody>
          <a:bodyPr/>
          <a:p/>
        </p:txBody>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One HMAC signing key is shared by all services</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txBody>
          <a:bodyPr/>
          <a:p/>
        </p:txBody>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RS256 + JWKS; verify iss and aud</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txBody>
          <a:bodyPr/>
          <a:p/>
        </p:txBody>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txBody>
          <a:bodyPr/>
          <a:p/>
        </p:txBody>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Services skip revocation; ports reachable directly</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txBody>
          <a:bodyPr/>
          <a:p/>
        </p:txBody>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Gateway-only network; deny-list</a:t>
            </a:r>
            <a:endParaRPr lang="en-US" sz="1200" dirty="0"/>
          </a:p>
        </p:txBody>
      </p:sp>
      <p:sp>
        <p:nvSpPr>
          <p:cNvPr id="30" name="Shape 28"/>
          <p:cNvSpPr/>
          <p:nvPr/>
        </p:nvSpPr>
        <p:spPr>
          <a:xfrm>
            <a:off x="812780" y="2935016"/>
            <a:ext cx="10566136" cy="290704"/>
          </a:xfrm>
          <a:prstGeom prst="rect">
            <a:avLst/>
          </a:prstGeom>
          <a:solidFill>
            <a:srgbClr val="EEF2F9"/>
          </a:solidFill>
          <a:ln/>
        </p:spPr>
        <p:txBody>
          <a:bodyPr/>
          <a:p/>
        </p:txBody>
      </p:sp>
      <p:sp>
        <p:nvSpPr>
          <p:cNvPr id="31" name="Shape 29"/>
          <p:cNvSpPr/>
          <p:nvPr/>
        </p:nvSpPr>
        <p:spPr>
          <a:xfrm>
            <a:off x="812780" y="3222544"/>
            <a:ext cx="1267885" cy="63"/>
          </a:xfrm>
          <a:prstGeom prst="line">
            <a:avLst/>
          </a:prstGeom>
          <a:noFill/>
          <a:ln w="6350">
            <a:solidFill>
              <a:srgbClr val="D5DEEC"/>
            </a:solidFill>
            <a:prstDash val="solid"/>
          </a:ln>
        </p:spPr>
        <p:txBody>
          <a:bodyPr/>
          <a:p/>
        </p:txBody>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txBody>
          <a:bodyPr/>
          <a:p/>
        </p:txBody>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per-IP limit on password login or OTP requests</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txBody>
          <a:bodyPr/>
          <a:p/>
        </p:txBody>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WAF rate rule on /auth; CAPTCHA</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txBody>
          <a:bodyPr/>
          <a:p/>
        </p:txBody>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txBody>
          <a:bodyPr/>
          <a:p/>
        </p:txBody>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Gateway pairs Cloud 2025.1 with Boot 4.1</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txBody>
          <a:bodyPr/>
          <a:p/>
        </p:txBody>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Pin Boot 4.0 or move to Cloud 2026.0</a:t>
            </a:r>
            <a:endParaRPr lang="en-US" sz="1200" dirty="0"/>
          </a:p>
        </p:txBody>
      </p:sp>
      <p:sp>
        <p:nvSpPr>
          <p:cNvPr id="43" name="Shape 41"/>
          <p:cNvSpPr/>
          <p:nvPr/>
        </p:nvSpPr>
        <p:spPr>
          <a:xfrm>
            <a:off x="812780" y="3516423"/>
            <a:ext cx="10566136" cy="290704"/>
          </a:xfrm>
          <a:prstGeom prst="rect">
            <a:avLst/>
          </a:prstGeom>
          <a:solidFill>
            <a:srgbClr val="EEF2F9"/>
          </a:solidFill>
          <a:ln/>
        </p:spPr>
        <p:txBody>
          <a:bodyPr/>
          <a:p/>
        </p:txBody>
      </p:sp>
      <p:sp>
        <p:nvSpPr>
          <p:cNvPr id="44" name="Shape 42"/>
          <p:cNvSpPr/>
          <p:nvPr/>
        </p:nvSpPr>
        <p:spPr>
          <a:xfrm>
            <a:off x="812780" y="3803952"/>
            <a:ext cx="1267885" cy="63"/>
          </a:xfrm>
          <a:prstGeom prst="line">
            <a:avLst/>
          </a:prstGeom>
          <a:noFill/>
          <a:ln w="6350">
            <a:solidFill>
              <a:srgbClr val="D5DEEC"/>
            </a:solidFill>
            <a:prstDash val="solid"/>
          </a:ln>
        </p:spPr>
        <p:txBody>
          <a:bodyPr/>
          <a:p/>
        </p:txBody>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txBody>
          <a:bodyPr/>
          <a:p/>
        </p:txBody>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One INTERNAL_API_KEY opens every /internal API</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txBody>
          <a:bodyPr/>
          <a:p/>
        </p:txBody>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Per-caller keys or mTLS</a:t>
            </a:r>
            <a:endParaRPr lang="en-US" sz="1200" dirty="0"/>
          </a:p>
        </p:txBody>
      </p:sp>
      <p:sp>
        <p:nvSpPr>
          <p:cNvPr id="50" name="Text 48"/>
          <p:cNvSpPr txBox="1"/>
          <p:nvPr/>
        </p:nvSpPr>
        <p:spPr>
          <a:xfrm>
            <a:off x="812780" y="4064295"/>
            <a:ext cx="11834072"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Together, the top three mean a leak from any one service, pod or log gives platform-wide SUPER_ADMIN.</a:t>
            </a:r>
            <a:endParaRPr lang="en-US" sz="1200" dirty="0"/>
          </a:p>
        </p:txBody>
      </p:sp>
      <p:sp>
        <p:nvSpPr>
          <p:cNvPr id="51" name="Text 49"/>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52" name="Text 50"/>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MONEY AND OWNERSHIP</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Razorpay is sound; the logic around it leaks money</a:t>
            </a:r>
            <a:endParaRPr lang="en-US" sz="3000" dirty="0"/>
          </a:p>
        </p:txBody>
      </p:sp>
      <p:sp>
        <p:nvSpPr>
          <p:cNvPr id="4" name="Shape 2"/>
          <p:cNvSpPr/>
          <p:nvPr/>
        </p:nvSpPr>
        <p:spPr>
          <a:xfrm>
            <a:off x="812780" y="1775376"/>
            <a:ext cx="10566136" cy="287529"/>
          </a:xfrm>
          <a:prstGeom prst="rect">
            <a:avLst/>
          </a:prstGeom>
          <a:solidFill>
            <a:srgbClr val="2454C5"/>
          </a:solidFill>
          <a:ln/>
        </p:spPr>
        <p:txBody>
          <a:bodyPr/>
          <a:p/>
        </p:txBody>
      </p:sp>
      <p:sp>
        <p:nvSpPr>
          <p:cNvPr id="5" name="Shape 3"/>
          <p:cNvSpPr/>
          <p:nvPr/>
        </p:nvSpPr>
        <p:spPr>
          <a:xfrm>
            <a:off x="812780" y="2059730"/>
            <a:ext cx="1267885" cy="63"/>
          </a:xfrm>
          <a:prstGeom prst="line">
            <a:avLst/>
          </a:prstGeom>
          <a:noFill/>
          <a:ln w="6350">
            <a:solidFill>
              <a:srgbClr val="D5DEEC"/>
            </a:solidFill>
            <a:prstDash val="solid"/>
          </a:ln>
        </p:spPr>
        <p:txBody>
          <a:bodyPr/>
          <a:p/>
        </p:txBody>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txBody>
          <a:bodyPr/>
          <a:p/>
        </p:txBody>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txBody>
          <a:bodyPr/>
          <a:p/>
        </p:txBody>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txBody>
          <a:bodyPr/>
          <a:p/>
        </p:txBody>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txBody>
          <a:bodyPr/>
          <a:p/>
        </p:txBody>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Coupon caps never enforced; customers reset counts</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txBody>
          <a:bodyPr/>
          <a:p/>
        </p:txBody>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Redeem server-side per booking</a:t>
            </a:r>
            <a:endParaRPr lang="en-US" sz="1200" dirty="0"/>
          </a:p>
        </p:txBody>
      </p:sp>
      <p:sp>
        <p:nvSpPr>
          <p:cNvPr id="17" name="Shape 15"/>
          <p:cNvSpPr/>
          <p:nvPr/>
        </p:nvSpPr>
        <p:spPr>
          <a:xfrm>
            <a:off x="812780" y="2353608"/>
            <a:ext cx="10566136" cy="290704"/>
          </a:xfrm>
          <a:prstGeom prst="rect">
            <a:avLst/>
          </a:prstGeom>
          <a:solidFill>
            <a:srgbClr val="EEF2F9"/>
          </a:solidFill>
          <a:ln/>
        </p:spPr>
        <p:txBody>
          <a:bodyPr/>
          <a:p/>
        </p:txBody>
      </p:sp>
      <p:sp>
        <p:nvSpPr>
          <p:cNvPr id="18" name="Shape 16"/>
          <p:cNvSpPr/>
          <p:nvPr/>
        </p:nvSpPr>
        <p:spPr>
          <a:xfrm>
            <a:off x="812780" y="2641137"/>
            <a:ext cx="1267885" cy="63"/>
          </a:xfrm>
          <a:prstGeom prst="line">
            <a:avLst/>
          </a:prstGeom>
          <a:noFill/>
          <a:ln w="6350">
            <a:solidFill>
              <a:srgbClr val="D5DEEC"/>
            </a:solidFill>
            <a:prstDash val="solid"/>
          </a:ln>
        </p:spPr>
        <p:txBody>
          <a:bodyPr/>
          <a:p/>
        </p:txBody>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txBody>
          <a:bodyPr/>
          <a:p/>
        </p:txBody>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Support agents can approve any refund amount</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txBody>
          <a:bodyPr/>
          <a:p/>
        </p:txBody>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Finance approval above a limit</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txBody>
          <a:bodyPr/>
          <a:p/>
        </p:txBody>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txBody>
          <a:bodyPr/>
          <a:p/>
        </p:txBody>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Payment simulator selectable when enabled</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txBody>
          <a:bodyPr/>
          <a:p/>
        </p:txBody>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Never enable it outside local</a:t>
            </a:r>
            <a:endParaRPr lang="en-US" sz="1200" dirty="0"/>
          </a:p>
        </p:txBody>
      </p:sp>
      <p:sp>
        <p:nvSpPr>
          <p:cNvPr id="30" name="Shape 28"/>
          <p:cNvSpPr/>
          <p:nvPr/>
        </p:nvSpPr>
        <p:spPr>
          <a:xfrm>
            <a:off x="812780" y="2935016"/>
            <a:ext cx="10566136" cy="290704"/>
          </a:xfrm>
          <a:prstGeom prst="rect">
            <a:avLst/>
          </a:prstGeom>
          <a:solidFill>
            <a:srgbClr val="EEF2F9"/>
          </a:solidFill>
          <a:ln/>
        </p:spPr>
        <p:txBody>
          <a:bodyPr/>
          <a:p/>
        </p:txBody>
      </p:sp>
      <p:sp>
        <p:nvSpPr>
          <p:cNvPr id="31" name="Shape 29"/>
          <p:cNvSpPr/>
          <p:nvPr/>
        </p:nvSpPr>
        <p:spPr>
          <a:xfrm>
            <a:off x="812780" y="3222544"/>
            <a:ext cx="1267885" cy="63"/>
          </a:xfrm>
          <a:prstGeom prst="line">
            <a:avLst/>
          </a:prstGeom>
          <a:noFill/>
          <a:ln w="6350">
            <a:solidFill>
              <a:srgbClr val="D5DEEC"/>
            </a:solidFill>
            <a:prstDash val="solid"/>
          </a:ln>
        </p:spPr>
        <p:txBody>
          <a:bodyPr/>
          <a:p/>
        </p:txBody>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txBody>
          <a:bodyPr/>
          <a:p/>
        </p:txBody>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Payouts simulated, any amount, no idempotency</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txBody>
          <a:bodyPr/>
          <a:p/>
        </p:txBody>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RazorpayX; amount from the wallet</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txBody>
          <a:bodyPr/>
          <a:p/>
        </p:txBody>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txBody>
          <a:bodyPr/>
          <a:p/>
        </p:txBody>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Refunds leave the provider's earning in place</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txBody>
          <a:bodyPr/>
          <a:p/>
        </p:txBody>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Debit the wallet on refund</a:t>
            </a:r>
            <a:endParaRPr lang="en-US" sz="1200" dirty="0"/>
          </a:p>
        </p:txBody>
      </p:sp>
      <p:sp>
        <p:nvSpPr>
          <p:cNvPr id="43" name="Shape 41"/>
          <p:cNvSpPr/>
          <p:nvPr/>
        </p:nvSpPr>
        <p:spPr>
          <a:xfrm>
            <a:off x="812780" y="3516423"/>
            <a:ext cx="10566136" cy="290704"/>
          </a:xfrm>
          <a:prstGeom prst="rect">
            <a:avLst/>
          </a:prstGeom>
          <a:solidFill>
            <a:srgbClr val="EEF2F9"/>
          </a:solidFill>
          <a:ln/>
        </p:spPr>
        <p:txBody>
          <a:bodyPr/>
          <a:p/>
        </p:txBody>
      </p:sp>
      <p:sp>
        <p:nvSpPr>
          <p:cNvPr id="44" name="Shape 42"/>
          <p:cNvSpPr/>
          <p:nvPr/>
        </p:nvSpPr>
        <p:spPr>
          <a:xfrm>
            <a:off x="812780" y="3803952"/>
            <a:ext cx="1267885" cy="63"/>
          </a:xfrm>
          <a:prstGeom prst="line">
            <a:avLst/>
          </a:prstGeom>
          <a:noFill/>
          <a:ln w="6350">
            <a:solidFill>
              <a:srgbClr val="D5DEEC"/>
            </a:solidFill>
            <a:prstDash val="solid"/>
          </a:ln>
        </p:spPr>
        <p:txBody>
          <a:bodyPr/>
          <a:p/>
        </p:txBody>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txBody>
          <a:bodyPr/>
          <a:p/>
        </p:txBody>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Complaints accept any bookingId and providerId</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txBody>
          <a:bodyPr/>
          <a:p/>
        </p:txBody>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Check the booking's participants</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txBody>
          <a:bodyPr/>
          <a:p/>
        </p:txBody>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txBody>
          <a:bodyPr/>
          <a:p/>
        </p:txBody>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Booking accepts another customer's addressId</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txBody>
          <a:bodyPr/>
          <a:p/>
        </p:txBody>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Verify the address owner</a:t>
            </a:r>
            <a:endParaRPr lang="en-US" sz="1200" dirty="0"/>
          </a:p>
        </p:txBody>
      </p:sp>
      <p:sp>
        <p:nvSpPr>
          <p:cNvPr id="56" name="Shape 54"/>
          <p:cNvSpPr/>
          <p:nvPr/>
        </p:nvSpPr>
        <p:spPr>
          <a:xfrm>
            <a:off x="812780" y="4097830"/>
            <a:ext cx="10566136" cy="290704"/>
          </a:xfrm>
          <a:prstGeom prst="rect">
            <a:avLst/>
          </a:prstGeom>
          <a:solidFill>
            <a:srgbClr val="EEF2F9"/>
          </a:solidFill>
          <a:ln/>
        </p:spPr>
        <p:txBody>
          <a:bodyPr/>
          <a:p/>
        </p:txBody>
      </p:sp>
      <p:sp>
        <p:nvSpPr>
          <p:cNvPr id="57" name="Shape 55"/>
          <p:cNvSpPr/>
          <p:nvPr/>
        </p:nvSpPr>
        <p:spPr>
          <a:xfrm>
            <a:off x="812780" y="4385359"/>
            <a:ext cx="1267885" cy="63"/>
          </a:xfrm>
          <a:prstGeom prst="line">
            <a:avLst/>
          </a:prstGeom>
          <a:noFill/>
          <a:ln w="6350">
            <a:solidFill>
              <a:srgbClr val="D5DEEC"/>
            </a:solidFill>
            <a:prstDash val="solid"/>
          </a:ln>
        </p:spPr>
        <p:txBody>
          <a:bodyPr/>
          <a:p/>
        </p:txBody>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txBody>
          <a:bodyPr/>
          <a:p/>
        </p:txBody>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Agency admin can enlist any provider by mobile</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txBody>
          <a:bodyPr/>
          <a:p/>
        </p:txBody>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Provider accepts an invitation</a:t>
            </a:r>
            <a:endParaRPr lang="en-US" sz="1200" dirty="0"/>
          </a:p>
        </p:txBody>
      </p:sp>
      <p:sp>
        <p:nvSpPr>
          <p:cNvPr id="63" name="Text 61"/>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64" name="Text 62"/>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INFRASTRUCTURE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Infrastructure is too open in three places</a:t>
            </a:r>
            <a:endParaRPr lang="en-US" sz="3000" dirty="0"/>
          </a:p>
        </p:txBody>
      </p:sp>
      <p:sp>
        <p:nvSpPr>
          <p:cNvPr id="4" name="Shape 2"/>
          <p:cNvSpPr/>
          <p:nvPr/>
        </p:nvSpPr>
        <p:spPr>
          <a:xfrm>
            <a:off x="812780" y="1775376"/>
            <a:ext cx="10566136" cy="287529"/>
          </a:xfrm>
          <a:prstGeom prst="rect">
            <a:avLst/>
          </a:prstGeom>
          <a:solidFill>
            <a:srgbClr val="2454C5"/>
          </a:solidFill>
          <a:ln/>
        </p:spPr>
        <p:txBody>
          <a:bodyPr/>
          <a:p/>
        </p:txBody>
      </p:sp>
      <p:sp>
        <p:nvSpPr>
          <p:cNvPr id="5" name="Shape 3"/>
          <p:cNvSpPr/>
          <p:nvPr/>
        </p:nvSpPr>
        <p:spPr>
          <a:xfrm>
            <a:off x="812780" y="2059730"/>
            <a:ext cx="1267885" cy="63"/>
          </a:xfrm>
          <a:prstGeom prst="line">
            <a:avLst/>
          </a:prstGeom>
          <a:noFill/>
          <a:ln w="6350">
            <a:solidFill>
              <a:srgbClr val="D5DEEC"/>
            </a:solidFill>
            <a:prstDash val="solid"/>
          </a:ln>
        </p:spPr>
        <p:txBody>
          <a:bodyPr/>
          <a:p/>
        </p:txBody>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txBody>
          <a:bodyPr/>
          <a:p/>
        </p:txBody>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txBody>
          <a:bodyPr/>
          <a:p/>
        </p:txBody>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txBody>
          <a:bodyPr/>
          <a:p/>
        </p:txBody>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txBody>
          <a:bodyPr/>
          <a:p/>
        </p:txBody>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EKS API endpoint is open to 0.0.0.0/0</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txBody>
          <a:bodyPr/>
          <a:p/>
        </p:txBody>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Private, or VPN and CI ranges</a:t>
            </a:r>
            <a:endParaRPr lang="en-US" sz="1200" dirty="0"/>
          </a:p>
        </p:txBody>
      </p:sp>
      <p:sp>
        <p:nvSpPr>
          <p:cNvPr id="17" name="Shape 15"/>
          <p:cNvSpPr/>
          <p:nvPr/>
        </p:nvSpPr>
        <p:spPr>
          <a:xfrm>
            <a:off x="812780" y="2353608"/>
            <a:ext cx="10566136" cy="290704"/>
          </a:xfrm>
          <a:prstGeom prst="rect">
            <a:avLst/>
          </a:prstGeom>
          <a:solidFill>
            <a:srgbClr val="EEF2F9"/>
          </a:solidFill>
          <a:ln/>
        </p:spPr>
        <p:txBody>
          <a:bodyPr/>
          <a:p/>
        </p:txBody>
      </p:sp>
      <p:sp>
        <p:nvSpPr>
          <p:cNvPr id="18" name="Shape 16"/>
          <p:cNvSpPr/>
          <p:nvPr/>
        </p:nvSpPr>
        <p:spPr>
          <a:xfrm>
            <a:off x="812780" y="2641137"/>
            <a:ext cx="1267885" cy="63"/>
          </a:xfrm>
          <a:prstGeom prst="line">
            <a:avLst/>
          </a:prstGeom>
          <a:noFill/>
          <a:ln w="6350">
            <a:solidFill>
              <a:srgbClr val="D5DEEC"/>
            </a:solidFill>
            <a:prstDash val="solid"/>
          </a:ln>
        </p:spPr>
        <p:txBody>
          <a:bodyPr/>
          <a:p/>
        </p:txBody>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txBody>
          <a:bodyPr/>
          <a:p/>
        </p:txBody>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Every pod can read every secret, even the RDS master</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txBody>
          <a:bodyPr/>
          <a:p/>
        </p:txBody>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One secret policy per service</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txBody>
          <a:bodyPr/>
          <a:p/>
        </p:txBody>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txBody>
          <a:bodyPr/>
          <a:p/>
        </p:txBody>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Local stack on 0.0.0.0; Redis has no password</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txBody>
          <a:bodyPr/>
          <a:p/>
        </p:txBody>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Bind 127.0.0.1; set a password</a:t>
            </a:r>
            <a:endParaRPr lang="en-US" sz="1200" dirty="0"/>
          </a:p>
        </p:txBody>
      </p:sp>
      <p:sp>
        <p:nvSpPr>
          <p:cNvPr id="30" name="Shape 28"/>
          <p:cNvSpPr/>
          <p:nvPr/>
        </p:nvSpPr>
        <p:spPr>
          <a:xfrm>
            <a:off x="812780" y="2935016"/>
            <a:ext cx="10566136" cy="290704"/>
          </a:xfrm>
          <a:prstGeom prst="rect">
            <a:avLst/>
          </a:prstGeom>
          <a:solidFill>
            <a:srgbClr val="EEF2F9"/>
          </a:solidFill>
          <a:ln/>
        </p:spPr>
        <p:txBody>
          <a:bodyPr/>
          <a:p/>
        </p:txBody>
      </p:sp>
      <p:sp>
        <p:nvSpPr>
          <p:cNvPr id="31" name="Shape 29"/>
          <p:cNvSpPr/>
          <p:nvPr/>
        </p:nvSpPr>
        <p:spPr>
          <a:xfrm>
            <a:off x="812780" y="3222544"/>
            <a:ext cx="1267885" cy="63"/>
          </a:xfrm>
          <a:prstGeom prst="line">
            <a:avLst/>
          </a:prstGeom>
          <a:noFill/>
          <a:ln w="6350">
            <a:solidFill>
              <a:srgbClr val="D5DEEC"/>
            </a:solidFill>
            <a:prstDash val="solid"/>
          </a:ln>
        </p:spPr>
        <p:txBody>
          <a:bodyPr/>
          <a:p/>
        </p:txBody>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txBody>
          <a:bodyPr/>
          <a:p/>
        </p:txBody>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RDS does not force TLS connections</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txBody>
          <a:bodyPr/>
          <a:p/>
        </p:txBody>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rds.force_ssl = 1</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txBody>
          <a:bodyPr/>
          <a:p/>
        </p:txBody>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txBody>
          <a:bodyPr/>
          <a:p/>
        </p:txBody>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Nodes lack IMDSv2 and explicit EBS encryption</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txBody>
          <a:bodyPr/>
          <a:p/>
        </p:txBody>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Launch template with both</a:t>
            </a:r>
            <a:endParaRPr lang="en-US" sz="1200" dirty="0"/>
          </a:p>
        </p:txBody>
      </p:sp>
      <p:sp>
        <p:nvSpPr>
          <p:cNvPr id="43" name="Shape 41"/>
          <p:cNvSpPr/>
          <p:nvPr/>
        </p:nvSpPr>
        <p:spPr>
          <a:xfrm>
            <a:off x="812780" y="3516423"/>
            <a:ext cx="10566136" cy="290704"/>
          </a:xfrm>
          <a:prstGeom prst="rect">
            <a:avLst/>
          </a:prstGeom>
          <a:solidFill>
            <a:srgbClr val="EEF2F9"/>
          </a:solidFill>
          <a:ln/>
        </p:spPr>
        <p:txBody>
          <a:bodyPr/>
          <a:p/>
        </p:txBody>
      </p:sp>
      <p:sp>
        <p:nvSpPr>
          <p:cNvPr id="44" name="Shape 42"/>
          <p:cNvSpPr/>
          <p:nvPr/>
        </p:nvSpPr>
        <p:spPr>
          <a:xfrm>
            <a:off x="812780" y="3803952"/>
            <a:ext cx="1267885" cy="63"/>
          </a:xfrm>
          <a:prstGeom prst="line">
            <a:avLst/>
          </a:prstGeom>
          <a:noFill/>
          <a:ln w="6350">
            <a:solidFill>
              <a:srgbClr val="D5DEEC"/>
            </a:solidFill>
            <a:prstDash val="solid"/>
          </a:ln>
        </p:spPr>
        <p:txBody>
          <a:bodyPr/>
          <a:p/>
        </p:txBody>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txBody>
          <a:bodyPr/>
          <a:p/>
        </p:txBody>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Terraform state will hold DB passwords in clear</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txBody>
          <a:bodyPr/>
          <a:p/>
        </p:txBody>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KMS state bucket; ignore *.tfstate</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txBody>
          <a:bodyPr/>
          <a:p/>
        </p:txBody>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txBody>
          <a:bodyPr/>
          <a:p/>
        </p:txBody>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Grafana default password and embedding allowed</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txBody>
          <a:bodyPr/>
          <a:p/>
        </p:txBody>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existingSecret; embedding off</a:t>
            </a:r>
            <a:endParaRPr lang="en-US" sz="1200" dirty="0"/>
          </a:p>
        </p:txBody>
      </p:sp>
      <p:sp>
        <p:nvSpPr>
          <p:cNvPr id="56" name="Shape 54"/>
          <p:cNvSpPr/>
          <p:nvPr/>
        </p:nvSpPr>
        <p:spPr>
          <a:xfrm>
            <a:off x="812780" y="4097830"/>
            <a:ext cx="10566136" cy="290704"/>
          </a:xfrm>
          <a:prstGeom prst="rect">
            <a:avLst/>
          </a:prstGeom>
          <a:solidFill>
            <a:srgbClr val="EEF2F9"/>
          </a:solidFill>
          <a:ln/>
        </p:spPr>
        <p:txBody>
          <a:bodyPr/>
          <a:p/>
        </p:txBody>
      </p:sp>
      <p:sp>
        <p:nvSpPr>
          <p:cNvPr id="57" name="Shape 55"/>
          <p:cNvSpPr/>
          <p:nvPr/>
        </p:nvSpPr>
        <p:spPr>
          <a:xfrm>
            <a:off x="812780" y="4385359"/>
            <a:ext cx="1267885" cy="63"/>
          </a:xfrm>
          <a:prstGeom prst="line">
            <a:avLst/>
          </a:prstGeom>
          <a:noFill/>
          <a:ln w="6350">
            <a:solidFill>
              <a:srgbClr val="D5DEEC"/>
            </a:solidFill>
            <a:prstDash val="solid"/>
          </a:ln>
        </p:spPr>
        <p:txBody>
          <a:bodyPr/>
          <a:p/>
        </p:txBody>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txBody>
          <a:bodyPr/>
          <a:p/>
        </p:txBody>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Tag-pinned actions and images; EKS 1.29</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txBody>
          <a:bodyPr/>
          <a:p/>
        </p:txBody>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Pin by SHA or digest; upgrade</a:t>
            </a:r>
            <a:endParaRPr lang="en-US" sz="1200" dirty="0"/>
          </a:p>
        </p:txBody>
      </p:sp>
      <p:sp>
        <p:nvSpPr>
          <p:cNvPr id="63" name="Text 61"/>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64" name="Text 62"/>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WEB, APPS AND HYGIENE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browser side needs defence in depth</a:t>
            </a:r>
            <a:endParaRPr lang="en-US" sz="3000" dirty="0"/>
          </a:p>
        </p:txBody>
      </p:sp>
      <p:sp>
        <p:nvSpPr>
          <p:cNvPr id="4" name="Shape 2"/>
          <p:cNvSpPr/>
          <p:nvPr/>
        </p:nvSpPr>
        <p:spPr>
          <a:xfrm>
            <a:off x="812780" y="1775376"/>
            <a:ext cx="10566136" cy="287529"/>
          </a:xfrm>
          <a:prstGeom prst="rect">
            <a:avLst/>
          </a:prstGeom>
          <a:solidFill>
            <a:srgbClr val="2454C5"/>
          </a:solidFill>
          <a:ln/>
        </p:spPr>
        <p:txBody>
          <a:bodyPr/>
          <a:p/>
        </p:txBody>
      </p:sp>
      <p:sp>
        <p:nvSpPr>
          <p:cNvPr id="5" name="Shape 3"/>
          <p:cNvSpPr/>
          <p:nvPr/>
        </p:nvSpPr>
        <p:spPr>
          <a:xfrm>
            <a:off x="812780" y="2059730"/>
            <a:ext cx="1267885" cy="63"/>
          </a:xfrm>
          <a:prstGeom prst="line">
            <a:avLst/>
          </a:prstGeom>
          <a:noFill/>
          <a:ln w="6350">
            <a:solidFill>
              <a:srgbClr val="D5DEEC"/>
            </a:solidFill>
            <a:prstDash val="solid"/>
          </a:ln>
        </p:spPr>
        <p:txBody>
          <a:bodyPr/>
          <a:p/>
        </p:txBody>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txBody>
          <a:bodyPr/>
          <a:p/>
        </p:txBody>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txBody>
          <a:bodyPr/>
          <a:p/>
        </p:txBody>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txBody>
          <a:bodyPr/>
          <a:p/>
        </p:txBody>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txBody>
          <a:bodyPr/>
          <a:p/>
        </p:txBody>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30-day refresh token kept in localStorage</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txBody>
          <a:bodyPr/>
          <a:p/>
        </p:txBody>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HttpOnly SameSite cookie</a:t>
            </a:r>
            <a:endParaRPr lang="en-US" sz="1200" dirty="0"/>
          </a:p>
        </p:txBody>
      </p:sp>
      <p:sp>
        <p:nvSpPr>
          <p:cNvPr id="17" name="Shape 15"/>
          <p:cNvSpPr/>
          <p:nvPr/>
        </p:nvSpPr>
        <p:spPr>
          <a:xfrm>
            <a:off x="812780" y="2353608"/>
            <a:ext cx="10566136" cy="290704"/>
          </a:xfrm>
          <a:prstGeom prst="rect">
            <a:avLst/>
          </a:prstGeom>
          <a:solidFill>
            <a:srgbClr val="EEF2F9"/>
          </a:solidFill>
          <a:ln/>
        </p:spPr>
        <p:txBody>
          <a:bodyPr/>
          <a:p/>
        </p:txBody>
      </p:sp>
      <p:sp>
        <p:nvSpPr>
          <p:cNvPr id="18" name="Shape 16"/>
          <p:cNvSpPr/>
          <p:nvPr/>
        </p:nvSpPr>
        <p:spPr>
          <a:xfrm>
            <a:off x="812780" y="2641137"/>
            <a:ext cx="1267885" cy="63"/>
          </a:xfrm>
          <a:prstGeom prst="line">
            <a:avLst/>
          </a:prstGeom>
          <a:noFill/>
          <a:ln w="6350">
            <a:solidFill>
              <a:srgbClr val="D5DEEC"/>
            </a:solidFill>
            <a:prstDash val="solid"/>
          </a:ln>
        </p:spPr>
        <p:txBody>
          <a:bodyPr/>
          <a:p/>
        </p:txBody>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txBody>
          <a:bodyPr/>
          <a:p/>
        </p:txBody>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CSP or HSTS; nginx containers run as root</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txBody>
          <a:bodyPr/>
          <a:p/>
        </p:txBody>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Add headers; nginx-unprivileged</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txBody>
          <a:bodyPr/>
          <a:p/>
        </p:txBody>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txBody>
          <a:bodyPr/>
          <a:p/>
        </p:txBody>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/metrics and /prometheus are public</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txBody>
          <a:bodyPr/>
          <a:p/>
        </p:txBody>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Separate management port</a:t>
            </a:r>
            <a:endParaRPr lang="en-US" sz="1200" dirty="0"/>
          </a:p>
        </p:txBody>
      </p:sp>
      <p:sp>
        <p:nvSpPr>
          <p:cNvPr id="30" name="Shape 28"/>
          <p:cNvSpPr/>
          <p:nvPr/>
        </p:nvSpPr>
        <p:spPr>
          <a:xfrm>
            <a:off x="812780" y="2935016"/>
            <a:ext cx="10566136" cy="290704"/>
          </a:xfrm>
          <a:prstGeom prst="rect">
            <a:avLst/>
          </a:prstGeom>
          <a:solidFill>
            <a:srgbClr val="EEF2F9"/>
          </a:solidFill>
          <a:ln/>
        </p:spPr>
        <p:txBody>
          <a:bodyPr/>
          <a:p/>
        </p:txBody>
      </p:sp>
      <p:sp>
        <p:nvSpPr>
          <p:cNvPr id="31" name="Shape 29"/>
          <p:cNvSpPr/>
          <p:nvPr/>
        </p:nvSpPr>
        <p:spPr>
          <a:xfrm>
            <a:off x="812780" y="3222544"/>
            <a:ext cx="1267885" cy="63"/>
          </a:xfrm>
          <a:prstGeom prst="line">
            <a:avLst/>
          </a:prstGeom>
          <a:noFill/>
          <a:ln w="6350">
            <a:solidFill>
              <a:srgbClr val="D5DEEC"/>
            </a:solidFill>
            <a:prstDash val="solid"/>
          </a:ln>
        </p:spPr>
        <p:txBody>
          <a:bodyPr/>
          <a:p/>
        </p:txBody>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txBody>
          <a:bodyPr/>
          <a:p/>
        </p:txBody>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Uploads trust client type; photos inline</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txBody>
          <a:bodyPr/>
          <a:p/>
        </p:txBody>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Magic-byte allow-list</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txBody>
          <a:bodyPr/>
          <a:p/>
        </p:txBody>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txBody>
          <a:bodyPr/>
          <a:p/>
        </p:txBody>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OTP codes hashed with SHA-256, salted by phone</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txBody>
          <a:bodyPr/>
          <a:p/>
        </p:txBody>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HMAC with a server key</a:t>
            </a:r>
            <a:endParaRPr lang="en-US" sz="1200" dirty="0"/>
          </a:p>
        </p:txBody>
      </p:sp>
      <p:sp>
        <p:nvSpPr>
          <p:cNvPr id="43" name="Shape 41"/>
          <p:cNvSpPr/>
          <p:nvPr/>
        </p:nvSpPr>
        <p:spPr>
          <a:xfrm>
            <a:off x="812780" y="3516423"/>
            <a:ext cx="10566136" cy="290704"/>
          </a:xfrm>
          <a:prstGeom prst="rect">
            <a:avLst/>
          </a:prstGeom>
          <a:solidFill>
            <a:srgbClr val="EEF2F9"/>
          </a:solidFill>
          <a:ln/>
        </p:spPr>
        <p:txBody>
          <a:bodyPr/>
          <a:p/>
        </p:txBody>
      </p:sp>
      <p:sp>
        <p:nvSpPr>
          <p:cNvPr id="44" name="Shape 42"/>
          <p:cNvSpPr/>
          <p:nvPr/>
        </p:nvSpPr>
        <p:spPr>
          <a:xfrm>
            <a:off x="812780" y="3803952"/>
            <a:ext cx="1267885" cy="63"/>
          </a:xfrm>
          <a:prstGeom prst="line">
            <a:avLst/>
          </a:prstGeom>
          <a:noFill/>
          <a:ln w="6350">
            <a:solidFill>
              <a:srgbClr val="D5DEEC"/>
            </a:solidFill>
            <a:prstDash val="solid"/>
          </a:ln>
        </p:spPr>
        <p:txBody>
          <a:bodyPr/>
          <a:p/>
        </p:txBody>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txBody>
          <a:bodyPr/>
          <a:p/>
        </p:txBody>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Client IP parsed by hand from X-Forwarded-For</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txBody>
          <a:bodyPr/>
          <a:p/>
        </p:txBody>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Trusted-proxy configuration</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txBody>
          <a:bodyPr/>
          <a:p/>
        </p:txBody>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txBody>
          <a:bodyPr/>
          <a:p/>
        </p:txBody>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Any role can create bookings; unmatched paths open</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txBody>
          <a:bodyPr/>
          <a:p/>
        </p:txBody>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CUSTOMER rule; fail closed</a:t>
            </a:r>
            <a:endParaRPr lang="en-US" sz="1200" dirty="0"/>
          </a:p>
        </p:txBody>
      </p:sp>
      <p:sp>
        <p:nvSpPr>
          <p:cNvPr id="56" name="Shape 54"/>
          <p:cNvSpPr/>
          <p:nvPr/>
        </p:nvSpPr>
        <p:spPr>
          <a:xfrm>
            <a:off x="812780" y="4097830"/>
            <a:ext cx="10566136" cy="290704"/>
          </a:xfrm>
          <a:prstGeom prst="rect">
            <a:avLst/>
          </a:prstGeom>
          <a:solidFill>
            <a:srgbClr val="EEF2F9"/>
          </a:solidFill>
          <a:ln/>
        </p:spPr>
        <p:txBody>
          <a:bodyPr/>
          <a:p/>
        </p:txBody>
      </p:sp>
      <p:sp>
        <p:nvSpPr>
          <p:cNvPr id="57" name="Shape 55"/>
          <p:cNvSpPr/>
          <p:nvPr/>
        </p:nvSpPr>
        <p:spPr>
          <a:xfrm>
            <a:off x="812780" y="4385359"/>
            <a:ext cx="1267885" cy="63"/>
          </a:xfrm>
          <a:prstGeom prst="line">
            <a:avLst/>
          </a:prstGeom>
          <a:noFill/>
          <a:ln w="6350">
            <a:solidFill>
              <a:srgbClr val="D5DEEC"/>
            </a:solidFill>
            <a:prstDash val="solid"/>
          </a:ln>
        </p:spPr>
        <p:txBody>
          <a:bodyPr/>
          <a:p/>
        </p:txBody>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txBody>
          <a:bodyPr/>
          <a:p/>
        </p:txBody>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Tracked bin/, crash logs and scratch files</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txBody>
          <a:bodyPr/>
          <a:p/>
        </p:txBody>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git rm; extend .gitignore</a:t>
            </a:r>
            <a:endParaRPr lang="en-US" sz="1200" dirty="0"/>
          </a:p>
        </p:txBody>
      </p:sp>
      <p:sp>
        <p:nvSpPr>
          <p:cNvPr id="63" name="Shape 61"/>
          <p:cNvSpPr/>
          <p:nvPr/>
        </p:nvSpPr>
        <p:spPr>
          <a:xfrm>
            <a:off x="812780" y="4676063"/>
            <a:ext cx="1267885" cy="63"/>
          </a:xfrm>
          <a:prstGeom prst="line">
            <a:avLst/>
          </a:prstGeom>
          <a:noFill/>
          <a:ln w="6350">
            <a:solidFill>
              <a:srgbClr val="D5DEEC"/>
            </a:solidFill>
            <a:prstDash val="solid"/>
          </a:ln>
        </p:spPr>
        <p:txBody>
          <a:bodyPr/>
          <a:p/>
        </p:txBody>
      </p:sp>
      <p:sp>
        <p:nvSpPr>
          <p:cNvPr id="64" name="Text 62"/>
          <p:cNvSpPr txBox="1"/>
          <p:nvPr/>
        </p:nvSpPr>
        <p:spPr>
          <a:xfrm>
            <a:off x="904217" y="444187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65" name="Shape 63"/>
          <p:cNvSpPr/>
          <p:nvPr/>
        </p:nvSpPr>
        <p:spPr>
          <a:xfrm>
            <a:off x="2080664" y="4676063"/>
            <a:ext cx="5494399" cy="63"/>
          </a:xfrm>
          <a:prstGeom prst="line">
            <a:avLst/>
          </a:prstGeom>
          <a:noFill/>
          <a:ln w="6350">
            <a:solidFill>
              <a:srgbClr val="D5DEEC"/>
            </a:solidFill>
            <a:prstDash val="solid"/>
          </a:ln>
        </p:spPr>
        <p:txBody>
          <a:bodyPr/>
          <a:p/>
        </p:txBody>
      </p:sp>
      <p:sp>
        <p:nvSpPr>
          <p:cNvPr id="66" name="Text 64"/>
          <p:cNvSpPr txBox="1"/>
          <p:nvPr/>
        </p:nvSpPr>
        <p:spPr>
          <a:xfrm>
            <a:off x="2172102" y="444187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Android allowBackup on, minify off</a:t>
            </a:r>
            <a:endParaRPr lang="en-US" sz="1200" dirty="0"/>
          </a:p>
        </p:txBody>
      </p:sp>
      <p:sp>
        <p:nvSpPr>
          <p:cNvPr id="67" name="Shape 65"/>
          <p:cNvSpPr/>
          <p:nvPr/>
        </p:nvSpPr>
        <p:spPr>
          <a:xfrm>
            <a:off x="7575063" y="4676063"/>
            <a:ext cx="3803853" cy="63"/>
          </a:xfrm>
          <a:prstGeom prst="line">
            <a:avLst/>
          </a:prstGeom>
          <a:noFill/>
          <a:ln w="6350">
            <a:solidFill>
              <a:srgbClr val="D5DEEC"/>
            </a:solidFill>
            <a:prstDash val="solid"/>
          </a:ln>
        </p:spPr>
        <p:txBody>
          <a:bodyPr/>
          <a:p/>
        </p:txBody>
      </p:sp>
      <p:sp>
        <p:nvSpPr>
          <p:cNvPr id="68" name="Text 66"/>
          <p:cNvSpPr txBox="1"/>
          <p:nvPr/>
        </p:nvSpPr>
        <p:spPr>
          <a:xfrm>
            <a:off x="7666501" y="444187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Disable backup; enable R8</a:t>
            </a:r>
            <a:endParaRPr lang="en-US" sz="1200" dirty="0"/>
          </a:p>
        </p:txBody>
      </p:sp>
      <p:sp>
        <p:nvSpPr>
          <p:cNvPr id="69" name="Text 6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70" name="Text 6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HARDENING · STEP BY STEP</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Eight steps to a launch-ready security posture</a:t>
            </a:r>
            <a:endParaRPr lang="en-US" sz="3000" dirty="0"/>
          </a:p>
        </p:txBody>
      </p:sp>
      <p:sp>
        <p:nvSpPr>
          <p:cNvPr id="4" name="Shape 2"/>
          <p:cNvSpPr/>
          <p:nvPr/>
        </p:nvSpPr>
        <p:spPr>
          <a:xfrm>
            <a:off x="812780" y="1775376"/>
            <a:ext cx="2536762" cy="1601251"/>
          </a:xfrm>
          <a:prstGeom prst="roundRect">
            <a:avLst>
              <a:gd name="adj" fmla="val 6345"/>
            </a:avLst>
          </a:prstGeom>
          <a:solidFill>
            <a:srgbClr val="FCFDFF"/>
          </a:solidFill>
          <a:ln w="6350">
            <a:solidFill>
              <a:srgbClr val="D5DEEC"/>
            </a:solidFill>
            <a:prstDash val="solid"/>
          </a:ln>
        </p:spPr>
        <p:txBody>
          <a:bodyPr/>
          <a:p/>
        </p:txBody>
      </p:sp>
      <p:sp>
        <p:nvSpPr>
          <p:cNvPr id="5" name="Shape 3"/>
          <p:cNvSpPr/>
          <p:nvPr/>
        </p:nvSpPr>
        <p:spPr>
          <a:xfrm>
            <a:off x="812780" y="1775376"/>
            <a:ext cx="2536762" cy="38099"/>
          </a:xfrm>
          <a:prstGeom prst="roundRect">
            <a:avLst>
              <a:gd name="adj" fmla="val 50000"/>
            </a:avLst>
          </a:prstGeom>
          <a:solidFill>
            <a:srgbClr val="C0352B"/>
          </a:solidFill>
          <a:ln/>
        </p:spPr>
        <p:txBody>
          <a:bodyPr/>
          <a:p/>
        </p:txBody>
      </p:sp>
      <p:sp>
        <p:nvSpPr>
          <p:cNvPr id="6" name="Shape 4"/>
          <p:cNvSpPr/>
          <p:nvPr/>
        </p:nvSpPr>
        <p:spPr>
          <a:xfrm>
            <a:off x="958826" y="1953171"/>
            <a:ext cx="304792" cy="304792"/>
          </a:xfrm>
          <a:prstGeom prst="ellipse">
            <a:avLst/>
          </a:prstGeom>
          <a:solidFill>
            <a:srgbClr val="FBE4E2"/>
          </a:solidFill>
          <a:ln/>
        </p:spPr>
        <p:txBody>
          <a:bodyPr/>
          <a:p/>
        </p:txBody>
      </p:sp>
      <p:pic>
        <p:nvPicPr>
          <p:cNvPr id="7" name="Image 0" descr="preencoded.png">    </p:cNvPr>
          <p:cNvPicPr>
            <a:picLocks noChangeAspect="1"/>
          </p:cNvPicPr>
          <p:nvPr/>
        </p:nvPicPr>
        <p:blipFill>
          <a:blip r:embed="rId1"/>
          <a:stretch>
            <a:fillRect/>
          </a:stretch>
        </p:blipFill>
        <p:spPr>
          <a:xfrm>
            <a:off x="1028674" y="2023020"/>
            <a:ext cx="165096" cy="165096"/>
          </a:xfrm>
          <a:prstGeom prst="rect">
            <a:avLst/>
          </a:prstGeom>
        </p:spPr>
      </p:pic>
      <p:sp>
        <p:nvSpPr>
          <p:cNvPr id="8" name="Text 5"/>
          <p:cNvSpPr txBox="1"/>
          <p:nvPr/>
        </p:nvSpPr>
        <p:spPr>
          <a:xfrm>
            <a:off x="1339817" y="1998910"/>
            <a:ext cx="10243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01 · today</a:t>
            </a:r>
            <a:endParaRPr lang="en-US" sz="1200" dirty="0"/>
          </a:p>
        </p:txBody>
      </p:sp>
      <p:sp>
        <p:nvSpPr>
          <p:cNvPr id="9" name="Text 6"/>
          <p:cNvSpPr txBox="1"/>
          <p:nvPr/>
        </p:nvSpPr>
        <p:spPr>
          <a:xfrm>
            <a:off x="958826"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Rotate</a:t>
            </a:r>
            <a:endParaRPr lang="en-US" sz="1500" dirty="0"/>
          </a:p>
        </p:txBody>
      </p:sp>
      <p:sp>
        <p:nvSpPr>
          <p:cNvPr id="10" name="Text 7"/>
          <p:cNvSpPr txBox="1"/>
          <p:nvPr/>
        </p:nvSpPr>
        <p:spPr>
          <a:xfrm>
            <a:off x="958826" y="2613555"/>
            <a:ext cx="2514029"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New JWT, internal, KMS and webhook secrets; purge 1b5656d</a:t>
            </a:r>
            <a:endParaRPr lang="en-US" sz="1200" dirty="0"/>
          </a:p>
        </p:txBody>
      </p:sp>
      <p:sp>
        <p:nvSpPr>
          <p:cNvPr id="11" name="Shape 8"/>
          <p:cNvSpPr/>
          <p:nvPr/>
        </p:nvSpPr>
        <p:spPr>
          <a:xfrm>
            <a:off x="3489238" y="1775376"/>
            <a:ext cx="2536762" cy="1601251"/>
          </a:xfrm>
          <a:prstGeom prst="roundRect">
            <a:avLst>
              <a:gd name="adj" fmla="val 6345"/>
            </a:avLst>
          </a:prstGeom>
          <a:solidFill>
            <a:srgbClr val="FCFDFF"/>
          </a:solidFill>
          <a:ln w="6350">
            <a:solidFill>
              <a:srgbClr val="D5DEEC"/>
            </a:solidFill>
            <a:prstDash val="solid"/>
          </a:ln>
        </p:spPr>
        <p:txBody>
          <a:bodyPr/>
          <a:p/>
        </p:txBody>
      </p:sp>
      <p:sp>
        <p:nvSpPr>
          <p:cNvPr id="12" name="Shape 9"/>
          <p:cNvSpPr/>
          <p:nvPr/>
        </p:nvSpPr>
        <p:spPr>
          <a:xfrm>
            <a:off x="3489238" y="1775376"/>
            <a:ext cx="2536762" cy="38099"/>
          </a:xfrm>
          <a:prstGeom prst="roundRect">
            <a:avLst>
              <a:gd name="adj" fmla="val 50000"/>
            </a:avLst>
          </a:prstGeom>
          <a:solidFill>
            <a:srgbClr val="B4530F"/>
          </a:solidFill>
          <a:ln/>
        </p:spPr>
        <p:txBody>
          <a:bodyPr/>
          <a:p/>
        </p:txBody>
      </p:sp>
      <p:sp>
        <p:nvSpPr>
          <p:cNvPr id="13" name="Shape 10"/>
          <p:cNvSpPr/>
          <p:nvPr/>
        </p:nvSpPr>
        <p:spPr>
          <a:xfrm>
            <a:off x="3635284" y="1953171"/>
            <a:ext cx="304792" cy="304792"/>
          </a:xfrm>
          <a:prstGeom prst="ellipse">
            <a:avLst/>
          </a:prstGeom>
          <a:solidFill>
            <a:srgbClr val="FCEBDD"/>
          </a:solidFill>
          <a:ln/>
        </p:spPr>
        <p:txBody>
          <a:bodyPr/>
          <a:p/>
        </p:txBody>
      </p:sp>
      <p:pic>
        <p:nvPicPr>
          <p:cNvPr id="14" name="Image 1" descr="preencoded.png">    </p:cNvPr>
          <p:cNvPicPr>
            <a:picLocks noChangeAspect="1"/>
          </p:cNvPicPr>
          <p:nvPr/>
        </p:nvPicPr>
        <p:blipFill>
          <a:blip r:embed="rId2"/>
          <a:stretch>
            <a:fillRect/>
          </a:stretch>
        </p:blipFill>
        <p:spPr>
          <a:xfrm>
            <a:off x="3705132" y="2023020"/>
            <a:ext cx="165096" cy="165096"/>
          </a:xfrm>
          <a:prstGeom prst="rect">
            <a:avLst/>
          </a:prstGeom>
        </p:spPr>
      </p:pic>
      <p:sp>
        <p:nvSpPr>
          <p:cNvPr id="15" name="Text 11"/>
          <p:cNvSpPr txBox="1"/>
          <p:nvPr/>
        </p:nvSpPr>
        <p:spPr>
          <a:xfrm>
            <a:off x="4016275"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02</a:t>
            </a:r>
            <a:endParaRPr lang="en-US" sz="1200" dirty="0"/>
          </a:p>
        </p:txBody>
      </p:sp>
      <p:sp>
        <p:nvSpPr>
          <p:cNvPr id="16" name="Text 12"/>
          <p:cNvSpPr txBox="1"/>
          <p:nvPr/>
        </p:nvSpPr>
        <p:spPr>
          <a:xfrm>
            <a:off x="3635284"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Identity</a:t>
            </a:r>
            <a:endParaRPr lang="en-US" sz="1500" dirty="0"/>
          </a:p>
        </p:txBody>
      </p:sp>
      <p:sp>
        <p:nvSpPr>
          <p:cNvPr id="17" name="Text 13"/>
          <p:cNvSpPr txBox="1"/>
          <p:nvPr/>
        </p:nvSpPr>
        <p:spPr>
          <a:xfrm>
            <a:off x="3635284"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RS256 with JWKS, iss and aud, refresh cookie, per-IP limits</a:t>
            </a:r>
            <a:endParaRPr lang="en-US" sz="1200" dirty="0"/>
          </a:p>
        </p:txBody>
      </p:sp>
      <p:sp>
        <p:nvSpPr>
          <p:cNvPr id="18" name="Shape 14"/>
          <p:cNvSpPr/>
          <p:nvPr/>
        </p:nvSpPr>
        <p:spPr>
          <a:xfrm>
            <a:off x="6165696" y="1775376"/>
            <a:ext cx="2536762" cy="1601251"/>
          </a:xfrm>
          <a:prstGeom prst="roundRect">
            <a:avLst>
              <a:gd name="adj" fmla="val 6345"/>
            </a:avLst>
          </a:prstGeom>
          <a:solidFill>
            <a:srgbClr val="FCFDFF"/>
          </a:solidFill>
          <a:ln w="6350">
            <a:solidFill>
              <a:srgbClr val="D5DEEC"/>
            </a:solidFill>
            <a:prstDash val="solid"/>
          </a:ln>
        </p:spPr>
        <p:txBody>
          <a:bodyPr/>
          <a:p/>
        </p:txBody>
      </p:sp>
      <p:sp>
        <p:nvSpPr>
          <p:cNvPr id="19" name="Shape 15"/>
          <p:cNvSpPr/>
          <p:nvPr/>
        </p:nvSpPr>
        <p:spPr>
          <a:xfrm>
            <a:off x="6165696" y="1775376"/>
            <a:ext cx="2536762" cy="38099"/>
          </a:xfrm>
          <a:prstGeom prst="roundRect">
            <a:avLst>
              <a:gd name="adj" fmla="val 50000"/>
            </a:avLst>
          </a:prstGeom>
          <a:solidFill>
            <a:srgbClr val="B4530F"/>
          </a:solidFill>
          <a:ln/>
        </p:spPr>
        <p:txBody>
          <a:bodyPr/>
          <a:p/>
        </p:txBody>
      </p:sp>
      <p:sp>
        <p:nvSpPr>
          <p:cNvPr id="20" name="Shape 16"/>
          <p:cNvSpPr/>
          <p:nvPr/>
        </p:nvSpPr>
        <p:spPr>
          <a:xfrm>
            <a:off x="6311742" y="1953171"/>
            <a:ext cx="304792" cy="304792"/>
          </a:xfrm>
          <a:prstGeom prst="ellipse">
            <a:avLst/>
          </a:prstGeom>
          <a:solidFill>
            <a:srgbClr val="FCEBDD"/>
          </a:solidFill>
          <a:ln/>
        </p:spPr>
        <p:txBody>
          <a:bodyPr/>
          <a:p/>
        </p:txBody>
      </p:sp>
      <p:pic>
        <p:nvPicPr>
          <p:cNvPr id="21" name="Image 2" descr="preencoded.png">    </p:cNvPr>
          <p:cNvPicPr>
            <a:picLocks noChangeAspect="1"/>
          </p:cNvPicPr>
          <p:nvPr/>
        </p:nvPicPr>
        <p:blipFill>
          <a:blip r:embed="rId3"/>
          <a:stretch>
            <a:fillRect/>
          </a:stretch>
        </p:blipFill>
        <p:spPr>
          <a:xfrm>
            <a:off x="6381590" y="2023020"/>
            <a:ext cx="165096" cy="165096"/>
          </a:xfrm>
          <a:prstGeom prst="rect">
            <a:avLst/>
          </a:prstGeom>
        </p:spPr>
      </p:pic>
      <p:sp>
        <p:nvSpPr>
          <p:cNvPr id="22" name="Text 17"/>
          <p:cNvSpPr txBox="1"/>
          <p:nvPr/>
        </p:nvSpPr>
        <p:spPr>
          <a:xfrm>
            <a:off x="6692733"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03</a:t>
            </a:r>
            <a:endParaRPr lang="en-US" sz="1200" dirty="0"/>
          </a:p>
        </p:txBody>
      </p:sp>
      <p:sp>
        <p:nvSpPr>
          <p:cNvPr id="23" name="Text 18"/>
          <p:cNvSpPr txBox="1"/>
          <p:nvPr/>
        </p:nvSpPr>
        <p:spPr>
          <a:xfrm>
            <a:off x="6311742"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Edge</a:t>
            </a:r>
            <a:endParaRPr lang="en-US" sz="1500" dirty="0"/>
          </a:p>
        </p:txBody>
      </p:sp>
      <p:sp>
        <p:nvSpPr>
          <p:cNvPr id="24" name="Text 19"/>
          <p:cNvSpPr txBox="1"/>
          <p:nvPr/>
        </p:nvSpPr>
        <p:spPr>
          <a:xfrm>
            <a:off x="6311742"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WAF on the ALB, CSP and HSTS, CORS to app origins</a:t>
            </a:r>
            <a:endParaRPr lang="en-US" sz="1200" dirty="0"/>
          </a:p>
        </p:txBody>
      </p:sp>
      <p:sp>
        <p:nvSpPr>
          <p:cNvPr id="25" name="Shape 20"/>
          <p:cNvSpPr/>
          <p:nvPr/>
        </p:nvSpPr>
        <p:spPr>
          <a:xfrm>
            <a:off x="8842154" y="1775376"/>
            <a:ext cx="2536762" cy="1601251"/>
          </a:xfrm>
          <a:prstGeom prst="roundRect">
            <a:avLst>
              <a:gd name="adj" fmla="val 6345"/>
            </a:avLst>
          </a:prstGeom>
          <a:solidFill>
            <a:srgbClr val="FCFDFF"/>
          </a:solidFill>
          <a:ln w="6350">
            <a:solidFill>
              <a:srgbClr val="D5DEEC"/>
            </a:solidFill>
            <a:prstDash val="solid"/>
          </a:ln>
        </p:spPr>
        <p:txBody>
          <a:bodyPr/>
          <a:p/>
        </p:txBody>
      </p:sp>
      <p:sp>
        <p:nvSpPr>
          <p:cNvPr id="26" name="Shape 21"/>
          <p:cNvSpPr/>
          <p:nvPr/>
        </p:nvSpPr>
        <p:spPr>
          <a:xfrm>
            <a:off x="8842154" y="1775376"/>
            <a:ext cx="2536762" cy="38099"/>
          </a:xfrm>
          <a:prstGeom prst="roundRect">
            <a:avLst>
              <a:gd name="adj" fmla="val 50000"/>
            </a:avLst>
          </a:prstGeom>
          <a:solidFill>
            <a:srgbClr val="B4530F"/>
          </a:solidFill>
          <a:ln/>
        </p:spPr>
        <p:txBody>
          <a:bodyPr/>
          <a:p/>
        </p:txBody>
      </p:sp>
      <p:sp>
        <p:nvSpPr>
          <p:cNvPr id="27" name="Shape 22"/>
          <p:cNvSpPr/>
          <p:nvPr/>
        </p:nvSpPr>
        <p:spPr>
          <a:xfrm>
            <a:off x="8988200" y="1953171"/>
            <a:ext cx="304792" cy="304792"/>
          </a:xfrm>
          <a:prstGeom prst="ellipse">
            <a:avLst/>
          </a:prstGeom>
          <a:solidFill>
            <a:srgbClr val="FCEBDD"/>
          </a:solidFill>
          <a:ln/>
        </p:spPr>
        <p:txBody>
          <a:bodyPr/>
          <a:p/>
        </p:txBody>
      </p:sp>
      <p:pic>
        <p:nvPicPr>
          <p:cNvPr id="28" name="Image 3" descr="preencoded.png">    </p:cNvPr>
          <p:cNvPicPr>
            <a:picLocks noChangeAspect="1"/>
          </p:cNvPicPr>
          <p:nvPr/>
        </p:nvPicPr>
        <p:blipFill>
          <a:blip r:embed="rId4"/>
          <a:stretch>
            <a:fillRect/>
          </a:stretch>
        </p:blipFill>
        <p:spPr>
          <a:xfrm>
            <a:off x="9058049" y="2023020"/>
            <a:ext cx="165096" cy="165096"/>
          </a:xfrm>
          <a:prstGeom prst="rect">
            <a:avLst/>
          </a:prstGeom>
        </p:spPr>
      </p:pic>
      <p:sp>
        <p:nvSpPr>
          <p:cNvPr id="29" name="Text 23"/>
          <p:cNvSpPr txBox="1"/>
          <p:nvPr/>
        </p:nvSpPr>
        <p:spPr>
          <a:xfrm>
            <a:off x="9369191"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04</a:t>
            </a:r>
            <a:endParaRPr lang="en-US" sz="1200" dirty="0"/>
          </a:p>
        </p:txBody>
      </p:sp>
      <p:sp>
        <p:nvSpPr>
          <p:cNvPr id="30" name="Text 24"/>
          <p:cNvSpPr txBox="1"/>
          <p:nvPr/>
        </p:nvSpPr>
        <p:spPr>
          <a:xfrm>
            <a:off x="8988200"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Network</a:t>
            </a:r>
            <a:endParaRPr lang="en-US" sz="1500" dirty="0"/>
          </a:p>
        </p:txBody>
      </p:sp>
      <p:sp>
        <p:nvSpPr>
          <p:cNvPr id="31" name="Text 25"/>
          <p:cNvSpPr txBox="1"/>
          <p:nvPr/>
        </p:nvSpPr>
        <p:spPr>
          <a:xfrm>
            <a:off x="8988200"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Private EKS endpoint, enforced policies, RDS TLS</a:t>
            </a:r>
            <a:endParaRPr lang="en-US" sz="1200" dirty="0"/>
          </a:p>
        </p:txBody>
      </p:sp>
      <p:sp>
        <p:nvSpPr>
          <p:cNvPr id="32" name="Shape 26"/>
          <p:cNvSpPr/>
          <p:nvPr/>
        </p:nvSpPr>
        <p:spPr>
          <a:xfrm>
            <a:off x="812780" y="3516324"/>
            <a:ext cx="2536762" cy="1395576"/>
          </a:xfrm>
          <a:prstGeom prst="roundRect">
            <a:avLst>
              <a:gd name="adj" fmla="val 7280"/>
            </a:avLst>
          </a:prstGeom>
          <a:solidFill>
            <a:srgbClr val="FCFDFF"/>
          </a:solidFill>
          <a:ln w="6350">
            <a:solidFill>
              <a:srgbClr val="D5DEEC"/>
            </a:solidFill>
            <a:prstDash val="solid"/>
          </a:ln>
        </p:spPr>
        <p:txBody>
          <a:bodyPr/>
          <a:p/>
        </p:txBody>
      </p:sp>
      <p:sp>
        <p:nvSpPr>
          <p:cNvPr id="33" name="Shape 27"/>
          <p:cNvSpPr/>
          <p:nvPr/>
        </p:nvSpPr>
        <p:spPr>
          <a:xfrm>
            <a:off x="812780" y="3516324"/>
            <a:ext cx="2536762" cy="38099"/>
          </a:xfrm>
          <a:prstGeom prst="roundRect">
            <a:avLst>
              <a:gd name="adj" fmla="val 50000"/>
            </a:avLst>
          </a:prstGeom>
          <a:solidFill>
            <a:srgbClr val="2454C5"/>
          </a:solidFill>
          <a:ln/>
        </p:spPr>
        <p:txBody>
          <a:bodyPr/>
          <a:p/>
        </p:txBody>
      </p:sp>
      <p:sp>
        <p:nvSpPr>
          <p:cNvPr id="34" name="Shape 28"/>
          <p:cNvSpPr/>
          <p:nvPr/>
        </p:nvSpPr>
        <p:spPr>
          <a:xfrm>
            <a:off x="958826" y="3694119"/>
            <a:ext cx="304792" cy="304792"/>
          </a:xfrm>
          <a:prstGeom prst="ellipse">
            <a:avLst/>
          </a:prstGeom>
          <a:solidFill>
            <a:srgbClr val="E3EBFA"/>
          </a:solidFill>
          <a:ln/>
        </p:spPr>
        <p:txBody>
          <a:bodyPr/>
          <a:p/>
        </p:txBody>
      </p:sp>
      <p:pic>
        <p:nvPicPr>
          <p:cNvPr id="35" name="Image 4" descr="preencoded.png">    </p:cNvPr>
          <p:cNvPicPr>
            <a:picLocks noChangeAspect="1"/>
          </p:cNvPicPr>
          <p:nvPr/>
        </p:nvPicPr>
        <p:blipFill>
          <a:blip r:embed="rId5"/>
          <a:stretch>
            <a:fillRect/>
          </a:stretch>
        </p:blipFill>
        <p:spPr>
          <a:xfrm>
            <a:off x="1028674" y="3763968"/>
            <a:ext cx="165096" cy="165096"/>
          </a:xfrm>
          <a:prstGeom prst="rect">
            <a:avLst/>
          </a:prstGeom>
        </p:spPr>
      </p:pic>
      <p:sp>
        <p:nvSpPr>
          <p:cNvPr id="36" name="Text 29"/>
          <p:cNvSpPr txBox="1"/>
          <p:nvPr/>
        </p:nvSpPr>
        <p:spPr>
          <a:xfrm>
            <a:off x="1339817"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05</a:t>
            </a:r>
            <a:endParaRPr lang="en-US" sz="1200" dirty="0"/>
          </a:p>
        </p:txBody>
      </p:sp>
      <p:sp>
        <p:nvSpPr>
          <p:cNvPr id="37" name="Text 30"/>
          <p:cNvSpPr txBox="1"/>
          <p:nvPr/>
        </p:nvSpPr>
        <p:spPr>
          <a:xfrm>
            <a:off x="958826"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Privilege</a:t>
            </a:r>
            <a:endParaRPr lang="en-US" sz="1500" dirty="0"/>
          </a:p>
        </p:txBody>
      </p:sp>
      <p:sp>
        <p:nvSpPr>
          <p:cNvPr id="38" name="Text 31"/>
          <p:cNvSpPr txBox="1"/>
          <p:nvPr/>
        </p:nvSpPr>
        <p:spPr>
          <a:xfrm>
            <a:off x="958826"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Per-service secret policies and keys; IMDSv2</a:t>
            </a:r>
            <a:endParaRPr lang="en-US" sz="1200" dirty="0"/>
          </a:p>
        </p:txBody>
      </p:sp>
      <p:sp>
        <p:nvSpPr>
          <p:cNvPr id="39" name="Shape 32"/>
          <p:cNvSpPr/>
          <p:nvPr/>
        </p:nvSpPr>
        <p:spPr>
          <a:xfrm>
            <a:off x="3489238" y="3516324"/>
            <a:ext cx="2536762" cy="1395576"/>
          </a:xfrm>
          <a:prstGeom prst="roundRect">
            <a:avLst>
              <a:gd name="adj" fmla="val 7280"/>
            </a:avLst>
          </a:prstGeom>
          <a:solidFill>
            <a:srgbClr val="FCFDFF"/>
          </a:solidFill>
          <a:ln w="6350">
            <a:solidFill>
              <a:srgbClr val="D5DEEC"/>
            </a:solidFill>
            <a:prstDash val="solid"/>
          </a:ln>
        </p:spPr>
        <p:txBody>
          <a:bodyPr/>
          <a:p/>
        </p:txBody>
      </p:sp>
      <p:sp>
        <p:nvSpPr>
          <p:cNvPr id="40" name="Shape 33"/>
          <p:cNvSpPr/>
          <p:nvPr/>
        </p:nvSpPr>
        <p:spPr>
          <a:xfrm>
            <a:off x="3489238" y="3516324"/>
            <a:ext cx="2536762" cy="38099"/>
          </a:xfrm>
          <a:prstGeom prst="roundRect">
            <a:avLst>
              <a:gd name="adj" fmla="val 50000"/>
            </a:avLst>
          </a:prstGeom>
          <a:solidFill>
            <a:srgbClr val="2454C5"/>
          </a:solidFill>
          <a:ln/>
        </p:spPr>
        <p:txBody>
          <a:bodyPr/>
          <a:p/>
        </p:txBody>
      </p:sp>
      <p:sp>
        <p:nvSpPr>
          <p:cNvPr id="41" name="Shape 34"/>
          <p:cNvSpPr/>
          <p:nvPr/>
        </p:nvSpPr>
        <p:spPr>
          <a:xfrm>
            <a:off x="3635284" y="3694119"/>
            <a:ext cx="304792" cy="304792"/>
          </a:xfrm>
          <a:prstGeom prst="ellipse">
            <a:avLst/>
          </a:prstGeom>
          <a:solidFill>
            <a:srgbClr val="E3EBFA"/>
          </a:solidFill>
          <a:ln/>
        </p:spPr>
        <p:txBody>
          <a:bodyPr/>
          <a:p/>
        </p:txBody>
      </p:sp>
      <p:pic>
        <p:nvPicPr>
          <p:cNvPr id="42" name="Image 5" descr="preencoded.png">    </p:cNvPr>
          <p:cNvPicPr>
            <a:picLocks noChangeAspect="1"/>
          </p:cNvPicPr>
          <p:nvPr/>
        </p:nvPicPr>
        <p:blipFill>
          <a:blip r:embed="rId6"/>
          <a:stretch>
            <a:fillRect/>
          </a:stretch>
        </p:blipFill>
        <p:spPr>
          <a:xfrm>
            <a:off x="3705132" y="3763968"/>
            <a:ext cx="165096" cy="165096"/>
          </a:xfrm>
          <a:prstGeom prst="rect">
            <a:avLst/>
          </a:prstGeom>
        </p:spPr>
      </p:pic>
      <p:sp>
        <p:nvSpPr>
          <p:cNvPr id="43" name="Text 35"/>
          <p:cNvSpPr txBox="1"/>
          <p:nvPr/>
        </p:nvSpPr>
        <p:spPr>
          <a:xfrm>
            <a:off x="4016275"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06</a:t>
            </a:r>
            <a:endParaRPr lang="en-US" sz="1200" dirty="0"/>
          </a:p>
        </p:txBody>
      </p:sp>
      <p:sp>
        <p:nvSpPr>
          <p:cNvPr id="44" name="Text 36"/>
          <p:cNvSpPr txBox="1"/>
          <p:nvPr/>
        </p:nvSpPr>
        <p:spPr>
          <a:xfrm>
            <a:off x="3635284"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Money</a:t>
            </a:r>
            <a:endParaRPr lang="en-US" sz="1500" dirty="0"/>
          </a:p>
        </p:txBody>
      </p:sp>
      <p:sp>
        <p:nvSpPr>
          <p:cNvPr id="45" name="Text 37"/>
          <p:cNvSpPr txBox="1"/>
          <p:nvPr/>
        </p:nvSpPr>
        <p:spPr>
          <a:xfrm>
            <a:off x="3635284"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Coupons, refund debit, payouts, ID ownership</a:t>
            </a:r>
            <a:endParaRPr lang="en-US" sz="1200" dirty="0"/>
          </a:p>
        </p:txBody>
      </p:sp>
      <p:sp>
        <p:nvSpPr>
          <p:cNvPr id="46" name="Shape 38"/>
          <p:cNvSpPr/>
          <p:nvPr/>
        </p:nvSpPr>
        <p:spPr>
          <a:xfrm>
            <a:off x="6165696" y="3516324"/>
            <a:ext cx="2536762" cy="1395576"/>
          </a:xfrm>
          <a:prstGeom prst="roundRect">
            <a:avLst>
              <a:gd name="adj" fmla="val 7280"/>
            </a:avLst>
          </a:prstGeom>
          <a:solidFill>
            <a:srgbClr val="FCFDFF"/>
          </a:solidFill>
          <a:ln w="6350">
            <a:solidFill>
              <a:srgbClr val="D5DEEC"/>
            </a:solidFill>
            <a:prstDash val="solid"/>
          </a:ln>
        </p:spPr>
        <p:txBody>
          <a:bodyPr/>
          <a:p/>
        </p:txBody>
      </p:sp>
      <p:sp>
        <p:nvSpPr>
          <p:cNvPr id="47" name="Shape 39"/>
          <p:cNvSpPr/>
          <p:nvPr/>
        </p:nvSpPr>
        <p:spPr>
          <a:xfrm>
            <a:off x="6165696" y="3516324"/>
            <a:ext cx="2536762" cy="38099"/>
          </a:xfrm>
          <a:prstGeom prst="roundRect">
            <a:avLst>
              <a:gd name="adj" fmla="val 50000"/>
            </a:avLst>
          </a:prstGeom>
          <a:solidFill>
            <a:srgbClr val="2454C5"/>
          </a:solidFill>
          <a:ln/>
        </p:spPr>
        <p:txBody>
          <a:bodyPr/>
          <a:p/>
        </p:txBody>
      </p:sp>
      <p:sp>
        <p:nvSpPr>
          <p:cNvPr id="48" name="Shape 40"/>
          <p:cNvSpPr/>
          <p:nvPr/>
        </p:nvSpPr>
        <p:spPr>
          <a:xfrm>
            <a:off x="6311742" y="3694119"/>
            <a:ext cx="304792" cy="304792"/>
          </a:xfrm>
          <a:prstGeom prst="ellipse">
            <a:avLst/>
          </a:prstGeom>
          <a:solidFill>
            <a:srgbClr val="E3EBFA"/>
          </a:solidFill>
          <a:ln/>
        </p:spPr>
        <p:txBody>
          <a:bodyPr/>
          <a:p/>
        </p:txBody>
      </p:sp>
      <p:pic>
        <p:nvPicPr>
          <p:cNvPr id="49" name="Image 6" descr="preencoded.png">    </p:cNvPr>
          <p:cNvPicPr>
            <a:picLocks noChangeAspect="1"/>
          </p:cNvPicPr>
          <p:nvPr/>
        </p:nvPicPr>
        <p:blipFill>
          <a:blip r:embed="rId7"/>
          <a:stretch>
            <a:fillRect/>
          </a:stretch>
        </p:blipFill>
        <p:spPr>
          <a:xfrm>
            <a:off x="6381590" y="3763968"/>
            <a:ext cx="165096" cy="165096"/>
          </a:xfrm>
          <a:prstGeom prst="rect">
            <a:avLst/>
          </a:prstGeom>
        </p:spPr>
      </p:pic>
      <p:sp>
        <p:nvSpPr>
          <p:cNvPr id="50" name="Text 41"/>
          <p:cNvSpPr txBox="1"/>
          <p:nvPr/>
        </p:nvSpPr>
        <p:spPr>
          <a:xfrm>
            <a:off x="6692733"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07</a:t>
            </a:r>
            <a:endParaRPr lang="en-US" sz="1200" dirty="0"/>
          </a:p>
        </p:txBody>
      </p:sp>
      <p:sp>
        <p:nvSpPr>
          <p:cNvPr id="51" name="Text 42"/>
          <p:cNvSpPr txBox="1"/>
          <p:nvPr/>
        </p:nvSpPr>
        <p:spPr>
          <a:xfrm>
            <a:off x="6311742"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Pipeline</a:t>
            </a:r>
            <a:endParaRPr lang="en-US" sz="1500" dirty="0"/>
          </a:p>
        </p:txBody>
      </p:sp>
      <p:sp>
        <p:nvSpPr>
          <p:cNvPr id="52" name="Text 43"/>
          <p:cNvSpPr txBox="1"/>
          <p:nvPr/>
        </p:nvSpPr>
        <p:spPr>
          <a:xfrm>
            <a:off x="6311742"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Gateway Boot/Cloud match, SHA pins, IaC and npm scans</a:t>
            </a:r>
            <a:endParaRPr lang="en-US" sz="1200" dirty="0"/>
          </a:p>
        </p:txBody>
      </p:sp>
      <p:sp>
        <p:nvSpPr>
          <p:cNvPr id="53" name="Shape 44"/>
          <p:cNvSpPr/>
          <p:nvPr/>
        </p:nvSpPr>
        <p:spPr>
          <a:xfrm>
            <a:off x="8842154" y="3516324"/>
            <a:ext cx="2536762" cy="1395576"/>
          </a:xfrm>
          <a:prstGeom prst="roundRect">
            <a:avLst>
              <a:gd name="adj" fmla="val 7280"/>
            </a:avLst>
          </a:prstGeom>
          <a:solidFill>
            <a:srgbClr val="FCFDFF"/>
          </a:solidFill>
          <a:ln w="6350">
            <a:solidFill>
              <a:srgbClr val="D5DEEC"/>
            </a:solidFill>
            <a:prstDash val="solid"/>
          </a:ln>
        </p:spPr>
        <p:txBody>
          <a:bodyPr/>
          <a:p/>
        </p:txBody>
      </p:sp>
      <p:sp>
        <p:nvSpPr>
          <p:cNvPr id="54" name="Shape 45"/>
          <p:cNvSpPr/>
          <p:nvPr/>
        </p:nvSpPr>
        <p:spPr>
          <a:xfrm>
            <a:off x="8842154" y="3516324"/>
            <a:ext cx="2536762" cy="38099"/>
          </a:xfrm>
          <a:prstGeom prst="roundRect">
            <a:avLst>
              <a:gd name="adj" fmla="val 50000"/>
            </a:avLst>
          </a:prstGeom>
          <a:solidFill>
            <a:srgbClr val="2E7D4F"/>
          </a:solidFill>
          <a:ln/>
        </p:spPr>
        <p:txBody>
          <a:bodyPr/>
          <a:p/>
        </p:txBody>
      </p:sp>
      <p:sp>
        <p:nvSpPr>
          <p:cNvPr id="55" name="Shape 46"/>
          <p:cNvSpPr/>
          <p:nvPr/>
        </p:nvSpPr>
        <p:spPr>
          <a:xfrm>
            <a:off x="8988200" y="3694119"/>
            <a:ext cx="304792" cy="304792"/>
          </a:xfrm>
          <a:prstGeom prst="ellipse">
            <a:avLst/>
          </a:prstGeom>
          <a:solidFill>
            <a:srgbClr val="E0F2E8"/>
          </a:solidFill>
          <a:ln/>
        </p:spPr>
        <p:txBody>
          <a:bodyPr/>
          <a:p/>
        </p:txBody>
      </p:sp>
      <p:pic>
        <p:nvPicPr>
          <p:cNvPr id="56" name="Image 7" descr="preencoded.png">    </p:cNvPr>
          <p:cNvPicPr>
            <a:picLocks noChangeAspect="1"/>
          </p:cNvPicPr>
          <p:nvPr/>
        </p:nvPicPr>
        <p:blipFill>
          <a:blip r:embed="rId8"/>
          <a:stretch>
            <a:fillRect/>
          </a:stretch>
        </p:blipFill>
        <p:spPr>
          <a:xfrm>
            <a:off x="9058049" y="3763968"/>
            <a:ext cx="165096" cy="165096"/>
          </a:xfrm>
          <a:prstGeom prst="rect">
            <a:avLst/>
          </a:prstGeom>
        </p:spPr>
      </p:pic>
      <p:sp>
        <p:nvSpPr>
          <p:cNvPr id="57" name="Text 47"/>
          <p:cNvSpPr txBox="1"/>
          <p:nvPr/>
        </p:nvSpPr>
        <p:spPr>
          <a:xfrm>
            <a:off x="9369191" y="3739858"/>
            <a:ext cx="921870"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08 · gate</a:t>
            </a:r>
            <a:endParaRPr lang="en-US" sz="1200" dirty="0"/>
          </a:p>
        </p:txBody>
      </p:sp>
      <p:sp>
        <p:nvSpPr>
          <p:cNvPr id="58" name="Text 48"/>
          <p:cNvSpPr txBox="1"/>
          <p:nvPr/>
        </p:nvSpPr>
        <p:spPr>
          <a:xfrm>
            <a:off x="8988200"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Verify</a:t>
            </a:r>
            <a:endParaRPr lang="en-US" sz="1500" dirty="0"/>
          </a:p>
        </p:txBody>
      </p:sp>
      <p:sp>
        <p:nvSpPr>
          <p:cNvPr id="59" name="Text 49"/>
          <p:cNvSpPr txBox="1"/>
          <p:nvPr/>
        </p:nvSpPr>
        <p:spPr>
          <a:xfrm>
            <a:off x="8988200"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Pen-test staging before the first real payment</a:t>
            </a:r>
            <a:endParaRPr lang="en-US" sz="1200" dirty="0"/>
          </a:p>
        </p:txBody>
      </p:sp>
      <p:sp>
        <p:nvSpPr>
          <p:cNvPr id="60" name="Text 5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Ji-Hajoor platform review · Security</a:t>
            </a:r>
            <a:endParaRPr lang="en-US" sz="1200" dirty="0"/>
          </a:p>
        </p:txBody>
      </p:sp>
      <p:sp>
        <p:nvSpPr>
          <p:cNvPr id="61" name="Text 5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F8FAFF"/>
                </a:solidFill>
                <a:latin typeface="Courier New" pitchFamily="34" charset="0"/>
                <a:ea typeface="Courier New" pitchFamily="34" charset="-122"/>
                <a:cs typeface="Courier New" pitchFamily="34" charset="-120"/>
              </a:rPr>
              <a:t>NEXT STEPS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F8FAFF"/>
                </a:solidFill>
                <a:latin typeface="Calibri" pitchFamily="34" charset="0"/>
                <a:ea typeface="Calibri" pitchFamily="34" charset="-122"/>
                <a:cs typeface="Calibri" pitchFamily="34" charset="-120"/>
              </a:rPr>
              <a:t>Fix the secret this week, the edge before launch</a:t>
            </a:r>
            <a:endParaRPr lang="en-US" sz="3000" dirty="0"/>
          </a:p>
        </p:txBody>
      </p:sp>
      <p:sp>
        <p:nvSpPr>
          <p:cNvPr id="4" name="Shape 2"/>
          <p:cNvSpPr/>
          <p:nvPr/>
        </p:nvSpPr>
        <p:spPr>
          <a:xfrm>
            <a:off x="812780" y="1876973"/>
            <a:ext cx="3403515" cy="2125609"/>
          </a:xfrm>
          <a:prstGeom prst="roundRect">
            <a:avLst>
              <a:gd name="adj" fmla="val 5975"/>
            </a:avLst>
          </a:prstGeom>
          <a:solidFill>
            <a:srgbClr val="FFFFFF">
              <a:alpha val="12000"/>
            </a:srgbClr>
          </a:solidFill>
          <a:ln/>
        </p:spPr>
        <p:txBody>
          <a:bodyPr/>
          <a:p/>
        </p:txBody>
      </p:sp>
      <p:pic>
        <p:nvPicPr>
          <p:cNvPr id="5" name="Image 0" descr="preencoded.png">    </p:cNvPr>
          <p:cNvPicPr>
            <a:picLocks noChangeAspect="1"/>
          </p:cNvPicPr>
          <p:nvPr/>
        </p:nvPicPr>
        <p:blipFill>
          <a:blip r:embed="rId2"/>
          <a:stretch>
            <a:fillRect/>
          </a:stretch>
        </p:blipFill>
        <p:spPr>
          <a:xfrm>
            <a:off x="990575" y="2057249"/>
            <a:ext cx="253994" cy="253994"/>
          </a:xfrm>
          <a:prstGeom prst="rect">
            <a:avLst/>
          </a:prstGeom>
        </p:spPr>
      </p:pic>
      <p:sp>
        <p:nvSpPr>
          <p:cNvPr id="6" name="Text 3"/>
          <p:cNvSpPr txBox="1"/>
          <p:nvPr/>
        </p:nvSpPr>
        <p:spPr>
          <a:xfrm>
            <a:off x="1333467" y="2054769"/>
            <a:ext cx="1140336"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This week</a:t>
            </a:r>
            <a:endParaRPr lang="en-US" sz="1700" dirty="0"/>
          </a:p>
        </p:txBody>
      </p:sp>
      <p:sp>
        <p:nvSpPr>
          <p:cNvPr id="7" name="Text 4"/>
          <p:cNvSpPr txBox="1"/>
          <p:nvPr/>
        </p:nvSpPr>
        <p:spPr>
          <a:xfrm>
            <a:off x="1014685" y="2415420"/>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Delete the api_gateway stray text</a:t>
            </a:r>
            <a:endParaRPr lang="en-US" sz="1300" dirty="0"/>
          </a:p>
        </p:txBody>
      </p:sp>
      <p:sp>
        <p:nvSpPr>
          <p:cNvPr id="8" name="Text 5"/>
          <p:cNvSpPr txBox="1"/>
          <p:nvPr/>
        </p:nvSpPr>
        <p:spPr>
          <a:xfrm>
            <a:off x="1014685" y="2709993"/>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Rotate secrets; purge 1b5656d</a:t>
            </a:r>
            <a:endParaRPr lang="en-US" sz="1300" dirty="0"/>
          </a:p>
        </p:txBody>
      </p:sp>
      <p:sp>
        <p:nvSpPr>
          <p:cNvPr id="9" name="Text 6"/>
          <p:cNvSpPr txBox="1"/>
          <p:nvPr/>
        </p:nvSpPr>
        <p:spPr>
          <a:xfrm>
            <a:off x="1014685" y="3004566"/>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Bind local ports to 127.0.0.1</a:t>
            </a:r>
            <a:endParaRPr lang="en-US" sz="1300" dirty="0"/>
          </a:p>
        </p:txBody>
      </p:sp>
      <p:sp>
        <p:nvSpPr>
          <p:cNvPr id="10" name="Text 7"/>
          <p:cNvSpPr txBox="1"/>
          <p:nvPr/>
        </p:nvSpPr>
        <p:spPr>
          <a:xfrm>
            <a:off x="1014685" y="3299139"/>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Align gateway Boot and Cloud</a:t>
            </a:r>
            <a:endParaRPr lang="en-US" sz="1300" dirty="0"/>
          </a:p>
        </p:txBody>
      </p:sp>
      <p:sp>
        <p:nvSpPr>
          <p:cNvPr id="11" name="Shape 8"/>
          <p:cNvSpPr/>
          <p:nvPr/>
        </p:nvSpPr>
        <p:spPr>
          <a:xfrm>
            <a:off x="4394090" y="1876973"/>
            <a:ext cx="3403515" cy="2125609"/>
          </a:xfrm>
          <a:prstGeom prst="roundRect">
            <a:avLst>
              <a:gd name="adj" fmla="val 5975"/>
            </a:avLst>
          </a:prstGeom>
          <a:solidFill>
            <a:srgbClr val="FFFFFF">
              <a:alpha val="12000"/>
            </a:srgbClr>
          </a:solidFill>
          <a:ln/>
        </p:spPr>
        <p:txBody>
          <a:bodyPr/>
          <a:p/>
        </p:txBody>
      </p:sp>
      <p:pic>
        <p:nvPicPr>
          <p:cNvPr id="12" name="Image 1" descr="preencoded.png">    </p:cNvPr>
          <p:cNvPicPr>
            <a:picLocks noChangeAspect="1"/>
          </p:cNvPicPr>
          <p:nvPr/>
        </p:nvPicPr>
        <p:blipFill>
          <a:blip r:embed="rId3"/>
          <a:stretch>
            <a:fillRect/>
          </a:stretch>
        </p:blipFill>
        <p:spPr>
          <a:xfrm>
            <a:off x="4571886" y="2057249"/>
            <a:ext cx="253994" cy="253994"/>
          </a:xfrm>
          <a:prstGeom prst="rect">
            <a:avLst/>
          </a:prstGeom>
        </p:spPr>
      </p:pic>
      <p:sp>
        <p:nvSpPr>
          <p:cNvPr id="13" name="Text 9"/>
          <p:cNvSpPr txBox="1"/>
          <p:nvPr/>
        </p:nvSpPr>
        <p:spPr>
          <a:xfrm>
            <a:off x="4914777" y="2054769"/>
            <a:ext cx="1577047"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Before launch</a:t>
            </a:r>
            <a:endParaRPr lang="en-US" sz="1700" dirty="0"/>
          </a:p>
        </p:txBody>
      </p:sp>
      <p:sp>
        <p:nvSpPr>
          <p:cNvPr id="14" name="Text 10"/>
          <p:cNvSpPr txBox="1"/>
          <p:nvPr/>
        </p:nvSpPr>
        <p:spPr>
          <a:xfrm>
            <a:off x="4595995" y="2415420"/>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Ingress, ECR, OIDC, state</a:t>
            </a:r>
            <a:endParaRPr lang="en-US" sz="1300" dirty="0"/>
          </a:p>
        </p:txBody>
      </p:sp>
      <p:sp>
        <p:nvSpPr>
          <p:cNvPr id="15" name="Text 11"/>
          <p:cNvSpPr txBox="1"/>
          <p:nvPr/>
        </p:nvSpPr>
        <p:spPr>
          <a:xfrm>
            <a:off x="4595995" y="2709993"/>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Secret sync, Kafka/Redis TLS</a:t>
            </a:r>
            <a:endParaRPr lang="en-US" sz="1300" dirty="0"/>
          </a:p>
        </p:txBody>
      </p:sp>
      <p:sp>
        <p:nvSpPr>
          <p:cNvPr id="16" name="Text 12"/>
          <p:cNvSpPr txBox="1"/>
          <p:nvPr/>
        </p:nvSpPr>
        <p:spPr>
          <a:xfrm>
            <a:off x="4595995" y="3004566"/>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RS256, per-IP auth limits</a:t>
            </a:r>
            <a:endParaRPr lang="en-US" sz="1300" dirty="0"/>
          </a:p>
        </p:txBody>
      </p:sp>
      <p:sp>
        <p:nvSpPr>
          <p:cNvPr id="17" name="Text 13"/>
          <p:cNvSpPr txBox="1"/>
          <p:nvPr/>
        </p:nvSpPr>
        <p:spPr>
          <a:xfrm>
            <a:off x="4595995" y="3299139"/>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Coupon, refund-debit, payout fixes</a:t>
            </a:r>
            <a:endParaRPr lang="en-US" sz="1300" dirty="0"/>
          </a:p>
        </p:txBody>
      </p:sp>
      <p:sp>
        <p:nvSpPr>
          <p:cNvPr id="18" name="Text 14"/>
          <p:cNvSpPr txBox="1"/>
          <p:nvPr/>
        </p:nvSpPr>
        <p:spPr>
          <a:xfrm>
            <a:off x="4595995" y="3593712"/>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Migration Job, web hosting</a:t>
            </a:r>
            <a:endParaRPr lang="en-US" sz="1300" dirty="0"/>
          </a:p>
        </p:txBody>
      </p:sp>
      <p:sp>
        <p:nvSpPr>
          <p:cNvPr id="19" name="Shape 15"/>
          <p:cNvSpPr/>
          <p:nvPr/>
        </p:nvSpPr>
        <p:spPr>
          <a:xfrm>
            <a:off x="7975401" y="1876973"/>
            <a:ext cx="3403515" cy="2125609"/>
          </a:xfrm>
          <a:prstGeom prst="roundRect">
            <a:avLst>
              <a:gd name="adj" fmla="val 5975"/>
            </a:avLst>
          </a:prstGeom>
          <a:solidFill>
            <a:srgbClr val="FFFFFF">
              <a:alpha val="12000"/>
            </a:srgbClr>
          </a:solidFill>
          <a:ln/>
        </p:spPr>
        <p:txBody>
          <a:bodyPr/>
          <a:p/>
        </p:txBody>
      </p:sp>
      <p:pic>
        <p:nvPicPr>
          <p:cNvPr id="20" name="Image 2" descr="preencoded.png">    </p:cNvPr>
          <p:cNvPicPr>
            <a:picLocks noChangeAspect="1"/>
          </p:cNvPicPr>
          <p:nvPr/>
        </p:nvPicPr>
        <p:blipFill>
          <a:blip r:embed="rId4"/>
          <a:stretch>
            <a:fillRect/>
          </a:stretch>
        </p:blipFill>
        <p:spPr>
          <a:xfrm>
            <a:off x="8153196" y="2057249"/>
            <a:ext cx="253994" cy="253994"/>
          </a:xfrm>
          <a:prstGeom prst="rect">
            <a:avLst/>
          </a:prstGeom>
        </p:spPr>
      </p:pic>
      <p:sp>
        <p:nvSpPr>
          <p:cNvPr id="21" name="Text 16"/>
          <p:cNvSpPr txBox="1"/>
          <p:nvPr/>
        </p:nvSpPr>
        <p:spPr>
          <a:xfrm>
            <a:off x="8496088" y="2054769"/>
            <a:ext cx="1406363"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After launch</a:t>
            </a:r>
            <a:endParaRPr lang="en-US" sz="1700" dirty="0"/>
          </a:p>
        </p:txBody>
      </p:sp>
      <p:sp>
        <p:nvSpPr>
          <p:cNvPr id="22" name="Text 17"/>
          <p:cNvSpPr txBox="1"/>
          <p:nvPr/>
        </p:nvSpPr>
        <p:spPr>
          <a:xfrm>
            <a:off x="8177306" y="2415420"/>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Push tokens, KYC vendor</a:t>
            </a:r>
            <a:endParaRPr lang="en-US" sz="1300" dirty="0"/>
          </a:p>
        </p:txBody>
      </p:sp>
      <p:sp>
        <p:nvSpPr>
          <p:cNvPr id="23" name="Text 18"/>
          <p:cNvSpPr txBox="1"/>
          <p:nvPr/>
        </p:nvSpPr>
        <p:spPr>
          <a:xfrm>
            <a:off x="8177306" y="2709993"/>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Provider online/offline toggle</a:t>
            </a:r>
            <a:endParaRPr lang="en-US" sz="1300" dirty="0"/>
          </a:p>
        </p:txBody>
      </p:sp>
      <p:sp>
        <p:nvSpPr>
          <p:cNvPr id="24" name="Text 19"/>
          <p:cNvSpPr txBox="1"/>
          <p:nvPr/>
        </p:nvSpPr>
        <p:spPr>
          <a:xfrm>
            <a:off x="8177306" y="3004566"/>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Terraform in CI with scans</a:t>
            </a:r>
            <a:endParaRPr lang="en-US" sz="1300" dirty="0"/>
          </a:p>
        </p:txBody>
      </p:sp>
      <p:sp>
        <p:nvSpPr>
          <p:cNvPr id="25" name="Text 20"/>
          <p:cNvSpPr txBox="1"/>
          <p:nvPr/>
        </p:nvSpPr>
        <p:spPr>
          <a:xfrm>
            <a:off x="8177306" y="3299139"/>
            <a:ext cx="3363813"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Observability applied by CI</a:t>
            </a:r>
            <a:endParaRPr lang="en-US" sz="13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13816" y="566928"/>
            <a:ext cx="10515600" cy="274320"/>
          </a:xfrm>
          <a:prstGeom prst="rect">
            <a:avLst/>
          </a:prstGeom>
          <a:noFill/>
        </p:spPr>
        <p:txBody>
          <a:bodyPr wrap="none">
            <a:spAutoFit/>
          </a:bodyPr>
          <a:lstStyle/>
          <a:p>
            <a:pPr algn="l"/>
            <a:r>
              <a:rPr sz="1200">
                <a:solidFill>
                  <a:srgbClr val="2454C5"/>
                </a:solidFill>
                <a:latin typeface="Courier New"/>
              </a:rPr>
              <a:t>UPDATE · 30 OCTOBER 2026</a:t>
            </a:r>
          </a:p>
        </p:txBody>
      </p:sp>
      <p:sp>
        <p:nvSpPr>
          <p:cNvPr id="3" name="TextBox 2"/>
          <p:cNvSpPr txBox="1"/>
          <p:nvPr/>
        </p:nvSpPr>
        <p:spPr>
          <a:xfrm>
            <a:off x="813816" y="868680"/>
            <a:ext cx="10515600" cy="548640"/>
          </a:xfrm>
          <a:prstGeom prst="rect">
            <a:avLst/>
          </a:prstGeom>
          <a:noFill/>
        </p:spPr>
        <p:txBody>
          <a:bodyPr wrap="none">
            <a:spAutoFit/>
          </a:bodyPr>
          <a:lstStyle/>
          <a:p>
            <a:pPr algn="l"/>
            <a:r>
              <a:rPr sz="3000" b="1">
                <a:solidFill>
                  <a:srgbClr val="1F3A70"/>
                </a:solidFill>
                <a:latin typeface="Calibri"/>
              </a:rPr>
              <a:t>What changed on 30 October 2026</a:t>
            </a:r>
          </a:p>
        </p:txBody>
      </p:sp>
      <p:sp>
        <p:nvSpPr>
          <p:cNvPr id="4" name="Rounded Rectangle 3"/>
          <p:cNvSpPr/>
          <p:nvPr/>
        </p:nvSpPr>
        <p:spPr>
          <a:xfrm>
            <a:off x="548640" y="1600200"/>
            <a:ext cx="5440680" cy="2240280"/>
          </a:xfrm>
          <a:prstGeom prst="roundRect">
            <a:avLst>
              <a:gd name="adj" fmla="val 5000"/>
            </a:avLst>
          </a:prstGeom>
          <a:solidFill>
            <a:srgbClr val="EE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4983480" cy="1965960"/>
          </a:xfrm>
          <a:prstGeom prst="rect">
            <a:avLst/>
          </a:prstGeom>
          <a:noFill/>
        </p:spPr>
        <p:txBody>
          <a:bodyPr wrap="square" anchor="t">
            <a:spAutoFit/>
          </a:bodyPr>
          <a:lstStyle/>
          <a:p>
            <a:r>
              <a:rPr sz="1700" b="1">
                <a:solidFill>
                  <a:srgbClr val="1F3A70"/>
                </a:solidFill>
                <a:latin typeface="Calibri"/>
              </a:rPr>
              <a:t>Security review</a:t>
            </a:r>
          </a:p>
          <a:p>
            <a:pPr>
              <a:spcBef>
                <a:spcPts val="400"/>
              </a:spcBef>
            </a:pPr>
            <a:r>
              <a:rPr sz="1300">
                <a:solidFill>
                  <a:srgbClr val="4A5878"/>
                </a:solidFill>
                <a:latin typeface="Calibri"/>
              </a:rPr>
              <a:t>•  Web sessions: refresh token in an HttpOnly, Secure, SameSite=Strict cookie</a:t>
            </a:r>
          </a:p>
          <a:p>
            <a:pPr>
              <a:spcBef>
                <a:spcPts val="400"/>
              </a:spcBef>
            </a:pPr>
            <a:r>
              <a:rPr sz="1300">
                <a:solidFill>
                  <a:srgbClr val="4A5878"/>
                </a:solidFill>
                <a:latin typeface="Calibri"/>
              </a:rPr>
              <a:t>•  Passwords: 10+ characters, letter and digit; common, sequence and personal ones refused</a:t>
            </a:r>
          </a:p>
          <a:p>
            <a:pPr>
              <a:spcBef>
                <a:spcPts val="400"/>
              </a:spcBef>
            </a:pPr>
            <a:r>
              <a:rPr sz="1300">
                <a:solidFill>
                  <a:srgbClr val="4A5878"/>
                </a:solidFill>
                <a:latin typeface="Calibri"/>
              </a:rPr>
              <a:t>•  Rate limits keyed on Railway’s X-Real-IP; https-only image links; masked query strings in logs</a:t>
            </a:r>
          </a:p>
          <a:p>
            <a:pPr>
              <a:spcBef>
                <a:spcPts val="400"/>
              </a:spcBef>
            </a:pPr>
            <a:r>
              <a:rPr sz="1300">
                <a:solidFill>
                  <a:srgbClr val="4A5878"/>
                </a:solidFill>
                <a:latin typeface="Calibri"/>
              </a:rPr>
              <a:t>•  npm audit: 0 vulnerabilities in all three apps</a:t>
            </a:r>
          </a:p>
        </p:txBody>
      </p:sp>
      <p:sp>
        <p:nvSpPr>
          <p:cNvPr id="6" name="Rounded Rectangle 5"/>
          <p:cNvSpPr/>
          <p:nvPr/>
        </p:nvSpPr>
        <p:spPr>
          <a:xfrm>
            <a:off x="6217920" y="1600200"/>
            <a:ext cx="5440680" cy="2240280"/>
          </a:xfrm>
          <a:prstGeom prst="roundRect">
            <a:avLst>
              <a:gd name="adj" fmla="val 5000"/>
            </a:avLst>
          </a:prstGeom>
          <a:solidFill>
            <a:srgbClr val="EE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737360"/>
            <a:ext cx="4983480" cy="1965960"/>
          </a:xfrm>
          <a:prstGeom prst="rect">
            <a:avLst/>
          </a:prstGeom>
          <a:noFill/>
        </p:spPr>
        <p:txBody>
          <a:bodyPr wrap="square" anchor="t">
            <a:spAutoFit/>
          </a:bodyPr>
          <a:lstStyle/>
          <a:p>
            <a:r>
              <a:rPr sz="1700" b="1">
                <a:solidFill>
                  <a:srgbClr val="1F3A70"/>
                </a:solidFill>
                <a:latin typeface="Calibri"/>
              </a:rPr>
              <a:t>Reviews engine</a:t>
            </a:r>
          </a:p>
          <a:p>
            <a:pPr>
              <a:spcBef>
                <a:spcPts val="400"/>
              </a:spcBef>
            </a:pPr>
            <a:r>
              <a:rPr sz="1300">
                <a:solidFill>
                  <a:srgbClr val="4A5878"/>
                </a:solidFill>
                <a:latin typeface="Calibri"/>
              </a:rPr>
              <a:t>•  Review prompt after payment, one reminder after 24 h (ReviewReminder: 14 event types now)</a:t>
            </a:r>
          </a:p>
          <a:p>
            <a:pPr>
              <a:spcBef>
                <a:spcPts val="400"/>
              </a:spcBef>
            </a:pPr>
            <a:r>
              <a:rPr sz="1300">
                <a:solidFill>
                  <a:srgbClr val="4A5878"/>
                </a:solidFill>
                <a:latin typeface="Calibri"/>
              </a:rPr>
              <a:t>•  Public page per verified worker: /public/workers/{id} and its reviews</a:t>
            </a:r>
          </a:p>
          <a:p>
            <a:pPr>
              <a:spcBef>
                <a:spcPts val="400"/>
              </a:spcBef>
            </a:pPr>
            <a:r>
              <a:rPr sz="1300">
                <a:solidFill>
                  <a:srgbClr val="4A5878"/>
                </a:solidFill>
                <a:latin typeface="Calibri"/>
              </a:rPr>
              <a:t>•  Workers reply to reviews; share-my-profile card in the partner app</a:t>
            </a:r>
          </a:p>
          <a:p>
            <a:pPr>
              <a:spcBef>
                <a:spcPts val="400"/>
              </a:spcBef>
            </a:pPr>
            <a:r>
              <a:rPr sz="1300">
                <a:solidFill>
                  <a:srgbClr val="4A5878"/>
                </a:solidFill>
                <a:latin typeface="Calibri"/>
              </a:rPr>
              <a:t>•  Booking-flow CI now covers prompt, moderation, public page and reply</a:t>
            </a:r>
          </a:p>
        </p:txBody>
      </p:sp>
      <p:sp>
        <p:nvSpPr>
          <p:cNvPr id="8" name="Rounded Rectangle 7"/>
          <p:cNvSpPr/>
          <p:nvPr/>
        </p:nvSpPr>
        <p:spPr>
          <a:xfrm>
            <a:off x="548640" y="4069080"/>
            <a:ext cx="5440680" cy="2240280"/>
          </a:xfrm>
          <a:prstGeom prst="roundRect">
            <a:avLst>
              <a:gd name="adj" fmla="val 5000"/>
            </a:avLst>
          </a:prstGeom>
          <a:solidFill>
            <a:srgbClr val="EE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206240"/>
            <a:ext cx="4983480" cy="1965960"/>
          </a:xfrm>
          <a:prstGeom prst="rect">
            <a:avLst/>
          </a:prstGeom>
          <a:noFill/>
        </p:spPr>
        <p:txBody>
          <a:bodyPr wrap="square" anchor="t">
            <a:spAutoFit/>
          </a:bodyPr>
          <a:lstStyle/>
          <a:p>
            <a:r>
              <a:rPr sz="1700" b="1">
                <a:solidFill>
                  <a:srgbClr val="1F3A70"/>
                </a:solidFill>
                <a:latin typeface="Calibri"/>
              </a:rPr>
              <a:t>Names used everywhere</a:t>
            </a:r>
          </a:p>
          <a:p>
            <a:pPr>
              <a:spcBef>
                <a:spcPts val="400"/>
              </a:spcBef>
            </a:pPr>
            <a:r>
              <a:rPr sz="1300">
                <a:solidFill>
                  <a:srgbClr val="4A5878"/>
                </a:solidFill>
                <a:latin typeface="Calibri"/>
              </a:rPr>
              <a:t>•  Apps: Ji-Hajoor (customers), Ji-Hajoor Pro (workers), Ji-Hajoor Admin (staff, My agency)</a:t>
            </a:r>
          </a:p>
          <a:p>
            <a:pPr>
              <a:spcBef>
                <a:spcPts val="400"/>
              </a:spcBef>
            </a:pPr>
            <a:r>
              <a:rPr sz="1300">
                <a:solidFill>
                  <a:srgbClr val="4A5878"/>
                </a:solidFill>
                <a:latin typeface="Calibri"/>
              </a:rPr>
              <a:t>•  People: customer, worker (Provider in code), agency (Tenant in code)</a:t>
            </a:r>
          </a:p>
          <a:p>
            <a:pPr>
              <a:spcBef>
                <a:spcPts val="400"/>
              </a:spcBef>
            </a:pPr>
            <a:r>
              <a:rPr sz="1300">
                <a:solidFill>
                  <a:srgbClr val="4A5878"/>
                </a:solidFill>
                <a:latin typeface="Calibri"/>
              </a:rPr>
              <a:t>•  Agencies invite workers; agency share 0–50% of the worker’s net</a:t>
            </a:r>
          </a:p>
        </p:txBody>
      </p:sp>
      <p:sp>
        <p:nvSpPr>
          <p:cNvPr id="10" name="Rounded Rectangle 9"/>
          <p:cNvSpPr/>
          <p:nvPr/>
        </p:nvSpPr>
        <p:spPr>
          <a:xfrm>
            <a:off x="6217920" y="4069080"/>
            <a:ext cx="5440680" cy="2240280"/>
          </a:xfrm>
          <a:prstGeom prst="roundRect">
            <a:avLst>
              <a:gd name="adj" fmla="val 5000"/>
            </a:avLst>
          </a:prstGeom>
          <a:solidFill>
            <a:srgbClr val="EE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206240"/>
            <a:ext cx="4983480" cy="1965960"/>
          </a:xfrm>
          <a:prstGeom prst="rect">
            <a:avLst/>
          </a:prstGeom>
          <a:noFill/>
        </p:spPr>
        <p:txBody>
          <a:bodyPr wrap="square" anchor="t">
            <a:spAutoFit/>
          </a:bodyPr>
          <a:lstStyle/>
          <a:p>
            <a:r>
              <a:rPr sz="1700" b="1">
                <a:solidFill>
                  <a:srgbClr val="1F3A70"/>
                </a:solidFill>
                <a:latin typeface="Calibri"/>
              </a:rPr>
              <a:t>Read next</a:t>
            </a:r>
          </a:p>
          <a:p>
            <a:pPr>
              <a:spcBef>
                <a:spcPts val="400"/>
              </a:spcBef>
            </a:pPr>
            <a:r>
              <a:rPr sz="1300">
                <a:solidFill>
                  <a:srgbClr val="4A5878"/>
                </a:solidFill>
                <a:latin typeface="Calibri"/>
              </a:rPr>
              <a:t>•  JiHajoor_Tech_Stack.pptx: current stack and security state</a:t>
            </a:r>
          </a:p>
          <a:p>
            <a:pPr>
              <a:spcBef>
                <a:spcPts val="400"/>
              </a:spcBef>
            </a:pPr>
            <a:r>
              <a:rPr sz="1300">
                <a:solidFill>
                  <a:srgbClr val="4A5878"/>
                </a:solidFill>
                <a:latin typeface="Calibri"/>
              </a:rPr>
              <a:t>•  JiHajoor_Pitch_Deck, Revenue_Model, Brand_and_Marketing</a:t>
            </a:r>
          </a:p>
          <a:p>
            <a:pPr>
              <a:spcBef>
                <a:spcPts val="400"/>
              </a:spcBef>
            </a:pPr>
            <a:r>
              <a:rPr sz="1300">
                <a:solidFill>
                  <a:srgbClr val="4A5878"/>
                </a:solidFill>
                <a:latin typeface="Calibri"/>
              </a:rPr>
              <a:t>•  User guides: docs/guides/; PDFs in docs/pdf/</a:t>
            </a:r>
          </a:p>
          <a:p>
            <a:pPr>
              <a:spcBef>
                <a:spcPts val="400"/>
              </a:spcBef>
            </a:pPr>
            <a:r>
              <a:rPr sz="1300">
                <a:solidFill>
                  <a:srgbClr val="4A5878"/>
                </a:solidFill>
                <a:latin typeface="Calibri"/>
              </a:rPr>
              <a:t>•  Security findings later in this deck show their state on 18 October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Ji-Hajoor Design Deck</dc:title>
  <dc:subject>Architecture, data, deployment and security review</dc:subject>
  <dc:creator>PptxGenJS</dc:creator>
  <cp:lastModifiedBy>PptxGenJS</cp:lastModifiedBy>
  <cp:revision>1</cp:revision>
  <dcterms:created xsi:type="dcterms:W3CDTF">2026-10-11T11:45:37Z</dcterms:created>
  <dcterms:modified xsi:type="dcterms:W3CDTF">2026-10-11T11:45:37Z</dcterms:modified>
</cp:coreProperties>
</file>