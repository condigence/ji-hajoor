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f91bf90-f688-2ef3-5c8e-5f2e5ecae2d3}">
          <p14:sldIdLst>
            <p14:sldId id="256"/>
          </p14:sldIdLst>
        </p14:section>
        <p14:section name="Brand" id="{c7f4d3e5-758b-ba86-62e8-fa6a1e1eb87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arketing" id="{204639d3-7455-2960-d120-4e77bf422b34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lose" id="{0f6af2bf-437e-7095-c89d-19d839c6022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creative should land at least one of these three proofs.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builds recognition. Use the code spelling only where a hyphen cannot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Internally it is fine to say customer app, partner app and admin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show code names such as Tenant or Provider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blue for customer material and teal for worker recruitment. Headings in Cambria, body in Calibri; the apps use Plus Jakarta Sans.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jargon, exclamation marks and promises we cannot keep, such as 100% safe or never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Households and societies are demand; workers and agencies are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Targets: 50–100 verified workers before demand campaigns; 40% of paid jobs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into the product: the prompt and reminder, public pages, worker replies and the share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cost per booking monthly and move spend to what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Generation in Ji-Hajoor Admin exports bookings and revenue; review share comes from Review Moderation.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coupon has an expiry date, a per-customer limit and a total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D6E0F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</a:rPr>
              <a:t>Ji-Hajoor · Verified Help. Anytime. Anywhere. · Powered by Condigence LLP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FA"/>
                </a:solidFill>
              </a:rPr>
              <a:t>© 2026 Ji-Hajoor. Verified Help. Anytime. Anywhere. Powered by Condigence LLP.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Brand &amp; Marketing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A516"/>
                </a:solidFill>
              </a:rPr>
              <a:t>Naming, identity and the launch playbook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0FA"/>
                </a:solidFill>
              </a:rPr>
              <a:t>Updated 30 October 2026 · For everyone who writes, designs or sells</a:t>
            </a:r>
            <a:endParaRPr lang="en-US" sz="1200" dirty="0"/>
          </a:p>
        </p:txBody>
      </p:sp>
      <p:sp>
        <p:nvSpPr>
          <p:cNvPr id="5" name="hero-circle"/>
          <p:cNvSpPr/>
          <p:nvPr/>
        </p:nvSpPr>
        <p:spPr>
          <a:xfrm>
            <a:off x="6263640" y="105156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188720" cy="1188720"/>
          </a:xfrm>
          <a:prstGeom prst="rect">
            <a:avLst/>
          </a:prstGeom>
        </p:spPr>
      </p:pic>
      <p:sp>
        <p:nvSpPr>
          <p:cNvPr id="7" name="hero-dot"/>
          <p:cNvSpPr/>
          <p:nvPr/>
        </p:nvSpPr>
        <p:spPr>
          <a:xfrm>
            <a:off x="800100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hero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Verified help you can trust, at a fair price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Our promise, and the three proofs we repeat everywhere</a:t>
            </a:r>
            <a:endParaRPr lang="en-US" sz="1400" dirty="0"/>
          </a:p>
        </p:txBody>
      </p:sp>
      <p:sp>
        <p:nvSpPr>
          <p:cNvPr id="5" name="card-370"/>
          <p:cNvSpPr/>
          <p:nvPr/>
        </p:nvSpPr>
        <p:spPr>
          <a:xfrm>
            <a:off x="45720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371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7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card-title-373"/>
          <p:cNvSpPr txBox="1"/>
          <p:nvPr/>
        </p:nvSpPr>
        <p:spPr>
          <a:xfrm>
            <a:off x="64008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800" dirty="0"/>
          </a:p>
        </p:txBody>
      </p:sp>
      <p:sp>
        <p:nvSpPr>
          <p:cNvPr id="9" name="card-body-374"/>
          <p:cNvSpPr txBox="1"/>
          <p:nvPr/>
        </p:nvSpPr>
        <p:spPr>
          <a:xfrm>
            <a:off x="640080" y="2715768"/>
            <a:ext cx="2194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professional passes document checks and a background check.</a:t>
            </a:r>
            <a:endParaRPr lang="en-US" sz="1500" dirty="0"/>
          </a:p>
        </p:txBody>
      </p:sp>
      <p:sp>
        <p:nvSpPr>
          <p:cNvPr id="10" name="card-375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376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-3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776679"/>
            <a:ext cx="241402" cy="241402"/>
          </a:xfrm>
          <a:prstGeom prst="rect">
            <a:avLst/>
          </a:prstGeom>
        </p:spPr>
      </p:pic>
      <p:sp>
        <p:nvSpPr>
          <p:cNvPr id="13" name="card-title-378"/>
          <p:cNvSpPr txBox="1"/>
          <p:nvPr/>
        </p:nvSpPr>
        <p:spPr>
          <a:xfrm>
            <a:off x="347472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1800" dirty="0"/>
          </a:p>
        </p:txBody>
      </p:sp>
      <p:sp>
        <p:nvSpPr>
          <p:cNvPr id="14" name="card-body-379"/>
          <p:cNvSpPr txBox="1"/>
          <p:nvPr/>
        </p:nvSpPr>
        <p:spPr>
          <a:xfrm>
            <a:off x="3474720" y="2715768"/>
            <a:ext cx="2194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itemised price before you book. You approve any parts.</a:t>
            </a:r>
            <a:endParaRPr lang="en-US" sz="1500" dirty="0"/>
          </a:p>
        </p:txBody>
      </p:sp>
      <p:sp>
        <p:nvSpPr>
          <p:cNvPr id="15" name="card-380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-381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-3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776679"/>
            <a:ext cx="241402" cy="241402"/>
          </a:xfrm>
          <a:prstGeom prst="rect">
            <a:avLst/>
          </a:prstGeom>
        </p:spPr>
      </p:pic>
      <p:sp>
        <p:nvSpPr>
          <p:cNvPr id="18" name="card-title-383"/>
          <p:cNvSpPr txBox="1"/>
          <p:nvPr/>
        </p:nvSpPr>
        <p:spPr>
          <a:xfrm>
            <a:off x="630936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</a:t>
            </a:r>
            <a:endParaRPr lang="en-US" sz="1800" dirty="0"/>
          </a:p>
        </p:txBody>
      </p:sp>
      <p:sp>
        <p:nvSpPr>
          <p:cNvPr id="19" name="card-body-384"/>
          <p:cNvSpPr txBox="1"/>
          <p:nvPr/>
        </p:nvSpPr>
        <p:spPr>
          <a:xfrm>
            <a:off x="6309360" y="2715768"/>
            <a:ext cx="2194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tracking, chat, public reviews, and a real person on every complaint.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Write it the same way, every time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brand name and its sign-off</a:t>
            </a:r>
            <a:endParaRPr lang="en-US" sz="1400" dirty="0"/>
          </a:p>
        </p:txBody>
      </p:sp>
      <p:graphicFrame>
        <p:nvGraphicFramePr>
          <p:cNvPr id="4" name="table-3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Ji-Hajoor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 Hajoor · JiHajoor · Jihajoor · ji-hajoor · JH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jihajoor.com (web addresses 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Ji-Hajoor.com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JiHajoor (file names and code 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Ji_Hajoor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llout-386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EF2FD"/>
          </a:solidFill>
          <a:ln w="12700">
            <a:solidFill>
              <a:srgbClr val="EEF2FD"/>
            </a:solidFill>
            <a:prstDash val="solid"/>
          </a:ln>
        </p:spPr>
      </p:sp>
      <p:sp>
        <p:nvSpPr>
          <p:cNvPr id="7" name="callout-text-387"/>
          <p:cNvSpPr txBox="1"/>
          <p:nvPr/>
        </p:nvSpPr>
        <p:spPr>
          <a:xfrm>
            <a:off x="6858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6E"/>
                </a:solidFill>
              </a:rPr>
              <a:t>Sign-off on every page, deck and document:  © 2026 Ji-Hajoor. Verified Help. Anytime. Anywhere. Powered by Condigence LLP.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family of apps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app has one name, one address and one line</a:t>
            </a:r>
            <a:endParaRPr lang="en-US" sz="1400" dirty="0"/>
          </a:p>
        </p:txBody>
      </p:sp>
      <p:sp>
        <p:nvSpPr>
          <p:cNvPr id="5" name="card-388"/>
          <p:cNvSpPr/>
          <p:nvPr/>
        </p:nvSpPr>
        <p:spPr>
          <a:xfrm>
            <a:off x="45720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389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9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kicker-391"/>
          <p:cNvSpPr txBox="1"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JIHAJOOR.COM · CUSTOMERS</a:t>
            </a:r>
            <a:endParaRPr lang="en-US" sz="1100" dirty="0"/>
          </a:p>
        </p:txBody>
      </p:sp>
      <p:sp>
        <p:nvSpPr>
          <p:cNvPr id="9" name="card-title-392"/>
          <p:cNvSpPr txBox="1"/>
          <p:nvPr/>
        </p:nvSpPr>
        <p:spPr>
          <a:xfrm>
            <a:off x="64008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</a:t>
            </a:r>
            <a:endParaRPr lang="en-US" sz="1800" dirty="0"/>
          </a:p>
        </p:txBody>
      </p:sp>
      <p:sp>
        <p:nvSpPr>
          <p:cNvPr id="10" name="card-body-393"/>
          <p:cNvSpPr txBox="1"/>
          <p:nvPr/>
        </p:nvSpPr>
        <p:spPr>
          <a:xfrm>
            <a:off x="640080" y="2990088"/>
            <a:ext cx="2194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Verified Help. Anytime. Anywhere.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Blue #2251D1</a:t>
            </a:r>
            <a:endParaRPr lang="en-US" sz="1500" dirty="0"/>
          </a:p>
        </p:txBody>
      </p:sp>
      <p:sp>
        <p:nvSpPr>
          <p:cNvPr id="11" name="card-394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circle-395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3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776679"/>
            <a:ext cx="241402" cy="241402"/>
          </a:xfrm>
          <a:prstGeom prst="rect">
            <a:avLst/>
          </a:prstGeom>
        </p:spPr>
      </p:pic>
      <p:sp>
        <p:nvSpPr>
          <p:cNvPr id="14" name="kicker-397"/>
          <p:cNvSpPr txBox="1"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PARTNER.JIHAJOOR.COM · WORKERS</a:t>
            </a:r>
            <a:endParaRPr lang="en-US" sz="1100" dirty="0"/>
          </a:p>
        </p:txBody>
      </p:sp>
      <p:sp>
        <p:nvSpPr>
          <p:cNvPr id="15" name="card-title-398"/>
          <p:cNvSpPr txBox="1"/>
          <p:nvPr/>
        </p:nvSpPr>
        <p:spPr>
          <a:xfrm>
            <a:off x="347472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 Pro</a:t>
            </a:r>
            <a:endParaRPr lang="en-US" sz="1800" dirty="0"/>
          </a:p>
        </p:txBody>
      </p:sp>
      <p:sp>
        <p:nvSpPr>
          <p:cNvPr id="16" name="card-body-399"/>
          <p:cNvSpPr txBox="1"/>
          <p:nvPr/>
        </p:nvSpPr>
        <p:spPr>
          <a:xfrm>
            <a:off x="3474720" y="2990088"/>
            <a:ext cx="2194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Earn More. Serve Better.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Teal #0F766E</a:t>
            </a:r>
            <a:endParaRPr lang="en-US" sz="1500" dirty="0"/>
          </a:p>
        </p:txBody>
      </p:sp>
      <p:sp>
        <p:nvSpPr>
          <p:cNvPr id="17" name="card-400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-401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con-4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776679"/>
            <a:ext cx="241402" cy="241402"/>
          </a:xfrm>
          <a:prstGeom prst="rect">
            <a:avLst/>
          </a:prstGeom>
        </p:spPr>
      </p:pic>
      <p:sp>
        <p:nvSpPr>
          <p:cNvPr id="20" name="kicker-403"/>
          <p:cNvSpPr txBox="1"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ADMIN.JIHAJOOR.COM · STAFF</a:t>
            </a:r>
            <a:endParaRPr lang="en-US" sz="1100" dirty="0"/>
          </a:p>
        </p:txBody>
      </p:sp>
      <p:sp>
        <p:nvSpPr>
          <p:cNvPr id="21" name="card-title-404"/>
          <p:cNvSpPr txBox="1"/>
          <p:nvPr/>
        </p:nvSpPr>
        <p:spPr>
          <a:xfrm>
            <a:off x="630936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 Admin</a:t>
            </a:r>
            <a:endParaRPr lang="en-US" sz="1800" dirty="0"/>
          </a:p>
        </p:txBody>
      </p:sp>
      <p:sp>
        <p:nvSpPr>
          <p:cNvPr id="22" name="card-body-405"/>
          <p:cNvSpPr txBox="1"/>
          <p:nvPr/>
        </p:nvSpPr>
        <p:spPr>
          <a:xfrm>
            <a:off x="6309360" y="2990088"/>
            <a:ext cx="2194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Agencies see My agency.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Deep blue #0F2A6E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People and things: one word each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we say, what customers see, and what the code says</a:t>
            </a:r>
            <a:endParaRPr lang="en-US" sz="1400" dirty="0"/>
          </a:p>
        </p:txBody>
      </p:sp>
      <p:graphicFrame>
        <p:nvGraphicFramePr>
          <p:cNvPr id="6" name="table-4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(pro)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· SERVICE_PROVIDER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· TENANT_ADMIN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Ji-Hajoor 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SUPER_ADMIN, ADMIN, FINANCE_ADMIN,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and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/public/workers/{id}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Ji-Hajoor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Colour and type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Blue leads; marigold highlights one thing per creative</a:t>
            </a:r>
            <a:endParaRPr lang="en-US" sz="1400" dirty="0"/>
          </a:p>
        </p:txBody>
      </p:sp>
      <p:sp>
        <p:nvSpPr>
          <p:cNvPr id="5" name="swatch-0"/>
          <p:cNvSpPr/>
          <p:nvPr/>
        </p:nvSpPr>
        <p:spPr>
          <a:xfrm>
            <a:off x="457200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2251D1"/>
          </a:solidFill>
          <a:ln w="12700">
            <a:solidFill>
              <a:srgbClr val="2251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Ji-Hajoor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#2251D1</a:t>
            </a:r>
            <a:endParaRPr lang="en-US" sz="1200" dirty="0"/>
          </a:p>
        </p:txBody>
      </p:sp>
      <p:sp>
        <p:nvSpPr>
          <p:cNvPr id="7" name="swatch-1"/>
          <p:cNvSpPr/>
          <p:nvPr/>
        </p:nvSpPr>
        <p:spPr>
          <a:xfrm>
            <a:off x="1856232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0F2A6E"/>
          </a:solidFill>
          <a:ln w="12700">
            <a:solidFill>
              <a:srgbClr val="0F2A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47672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#0F2A6E</a:t>
            </a:r>
            <a:endParaRPr lang="en-US" sz="1200" dirty="0"/>
          </a:p>
        </p:txBody>
      </p:sp>
      <p:sp>
        <p:nvSpPr>
          <p:cNvPr id="9" name="swatch-2"/>
          <p:cNvSpPr/>
          <p:nvPr/>
        </p:nvSpPr>
        <p:spPr>
          <a:xfrm>
            <a:off x="3255264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46704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3B2400"/>
                </a:solidFill>
              </a:rPr>
              <a:t>Marigold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2400"/>
                </a:solidFill>
              </a:rPr>
              <a:t>#F2A516</a:t>
            </a:r>
            <a:endParaRPr lang="en-US" sz="1200" dirty="0"/>
          </a:p>
        </p:txBody>
      </p:sp>
      <p:sp>
        <p:nvSpPr>
          <p:cNvPr id="11" name="swatch-3"/>
          <p:cNvSpPr/>
          <p:nvPr/>
        </p:nvSpPr>
        <p:spPr>
          <a:xfrm>
            <a:off x="4654296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45736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 Teal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#0F766E</a:t>
            </a:r>
            <a:endParaRPr lang="en-US" sz="1200" dirty="0"/>
          </a:p>
        </p:txBody>
      </p:sp>
      <p:sp>
        <p:nvSpPr>
          <p:cNvPr id="13" name="swatch-4"/>
          <p:cNvSpPr/>
          <p:nvPr/>
        </p:nvSpPr>
        <p:spPr>
          <a:xfrm>
            <a:off x="6053328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12875A"/>
          </a:solidFill>
          <a:ln w="12700">
            <a:solidFill>
              <a:srgbClr val="128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#12875A</a:t>
            </a:r>
            <a:endParaRPr lang="en-US" sz="1200" dirty="0"/>
          </a:p>
        </p:txBody>
      </p:sp>
      <p:sp>
        <p:nvSpPr>
          <p:cNvPr id="15" name="swatch-5"/>
          <p:cNvSpPr/>
          <p:nvPr/>
        </p:nvSpPr>
        <p:spPr>
          <a:xfrm>
            <a:off x="7452360" y="1463040"/>
            <a:ext cx="1261872" cy="1463040"/>
          </a:xfrm>
          <a:prstGeom prst="roundRect">
            <a:avLst>
              <a:gd name="adj" fmla="val 5797"/>
            </a:avLst>
          </a:prstGeom>
          <a:solidFill>
            <a:srgbClr val="F7F8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43800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Canvas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</a:rPr>
              <a:t>#F7F8FA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Cambria for headings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for body text in decks and print, 14 pt and up.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Sound like a helpful neighbour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Warm, plain and direct; say what happens next</a:t>
            </a:r>
            <a:endParaRPr lang="en-US" sz="1400" dirty="0"/>
          </a:p>
        </p:txBody>
      </p:sp>
      <p:graphicFrame>
        <p:nvGraphicFramePr>
          <p:cNvPr id="8" name="table-4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 our best-in-class service ecosystem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verified plumber in two minutes.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request is being processed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you a professional.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Unacceptable rating detected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We’re checking this review before it appears.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safe, guaranteed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pro passes ID and background checks.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516"/>
                </a:solidFill>
              </a:rPr>
              <a:t>MARKETING PLAN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Win one city, then the next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Supply first, seeded demand, and a reviews engine that turns every good job into the next booking.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audiences, four messages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Who we talk to and what we tell them</a:t>
            </a:r>
            <a:endParaRPr lang="en-US" sz="1400" dirty="0"/>
          </a:p>
        </p:txBody>
      </p:sp>
      <p:sp>
        <p:nvSpPr>
          <p:cNvPr id="5" name="card-408"/>
          <p:cNvSpPr/>
          <p:nvPr/>
        </p:nvSpPr>
        <p:spPr>
          <a:xfrm>
            <a:off x="457200" y="1463040"/>
            <a:ext cx="1885950" cy="301752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409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4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card-title-411"/>
          <p:cNvSpPr txBox="1"/>
          <p:nvPr/>
        </p:nvSpPr>
        <p:spPr>
          <a:xfrm>
            <a:off x="64008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</a:t>
            </a:r>
            <a:endParaRPr lang="en-US" sz="1600" dirty="0"/>
          </a:p>
        </p:txBody>
      </p:sp>
      <p:sp>
        <p:nvSpPr>
          <p:cNvPr id="9" name="card-body-412"/>
          <p:cNvSpPr txBox="1"/>
          <p:nvPr/>
        </p:nvSpPr>
        <p:spPr>
          <a:xfrm>
            <a:off x="640080" y="2685288"/>
            <a:ext cx="1520190" cy="165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“Verified help in minutes. See the price first.”</a:t>
            </a:r>
            <a:endParaRPr lang="en-US" sz="1500" dirty="0"/>
          </a:p>
        </p:txBody>
      </p:sp>
      <p:sp>
        <p:nvSpPr>
          <p:cNvPr id="10" name="card-413"/>
          <p:cNvSpPr/>
          <p:nvPr/>
        </p:nvSpPr>
        <p:spPr>
          <a:xfrm>
            <a:off x="2571750" y="1463040"/>
            <a:ext cx="1885950" cy="301752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414"/>
          <p:cNvSpPr/>
          <p:nvPr/>
        </p:nvSpPr>
        <p:spPr>
          <a:xfrm>
            <a:off x="275463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con-4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389" y="1776679"/>
            <a:ext cx="241402" cy="241402"/>
          </a:xfrm>
          <a:prstGeom prst="rect">
            <a:avLst/>
          </a:prstGeom>
        </p:spPr>
      </p:pic>
      <p:sp>
        <p:nvSpPr>
          <p:cNvPr id="13" name="card-title-416"/>
          <p:cNvSpPr txBox="1"/>
          <p:nvPr/>
        </p:nvSpPr>
        <p:spPr>
          <a:xfrm>
            <a:off x="275463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Societies</a:t>
            </a:r>
            <a:endParaRPr lang="en-US" sz="1600" dirty="0"/>
          </a:p>
        </p:txBody>
      </p:sp>
      <p:sp>
        <p:nvSpPr>
          <p:cNvPr id="14" name="card-body-417"/>
          <p:cNvSpPr txBox="1"/>
          <p:nvPr/>
        </p:nvSpPr>
        <p:spPr>
          <a:xfrm>
            <a:off x="2754630" y="2685288"/>
            <a:ext cx="1520190" cy="165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“One app for every flat’s repairs, with reviews you can check.”</a:t>
            </a:r>
            <a:endParaRPr lang="en-US" sz="1500" dirty="0"/>
          </a:p>
        </p:txBody>
      </p:sp>
      <p:sp>
        <p:nvSpPr>
          <p:cNvPr id="15" name="card-418"/>
          <p:cNvSpPr/>
          <p:nvPr/>
        </p:nvSpPr>
        <p:spPr>
          <a:xfrm>
            <a:off x="4686300" y="1463040"/>
            <a:ext cx="1885950" cy="301752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-419"/>
          <p:cNvSpPr/>
          <p:nvPr/>
        </p:nvSpPr>
        <p:spPr>
          <a:xfrm>
            <a:off x="4869180" y="1645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-4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1776679"/>
            <a:ext cx="241402" cy="241402"/>
          </a:xfrm>
          <a:prstGeom prst="rect">
            <a:avLst/>
          </a:prstGeom>
        </p:spPr>
      </p:pic>
      <p:sp>
        <p:nvSpPr>
          <p:cNvPr id="18" name="card-title-421"/>
          <p:cNvSpPr txBox="1"/>
          <p:nvPr/>
        </p:nvSpPr>
        <p:spPr>
          <a:xfrm>
            <a:off x="486918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600" dirty="0"/>
          </a:p>
        </p:txBody>
      </p:sp>
      <p:sp>
        <p:nvSpPr>
          <p:cNvPr id="19" name="card-body-422"/>
          <p:cNvSpPr txBox="1"/>
          <p:nvPr/>
        </p:nvSpPr>
        <p:spPr>
          <a:xfrm>
            <a:off x="4869180" y="2685288"/>
            <a:ext cx="1520190" cy="165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“Earn More. Serve Better. Your reviews bring the next job.”</a:t>
            </a:r>
            <a:endParaRPr lang="en-US" sz="1500" dirty="0"/>
          </a:p>
        </p:txBody>
      </p:sp>
      <p:sp>
        <p:nvSpPr>
          <p:cNvPr id="20" name="card-423"/>
          <p:cNvSpPr/>
          <p:nvPr/>
        </p:nvSpPr>
        <p:spPr>
          <a:xfrm>
            <a:off x="6800850" y="1463040"/>
            <a:ext cx="1885950" cy="301752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circle-424"/>
          <p:cNvSpPr/>
          <p:nvPr/>
        </p:nvSpPr>
        <p:spPr>
          <a:xfrm>
            <a:off x="698373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-4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489" y="1776679"/>
            <a:ext cx="241402" cy="241402"/>
          </a:xfrm>
          <a:prstGeom prst="rect">
            <a:avLst/>
          </a:prstGeom>
        </p:spPr>
      </p:pic>
      <p:sp>
        <p:nvSpPr>
          <p:cNvPr id="23" name="card-title-426"/>
          <p:cNvSpPr txBox="1"/>
          <p:nvPr/>
        </p:nvSpPr>
        <p:spPr>
          <a:xfrm>
            <a:off x="6983730" y="2286000"/>
            <a:ext cx="152019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Agencies</a:t>
            </a:r>
            <a:endParaRPr lang="en-US" sz="1600" dirty="0"/>
          </a:p>
        </p:txBody>
      </p:sp>
      <p:sp>
        <p:nvSpPr>
          <p:cNvPr id="24" name="card-body-427"/>
          <p:cNvSpPr txBox="1"/>
          <p:nvPr/>
        </p:nvSpPr>
        <p:spPr>
          <a:xfrm>
            <a:off x="6983730" y="2685288"/>
            <a:ext cx="1520190" cy="165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“We send the requests; you keep your share.”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Launch playbook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city at a time</a:t>
            </a:r>
            <a:endParaRPr lang="en-US" sz="1400" dirty="0"/>
          </a:p>
        </p:txBody>
      </p:sp>
      <p:sp>
        <p:nvSpPr>
          <p:cNvPr id="5" name="flow-arrow-428"/>
          <p:cNvSpPr/>
          <p:nvPr/>
        </p:nvSpPr>
        <p:spPr>
          <a:xfrm>
            <a:off x="18790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6" name="flow-dot-429"/>
          <p:cNvSpPr/>
          <p:nvPr/>
        </p:nvSpPr>
        <p:spPr>
          <a:xfrm>
            <a:off x="11658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num-430"/>
          <p:cNvSpPr txBox="1"/>
          <p:nvPr/>
        </p:nvSpPr>
        <p:spPr>
          <a:xfrm>
            <a:off x="11658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low-title-431"/>
          <p:cNvSpPr txBox="1"/>
          <p:nvPr/>
        </p:nvSpPr>
        <p:spPr>
          <a:xfrm>
            <a:off x="5029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</a:t>
            </a:r>
            <a:endParaRPr lang="en-US" sz="1700" dirty="0"/>
          </a:p>
        </p:txBody>
      </p:sp>
      <p:sp>
        <p:nvSpPr>
          <p:cNvPr id="9" name="flow-body-432"/>
          <p:cNvSpPr txBox="1"/>
          <p:nvPr/>
        </p:nvSpPr>
        <p:spPr>
          <a:xfrm>
            <a:off x="5303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Weeks 1–4: recruit and verify through agencies, trade schools, WhatsApp groups.</a:t>
            </a:r>
            <a:endParaRPr lang="en-US" sz="1400" dirty="0"/>
          </a:p>
        </p:txBody>
      </p:sp>
      <p:sp>
        <p:nvSpPr>
          <p:cNvPr id="10" name="flow-arrow-433"/>
          <p:cNvSpPr/>
          <p:nvPr/>
        </p:nvSpPr>
        <p:spPr>
          <a:xfrm>
            <a:off x="39364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1" name="flow-dot-434"/>
          <p:cNvSpPr/>
          <p:nvPr/>
        </p:nvSpPr>
        <p:spPr>
          <a:xfrm>
            <a:off x="32232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flow-num-435"/>
          <p:cNvSpPr txBox="1"/>
          <p:nvPr/>
        </p:nvSpPr>
        <p:spPr>
          <a:xfrm>
            <a:off x="32232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flow-title-436"/>
          <p:cNvSpPr txBox="1"/>
          <p:nvPr/>
        </p:nvSpPr>
        <p:spPr>
          <a:xfrm>
            <a:off x="25603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demand</a:t>
            </a:r>
            <a:endParaRPr lang="en-US" sz="1700" dirty="0"/>
          </a:p>
        </p:txBody>
      </p:sp>
      <p:sp>
        <p:nvSpPr>
          <p:cNvPr id="14" name="flow-body-437"/>
          <p:cNvSpPr txBox="1"/>
          <p:nvPr/>
        </p:nvSpPr>
        <p:spPr>
          <a:xfrm>
            <a:off x="25877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Weeks 3–8: FIRST100 and SOCIETY15 coupons; 10–20 society partners.</a:t>
            </a:r>
            <a:endParaRPr lang="en-US" sz="1400" dirty="0"/>
          </a:p>
        </p:txBody>
      </p:sp>
      <p:sp>
        <p:nvSpPr>
          <p:cNvPr id="15" name="flow-arrow-438"/>
          <p:cNvSpPr/>
          <p:nvPr/>
        </p:nvSpPr>
        <p:spPr>
          <a:xfrm>
            <a:off x="5993892" y="1920240"/>
            <a:ext cx="127101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6" name="flow-dot-439"/>
          <p:cNvSpPr/>
          <p:nvPr/>
        </p:nvSpPr>
        <p:spPr>
          <a:xfrm>
            <a:off x="52806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low-num-440"/>
          <p:cNvSpPr txBox="1"/>
          <p:nvPr/>
        </p:nvSpPr>
        <p:spPr>
          <a:xfrm>
            <a:off x="52806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flow-title-441"/>
          <p:cNvSpPr txBox="1"/>
          <p:nvPr/>
        </p:nvSpPr>
        <p:spPr>
          <a:xfrm>
            <a:off x="46177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</a:t>
            </a:r>
            <a:endParaRPr lang="en-US" sz="1700" dirty="0"/>
          </a:p>
        </p:txBody>
      </p:sp>
      <p:sp>
        <p:nvSpPr>
          <p:cNvPr id="19" name="flow-body-442"/>
          <p:cNvSpPr txBox="1"/>
          <p:nvPr/>
        </p:nvSpPr>
        <p:spPr>
          <a:xfrm>
            <a:off x="46451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 1 on: every job rated; workers share their public pages.</a:t>
            </a:r>
            <a:endParaRPr lang="en-US" sz="1400" dirty="0"/>
          </a:p>
        </p:txBody>
      </p:sp>
      <p:sp>
        <p:nvSpPr>
          <p:cNvPr id="20" name="flow-dot-443"/>
          <p:cNvSpPr/>
          <p:nvPr/>
        </p:nvSpPr>
        <p:spPr>
          <a:xfrm>
            <a:off x="73380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flow-num-444"/>
          <p:cNvSpPr txBox="1"/>
          <p:nvPr/>
        </p:nvSpPr>
        <p:spPr>
          <a:xfrm>
            <a:off x="73380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flow-title-445"/>
          <p:cNvSpPr txBox="1"/>
          <p:nvPr/>
        </p:nvSpPr>
        <p:spPr>
          <a:xfrm>
            <a:off x="667512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</a:t>
            </a:r>
            <a:endParaRPr lang="en-US" sz="1700" dirty="0"/>
          </a:p>
        </p:txBody>
      </p:sp>
      <p:sp>
        <p:nvSpPr>
          <p:cNvPr id="23" name="flow-body-446"/>
          <p:cNvSpPr txBox="1"/>
          <p:nvPr/>
        </p:nvSpPr>
        <p:spPr>
          <a:xfrm>
            <a:off x="6702552" y="2788920"/>
            <a:ext cx="1911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 3 on: seasonal reminders and maintenance plans.</a:t>
            </a:r>
            <a:endParaRPr lang="en-US" sz="1400" dirty="0"/>
          </a:p>
        </p:txBody>
      </p:sp>
      <p:sp>
        <p:nvSpPr>
          <p:cNvPr id="24" name="callout-447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6E2"/>
          </a:solidFill>
          <a:ln w="12700">
            <a:solidFill>
              <a:srgbClr val="FFF6E2"/>
            </a:solidFill>
            <a:prstDash val="solid"/>
          </a:ln>
        </p:spPr>
      </p:sp>
      <p:sp>
        <p:nvSpPr>
          <p:cNvPr id="25" name="callout-text-448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4100"/>
                </a:solidFill>
              </a:rPr>
              <a:t>Measure weekly: bookings, repeat customers, average rating and the share of paid jobs reviewed.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reviews flywheel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good job markets the next one, for free</a:t>
            </a:r>
            <a:endParaRPr lang="en-US" sz="1400" dirty="0"/>
          </a:p>
        </p:txBody>
      </p:sp>
      <p:sp>
        <p:nvSpPr>
          <p:cNvPr id="5" name="box-449"/>
          <p:cNvSpPr/>
          <p:nvPr/>
        </p:nvSpPr>
        <p:spPr>
          <a:xfrm>
            <a:off x="3886200" y="132588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ox-text-450"/>
          <p:cNvSpPr txBox="1"/>
          <p:nvPr/>
        </p:nvSpPr>
        <p:spPr>
          <a:xfrm>
            <a:off x="3959352" y="132588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Great job</a:t>
            </a:r>
            <a:endParaRPr lang="en-US" sz="1300" dirty="0"/>
          </a:p>
        </p:txBody>
      </p:sp>
      <p:sp>
        <p:nvSpPr>
          <p:cNvPr id="7" name="box-451"/>
          <p:cNvSpPr/>
          <p:nvPr/>
        </p:nvSpPr>
        <p:spPr>
          <a:xfrm>
            <a:off x="5989320" y="21488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box-text-452"/>
          <p:cNvSpPr txBox="1"/>
          <p:nvPr/>
        </p:nvSpPr>
        <p:spPr>
          <a:xfrm>
            <a:off x="6062472" y="21488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400"/>
                </a:solidFill>
              </a:rPr>
              <a:t>Rated</a:t>
            </a:r>
            <a:endParaRPr lang="en-US" sz="1300" dirty="0"/>
          </a:p>
        </p:txBody>
      </p:sp>
      <p:sp>
        <p:nvSpPr>
          <p:cNvPr id="9" name="box-453"/>
          <p:cNvSpPr/>
          <p:nvPr/>
        </p:nvSpPr>
        <p:spPr>
          <a:xfrm>
            <a:off x="5486400" y="361188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ox-text-454"/>
          <p:cNvSpPr txBox="1"/>
          <p:nvPr/>
        </p:nvSpPr>
        <p:spPr>
          <a:xfrm>
            <a:off x="5559552" y="361188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Public page</a:t>
            </a:r>
            <a:endParaRPr lang="en-US" sz="1300" dirty="0"/>
          </a:p>
        </p:txBody>
      </p:sp>
      <p:sp>
        <p:nvSpPr>
          <p:cNvPr id="11" name="box-455"/>
          <p:cNvSpPr/>
          <p:nvPr/>
        </p:nvSpPr>
        <p:spPr>
          <a:xfrm>
            <a:off x="2286000" y="361188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box-text-456"/>
          <p:cNvSpPr txBox="1"/>
          <p:nvPr/>
        </p:nvSpPr>
        <p:spPr>
          <a:xfrm>
            <a:off x="2359152" y="361188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Worker shares</a:t>
            </a:r>
            <a:endParaRPr lang="en-US" sz="1300" dirty="0"/>
          </a:p>
        </p:txBody>
      </p:sp>
      <p:sp>
        <p:nvSpPr>
          <p:cNvPr id="13" name="box-457"/>
          <p:cNvSpPr/>
          <p:nvPr/>
        </p:nvSpPr>
        <p:spPr>
          <a:xfrm>
            <a:off x="1783080" y="21488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box-text-458"/>
          <p:cNvSpPr txBox="1"/>
          <p:nvPr/>
        </p:nvSpPr>
        <p:spPr>
          <a:xfrm>
            <a:off x="1856232" y="21488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New customer books</a:t>
            </a:r>
            <a:endParaRPr lang="en-US" sz="1300" dirty="0"/>
          </a:p>
        </p:txBody>
      </p:sp>
      <p:sp>
        <p:nvSpPr>
          <p:cNvPr id="15" name="arrow-459"/>
          <p:cNvSpPr/>
          <p:nvPr/>
        </p:nvSpPr>
        <p:spPr>
          <a:xfrm>
            <a:off x="5303520" y="1691640"/>
            <a:ext cx="685800" cy="45720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6" name="arrow-460"/>
          <p:cNvSpPr/>
          <p:nvPr/>
        </p:nvSpPr>
        <p:spPr>
          <a:xfrm flipH="1">
            <a:off x="6492240" y="2834640"/>
            <a:ext cx="182880" cy="73152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7" name="arrow-461"/>
          <p:cNvSpPr/>
          <p:nvPr/>
        </p:nvSpPr>
        <p:spPr>
          <a:xfrm flipH="1">
            <a:off x="3703320" y="3931920"/>
            <a:ext cx="173736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8" name="arrow-462"/>
          <p:cNvSpPr/>
          <p:nvPr/>
        </p:nvSpPr>
        <p:spPr>
          <a:xfrm flipH="1" flipV="1">
            <a:off x="2286000" y="2834640"/>
            <a:ext cx="228600" cy="73152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9" name="arrow-463"/>
          <p:cNvSpPr/>
          <p:nvPr/>
        </p:nvSpPr>
        <p:spPr>
          <a:xfrm flipV="1">
            <a:off x="3200400" y="1691640"/>
            <a:ext cx="640080" cy="45720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3291840" y="2423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Target: 40% of paid jobs reviewed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Channels and how we measure them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 with the free and dense channels</a:t>
            </a:r>
            <a:endParaRPr lang="en-US" sz="1400" dirty="0"/>
          </a:p>
        </p:txBody>
      </p:sp>
      <p:graphicFrame>
        <p:nvGraphicFramePr>
          <p:cNvPr id="13" name="table-4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profile sharing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word of mouth, 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opens, bookings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societies, RWAs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demand, low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per society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and Maps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“Plumber near me” intent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booking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YouTube Shorts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Before/after videos, pro stories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Views, sign-ups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coupons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invite neighbours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measure every week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Nine numbers on one page</a:t>
            </a:r>
            <a:endParaRPr lang="en-US" sz="1400" dirty="0"/>
          </a:p>
        </p:txBody>
      </p:sp>
      <p:sp>
        <p:nvSpPr>
          <p:cNvPr id="5" name="box-465"/>
          <p:cNvSpPr/>
          <p:nvPr/>
        </p:nvSpPr>
        <p:spPr>
          <a:xfrm>
            <a:off x="457200" y="146304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ox-text-466"/>
          <p:cNvSpPr txBox="1"/>
          <p:nvPr/>
        </p:nvSpPr>
        <p:spPr>
          <a:xfrm>
            <a:off x="530352" y="146304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Bookings</a:t>
            </a:r>
            <a:endParaRPr lang="en-US" sz="1500" dirty="0"/>
          </a:p>
        </p:txBody>
      </p:sp>
      <p:sp>
        <p:nvSpPr>
          <p:cNvPr id="7" name="box-467"/>
          <p:cNvSpPr/>
          <p:nvPr/>
        </p:nvSpPr>
        <p:spPr>
          <a:xfrm>
            <a:off x="3264408" y="146304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ox-text-468"/>
          <p:cNvSpPr txBox="1"/>
          <p:nvPr/>
        </p:nvSpPr>
        <p:spPr>
          <a:xfrm>
            <a:off x="3337560" y="146304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Repeat customers</a:t>
            </a:r>
            <a:endParaRPr lang="en-US" sz="1500" dirty="0"/>
          </a:p>
        </p:txBody>
      </p:sp>
      <p:sp>
        <p:nvSpPr>
          <p:cNvPr id="9" name="box-469"/>
          <p:cNvSpPr/>
          <p:nvPr/>
        </p:nvSpPr>
        <p:spPr>
          <a:xfrm>
            <a:off x="6071616" y="146304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ox-text-470"/>
          <p:cNvSpPr txBox="1"/>
          <p:nvPr/>
        </p:nvSpPr>
        <p:spPr>
          <a:xfrm>
            <a:off x="6144768" y="146304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Cancellation rate</a:t>
            </a:r>
            <a:endParaRPr lang="en-US" sz="1500" dirty="0"/>
          </a:p>
        </p:txBody>
      </p:sp>
      <p:sp>
        <p:nvSpPr>
          <p:cNvPr id="11" name="box-471"/>
          <p:cNvSpPr/>
          <p:nvPr/>
        </p:nvSpPr>
        <p:spPr>
          <a:xfrm>
            <a:off x="457200" y="246888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ox-text-472"/>
          <p:cNvSpPr txBox="1"/>
          <p:nvPr/>
        </p:nvSpPr>
        <p:spPr>
          <a:xfrm>
            <a:off x="530352" y="246888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Average rating</a:t>
            </a:r>
            <a:endParaRPr lang="en-US" sz="1500" dirty="0"/>
          </a:p>
        </p:txBody>
      </p:sp>
      <p:sp>
        <p:nvSpPr>
          <p:cNvPr id="13" name="box-473"/>
          <p:cNvSpPr/>
          <p:nvPr/>
        </p:nvSpPr>
        <p:spPr>
          <a:xfrm>
            <a:off x="3264408" y="246888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ox-text-474"/>
          <p:cNvSpPr txBox="1"/>
          <p:nvPr/>
        </p:nvSpPr>
        <p:spPr>
          <a:xfrm>
            <a:off x="3337560" y="246888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Jobs reviewed</a:t>
            </a:r>
            <a:endParaRPr lang="en-US" sz="1500" dirty="0"/>
          </a:p>
        </p:txBody>
      </p:sp>
      <p:sp>
        <p:nvSpPr>
          <p:cNvPr id="15" name="box-475"/>
          <p:cNvSpPr/>
          <p:nvPr/>
        </p:nvSpPr>
        <p:spPr>
          <a:xfrm>
            <a:off x="6071616" y="246888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ox-text-476"/>
          <p:cNvSpPr txBox="1"/>
          <p:nvPr/>
        </p:nvSpPr>
        <p:spPr>
          <a:xfrm>
            <a:off x="6144768" y="246888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 to accept</a:t>
            </a:r>
            <a:endParaRPr lang="en-US" sz="1500" dirty="0"/>
          </a:p>
        </p:txBody>
      </p:sp>
      <p:sp>
        <p:nvSpPr>
          <p:cNvPr id="17" name="box-477"/>
          <p:cNvSpPr/>
          <p:nvPr/>
        </p:nvSpPr>
        <p:spPr>
          <a:xfrm>
            <a:off x="457200" y="347472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ox-text-478"/>
          <p:cNvSpPr txBox="1"/>
          <p:nvPr/>
        </p:nvSpPr>
        <p:spPr>
          <a:xfrm>
            <a:off x="530352" y="347472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Complaints / 100 jobs</a:t>
            </a:r>
            <a:endParaRPr lang="en-US" sz="1500" dirty="0"/>
          </a:p>
        </p:txBody>
      </p:sp>
      <p:sp>
        <p:nvSpPr>
          <p:cNvPr id="19" name="box-479"/>
          <p:cNvSpPr/>
          <p:nvPr/>
        </p:nvSpPr>
        <p:spPr>
          <a:xfrm>
            <a:off x="3264408" y="347472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ox-text-480"/>
          <p:cNvSpPr txBox="1"/>
          <p:nvPr/>
        </p:nvSpPr>
        <p:spPr>
          <a:xfrm>
            <a:off x="3337560" y="347472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Active verified workers</a:t>
            </a:r>
            <a:endParaRPr lang="en-US" sz="1500" dirty="0"/>
          </a:p>
        </p:txBody>
      </p:sp>
      <p:sp>
        <p:nvSpPr>
          <p:cNvPr id="21" name="box-481"/>
          <p:cNvSpPr/>
          <p:nvPr/>
        </p:nvSpPr>
        <p:spPr>
          <a:xfrm>
            <a:off x="6071616" y="3474720"/>
            <a:ext cx="26060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ox-text-482"/>
          <p:cNvSpPr txBox="1"/>
          <p:nvPr/>
        </p:nvSpPr>
        <p:spPr>
          <a:xfrm>
            <a:off x="6144768" y="347472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Coupon cost / new customer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Rules for promotions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Coupons are created only in Ji-Hajoor Admin</a:t>
            </a:r>
            <a:endParaRPr lang="en-US" sz="1400" dirty="0"/>
          </a:p>
        </p:txBody>
      </p:sp>
      <p:sp>
        <p:nvSpPr>
          <p:cNvPr id="5" name="card-483"/>
          <p:cNvSpPr/>
          <p:nvPr/>
        </p:nvSpPr>
        <p:spPr>
          <a:xfrm>
            <a:off x="457200" y="146304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48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4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card-title-486"/>
          <p:cNvSpPr txBox="1"/>
          <p:nvPr/>
        </p:nvSpPr>
        <p:spPr>
          <a:xfrm>
            <a:off x="640080" y="2286000"/>
            <a:ext cx="36118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FIRST100</a:t>
            </a:r>
            <a:endParaRPr lang="en-US" sz="1600" dirty="0"/>
          </a:p>
        </p:txBody>
      </p:sp>
      <p:sp>
        <p:nvSpPr>
          <p:cNvPr id="9" name="card-body-487"/>
          <p:cNvSpPr txBox="1"/>
          <p:nvPr/>
        </p:nvSpPr>
        <p:spPr>
          <a:xfrm>
            <a:off x="640080" y="2685288"/>
            <a:ext cx="361188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₹100 off the first booking; min ₹299; once per customer.</a:t>
            </a:r>
            <a:endParaRPr lang="en-US" sz="1400" dirty="0"/>
          </a:p>
        </p:txBody>
      </p:sp>
      <p:sp>
        <p:nvSpPr>
          <p:cNvPr id="10" name="card-488"/>
          <p:cNvSpPr/>
          <p:nvPr/>
        </p:nvSpPr>
        <p:spPr>
          <a:xfrm>
            <a:off x="4709160" y="146304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489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con-49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76679"/>
            <a:ext cx="241402" cy="241402"/>
          </a:xfrm>
          <a:prstGeom prst="rect">
            <a:avLst/>
          </a:prstGeom>
        </p:spPr>
      </p:pic>
      <p:sp>
        <p:nvSpPr>
          <p:cNvPr id="13" name="card-title-491"/>
          <p:cNvSpPr txBox="1"/>
          <p:nvPr/>
        </p:nvSpPr>
        <p:spPr>
          <a:xfrm>
            <a:off x="4892040" y="2286000"/>
            <a:ext cx="36118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SOCIETY15</a:t>
            </a:r>
            <a:endParaRPr lang="en-US" sz="1600" dirty="0"/>
          </a:p>
        </p:txBody>
      </p:sp>
      <p:sp>
        <p:nvSpPr>
          <p:cNvPr id="14" name="card-body-492"/>
          <p:cNvSpPr txBox="1"/>
          <p:nvPr/>
        </p:nvSpPr>
        <p:spPr>
          <a:xfrm>
            <a:off x="4892040" y="2685288"/>
            <a:ext cx="361188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15% off, capped at ₹150, for partner societies.</a:t>
            </a:r>
            <a:endParaRPr lang="en-US" sz="1400" dirty="0"/>
          </a:p>
        </p:txBody>
      </p:sp>
      <p:sp>
        <p:nvSpPr>
          <p:cNvPr id="15" name="icon-circle-493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-4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663086"/>
            <a:ext cx="263347" cy="263347"/>
          </a:xfrm>
          <a:prstGeom prst="rect">
            <a:avLst/>
          </a:prstGeom>
        </p:spPr>
      </p:pic>
      <p:sp>
        <p:nvSpPr>
          <p:cNvPr id="17" name="grid-title-495"/>
          <p:cNvSpPr txBox="1"/>
          <p:nvPr/>
        </p:nvSpPr>
        <p:spPr>
          <a:xfrm>
            <a:off x="118872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estimate is the price</a:t>
            </a:r>
            <a:endParaRPr lang="en-US" sz="1700" dirty="0"/>
          </a:p>
        </p:txBody>
      </p:sp>
      <p:sp>
        <p:nvSpPr>
          <p:cNvPr id="18" name="grid-body-496"/>
          <p:cNvSpPr txBox="1"/>
          <p:nvPr/>
        </p:nvSpPr>
        <p:spPr>
          <a:xfrm>
            <a:off x="1188720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promise a price outside the app.</a:t>
            </a:r>
            <a:endParaRPr lang="en-US" sz="1400" dirty="0"/>
          </a:p>
        </p:txBody>
      </p:sp>
      <p:sp>
        <p:nvSpPr>
          <p:cNvPr id="19" name="icon-circle-497"/>
          <p:cNvSpPr/>
          <p:nvPr/>
        </p:nvSpPr>
        <p:spPr>
          <a:xfrm>
            <a:off x="4754880" y="35204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-4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663086"/>
            <a:ext cx="263347" cy="263347"/>
          </a:xfrm>
          <a:prstGeom prst="rect">
            <a:avLst/>
          </a:prstGeom>
        </p:spPr>
      </p:pic>
      <p:sp>
        <p:nvSpPr>
          <p:cNvPr id="21" name="grid-title-499"/>
          <p:cNvSpPr txBox="1"/>
          <p:nvPr/>
        </p:nvSpPr>
        <p:spPr>
          <a:xfrm>
            <a:off x="54864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reviews only</a:t>
            </a:r>
            <a:endParaRPr lang="en-US" sz="1700" dirty="0"/>
          </a:p>
        </p:txBody>
      </p:sp>
      <p:sp>
        <p:nvSpPr>
          <p:cNvPr id="22" name="grid-body-500"/>
          <p:cNvSpPr txBox="1"/>
          <p:nvPr/>
        </p:nvSpPr>
        <p:spPr>
          <a:xfrm>
            <a:off x="5486400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invented quotes; get consent for photos.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One name, one promise, every time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Full guide: docs/BRAND_AND_MARKETING.md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User guides: docs/guides/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-Hajoor">
  <a:themeElements>
    <a:clrScheme name="Ji-Hajoor">
      <a:dk1>
        <a:srgbClr val="1D2939"/>
      </a:dk1>
      <a:lt1>
        <a:srgbClr val="FFFFFF"/>
      </a:lt1>
      <a:dk2>
        <a:srgbClr val="0F2A6E"/>
      </a:dk2>
      <a:lt2>
        <a:srgbClr val="F2F5FC"/>
      </a:lt2>
      <a:accent1>
        <a:srgbClr val="2251D1"/>
      </a:accent1>
      <a:accent2>
        <a:srgbClr val="F2A516"/>
      </a:accent2>
      <a:accent3>
        <a:srgbClr val="0F766E"/>
      </a:accent3>
      <a:accent4>
        <a:srgbClr val="12875A"/>
      </a:accent4>
      <a:accent5>
        <a:srgbClr val="D92D20"/>
      </a:accent5>
      <a:accent6>
        <a:srgbClr val="5F6B7E"/>
      </a:accent6>
      <a:hlink>
        <a:srgbClr val="2251D1"/>
      </a:hlink>
      <a:folHlink>
        <a:srgbClr val="1A3FA6"/>
      </a:folHlink>
    </a:clrScheme>
    <a:fontScheme name="Ji-Hajo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Condigence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Ji-Hajoor — Brand and Marketing</dc:title>
  <dc:subject>PptxGenJS Presentation</dc:subject>
  <dc:creator>Ji-Hajoor</dc:creator>
  <cp:lastModifiedBy>Ji-Hajoor</cp:lastModifiedBy>
  <cp:revision>1</cp:revision>
  <dcterms:created xsi:type="dcterms:W3CDTF">2026-10-30T09:16:10Z</dcterms:created>
  <dcterms:modified xsi:type="dcterms:W3CDTF">2026-10-30T09:16:10Z</dcterms:modified>
</cp:coreProperties>
</file>