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5a4fd83-7be6-97c9-873e-b71f23cc97b0}">
          <p14:sldIdLst>
            <p14:sldId id="256"/>
          </p14:sldIdLst>
        </p14:section>
        <p14:section name="Problem and solution" id="{ccd6224b-7167-1057-4af5-e75427a83fe4}">
          <p14:sldIdLst>
            <p14:sldId id="257"/>
            <p14:sldId id="258"/>
            <p14:sldId id="259"/>
            <p14:sldId id="260"/>
            <p14:sldId id="261"/>
          </p14:sldIdLst>
        </p14:section>
        <p14:section name="Market and model" id="{2f8b0202-c8a5-0025-1526-397d886358b1}">
          <p14:sldIdLst>
            <p14:sldId id="262"/>
            <p14:sldId id="263"/>
            <p14:sldId id="264"/>
          </p14:sldIdLst>
        </p14:section>
        <p14:section name="Plan" id="{d2aea70e-e4e6-9ede-17bb-1ecb8b66da39}">
          <p14:sldIdLst>
            <p14:sldId id="265"/>
            <p14:sldId id="266"/>
            <p14:sldId id="267"/>
          </p14:sldIdLst>
        </p14:section>
        <p14:section name="Close" id="{646a5327-ec4b-c860-f717-a6662ec79b2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D2939"/>
                </a:solidFill>
                <a:latin typeface="+mn-lt"/>
              </a:rPr>
              <a:t>Online home services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market (₹ crore)</c:v>
                </c:pt>
              </c:strCache>
            </c:strRef>
          </c:tx>
          <c:spPr>
            <a:solidFill>
              <a:srgbClr val="2251D1"/>
            </a:solidFill>
            <a:effectLst/>
          </c:spPr>
          <c:invertIfNegative val="0"/>
          <c:dLbls>
            <c:numFmt formatCode="₹#,##0&quot; cr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FY25</c:v>
                  </c:pt>
                  <c:pt idx="1">
                    <c:v>FY30 (projected)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4200</c:v>
                </c:pt>
                <c:pt idx="1">
                  <c:v>8650</c:v>
                </c:pt>
              </c:numCache>
            </c:numRef>
          </c:val>
        </c:ser>
        <c:dLbls>
          <c:numFmt formatCode="₹#,##0&quot; cr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D2939"/>
                </a:solidFill>
                <a:latin typeface="+mn-lt"/>
              </a:rPr>
              <a:t>Per month, ₹ lakh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fee</c:v>
                </c:pt>
              </c:strCache>
            </c:strRef>
          </c:tx>
          <c:spPr>
            <a:solidFill>
              <a:srgbClr val="2251D1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9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/ day</c:v>
                  </c:pt>
                  <c:pt idx="1">
                    <c:v>500 / day</c:v>
                  </c:pt>
                  <c:pt idx="2">
                    <c:v>2,000 / day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1.67</c:v>
                </c:pt>
                <c:pt idx="1">
                  <c:v>8.33</c:v>
                </c:pt>
                <c:pt idx="2">
                  <c:v>33.3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F2A51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9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/ day</c:v>
                  </c:pt>
                  <c:pt idx="1">
                    <c:v>500 / day</c:v>
                  </c:pt>
                  <c:pt idx="2">
                    <c:v>2,000 / day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</c:v>
                </c:pt>
                <c:pt idx="1">
                  <c:v>4.67</c:v>
                </c:pt>
                <c:pt idx="2">
                  <c:v>18.7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100" u="none">
                  <a:solidFill>
                    <a:srgbClr val="1D293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Ji-Hajoor is a home-services marketplace that connects households with verified professionals, with the price shown before booking and reviews that customers can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pains we hear from every household: who is this person, what will it really cost, and will they turn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app at jihajoor.com, Ji-Hajoor Pro for workers at partner.jihajoor.com, and Ji-Hajoor Admin for staff and agencies.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Every step leaves a record the customer and the worker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marketing claims: each one is enforced by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Dispatch offers each job to the best-matched independent workers. If nobody accepts in time, it waits in the queue of agencies covering that area, and an agency assigns one of its verified workers.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booking is under one percent of the market today and growing at around 20% a year. Chart values are the midpoints of Redseer’s ranges.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Starter pricing: 10% platform fee per service, set in Pricing Configuration. Emergency, night and weekend jobs earn more because the fee is a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Assumptions: ₹555 average service charges, 10% fee, about 2% payment cost on the amount charged, ₹50 coupon on one job in five. Not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reviews engine is the cheapest acquisition channel we have: every good job produces a public page the worker shares.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in production. The booking flow test runs on every change and covers sign-in to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item reuses existing parts: public profiles, ratings, the agency queue and per-service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2A51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D6E0FA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F2A51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</a:rPr>
              <a:t>Ji-Hajoor · Verified Help. Anytime. Anywhere. · Powered by Condigence LLP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FA"/>
                </a:solidFill>
              </a:rPr>
              <a:t>© 2026 Ji-Hajoor. Verified Help. Anytime. Anywhere. Powered by Condigence LLP.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Ji-Hajoor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2A516"/>
                </a:solidFill>
              </a:rPr>
              <a:t>Verified Help. Anytime. Anywhere.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60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0FA"/>
                </a:solidFill>
              </a:rPr>
              <a:t>Pitch deck · October 2026 · Powered by Condigence LLP</a:t>
            </a:r>
            <a:endParaRPr lang="en-US" sz="1200" dirty="0"/>
          </a:p>
        </p:txBody>
      </p:sp>
      <p:sp>
        <p:nvSpPr>
          <p:cNvPr id="5" name="hero-circle"/>
          <p:cNvSpPr/>
          <p:nvPr/>
        </p:nvSpPr>
        <p:spPr>
          <a:xfrm>
            <a:off x="6263640" y="105156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188720" cy="1188720"/>
          </a:xfrm>
          <a:prstGeom prst="rect">
            <a:avLst/>
          </a:prstGeom>
        </p:spPr>
      </p:pic>
      <p:sp>
        <p:nvSpPr>
          <p:cNvPr id="7" name="hero-dot"/>
          <p:cNvSpPr/>
          <p:nvPr/>
        </p:nvSpPr>
        <p:spPr>
          <a:xfrm>
            <a:off x="8001000" y="3063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hero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22783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Finding a trustworthy pro is still a gamble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Most home repairs are still booked by word of mouth: no checks, no price list, no recourse</a:t>
            </a:r>
            <a:endParaRPr lang="en-US" sz="1400" dirty="0"/>
          </a:p>
        </p:txBody>
      </p:sp>
      <p:sp>
        <p:nvSpPr>
          <p:cNvPr id="5" name="card-1"/>
          <p:cNvSpPr/>
          <p:nvPr/>
        </p:nvSpPr>
        <p:spPr>
          <a:xfrm>
            <a:off x="457200" y="146304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8" name="card-title-4"/>
          <p:cNvSpPr txBox="1"/>
          <p:nvPr/>
        </p:nvSpPr>
        <p:spPr>
          <a:xfrm>
            <a:off x="640080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800" dirty="0"/>
          </a:p>
        </p:txBody>
      </p:sp>
      <p:sp>
        <p:nvSpPr>
          <p:cNvPr id="9" name="card-body-5"/>
          <p:cNvSpPr txBox="1"/>
          <p:nvPr/>
        </p:nvSpPr>
        <p:spPr>
          <a:xfrm>
            <a:off x="640080" y="2715768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stranger in your home with no ID check, no history and no one to call if it goes wrong.</a:t>
            </a:r>
            <a:endParaRPr lang="en-US" sz="1500" dirty="0"/>
          </a:p>
        </p:txBody>
      </p:sp>
      <p:sp>
        <p:nvSpPr>
          <p:cNvPr id="10" name="card-6"/>
          <p:cNvSpPr/>
          <p:nvPr/>
        </p:nvSpPr>
        <p:spPr>
          <a:xfrm>
            <a:off x="3291840" y="146304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-7"/>
          <p:cNvSpPr/>
          <p:nvPr/>
        </p:nvSpPr>
        <p:spPr>
          <a:xfrm>
            <a:off x="347472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-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776679"/>
            <a:ext cx="241402" cy="241402"/>
          </a:xfrm>
          <a:prstGeom prst="rect">
            <a:avLst/>
          </a:prstGeom>
        </p:spPr>
      </p:pic>
      <p:sp>
        <p:nvSpPr>
          <p:cNvPr id="13" name="card-title-9"/>
          <p:cNvSpPr txBox="1"/>
          <p:nvPr/>
        </p:nvSpPr>
        <p:spPr>
          <a:xfrm>
            <a:off x="3474720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Surprise prices</a:t>
            </a:r>
            <a:endParaRPr lang="en-US" sz="1800" dirty="0"/>
          </a:p>
        </p:txBody>
      </p:sp>
      <p:sp>
        <p:nvSpPr>
          <p:cNvPr id="14" name="card-body-10"/>
          <p:cNvSpPr txBox="1"/>
          <p:nvPr/>
        </p:nvSpPr>
        <p:spPr>
          <a:xfrm>
            <a:off x="3474720" y="2715768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quote changes at the door, and parts are added without asking.</a:t>
            </a:r>
            <a:endParaRPr lang="en-US" sz="1500" dirty="0"/>
          </a:p>
        </p:txBody>
      </p:sp>
      <p:sp>
        <p:nvSpPr>
          <p:cNvPr id="15" name="card-11"/>
          <p:cNvSpPr/>
          <p:nvPr/>
        </p:nvSpPr>
        <p:spPr>
          <a:xfrm>
            <a:off x="6126480" y="146304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-12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776679"/>
            <a:ext cx="241402" cy="241402"/>
          </a:xfrm>
          <a:prstGeom prst="rect">
            <a:avLst/>
          </a:prstGeom>
        </p:spPr>
      </p:pic>
      <p:sp>
        <p:nvSpPr>
          <p:cNvPr id="18" name="card-title-14"/>
          <p:cNvSpPr txBox="1"/>
          <p:nvPr/>
        </p:nvSpPr>
        <p:spPr>
          <a:xfrm>
            <a:off x="6309360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No-shows</a:t>
            </a:r>
            <a:endParaRPr lang="en-US" sz="1800" dirty="0"/>
          </a:p>
        </p:txBody>
      </p:sp>
      <p:sp>
        <p:nvSpPr>
          <p:cNvPr id="19" name="card-body-15"/>
          <p:cNvSpPr txBox="1"/>
          <p:nvPr/>
        </p:nvSpPr>
        <p:spPr>
          <a:xfrm>
            <a:off x="6309360" y="2715768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Late or missed visits, with no way to see who is coming or when.</a:t>
            </a:r>
            <a:endParaRPr lang="en-US" sz="1500" dirty="0"/>
          </a:p>
        </p:txBody>
      </p:sp>
      <p:sp>
        <p:nvSpPr>
          <p:cNvPr id="20" name="callout-16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6E2"/>
          </a:solidFill>
          <a:ln w="12700">
            <a:solidFill>
              <a:srgbClr val="FFF6E2"/>
            </a:solidFill>
            <a:prstDash val="solid"/>
          </a:ln>
        </p:spPr>
      </p:sp>
      <p:sp>
        <p:nvSpPr>
          <p:cNvPr id="21" name="callout-text-17"/>
          <p:cNvSpPr txBox="1"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4100"/>
                </a:solidFill>
              </a:rPr>
              <a:t>Under 1% of India’s ₹5.1 lakh crore home-services market is booked online (Redseer, FY25).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marketplace, three apps, built on trust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side of the market gets an app designed for its job</a:t>
            </a:r>
            <a:endParaRPr lang="en-US" sz="1400" dirty="0"/>
          </a:p>
        </p:txBody>
      </p:sp>
      <p:sp>
        <p:nvSpPr>
          <p:cNvPr id="5" name="card-18"/>
          <p:cNvSpPr/>
          <p:nvPr/>
        </p:nvSpPr>
        <p:spPr>
          <a:xfrm>
            <a:off x="457200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19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8" name="kicker-21"/>
          <p:cNvSpPr txBox="1"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JIHAJOOR.COM</a:t>
            </a:r>
            <a:endParaRPr lang="en-US" sz="1100" dirty="0"/>
          </a:p>
        </p:txBody>
      </p:sp>
      <p:sp>
        <p:nvSpPr>
          <p:cNvPr id="9" name="card-title-22"/>
          <p:cNvSpPr txBox="1"/>
          <p:nvPr/>
        </p:nvSpPr>
        <p:spPr>
          <a:xfrm>
            <a:off x="640080" y="2560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Ji-Hajoor</a:t>
            </a:r>
            <a:endParaRPr lang="en-US" sz="1800" dirty="0"/>
          </a:p>
        </p:txBody>
      </p:sp>
      <p:sp>
        <p:nvSpPr>
          <p:cNvPr id="10" name="card-body-23"/>
          <p:cNvSpPr txBox="1"/>
          <p:nvPr/>
        </p:nvSpPr>
        <p:spPr>
          <a:xfrm>
            <a:off x="640080" y="2990088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customers: book in two minutes, see the price first, track and chat live, pay and rate.</a:t>
            </a:r>
            <a:endParaRPr lang="en-US" sz="1500" dirty="0"/>
          </a:p>
        </p:txBody>
      </p:sp>
      <p:sp>
        <p:nvSpPr>
          <p:cNvPr id="11" name="card-24"/>
          <p:cNvSpPr/>
          <p:nvPr/>
        </p:nvSpPr>
        <p:spPr>
          <a:xfrm>
            <a:off x="3291840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circle-25"/>
          <p:cNvSpPr/>
          <p:nvPr/>
        </p:nvSpPr>
        <p:spPr>
          <a:xfrm>
            <a:off x="3474720" y="16459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776679"/>
            <a:ext cx="241402" cy="241402"/>
          </a:xfrm>
          <a:prstGeom prst="rect">
            <a:avLst/>
          </a:prstGeom>
        </p:spPr>
      </p:pic>
      <p:sp>
        <p:nvSpPr>
          <p:cNvPr id="14" name="kicker-27"/>
          <p:cNvSpPr txBox="1"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PARTNER.JIHAJOOR.COM</a:t>
            </a:r>
            <a:endParaRPr lang="en-US" sz="1100" dirty="0"/>
          </a:p>
        </p:txBody>
      </p:sp>
      <p:sp>
        <p:nvSpPr>
          <p:cNvPr id="15" name="card-title-28"/>
          <p:cNvSpPr txBox="1"/>
          <p:nvPr/>
        </p:nvSpPr>
        <p:spPr>
          <a:xfrm>
            <a:off x="3474720" y="2560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Ji-Hajoor Pro</a:t>
            </a:r>
            <a:endParaRPr lang="en-US" sz="1800" dirty="0"/>
          </a:p>
        </p:txBody>
      </p:sp>
      <p:sp>
        <p:nvSpPr>
          <p:cNvPr id="16" name="card-body-29"/>
          <p:cNvSpPr txBox="1"/>
          <p:nvPr/>
        </p:nvSpPr>
        <p:spPr>
          <a:xfrm>
            <a:off x="3474720" y="2990088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workers: get verified, take jobs nearby, record photos and parts, get paid, build reviews.</a:t>
            </a:r>
            <a:endParaRPr lang="en-US" sz="1500" dirty="0"/>
          </a:p>
        </p:txBody>
      </p:sp>
      <p:sp>
        <p:nvSpPr>
          <p:cNvPr id="17" name="card-30"/>
          <p:cNvSpPr/>
          <p:nvPr/>
        </p:nvSpPr>
        <p:spPr>
          <a:xfrm>
            <a:off x="6126480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circle-31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icon-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776679"/>
            <a:ext cx="241402" cy="241402"/>
          </a:xfrm>
          <a:prstGeom prst="rect">
            <a:avLst/>
          </a:prstGeom>
        </p:spPr>
      </p:pic>
      <p:sp>
        <p:nvSpPr>
          <p:cNvPr id="20" name="kicker-33"/>
          <p:cNvSpPr txBox="1"/>
          <p:nvPr/>
        </p:nvSpPr>
        <p:spPr>
          <a:xfrm>
            <a:off x="63093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ADMIN.JIHAJOOR.COM</a:t>
            </a:r>
            <a:endParaRPr lang="en-US" sz="1100" dirty="0"/>
          </a:p>
        </p:txBody>
      </p:sp>
      <p:sp>
        <p:nvSpPr>
          <p:cNvPr id="21" name="card-title-34"/>
          <p:cNvSpPr txBox="1"/>
          <p:nvPr/>
        </p:nvSpPr>
        <p:spPr>
          <a:xfrm>
            <a:off x="6309360" y="2560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Ji-Hajoor Admin</a:t>
            </a:r>
            <a:endParaRPr lang="en-US" sz="1800" dirty="0"/>
          </a:p>
        </p:txBody>
      </p:sp>
      <p:sp>
        <p:nvSpPr>
          <p:cNvPr id="22" name="card-body-35"/>
          <p:cNvSpPr txBox="1"/>
          <p:nvPr/>
        </p:nvSpPr>
        <p:spPr>
          <a:xfrm>
            <a:off x="6309360" y="2990088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staff and agencies: verification, pricing, dispatch, refunds, moderation; My agency for teams.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From a tap on Book to a public review</a:t>
            </a:r>
            <a:endParaRPr lang="en-US" sz="1400" dirty="0"/>
          </a:p>
        </p:txBody>
      </p:sp>
      <p:sp>
        <p:nvSpPr>
          <p:cNvPr id="5" name="flow-arrow-36"/>
          <p:cNvSpPr/>
          <p:nvPr/>
        </p:nvSpPr>
        <p:spPr>
          <a:xfrm>
            <a:off x="167335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6" name="flow-dot-37"/>
          <p:cNvSpPr/>
          <p:nvPr/>
        </p:nvSpPr>
        <p:spPr>
          <a:xfrm>
            <a:off x="96012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-num-38"/>
          <p:cNvSpPr txBox="1"/>
          <p:nvPr/>
        </p:nvSpPr>
        <p:spPr>
          <a:xfrm>
            <a:off x="9601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flow-title-39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700" dirty="0"/>
          </a:p>
        </p:txBody>
      </p:sp>
      <p:sp>
        <p:nvSpPr>
          <p:cNvPr id="9" name="flow-body-40"/>
          <p:cNvSpPr txBox="1"/>
          <p:nvPr/>
        </p:nvSpPr>
        <p:spPr>
          <a:xfrm>
            <a:off x="53035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a service, place and time. See the itemised price.</a:t>
            </a:r>
            <a:endParaRPr lang="en-US" sz="1400" dirty="0"/>
          </a:p>
        </p:txBody>
      </p:sp>
      <p:sp>
        <p:nvSpPr>
          <p:cNvPr id="10" name="flow-arrow-41"/>
          <p:cNvSpPr/>
          <p:nvPr/>
        </p:nvSpPr>
        <p:spPr>
          <a:xfrm>
            <a:off x="331927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1" name="flow-dot-42"/>
          <p:cNvSpPr/>
          <p:nvPr/>
        </p:nvSpPr>
        <p:spPr>
          <a:xfrm>
            <a:off x="26060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low-num-43"/>
          <p:cNvSpPr txBox="1"/>
          <p:nvPr/>
        </p:nvSpPr>
        <p:spPr>
          <a:xfrm>
            <a:off x="2606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flow-title-44"/>
          <p:cNvSpPr txBox="1"/>
          <p:nvPr/>
        </p:nvSpPr>
        <p:spPr>
          <a:xfrm>
            <a:off x="21488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700" dirty="0"/>
          </a:p>
        </p:txBody>
      </p:sp>
      <p:sp>
        <p:nvSpPr>
          <p:cNvPr id="14" name="flow-body-45"/>
          <p:cNvSpPr txBox="1"/>
          <p:nvPr/>
        </p:nvSpPr>
        <p:spPr>
          <a:xfrm>
            <a:off x="217627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Nearby verified pros get the offer. First to accept wins.</a:t>
            </a:r>
            <a:endParaRPr lang="en-US" sz="1400" dirty="0"/>
          </a:p>
        </p:txBody>
      </p:sp>
      <p:sp>
        <p:nvSpPr>
          <p:cNvPr id="15" name="flow-arrow-46"/>
          <p:cNvSpPr/>
          <p:nvPr/>
        </p:nvSpPr>
        <p:spPr>
          <a:xfrm>
            <a:off x="496519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6" name="flow-dot-47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flow-num-48"/>
          <p:cNvSpPr txBox="1"/>
          <p:nvPr/>
        </p:nvSpPr>
        <p:spPr>
          <a:xfrm>
            <a:off x="42519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flow-title-49"/>
          <p:cNvSpPr txBox="1"/>
          <p:nvPr/>
        </p:nvSpPr>
        <p:spPr>
          <a:xfrm>
            <a:off x="37947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700" dirty="0"/>
          </a:p>
        </p:txBody>
      </p:sp>
      <p:sp>
        <p:nvSpPr>
          <p:cNvPr id="19" name="flow-body-50"/>
          <p:cNvSpPr txBox="1"/>
          <p:nvPr/>
        </p:nvSpPr>
        <p:spPr>
          <a:xfrm>
            <a:off x="382219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map and chat. The customer approves any parts.</a:t>
            </a:r>
            <a:endParaRPr lang="en-US" sz="1400" dirty="0"/>
          </a:p>
        </p:txBody>
      </p:sp>
      <p:sp>
        <p:nvSpPr>
          <p:cNvPr id="20" name="flow-arrow-51"/>
          <p:cNvSpPr/>
          <p:nvPr/>
        </p:nvSpPr>
        <p:spPr>
          <a:xfrm>
            <a:off x="661111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21" name="flow-dot-52"/>
          <p:cNvSpPr/>
          <p:nvPr/>
        </p:nvSpPr>
        <p:spPr>
          <a:xfrm>
            <a:off x="589788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flow-num-53"/>
          <p:cNvSpPr txBox="1"/>
          <p:nvPr/>
        </p:nvSpPr>
        <p:spPr>
          <a:xfrm>
            <a:off x="58978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flow-title-54"/>
          <p:cNvSpPr txBox="1"/>
          <p:nvPr/>
        </p:nvSpPr>
        <p:spPr>
          <a:xfrm>
            <a:off x="54406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700" dirty="0"/>
          </a:p>
        </p:txBody>
      </p:sp>
      <p:sp>
        <p:nvSpPr>
          <p:cNvPr id="24" name="flow-body-55"/>
          <p:cNvSpPr txBox="1"/>
          <p:nvPr/>
        </p:nvSpPr>
        <p:spPr>
          <a:xfrm>
            <a:off x="546811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UPI, card, net banking or wallet. GST invoice at once.</a:t>
            </a:r>
            <a:endParaRPr lang="en-US" sz="1400" dirty="0"/>
          </a:p>
        </p:txBody>
      </p:sp>
      <p:sp>
        <p:nvSpPr>
          <p:cNvPr id="25" name="flow-dot-56"/>
          <p:cNvSpPr/>
          <p:nvPr/>
        </p:nvSpPr>
        <p:spPr>
          <a:xfrm>
            <a:off x="754380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flow-num-57"/>
          <p:cNvSpPr txBox="1"/>
          <p:nvPr/>
        </p:nvSpPr>
        <p:spPr>
          <a:xfrm>
            <a:off x="7543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flow-title-58"/>
          <p:cNvSpPr txBox="1"/>
          <p:nvPr/>
        </p:nvSpPr>
        <p:spPr>
          <a:xfrm>
            <a:off x="708660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</a:t>
            </a:r>
            <a:endParaRPr lang="en-US" sz="1700" dirty="0"/>
          </a:p>
        </p:txBody>
      </p:sp>
      <p:sp>
        <p:nvSpPr>
          <p:cNvPr id="28" name="flow-body-59"/>
          <p:cNvSpPr txBox="1"/>
          <p:nvPr/>
        </p:nvSpPr>
        <p:spPr>
          <a:xfrm>
            <a:off x="711403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Asked after paying, one reminder. Public review, worker replies.</a:t>
            </a:r>
            <a:endParaRPr lang="en-US" sz="1400" dirty="0"/>
          </a:p>
        </p:txBody>
      </p:sp>
      <p:sp>
        <p:nvSpPr>
          <p:cNvPr id="29" name="callout-60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2FD"/>
          </a:solidFill>
          <a:ln w="12700">
            <a:solidFill>
              <a:srgbClr val="EEF2FD"/>
            </a:solidFill>
            <a:prstDash val="solid"/>
          </a:ln>
        </p:spPr>
      </p:sp>
      <p:sp>
        <p:nvSpPr>
          <p:cNvPr id="30" name="callout-text-61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6E"/>
                </a:solidFill>
              </a:rPr>
              <a:t>Every step leaves a record both sides can see: the estimate, chat, job photos, the invoice and the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Trust is the product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Four guarantees every booking carries</a:t>
            </a:r>
            <a:endParaRPr lang="en-US" sz="1400" dirty="0"/>
          </a:p>
        </p:txBody>
      </p:sp>
      <p:sp>
        <p:nvSpPr>
          <p:cNvPr id="5" name="icon-circle-62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651406"/>
            <a:ext cx="263347" cy="263347"/>
          </a:xfrm>
          <a:prstGeom prst="rect">
            <a:avLst/>
          </a:prstGeom>
        </p:spPr>
      </p:pic>
      <p:sp>
        <p:nvSpPr>
          <p:cNvPr id="7" name="grid-title-64"/>
          <p:cNvSpPr txBox="1"/>
          <p:nvPr/>
        </p:nvSpPr>
        <p:spPr>
          <a:xfrm>
            <a:off x="11887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professionals</a:t>
            </a:r>
            <a:endParaRPr lang="en-US" sz="1700" dirty="0"/>
          </a:p>
        </p:txBody>
      </p:sp>
      <p:sp>
        <p:nvSpPr>
          <p:cNvPr id="8" name="grid-body-65"/>
          <p:cNvSpPr txBox="1"/>
          <p:nvPr/>
        </p:nvSpPr>
        <p:spPr>
          <a:xfrm>
            <a:off x="1188720" y="18928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Government ID, address proof and skill certificate checked, then a background check.</a:t>
            </a:r>
            <a:endParaRPr lang="en-US" sz="1400" dirty="0"/>
          </a:p>
        </p:txBody>
      </p:sp>
      <p:sp>
        <p:nvSpPr>
          <p:cNvPr id="9" name="icon-circle-66"/>
          <p:cNvSpPr/>
          <p:nvPr/>
        </p:nvSpPr>
        <p:spPr>
          <a:xfrm>
            <a:off x="475488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6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26" y="1651406"/>
            <a:ext cx="263347" cy="263347"/>
          </a:xfrm>
          <a:prstGeom prst="rect">
            <a:avLst/>
          </a:prstGeom>
        </p:spPr>
      </p:pic>
      <p:sp>
        <p:nvSpPr>
          <p:cNvPr id="11" name="grid-title-68"/>
          <p:cNvSpPr txBox="1"/>
          <p:nvPr/>
        </p:nvSpPr>
        <p:spPr>
          <a:xfrm>
            <a:off x="54864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before you book</a:t>
            </a:r>
            <a:endParaRPr lang="en-US" sz="1700" dirty="0"/>
          </a:p>
        </p:txBody>
      </p:sp>
      <p:sp>
        <p:nvSpPr>
          <p:cNvPr id="12" name="grid-body-69"/>
          <p:cNvSpPr txBox="1"/>
          <p:nvPr/>
        </p:nvSpPr>
        <p:spPr>
          <a:xfrm>
            <a:off x="5486400" y="18928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itemised estimate up front. Parts need the customer’s approval.</a:t>
            </a:r>
            <a:endParaRPr lang="en-US" sz="1400" dirty="0"/>
          </a:p>
        </p:txBody>
      </p:sp>
      <p:sp>
        <p:nvSpPr>
          <p:cNvPr id="13" name="icon-circle-70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-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114446"/>
            <a:ext cx="263347" cy="263347"/>
          </a:xfrm>
          <a:prstGeom prst="rect">
            <a:avLst/>
          </a:prstGeom>
        </p:spPr>
      </p:pic>
      <p:sp>
        <p:nvSpPr>
          <p:cNvPr id="15" name="grid-title-72"/>
          <p:cNvSpPr txBox="1"/>
          <p:nvPr/>
        </p:nvSpPr>
        <p:spPr>
          <a:xfrm>
            <a:off x="118872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and accountable</a:t>
            </a:r>
            <a:endParaRPr lang="en-US" sz="1700" dirty="0"/>
          </a:p>
        </p:txBody>
      </p:sp>
      <p:sp>
        <p:nvSpPr>
          <p:cNvPr id="16" name="grid-body-73"/>
          <p:cNvSpPr txBox="1"/>
          <p:nvPr/>
        </p:nvSpPr>
        <p:spPr>
          <a:xfrm>
            <a:off x="1188720" y="33558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Tracking, chat, and complaints answered by a real person, with refunds.</a:t>
            </a:r>
            <a:endParaRPr lang="en-US" sz="1400" dirty="0"/>
          </a:p>
        </p:txBody>
      </p:sp>
      <p:sp>
        <p:nvSpPr>
          <p:cNvPr id="17" name="icon-circle-74"/>
          <p:cNvSpPr/>
          <p:nvPr/>
        </p:nvSpPr>
        <p:spPr>
          <a:xfrm>
            <a:off x="4754880" y="29718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-7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26" y="3114446"/>
            <a:ext cx="263347" cy="263347"/>
          </a:xfrm>
          <a:prstGeom prst="rect">
            <a:avLst/>
          </a:prstGeom>
        </p:spPr>
      </p:pic>
      <p:sp>
        <p:nvSpPr>
          <p:cNvPr id="19" name="grid-title-76"/>
          <p:cNvSpPr txBox="1"/>
          <p:nvPr/>
        </p:nvSpPr>
        <p:spPr>
          <a:xfrm>
            <a:off x="54864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reviews</a:t>
            </a:r>
            <a:endParaRPr lang="en-US" sz="1700" dirty="0"/>
          </a:p>
        </p:txBody>
      </p:sp>
      <p:sp>
        <p:nvSpPr>
          <p:cNvPr id="20" name="grid-body-77"/>
          <p:cNvSpPr txBox="1"/>
          <p:nvPr/>
        </p:nvSpPr>
        <p:spPr>
          <a:xfrm>
            <a:off x="5486400" y="33558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from paid jobs, fraud-checked, anonymous, with the worker’s reply.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Two supply channels, so jobs get done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Independent workers first; agencies catch whatever is left</a:t>
            </a:r>
            <a:endParaRPr lang="en-US" sz="1400" dirty="0"/>
          </a:p>
        </p:txBody>
      </p:sp>
      <p:sp>
        <p:nvSpPr>
          <p:cNvPr id="5" name="box-78"/>
          <p:cNvSpPr/>
          <p:nvPr/>
        </p:nvSpPr>
        <p:spPr>
          <a:xfrm>
            <a:off x="457200" y="224028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box-text-79"/>
          <p:cNvSpPr txBox="1"/>
          <p:nvPr/>
        </p:nvSpPr>
        <p:spPr>
          <a:xfrm>
            <a:off x="530352" y="2240280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Customer request</a:t>
            </a:r>
            <a:endParaRPr lang="en-US" sz="1400" dirty="0"/>
          </a:p>
        </p:txBody>
      </p:sp>
      <p:sp>
        <p:nvSpPr>
          <p:cNvPr id="7" name="arrow-80"/>
          <p:cNvSpPr/>
          <p:nvPr/>
        </p:nvSpPr>
        <p:spPr>
          <a:xfrm>
            <a:off x="2240280" y="2651760"/>
            <a:ext cx="548640" cy="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8" name="box-81"/>
          <p:cNvSpPr/>
          <p:nvPr/>
        </p:nvSpPr>
        <p:spPr>
          <a:xfrm>
            <a:off x="2834640" y="224028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ox-text-82"/>
          <p:cNvSpPr txBox="1"/>
          <p:nvPr/>
        </p:nvSpPr>
        <p:spPr>
          <a:xfrm>
            <a:off x="2907792" y="224028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Dispatch engine</a:t>
            </a:r>
            <a:endParaRPr lang="en-US" sz="1400" dirty="0"/>
          </a:p>
        </p:txBody>
      </p:sp>
      <p:sp>
        <p:nvSpPr>
          <p:cNvPr id="10" name="arrow-83"/>
          <p:cNvSpPr/>
          <p:nvPr/>
        </p:nvSpPr>
        <p:spPr>
          <a:xfrm flipV="1">
            <a:off x="4709160" y="2377440"/>
            <a:ext cx="640080" cy="54864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1" name="arrow-84"/>
          <p:cNvSpPr/>
          <p:nvPr/>
        </p:nvSpPr>
        <p:spPr>
          <a:xfrm>
            <a:off x="4709160" y="2926080"/>
            <a:ext cx="640080" cy="54864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2" name="card-85"/>
          <p:cNvSpPr/>
          <p:nvPr/>
        </p:nvSpPr>
        <p:spPr>
          <a:xfrm>
            <a:off x="5394960" y="141732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title-86"/>
          <p:cNvSpPr txBox="1"/>
          <p:nvPr/>
        </p:nvSpPr>
        <p:spPr>
          <a:xfrm>
            <a:off x="5577840" y="1600200"/>
            <a:ext cx="29260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workers</a:t>
            </a:r>
            <a:endParaRPr lang="en-US" sz="1600" dirty="0"/>
          </a:p>
        </p:txBody>
      </p:sp>
      <p:sp>
        <p:nvSpPr>
          <p:cNvPr id="14" name="card-body-87"/>
          <p:cNvSpPr txBox="1"/>
          <p:nvPr/>
        </p:nvSpPr>
        <p:spPr>
          <a:xfrm>
            <a:off x="5577840" y="1999488"/>
            <a:ext cx="292608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Offered first, by distance, rating and track record. First to accept wins.</a:t>
            </a:r>
            <a:endParaRPr lang="en-US" sz="1400" dirty="0"/>
          </a:p>
        </p:txBody>
      </p:sp>
      <p:sp>
        <p:nvSpPr>
          <p:cNvPr id="15" name="card-88"/>
          <p:cNvSpPr/>
          <p:nvPr/>
        </p:nvSpPr>
        <p:spPr>
          <a:xfrm>
            <a:off x="5394960" y="306324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-title-89"/>
          <p:cNvSpPr txBox="1"/>
          <p:nvPr/>
        </p:nvSpPr>
        <p:spPr>
          <a:xfrm>
            <a:off x="5577840" y="3246120"/>
            <a:ext cx="29260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queue</a:t>
            </a:r>
            <a:endParaRPr lang="en-US" sz="1600" dirty="0"/>
          </a:p>
        </p:txBody>
      </p:sp>
      <p:sp>
        <p:nvSpPr>
          <p:cNvPr id="17" name="card-body-90"/>
          <p:cNvSpPr txBox="1"/>
          <p:nvPr/>
        </p:nvSpPr>
        <p:spPr>
          <a:xfrm>
            <a:off x="5577840" y="3645408"/>
            <a:ext cx="292608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one in time? The covering agency assigns a verified team member.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3375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Agencies keep a 0–50% share of their workers’ net, set per agency.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huge market, barely online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India home services, by Redseer</a:t>
            </a:r>
            <a:endParaRPr lang="en-US" sz="1400" dirty="0"/>
          </a:p>
        </p:txBody>
      </p:sp>
      <p:sp>
        <p:nvSpPr>
          <p:cNvPr id="5" name="stat-91"/>
          <p:cNvSpPr txBox="1"/>
          <p:nvPr/>
        </p:nvSpPr>
        <p:spPr>
          <a:xfrm>
            <a:off x="45720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₹5.1 lakh cr</a:t>
            </a:r>
            <a:endParaRPr lang="en-US" sz="4000" dirty="0"/>
          </a:p>
        </p:txBody>
      </p:sp>
      <p:sp>
        <p:nvSpPr>
          <p:cNvPr id="6" name="stat-label-92"/>
          <p:cNvSpPr txBox="1"/>
          <p:nvPr/>
        </p:nvSpPr>
        <p:spPr>
          <a:xfrm>
            <a:off x="4572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Home-services market in India, FY25</a:t>
            </a:r>
            <a:endParaRPr lang="en-US" sz="1400" dirty="0"/>
          </a:p>
        </p:txBody>
      </p:sp>
      <p:sp>
        <p:nvSpPr>
          <p:cNvPr id="7" name="stat-93"/>
          <p:cNvSpPr txBox="1"/>
          <p:nvPr/>
        </p:nvSpPr>
        <p:spPr>
          <a:xfrm>
            <a:off x="457200" y="2514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4000" dirty="0"/>
          </a:p>
        </p:txBody>
      </p:sp>
      <p:sp>
        <p:nvSpPr>
          <p:cNvPr id="8" name="stat-label-94"/>
          <p:cNvSpPr txBox="1"/>
          <p:nvPr/>
        </p:nvSpPr>
        <p:spPr>
          <a:xfrm>
            <a:off x="45720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it booked online today</a:t>
            </a:r>
            <a:endParaRPr lang="en-US" sz="1400" dirty="0"/>
          </a:p>
        </p:txBody>
      </p:sp>
      <p:sp>
        <p:nvSpPr>
          <p:cNvPr id="9" name="stat-95"/>
          <p:cNvSpPr txBox="1"/>
          <p:nvPr/>
        </p:nvSpPr>
        <p:spPr>
          <a:xfrm>
            <a:off x="457200" y="3657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18–22%</a:t>
            </a:r>
            <a:endParaRPr lang="en-US" sz="3200" dirty="0"/>
          </a:p>
        </p:txBody>
      </p:sp>
      <p:sp>
        <p:nvSpPr>
          <p:cNvPr id="10" name="stat-label-96"/>
          <p:cNvSpPr txBox="1"/>
          <p:nvPr/>
        </p:nvSpPr>
        <p:spPr>
          <a:xfrm>
            <a:off x="457200" y="4389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yearly growth of online, to FY30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0" y="137160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1148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</a:rPr>
              <a:t>Source: Redseer Strategy Consultants via Outlook Business (Sept 2025); FY25 figures, FY30 projection.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fee on every paid job, shown upfront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customer sees the platform fee as its own line before booking</a:t>
            </a:r>
            <a:endParaRPr lang="en-US" sz="1400" dirty="0"/>
          </a:p>
        </p:txBody>
      </p:sp>
      <p:graphicFrame>
        <p:nvGraphicFramePr>
          <p:cNvPr id="9" name="table-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572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tap repair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charges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₹299.00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fee (10%)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Ji-Hajoor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18% on ₹328.90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₹59.20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₹388.10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icon-circle-98"/>
          <p:cNvSpPr/>
          <p:nvPr/>
        </p:nvSpPr>
        <p:spPr>
          <a:xfrm>
            <a:off x="539496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9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606" y="1605686"/>
            <a:ext cx="263347" cy="263347"/>
          </a:xfrm>
          <a:prstGeom prst="rect">
            <a:avLst/>
          </a:prstGeom>
        </p:spPr>
      </p:pic>
      <p:sp>
        <p:nvSpPr>
          <p:cNvPr id="8" name="grid-title-100"/>
          <p:cNvSpPr txBox="1"/>
          <p:nvPr/>
        </p:nvSpPr>
        <p:spPr>
          <a:xfrm>
            <a:off x="6126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1700" dirty="0"/>
          </a:p>
        </p:txBody>
      </p:sp>
      <p:sp>
        <p:nvSpPr>
          <p:cNvPr id="9" name="grid-body-101"/>
          <p:cNvSpPr txBox="1"/>
          <p:nvPr/>
        </p:nvSpPr>
        <p:spPr>
          <a:xfrm>
            <a:off x="6126480" y="1847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2× base price</a:t>
            </a:r>
            <a:endParaRPr lang="en-US" sz="1400" dirty="0"/>
          </a:p>
        </p:txBody>
      </p:sp>
      <p:sp>
        <p:nvSpPr>
          <p:cNvPr id="10" name="icon-circle-102"/>
          <p:cNvSpPr/>
          <p:nvPr/>
        </p:nvSpPr>
        <p:spPr>
          <a:xfrm>
            <a:off x="539496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1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606" y="2611526"/>
            <a:ext cx="263347" cy="263347"/>
          </a:xfrm>
          <a:prstGeom prst="rect">
            <a:avLst/>
          </a:prstGeom>
        </p:spPr>
      </p:pic>
      <p:sp>
        <p:nvSpPr>
          <p:cNvPr id="12" name="grid-title-104"/>
          <p:cNvSpPr txBox="1"/>
          <p:nvPr/>
        </p:nvSpPr>
        <p:spPr>
          <a:xfrm>
            <a:off x="61264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 and weekend</a:t>
            </a:r>
            <a:endParaRPr lang="en-US" sz="1700" dirty="0"/>
          </a:p>
        </p:txBody>
      </p:sp>
      <p:sp>
        <p:nvSpPr>
          <p:cNvPr id="13" name="grid-body-105"/>
          <p:cNvSpPr txBox="1"/>
          <p:nvPr/>
        </p:nvSpPr>
        <p:spPr>
          <a:xfrm>
            <a:off x="6126480" y="2852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+₹100 / +₹75</a:t>
            </a:r>
            <a:endParaRPr lang="en-US" sz="1400" dirty="0"/>
          </a:p>
        </p:txBody>
      </p:sp>
      <p:sp>
        <p:nvSpPr>
          <p:cNvPr id="14" name="icon-circle-106"/>
          <p:cNvSpPr/>
          <p:nvPr/>
        </p:nvSpPr>
        <p:spPr>
          <a:xfrm>
            <a:off x="5394960" y="34747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con-10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06" y="3617366"/>
            <a:ext cx="263347" cy="263347"/>
          </a:xfrm>
          <a:prstGeom prst="rect">
            <a:avLst/>
          </a:prstGeom>
        </p:spPr>
      </p:pic>
      <p:sp>
        <p:nvSpPr>
          <p:cNvPr id="16" name="grid-title-108"/>
          <p:cNvSpPr txBox="1"/>
          <p:nvPr/>
        </p:nvSpPr>
        <p:spPr>
          <a:xfrm>
            <a:off x="612648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cancellation</a:t>
            </a:r>
            <a:endParaRPr lang="en-US" sz="1700" dirty="0"/>
          </a:p>
        </p:txBody>
      </p:sp>
      <p:sp>
        <p:nvSpPr>
          <p:cNvPr id="17" name="grid-body-109"/>
          <p:cNvSpPr txBox="1"/>
          <p:nvPr/>
        </p:nvSpPr>
        <p:spPr>
          <a:xfrm>
            <a:off x="612648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Fee once the pro is on the 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About ₹31 per job after costs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Illustrative unit economics at starter pricing</a:t>
            </a:r>
            <a:endParaRPr lang="en-US" sz="1400" dirty="0"/>
          </a:p>
        </p:txBody>
      </p:sp>
      <p:graphicFrame>
        <p:nvGraphicFramePr>
          <p:cNvPr id="10" name="table-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657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job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fee (10% of ₹555)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 (≈2% of ₹720)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Coupons (₹50 × 20%)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480560" y="13716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Go to market one city at a time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Supply first, then demand, with reviews from day one</a:t>
            </a:r>
            <a:endParaRPr lang="en-US" sz="1400" dirty="0"/>
          </a:p>
        </p:txBody>
      </p:sp>
      <p:sp>
        <p:nvSpPr>
          <p:cNvPr id="5" name="flow-arrow-111"/>
          <p:cNvSpPr/>
          <p:nvPr/>
        </p:nvSpPr>
        <p:spPr>
          <a:xfrm>
            <a:off x="1879092" y="1920240"/>
            <a:ext cx="127101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6" name="flow-dot-112"/>
          <p:cNvSpPr/>
          <p:nvPr/>
        </p:nvSpPr>
        <p:spPr>
          <a:xfrm>
            <a:off x="11658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flow-num-113"/>
          <p:cNvSpPr txBox="1"/>
          <p:nvPr/>
        </p:nvSpPr>
        <p:spPr>
          <a:xfrm>
            <a:off x="11658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flow-title-114"/>
          <p:cNvSpPr txBox="1"/>
          <p:nvPr/>
        </p:nvSpPr>
        <p:spPr>
          <a:xfrm>
            <a:off x="50292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</a:t>
            </a:r>
            <a:endParaRPr lang="en-US" sz="1700" dirty="0"/>
          </a:p>
        </p:txBody>
      </p:sp>
      <p:sp>
        <p:nvSpPr>
          <p:cNvPr id="9" name="flow-body-115"/>
          <p:cNvSpPr txBox="1"/>
          <p:nvPr/>
        </p:nvSpPr>
        <p:spPr>
          <a:xfrm>
            <a:off x="530352" y="2788920"/>
            <a:ext cx="1911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Weeks 1–4: verify 50–100 workers through agencies and trade schools.</a:t>
            </a:r>
            <a:endParaRPr lang="en-US" sz="1400" dirty="0"/>
          </a:p>
        </p:txBody>
      </p:sp>
      <p:sp>
        <p:nvSpPr>
          <p:cNvPr id="10" name="flow-arrow-116"/>
          <p:cNvSpPr/>
          <p:nvPr/>
        </p:nvSpPr>
        <p:spPr>
          <a:xfrm>
            <a:off x="3936492" y="1920240"/>
            <a:ext cx="127101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1" name="flow-dot-117"/>
          <p:cNvSpPr/>
          <p:nvPr/>
        </p:nvSpPr>
        <p:spPr>
          <a:xfrm>
            <a:off x="32232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flow-num-118"/>
          <p:cNvSpPr txBox="1"/>
          <p:nvPr/>
        </p:nvSpPr>
        <p:spPr>
          <a:xfrm>
            <a:off x="32232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flow-title-119"/>
          <p:cNvSpPr txBox="1"/>
          <p:nvPr/>
        </p:nvSpPr>
        <p:spPr>
          <a:xfrm>
            <a:off x="256032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1700" dirty="0"/>
          </a:p>
        </p:txBody>
      </p:sp>
      <p:sp>
        <p:nvSpPr>
          <p:cNvPr id="14" name="flow-body-120"/>
          <p:cNvSpPr txBox="1"/>
          <p:nvPr/>
        </p:nvSpPr>
        <p:spPr>
          <a:xfrm>
            <a:off x="2587752" y="2788920"/>
            <a:ext cx="1911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Weeks 3–8: launch coupons and housing-society partnerships.</a:t>
            </a:r>
            <a:endParaRPr lang="en-US" sz="1400" dirty="0"/>
          </a:p>
        </p:txBody>
      </p:sp>
      <p:sp>
        <p:nvSpPr>
          <p:cNvPr id="15" name="flow-arrow-121"/>
          <p:cNvSpPr/>
          <p:nvPr/>
        </p:nvSpPr>
        <p:spPr>
          <a:xfrm>
            <a:off x="5993892" y="1920240"/>
            <a:ext cx="127101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6" name="flow-dot-122"/>
          <p:cNvSpPr/>
          <p:nvPr/>
        </p:nvSpPr>
        <p:spPr>
          <a:xfrm>
            <a:off x="52806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flow-num-123"/>
          <p:cNvSpPr txBox="1"/>
          <p:nvPr/>
        </p:nvSpPr>
        <p:spPr>
          <a:xfrm>
            <a:off x="52806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flow-title-124"/>
          <p:cNvSpPr txBox="1"/>
          <p:nvPr/>
        </p:nvSpPr>
        <p:spPr>
          <a:xfrm>
            <a:off x="461772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</a:t>
            </a:r>
            <a:endParaRPr lang="en-US" sz="1700" dirty="0"/>
          </a:p>
        </p:txBody>
      </p:sp>
      <p:sp>
        <p:nvSpPr>
          <p:cNvPr id="19" name="flow-body-125"/>
          <p:cNvSpPr txBox="1"/>
          <p:nvPr/>
        </p:nvSpPr>
        <p:spPr>
          <a:xfrm>
            <a:off x="4645152" y="2788920"/>
            <a:ext cx="1911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 1 on: rate every job; workers share their profile pages.</a:t>
            </a:r>
            <a:endParaRPr lang="en-US" sz="1400" dirty="0"/>
          </a:p>
        </p:txBody>
      </p:sp>
      <p:sp>
        <p:nvSpPr>
          <p:cNvPr id="20" name="flow-dot-126"/>
          <p:cNvSpPr/>
          <p:nvPr/>
        </p:nvSpPr>
        <p:spPr>
          <a:xfrm>
            <a:off x="73380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flow-num-127"/>
          <p:cNvSpPr txBox="1"/>
          <p:nvPr/>
        </p:nvSpPr>
        <p:spPr>
          <a:xfrm>
            <a:off x="73380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flow-title-128"/>
          <p:cNvSpPr txBox="1"/>
          <p:nvPr/>
        </p:nvSpPr>
        <p:spPr>
          <a:xfrm>
            <a:off x="667512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</a:t>
            </a:r>
            <a:endParaRPr lang="en-US" sz="1700" dirty="0"/>
          </a:p>
        </p:txBody>
      </p:sp>
      <p:sp>
        <p:nvSpPr>
          <p:cNvPr id="23" name="flow-body-129"/>
          <p:cNvSpPr txBox="1"/>
          <p:nvPr/>
        </p:nvSpPr>
        <p:spPr>
          <a:xfrm>
            <a:off x="6702552" y="2788920"/>
            <a:ext cx="1911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 3 on: seasonal reminders, maintenance plans, next city.</a:t>
            </a:r>
            <a:endParaRPr lang="en-US" sz="1400" dirty="0"/>
          </a:p>
        </p:txBody>
      </p:sp>
      <p:sp>
        <p:nvSpPr>
          <p:cNvPr id="24" name="callout-130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6E2"/>
          </a:solidFill>
          <a:ln w="12700">
            <a:solidFill>
              <a:srgbClr val="FFF6E2"/>
            </a:solidFill>
            <a:prstDash val="solid"/>
          </a:ln>
        </p:spPr>
      </p:sp>
      <p:sp>
        <p:nvSpPr>
          <p:cNvPr id="25" name="callout-text-131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4100"/>
                </a:solidFill>
              </a:rPr>
              <a:t>Targets: 50–100 verified workers before demand campaigns; 40% of paid jobs reviewed.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Built, tested and live today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jihajoor.com, partner.jihajoor.com and admin.jihajoor.com</a:t>
            </a:r>
            <a:endParaRPr lang="en-US" sz="1400" dirty="0"/>
          </a:p>
        </p:txBody>
      </p:sp>
      <p:sp>
        <p:nvSpPr>
          <p:cNvPr id="5" name="stat-132"/>
          <p:cNvSpPr txBox="1"/>
          <p:nvPr/>
        </p:nvSpPr>
        <p:spPr>
          <a:xfrm>
            <a:off x="45720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stat-label-133"/>
          <p:cNvSpPr txBox="1"/>
          <p:nvPr/>
        </p:nvSpPr>
        <p:spPr>
          <a:xfrm>
            <a:off x="45720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apps on web, Android and iOS</a:t>
            </a:r>
            <a:endParaRPr lang="en-US" sz="1400" dirty="0"/>
          </a:p>
        </p:txBody>
      </p:sp>
      <p:sp>
        <p:nvSpPr>
          <p:cNvPr id="7" name="stat-134"/>
          <p:cNvSpPr txBox="1"/>
          <p:nvPr/>
        </p:nvSpPr>
        <p:spPr>
          <a:xfrm>
            <a:off x="256032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8" name="stat-label-135"/>
          <p:cNvSpPr txBox="1"/>
          <p:nvPr/>
        </p:nvSpPr>
        <p:spPr>
          <a:xfrm>
            <a:off x="256032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services in 5 deployables</a:t>
            </a:r>
            <a:endParaRPr lang="en-US" sz="1400" dirty="0"/>
          </a:p>
        </p:txBody>
      </p:sp>
      <p:sp>
        <p:nvSpPr>
          <p:cNvPr id="9" name="stat-136"/>
          <p:cNvSpPr txBox="1"/>
          <p:nvPr/>
        </p:nvSpPr>
        <p:spPr>
          <a:xfrm>
            <a:off x="466344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stat-label-137"/>
          <p:cNvSpPr txBox="1"/>
          <p:nvPr/>
        </p:nvSpPr>
        <p:spPr>
          <a:xfrm>
            <a:off x="46634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CI workflows</a:t>
            </a:r>
            <a:endParaRPr lang="en-US" sz="1400" dirty="0"/>
          </a:p>
        </p:txBody>
      </p:sp>
      <p:sp>
        <p:nvSpPr>
          <p:cNvPr id="11" name="stat-138"/>
          <p:cNvSpPr txBox="1"/>
          <p:nvPr/>
        </p:nvSpPr>
        <p:spPr>
          <a:xfrm>
            <a:off x="676656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stat-label-139"/>
          <p:cNvSpPr txBox="1"/>
          <p:nvPr/>
        </p:nvSpPr>
        <p:spPr>
          <a:xfrm>
            <a:off x="676656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known npm vulnerabilities</a:t>
            </a:r>
            <a:endParaRPr lang="en-US" sz="1400" dirty="0"/>
          </a:p>
        </p:txBody>
      </p:sp>
      <p:sp>
        <p:nvSpPr>
          <p:cNvPr id="13" name="icon-circle-140"/>
          <p:cNvSpPr/>
          <p:nvPr/>
        </p:nvSpPr>
        <p:spPr>
          <a:xfrm>
            <a:off x="45720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1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3205886"/>
            <a:ext cx="263347" cy="263347"/>
          </a:xfrm>
          <a:prstGeom prst="rect">
            <a:avLst/>
          </a:prstGeom>
        </p:spPr>
      </p:pic>
      <p:sp>
        <p:nvSpPr>
          <p:cNvPr id="15" name="grid-title-142"/>
          <p:cNvSpPr txBox="1"/>
          <p:nvPr/>
        </p:nvSpPr>
        <p:spPr>
          <a:xfrm>
            <a:off x="11887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</a:t>
            </a:r>
            <a:endParaRPr lang="en-US" sz="1700" dirty="0"/>
          </a:p>
        </p:txBody>
      </p:sp>
      <p:sp>
        <p:nvSpPr>
          <p:cNvPr id="16" name="grid-body-143"/>
          <p:cNvSpPr txBox="1"/>
          <p:nvPr/>
        </p:nvSpPr>
        <p:spPr>
          <a:xfrm>
            <a:off x="1188720" y="34472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HttpOnly sessions, BCrypt passwords, WAF, rate limits.</a:t>
            </a:r>
            <a:endParaRPr lang="en-US" sz="1400" dirty="0"/>
          </a:p>
        </p:txBody>
      </p:sp>
      <p:sp>
        <p:nvSpPr>
          <p:cNvPr id="17" name="icon-circle-144"/>
          <p:cNvSpPr/>
          <p:nvPr/>
        </p:nvSpPr>
        <p:spPr>
          <a:xfrm>
            <a:off x="4754880" y="30632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-14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26" y="3205886"/>
            <a:ext cx="263347" cy="263347"/>
          </a:xfrm>
          <a:prstGeom prst="rect">
            <a:avLst/>
          </a:prstGeom>
        </p:spPr>
      </p:pic>
      <p:sp>
        <p:nvSpPr>
          <p:cNvPr id="19" name="grid-title-146"/>
          <p:cNvSpPr txBox="1"/>
          <p:nvPr/>
        </p:nvSpPr>
        <p:spPr>
          <a:xfrm>
            <a:off x="54864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payments</a:t>
            </a:r>
            <a:endParaRPr lang="en-US" sz="1700" dirty="0"/>
          </a:p>
        </p:txBody>
      </p:sp>
      <p:sp>
        <p:nvSpPr>
          <p:cNvPr id="20" name="grid-body-147"/>
          <p:cNvSpPr txBox="1"/>
          <p:nvPr/>
        </p:nvSpPr>
        <p:spPr>
          <a:xfrm>
            <a:off x="5486400" y="34472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Razorpay with signature checks; credited once.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comes next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Revenue and reach on top of what is built</a:t>
            </a:r>
            <a:endParaRPr lang="en-US" sz="1400" dirty="0"/>
          </a:p>
        </p:txBody>
      </p:sp>
      <p:sp>
        <p:nvSpPr>
          <p:cNvPr id="5" name="card-148"/>
          <p:cNvSpPr/>
          <p:nvPr/>
        </p:nvSpPr>
        <p:spPr>
          <a:xfrm>
            <a:off x="457200" y="1463040"/>
            <a:ext cx="1885950" cy="237744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149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1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8" name="card-title-151"/>
          <p:cNvSpPr txBox="1"/>
          <p:nvPr/>
        </p:nvSpPr>
        <p:spPr>
          <a:xfrm>
            <a:off x="640080" y="2286000"/>
            <a:ext cx="152019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pros</a:t>
            </a:r>
            <a:endParaRPr lang="en-US" sz="1600" dirty="0"/>
          </a:p>
        </p:txBody>
      </p:sp>
      <p:sp>
        <p:nvSpPr>
          <p:cNvPr id="9" name="card-body-152"/>
          <p:cNvSpPr txBox="1"/>
          <p:nvPr/>
        </p:nvSpPr>
        <p:spPr>
          <a:xfrm>
            <a:off x="640080" y="2685288"/>
            <a:ext cx="152019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Top-rated workers pay to appear first.</a:t>
            </a:r>
            <a:endParaRPr lang="en-US" sz="1500" dirty="0"/>
          </a:p>
        </p:txBody>
      </p:sp>
      <p:sp>
        <p:nvSpPr>
          <p:cNvPr id="10" name="card-153"/>
          <p:cNvSpPr/>
          <p:nvPr/>
        </p:nvSpPr>
        <p:spPr>
          <a:xfrm>
            <a:off x="2571750" y="1463040"/>
            <a:ext cx="1885950" cy="237744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-154"/>
          <p:cNvSpPr/>
          <p:nvPr/>
        </p:nvSpPr>
        <p:spPr>
          <a:xfrm>
            <a:off x="2754630" y="16459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15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389" y="1776679"/>
            <a:ext cx="241402" cy="241402"/>
          </a:xfrm>
          <a:prstGeom prst="rect">
            <a:avLst/>
          </a:prstGeom>
        </p:spPr>
      </p:pic>
      <p:sp>
        <p:nvSpPr>
          <p:cNvPr id="13" name="card-title-156"/>
          <p:cNvSpPr txBox="1"/>
          <p:nvPr/>
        </p:nvSpPr>
        <p:spPr>
          <a:xfrm>
            <a:off x="2754630" y="2286000"/>
            <a:ext cx="152019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plans</a:t>
            </a:r>
            <a:endParaRPr lang="en-US" sz="1600" dirty="0"/>
          </a:p>
        </p:txBody>
      </p:sp>
      <p:sp>
        <p:nvSpPr>
          <p:cNvPr id="14" name="card-body-157"/>
          <p:cNvSpPr txBox="1"/>
          <p:nvPr/>
        </p:nvSpPr>
        <p:spPr>
          <a:xfrm>
            <a:off x="2754630" y="2685288"/>
            <a:ext cx="152019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Queue priority and review insights.</a:t>
            </a:r>
            <a:endParaRPr lang="en-US" sz="1500" dirty="0"/>
          </a:p>
        </p:txBody>
      </p:sp>
      <p:sp>
        <p:nvSpPr>
          <p:cNvPr id="15" name="card-158"/>
          <p:cNvSpPr/>
          <p:nvPr/>
        </p:nvSpPr>
        <p:spPr>
          <a:xfrm>
            <a:off x="4686300" y="1463040"/>
            <a:ext cx="1885950" cy="237744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-159"/>
          <p:cNvSpPr/>
          <p:nvPr/>
        </p:nvSpPr>
        <p:spPr>
          <a:xfrm>
            <a:off x="486918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16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39" y="1776679"/>
            <a:ext cx="241402" cy="241402"/>
          </a:xfrm>
          <a:prstGeom prst="rect">
            <a:avLst/>
          </a:prstGeom>
        </p:spPr>
      </p:pic>
      <p:sp>
        <p:nvSpPr>
          <p:cNvPr id="18" name="card-title-161"/>
          <p:cNvSpPr txBox="1"/>
          <p:nvPr/>
        </p:nvSpPr>
        <p:spPr>
          <a:xfrm>
            <a:off x="4869180" y="2286000"/>
            <a:ext cx="152019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plans</a:t>
            </a:r>
            <a:endParaRPr lang="en-US" sz="1600" dirty="0"/>
          </a:p>
        </p:txBody>
      </p:sp>
      <p:sp>
        <p:nvSpPr>
          <p:cNvPr id="19" name="card-body-162"/>
          <p:cNvSpPr txBox="1"/>
          <p:nvPr/>
        </p:nvSpPr>
        <p:spPr>
          <a:xfrm>
            <a:off x="4869180" y="2929128"/>
            <a:ext cx="152019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Yearly AC and appliance care, paid upfront.</a:t>
            </a:r>
            <a:endParaRPr lang="en-US" sz="1500" dirty="0"/>
          </a:p>
        </p:txBody>
      </p:sp>
      <p:sp>
        <p:nvSpPr>
          <p:cNvPr id="20" name="card-163"/>
          <p:cNvSpPr/>
          <p:nvPr/>
        </p:nvSpPr>
        <p:spPr>
          <a:xfrm>
            <a:off x="6800850" y="1463040"/>
            <a:ext cx="1885950" cy="237744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-circle-164"/>
          <p:cNvSpPr/>
          <p:nvPr/>
        </p:nvSpPr>
        <p:spPr>
          <a:xfrm>
            <a:off x="698373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icon-1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489" y="1776679"/>
            <a:ext cx="241402" cy="241402"/>
          </a:xfrm>
          <a:prstGeom prst="rect">
            <a:avLst/>
          </a:prstGeom>
        </p:spPr>
      </p:pic>
      <p:sp>
        <p:nvSpPr>
          <p:cNvPr id="23" name="card-title-166"/>
          <p:cNvSpPr txBox="1"/>
          <p:nvPr/>
        </p:nvSpPr>
        <p:spPr>
          <a:xfrm>
            <a:off x="6983730" y="2286000"/>
            <a:ext cx="152019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accounts</a:t>
            </a:r>
            <a:endParaRPr lang="en-US" sz="1600" dirty="0"/>
          </a:p>
        </p:txBody>
      </p:sp>
      <p:sp>
        <p:nvSpPr>
          <p:cNvPr id="24" name="card-body-167"/>
          <p:cNvSpPr txBox="1"/>
          <p:nvPr/>
        </p:nvSpPr>
        <p:spPr>
          <a:xfrm>
            <a:off x="6983730" y="2929128"/>
            <a:ext cx="152019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Societies and offices on monthly invoices.</a:t>
            </a:r>
            <a:endParaRPr lang="en-US" sz="1500" dirty="0"/>
          </a:p>
        </p:txBody>
      </p:sp>
      <p:sp>
        <p:nvSpPr>
          <p:cNvPr id="25" name="callout-168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2FD"/>
          </a:solidFill>
          <a:ln w="12700">
            <a:solidFill>
              <a:srgbClr val="EEF2FD"/>
            </a:solidFill>
            <a:prstDash val="solid"/>
          </a:ln>
        </p:spPr>
      </p:sp>
      <p:sp>
        <p:nvSpPr>
          <p:cNvPr id="26" name="callout-text-169"/>
          <p:cNvSpPr txBox="1"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6E"/>
                </a:solidFill>
              </a:rPr>
              <a:t>Also next: device push notifications, more categories, and the second 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Join us in building India’s most trusted home-services brand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Customers: book at jihajoor.com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Workers and agencies: join at partner.jihajoor.com and admin.jihajoor.com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Partners and investors: Condigence LLP, condigence.com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i-Hajoor">
  <a:themeElements>
    <a:clrScheme name="Ji-Hajoor">
      <a:dk1>
        <a:srgbClr val="1D2939"/>
      </a:dk1>
      <a:lt1>
        <a:srgbClr val="FFFFFF"/>
      </a:lt1>
      <a:dk2>
        <a:srgbClr val="0F2A6E"/>
      </a:dk2>
      <a:lt2>
        <a:srgbClr val="F2F5FC"/>
      </a:lt2>
      <a:accent1>
        <a:srgbClr val="2251D1"/>
      </a:accent1>
      <a:accent2>
        <a:srgbClr val="F2A516"/>
      </a:accent2>
      <a:accent3>
        <a:srgbClr val="0F766E"/>
      </a:accent3>
      <a:accent4>
        <a:srgbClr val="12875A"/>
      </a:accent4>
      <a:accent5>
        <a:srgbClr val="D92D20"/>
      </a:accent5>
      <a:accent6>
        <a:srgbClr val="5F6B7E"/>
      </a:accent6>
      <a:hlink>
        <a:srgbClr val="2251D1"/>
      </a:hlink>
      <a:folHlink>
        <a:srgbClr val="1A3FA6"/>
      </a:folHlink>
    </a:clrScheme>
    <a:fontScheme name="Ji-Hajo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Condigence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Ji-Hajoor — Pitch Deck</dc:title>
  <dc:subject>PptxGenJS Presentation</dc:subject>
  <dc:creator>Ji-Hajoor</dc:creator>
  <cp:lastModifiedBy>Ji-Hajoor</cp:lastModifiedBy>
  <cp:revision>1</cp:revision>
  <dcterms:created xsi:type="dcterms:W3CDTF">2026-10-30T09:16:09Z</dcterms:created>
  <dcterms:modified xsi:type="dcterms:W3CDTF">2026-10-30T09:16:09Z</dcterms:modified>
</cp:coreProperties>
</file>