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9" r:id="rId50"/>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736774f9-9cb5-038c-1a94-550cd878b9bb}">
          <p14:sldIdLst>
            <p14:sldId id="256"/>
            <p14:sldId id="257"/>
            <p14:sldId id="258"/>
          </p14:sldIdLst>
        </p14:section>
        <p14:section name="Architecture" id="{e505a3f6-b6ca-83d7-eddd-5675ab358212}">
          <p14:sldIdLst>
            <p14:sldId id="259"/>
            <p14:sldId id="260"/>
            <p14:sldId id="261"/>
            <p14:sldId id="262"/>
          </p14:sldIdLst>
        </p14:section>
        <p14:section name="Core flows" id="{9fae5445-10e0-ad66-0c79-b31637537d4f}">
          <p14:sldIdLst>
            <p14:sldId id="263"/>
            <p14:sldId id="264"/>
            <p14:sldId id="265"/>
            <p14:sldId id="266"/>
            <p14:sldId id="267"/>
            <p14:sldId id="268"/>
            <p14:sldId id="269"/>
            <p14:sldId id="270"/>
          </p14:sldIdLst>
        </p14:section>
        <p14:section name="Foundations" id="{934d7f49-6100-ff5d-e847-83416326a71a}">
          <p14:sldIdLst>
            <p14:sldId id="271"/>
            <p14:sldId id="272"/>
            <p14:sldId id="273"/>
            <p14:sldId id="274"/>
            <p14:sldId id="275"/>
          </p14:sldIdLst>
        </p14:section>
        <p14:section name="Delivery and status" id="{b8674e22-e41f-d32c-3c1e-64ce511f2205}">
          <p14:sldIdLst>
            <p14:sldId id="276"/>
            <p14:sldId id="277"/>
            <p14:sldId id="278"/>
            <p14:sldId id="279"/>
            <p14:sldId id="280"/>
            <p14:sldId id="281"/>
          </p14:sldIdLst>
        </p14:section>
        <p14:section name="What changed on 18 October" id="{f0f3bfdb-da72-bc04-fec7-98c0a5986612}">
          <p14:sldIdLst>
            <p14:sldId id="282"/>
            <p14:sldId id="283"/>
            <p14:sldId id="284"/>
            <p14:sldId id="285"/>
            <p14:sldId id="286"/>
            <p14:sldId id="287"/>
            <p14:sldId id="288"/>
            <p14:sldId id="289"/>
            <p14:sldId id="290"/>
            <p14:sldId id="291"/>
          </p14:sldIdLst>
        </p14:section>
        <p14:section name="Load test and gap review" id="{c8fbbcaa-a899-c54d-7628-0952131425ab}">
          <p14:sldIdLst>
            <p14:sldId id="292"/>
            <p14:sldId id="293"/>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slide" Target="slides/slide4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Container memory limit, local Compose (MB)</a:t>
            </a:r>
          </a:p>
        </c:rich>
      </c:tx>
      <c:layout/>
      <c:overlay val="0"/>
    </c:title>
    <c:autoTitleDeleted val="0"/>
    <c:plotArea>
      <c:layout/>
      <c:barChart>
        <c:barDir val="bar"/>
        <c:grouping val="clustered"/>
        <c:varyColors val="0"/>
        <c:ser>
          <c:idx val="0"/>
          <c:order val="0"/>
          <c:tx>
            <c:strRef>
              <c:f>Sheet1!$B$1</c:f>
              <c:strCache>
                <c:ptCount val="1"/>
                <c:pt idx="0">
                  <c:v>Memory limit (MB)</c:v>
                </c:pt>
              </c:strCache>
            </c:strRef>
          </c:tx>
          <c:spPr>
            <a:solidFill>
              <a:srgbClr val="7C3AED"/>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7C3AED"/>
              </a:solidFill>
              <a:effectLst/>
            </c:spPr>
          </c:dPt>
          <c:dPt>
            <c:idx val="1"/>
            <c:invertIfNegative val="0"/>
            <c:bubble3D val="0"/>
            <c:spPr>
              <a:solidFill>
                <a:srgbClr val="0F766E"/>
              </a:solidFill>
              <a:effectLst/>
            </c:spPr>
          </c:dPt>
          <c:dPt>
            <c:idx val="2"/>
            <c:invertIfNegative val="0"/>
            <c:bubble3D val="0"/>
            <c:spPr>
              <a:solidFill>
                <a:srgbClr val="B45309"/>
              </a:solidFill>
              <a:effectLst/>
            </c:spPr>
          </c:dPt>
          <c:dPt>
            <c:idx val="3"/>
            <c:invertIfNegative val="0"/>
            <c:bubble3D val="0"/>
            <c:spPr>
              <a:solidFill>
                <a:srgbClr val="BE123C"/>
              </a:solidFill>
              <a:effectLst/>
            </c:spPr>
          </c:dPt>
          <c:dPt>
            <c:idx val="4"/>
            <c:invertIfNegative val="0"/>
            <c:bubble3D val="0"/>
            <c:spPr>
              <a:solidFill>
                <a:srgbClr val="0F172A"/>
              </a:solidFill>
              <a:effectLst/>
            </c:spPr>
          </c:dPt>
          <c:cat>
            <c:multiLvlStrRef>
              <c:f>Sheet1!$A$2:$A$6</c:f>
              <c:multiLvlStrCache>
                <c:ptCount val="5"/>
                <c:lvl>
                  <c:pt idx="0">
                    <c:v>identity-app</c:v>
                  </c:pt>
                  <c:pt idx="1">
                    <c:v>jobs-app</c:v>
                  </c:pt>
                  <c:pt idx="2">
                    <c:v>money-app</c:v>
                  </c:pt>
                  <c:pt idx="3">
                    <c:v>engagement-app</c:v>
                  </c:pt>
                  <c:pt idx="4">
                    <c:v>api-gateway</c:v>
                  </c:pt>
                </c:lvl>
              </c:multiLvlStrCache>
            </c:multiLvlStrRef>
          </c:cat>
          <c:val>
            <c:numRef>
              <c:f>Sheet1!$B$2:$B$6</c:f>
              <c:numCache>
                <c:formatCode>General</c:formatCode>
                <c:ptCount val="5"/>
                <c:pt idx="0">
                  <c:v>896</c:v>
                </c:pt>
                <c:pt idx="1">
                  <c:v>1280</c:v>
                </c:pt>
                <c:pt idx="2">
                  <c:v>640</c:v>
                </c:pt>
                <c:pt idx="3">
                  <c:v>1152</c:v>
                </c:pt>
                <c:pt idx="4">
                  <c:v>448</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Passing unit tests per changed service (2,129 total)</a:t>
            </a:r>
          </a:p>
        </c:rich>
      </c:tx>
      <c:layout/>
      <c:overlay val="0"/>
    </c:title>
    <c:autoTitleDeleted val="0"/>
    <c:plotArea>
      <c:layout/>
      <c:barChart>
        <c:barDir val="bar"/>
        <c:grouping val="clustered"/>
        <c:varyColors val="0"/>
        <c:ser>
          <c:idx val="0"/>
          <c:order val="0"/>
          <c:tx>
            <c:strRef>
              <c:f>Sheet1!$B$1</c:f>
              <c:strCache>
                <c:ptCount val="1"/>
                <c:pt idx="0">
                  <c:v>Passing unit tests</c:v>
                </c:pt>
              </c:strCache>
            </c:strRef>
          </c:tx>
          <c:spPr>
            <a:solidFill>
              <a:srgbClr val="0F766E"/>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Sheet1!$A$2:$A$11</c:f>
              <c:multiLvlStrCache>
                <c:ptCount val="10"/>
                <c:lvl>
                  <c:pt idx="0">
                    <c:v>booking</c:v>
                  </c:pt>
                  <c:pt idx="1">
                    <c:v>auth</c:v>
                  </c:pt>
                  <c:pt idx="2">
                    <c:v>dispatch</c:v>
                  </c:pt>
                  <c:pt idx="3">
                    <c:v>provider</c:v>
                  </c:pt>
                  <c:pt idx="4">
                    <c:v>notification</c:v>
                  </c:pt>
                  <c:pt idx="5">
                    <c:v>payment</c:v>
                  </c:pt>
                  <c:pt idx="6">
                    <c:v>chat</c:v>
                  </c:pt>
                  <c:pt idx="7">
                    <c:v>complaint</c:v>
                  </c:pt>
                  <c:pt idx="8">
                    <c:v>rating-review</c:v>
                  </c:pt>
                  <c:pt idx="9">
                    <c:v>customer</c:v>
                  </c:pt>
                </c:lvl>
              </c:multiLvlStrCache>
            </c:multiLvlStrRef>
          </c:cat>
          <c:val>
            <c:numRef>
              <c:f>Sheet1!$B$2:$B$11</c:f>
              <c:numCache>
                <c:formatCode>General</c:formatCode>
                <c:ptCount val="10"/>
                <c:pt idx="0">
                  <c:v>496</c:v>
                </c:pt>
                <c:pt idx="1">
                  <c:v>386</c:v>
                </c:pt>
                <c:pt idx="2">
                  <c:v>253</c:v>
                </c:pt>
                <c:pt idx="3">
                  <c:v>231</c:v>
                </c:pt>
                <c:pt idx="4">
                  <c:v>191</c:v>
                </c:pt>
                <c:pt idx="5">
                  <c:v>188</c:v>
                </c:pt>
                <c:pt idx="6">
                  <c:v>115</c:v>
                </c:pt>
                <c:pt idx="7">
                  <c:v>114</c:v>
                </c:pt>
                <c:pt idx="8">
                  <c:v>100</c:v>
                </c:pt>
                <c:pt idx="9">
                  <c:v>55</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p95 latency by endpoint (ms)</a:t>
            </a:r>
          </a:p>
        </c:rich>
      </c:tx>
      <c:layout/>
      <c:overlay val="0"/>
    </c:title>
    <c:autoTitleDeleted val="0"/>
    <c:plotArea>
      <c:layout/>
      <c:barChart>
        <c:barDir val="bar"/>
        <c:grouping val="clustered"/>
        <c:varyColors val="0"/>
        <c:ser>
          <c:idx val="0"/>
          <c:order val="0"/>
          <c:tx>
            <c:strRef>
              <c:f>Sheet1!$B$1</c:f>
              <c:strCache>
                <c:ptCount val="1"/>
                <c:pt idx="0">
                  <c:v>p95 latency (ms)</c:v>
                </c:pt>
              </c:strCache>
            </c:strRef>
          </c:tx>
          <c:spPr>
            <a:solidFill>
              <a:srgbClr val="0369A1"/>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Sheet1!$A$2:$A$6</c:f>
              <c:multiLvlStrCache>
                <c:ptCount val="5"/>
                <c:lvl>
                  <c:pt idx="0">
                    <c:v>catalog, estimate, history</c:v>
                  </c:pt>
                  <c:pt idx="1">
                    <c:v>create booking</c:v>
                  </c:pt>
                  <c:pt idx="2">
                    <c:v>confirm booking</c:v>
                  </c:pt>
                  <c:pt idx="3">
                    <c:v>location ping</c:v>
                  </c:pt>
                  <c:pt idx="4">
                    <c:v>payment</c:v>
                  </c:pt>
                </c:lvl>
              </c:multiLvlStrCache>
            </c:multiLvlStrRef>
          </c:cat>
          <c:val>
            <c:numRef>
              <c:f>Sheet1!$B$2:$B$6</c:f>
              <c:numCache>
                <c:formatCode>General</c:formatCode>
                <c:ptCount val="5"/>
                <c:pt idx="0">
                  <c:v>21</c:v>
                </c:pt>
                <c:pt idx="1">
                  <c:v>114</c:v>
                </c:pt>
                <c:pt idx="2">
                  <c:v>65</c:v>
                </c:pt>
                <c:pt idx="3">
                  <c:v>76</c:v>
                </c:pt>
                <c:pt idx="4">
                  <c:v>272</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Passing tests, ten largest modules (3,309 in 26 modules)</a:t>
            </a:r>
          </a:p>
        </c:rich>
      </c:tx>
      <c:layout/>
      <c:overlay val="0"/>
    </c:title>
    <c:autoTitleDeleted val="0"/>
    <c:plotArea>
      <c:layout/>
      <c:barChart>
        <c:barDir val="bar"/>
        <c:grouping val="clustered"/>
        <c:varyColors val="0"/>
        <c:ser>
          <c:idx val="0"/>
          <c:order val="0"/>
          <c:tx>
            <c:strRef>
              <c:f>Sheet1!$B$1</c:f>
              <c:strCache>
                <c:ptCount val="1"/>
                <c:pt idx="0">
                  <c:v>Passing tests</c:v>
                </c:pt>
              </c:strCache>
            </c:strRef>
          </c:tx>
          <c:spPr>
            <a:solidFill>
              <a:srgbClr val="0F766E"/>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Sheet1!$A$2:$A$11</c:f>
              <c:multiLvlStrCache>
                <c:ptCount val="10"/>
                <c:lvl>
                  <c:pt idx="0">
                    <c:v>booking</c:v>
                  </c:pt>
                  <c:pt idx="1">
                    <c:v>auth</c:v>
                  </c:pt>
                  <c:pt idx="2">
                    <c:v>provider</c:v>
                  </c:pt>
                  <c:pt idx="3">
                    <c:v>payment</c:v>
                  </c:pt>
                  <c:pt idx="4">
                    <c:v>dispatch</c:v>
                  </c:pt>
                  <c:pt idx="5">
                    <c:v>notification</c:v>
                  </c:pt>
                  <c:pt idx="6">
                    <c:v>verification</c:v>
                  </c:pt>
                  <c:pt idx="7">
                    <c:v>complaint</c:v>
                  </c:pt>
                  <c:pt idx="8">
                    <c:v>pricing</c:v>
                  </c:pt>
                  <c:pt idx="9">
                    <c:v>chat</c:v>
                  </c:pt>
                </c:lvl>
              </c:multiLvlStrCache>
            </c:multiLvlStrRef>
          </c:cat>
          <c:val>
            <c:numRef>
              <c:f>Sheet1!$B$2:$B$11</c:f>
              <c:numCache>
                <c:formatCode>General</c:formatCode>
                <c:ptCount val="10"/>
                <c:pt idx="0">
                  <c:v>522</c:v>
                </c:pt>
                <c:pt idx="1">
                  <c:v>386</c:v>
                </c:pt>
                <c:pt idx="2">
                  <c:v>312</c:v>
                </c:pt>
                <c:pt idx="3">
                  <c:v>284</c:v>
                </c:pt>
                <c:pt idx="4">
                  <c:v>253</c:v>
                </c:pt>
                <c:pt idx="5">
                  <c:v>191</c:v>
                </c:pt>
                <c:pt idx="6">
                  <c:v>183</c:v>
                </c:pt>
                <c:pt idx="7">
                  <c:v>136</c:v>
                </c:pt>
                <c:pt idx="8">
                  <c:v>118</c:v>
                </c:pt>
                <c:pt idx="9">
                  <c:v>115</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Ji-Hajoor connects customers with verified home-service professionals. This deck walks through how the platform is built: the deployables, the main flows, the event backbone, security, data, delivery, and the current review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of user. Customers and providers use the two mobile-first apps; agencies and staff use the Admin Portal, which includes the Tenant Portal. The numbers on the right come from the repository as of this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people, their apps, the single entry point, the services and their shared infrastructure, and the outside systems. Tags on the right say which integrations are real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gateway is the only public backend entry point (except the auth endpoints the apps call directly). Behind it, four deployables host nineteen domain services; the gateway is the fifth deployable. Colours mark the domain and are reused throughout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twenty JVMs was the main memory cost locally. Hosting several Spring contexts in one JVM keeps the services isolated (own port, config file, schema and beans) while running only five processes, about 4.4 GB of container memory in total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authenticated call is checked twice: once in the reactive gateway (token valid, rate limits) and once in the service (signature, role rule, ownership). The order numbers are the gateway filter orders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is booking; the bottom row, read right to left, is fulfilment and payment. Paying is the customer's confirmation that the job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3 and 4 are one database transaction, so a confirmed booking always has its event. The relay (5-6) publishes it; dispatch (7-9) offers the job; the first acceptance wins (10) and is recorded before booking-service is told (11), so the ProviderAccepted event cannot be lost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provider already holding another booking's offer is skipped for this wave but kept for a later one. Every offer for a booking lives in one Redis hash, so the first accept and the withdrawal of the rest are one atomic write; a late accept gets 409 OFFER_TAKEN.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finding a provider. AWAITING_ASSIGNMENT is the agency queue. Middle: doing the job, with the paused loop and the parts quote. Bottom: payment. Only SEARCHING_FAILED, CANCELLED and REFUNDED are terminal; a normal booking rests at PAYMENT_COMPLETED.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tampered amount in the request is ignored, because the amount comes from booking-service. A failed attempt can be retried as a new attempt, at most ten per booking. A retry is refused while a charge may still be in flight.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that makes the event-driven parts trustworthy. Before the fix noted in the review, producers and the relay used different schemas and no event was ever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a row to see who reacts to an event. PaymentCompleted has the widest fan-out. An event type without a topic mapping would fall through to domain-events, where nothing listens; all thirteen are mapped.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 was broken end to end before this review: the app called an endpoint that did not exist and spoke plain WebSocket to a STOMP-only server. The server now offers the plain WebSocket the apps expect, the provider app has a chat screen, and messages and presence go through Redis so any number of chat-service instances work together. The channel opens on ProviderAccepted and closes on PaymentCompleted or BookingCancelled.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agency admin assigning the same booking gets 409 BOOKING_NOT_ASSIGNABLE because of an optimistic lock. An agency admin sees only bookings their agency was a candidate for, plus their own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assumes the one above it can fail. For example a valid token is still checked against a role rule and an ownership rule inside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service schemas plus the shared outbox and config schemas, all in one PostgreSQL instance. The outbox is shared on purpose so every producer and the relay agree on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images are the same everywhere; only configuration differs. The Booking flow workflow runs the Railway layout in Docker on every push and drives a full booking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is never deployed automatically: CD promotes images that CI already built and pushed, chosen by commit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Actuator endpoints are served at the root path, not under /actuator, and are unauthenticated so probes and Prometheus can reach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Locally, payments can also be settled by a payment simulator that only Compose and the CI stack enable. Helm never enables it. Verification documents were a stand-in until the afternoon of 18 October: they are now stored like job photos (section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Verification: unit tests pass in every changed module (auth 386, booking 496, chat 115, complaint 114, customer 55, dispatch 253, notification 191, payment 188, provider 231, rating-review 100). Each changed service was also started from its packaged deployable against a throwaway PostgreSQL 18: every new migration applied and Hibernate schema validation passed. Not run here: the full stack end to end, real SES or S3, two chat nodes, terraform plan, and the frontend unit tests (Node 20 on this machine; the apps need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deletions removes working behaviour. The HPAs and KEDA objects targeted Deployments and namespaces that no longer exist; the chart now renders autoscaling per deployable. Stripe was a simulated gateway with a required secret. The in-memory weights store was replaced by a database-backed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Applying the new Terraform replaces the six namespaces and the per-service roles. Put each role ARN (Terraform output irsa_role_arns) in the release's serviceAccount annotation. KEDA stays off until its operator and the TriggerAuthentication exist; until then each deployable keeps its chart HPA.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change the weights sat in an in-memory map, so a restart lost an admin's change and two replicas could score the same booking differently. The admin API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refund port was a logging stub that answered approved with a fake reference while no money moved. engagement-app needs PAYMENT_SERVICE_URL pointing at money-app:8088.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was not used because removals never published an event and a consumer would have to copy the weighting formula. engagement-app needs PROVIDER_SERVICE_URL pointing at identity-app:8083.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there was no email provider: emails were only logged by subject, and the subject contained the verification code. In production set EMAIL_FROM to a verified SES identity and add smtp_username and smtp_password to the identity-app and engagement-app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AWS set MEDIA_BUCKET (Terraform output s3_bucket_photos); the jobs-app IRSA role grants S3 and the bucket's KMS key. Locally, photos go to docker/dev-media unless a bucket (or MinIO via MEDIA_S3_ENDPOINT)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Pub/sub is at-most-once: a node that is resubscribing misses messages, and the apps recover by reloading history. Presence uses each node's clock, so nodes need NTP.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the chart passes lint --strict for every deployable in staging and production, and renders a ScaledObject instead of an HPA for the three Kafka-consuming deployables when KEDA is enabled. Earlier counts in this deck (customer 55 among them) come from the same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loadtest/run.sh builds the five images, starts the stack the Booking flow workflow uses (fixed OTP code, payment simulator, seeded catalog) and runs k6 from the grafana/k6 image. setup() onboards fresh providers through the real verification flow; teardown() suspends them so later runs are not slowed by idle providers.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12,487 requests at 25.9/s; 3 journeys did not finish within their time limits; 25 requests were refused 429 by the provider rate limit. Docker had 6 CPUs and 11 GB for the whole stack, so these are a floor, not a capacity figure. Latency maxima include stalls while the laptop was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a 130-request burst got exactly 100 × 200 and 30 × 429 with Retry-After, another customer unaffected; the sixth OTP in an hour was refused; 1,000 requests without a token all got 401, none a 5xx. Each dispatch search also holds a bulkhead thread for its offer windows (16 scheduled and 16 emergency per replica), so more than 16 concurrent searches on one replica queue; not reached here. Two things the first runs got wrong were in the script, not the platform: a page index of 0 (booking history is 1-based) and location pings faster than location-service's 5-second minimum. Both were corrected to match the apps before the numbers on the previous slide were taken.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fixed: the complaint stats endpoint read every complaint into memory (now GROUP BY queries), the provider dashboard's per-card polling went from 5 s to 15 s to stay under the 60-requests-a-minute provider limit, and an ASAP job no longer shows "1 Jan 1970". Still open and cosmetic: several fields the screens read that the services never send (provider card on the booking detail, names in admin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mvn package over all 31 modules with JDK 25; tsc and eslint for the customer app, provider app and admin portal; the five images rebuilt from those jars, a fresh database migrated by every service at startup, and deploy/ci/booking-flow.sh driven through the gateway before the load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Ordered roughly by user impact: the refund and rating gaps affect customers and providers directly; the infrastructure items matter before scaling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309360" cy="1051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200400"/>
            <a:ext cx="6309360" cy="10058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3657600" cy="640080"/>
          </a:xfrm>
          <a:prstGeom prst="rect">
            <a:avLst/>
          </a:prstGeom>
          <a:noFill/>
          <a:ln/>
        </p:spPr>
        <p:txBody>
          <a:bodyPr wrap="square" rtlCol="0"/>
          <a:lstStyle>
            <a:lvl1pPr indent="0" marL="0">
              <a:buNone/>
              <a:defRPr lang="en-US" sz="2800" b="1" dirty="0">
                <a:solidFill>
                  <a:schemeClr val="bg2"/>
                </a:solidFill>
              </a:defRPr>
            </a:lvl1pPr>
          </a:lstStyle>
          <a:p>
            <a:pPr indent="0" marL="0">
              <a:buNone/>
            </a:pPr>
            <a:endParaRPr lang="en-US" sz="2800" dirty="0"/>
          </a:p>
        </p:txBody>
      </p:sp>
      <p:sp>
        <p:nvSpPr>
          <p:cNvPr id="3" name="Text 0"/>
          <p:cNvSpPr/>
          <p:nvPr>
            <p:ph idx="101" type="title" hasCustomPrompt="1"/>
          </p:nvPr>
        </p:nvSpPr>
        <p:spPr>
          <a:xfrm>
            <a:off x="731520" y="2697480"/>
            <a:ext cx="1051560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749040"/>
            <a:ext cx="10515600" cy="6400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
        <p:nvSpPr>
          <p:cNvPr id="4"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Ji-Hajoor  ·  Platform architecture</a:t>
            </a:r>
            <a:endParaRPr lang="en-US" sz="10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1051560"/>
            <a:ext cx="11091672" cy="411480"/>
          </a:xfrm>
          <a:prstGeom prst="rect">
            <a:avLst/>
          </a:prstGeom>
          <a:noFill/>
          <a:ln/>
        </p:spPr>
        <p:txBody>
          <a:bodyPr wrap="square" rtlCol="0"/>
          <a:lstStyle>
            <a:lvl1pPr indent="0" marL="0">
              <a:buNone/>
              <a:defRPr lang="en-US" sz="1500" dirty="0">
                <a:solidFill>
                  <a:schemeClr val="bg2"/>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4.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4.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4.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slideLayout" Target="../slideLayouts/slideLayout4.xml"/><Relationship Id="rId1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4.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36-1.png"/><Relationship Id="rId3" Type="http://schemas.openxmlformats.org/officeDocument/2006/relationships/image" Target="../media/image-36-2.png"/><Relationship Id="rId4" Type="http://schemas.openxmlformats.org/officeDocument/2006/relationships/image" Target="../media/image-36-3.png"/><Relationship Id="rId5" Type="http://schemas.openxmlformats.org/officeDocument/2006/relationships/slideLayout" Target="../slideLayouts/slideLayout4.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4.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image" Target="../media/image-41-9.png"/><Relationship Id="rId10" Type="http://schemas.openxmlformats.org/officeDocument/2006/relationships/image" Target="../media/image-41-10.png"/><Relationship Id="rId11" Type="http://schemas.openxmlformats.org/officeDocument/2006/relationships/image" Target="../media/image-41-11.png"/><Relationship Id="rId12" Type="http://schemas.openxmlformats.org/officeDocument/2006/relationships/image" Target="../media/image-41-12.png"/><Relationship Id="rId13" Type="http://schemas.openxmlformats.org/officeDocument/2006/relationships/slideLayout" Target="../slideLayouts/slideLayout4.xml"/><Relationship Id="rId1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image" Target="../media/image-42-1.png"/><Relationship Id="rId3" Type="http://schemas.openxmlformats.org/officeDocument/2006/relationships/image" Target="../media/image-42-2.png"/><Relationship Id="rId4" Type="http://schemas.openxmlformats.org/officeDocument/2006/relationships/image" Target="../media/image-42-3.png"/><Relationship Id="rId5" Type="http://schemas.openxmlformats.org/officeDocument/2006/relationships/image" Target="../media/image-42-4.png"/><Relationship Id="rId6" Type="http://schemas.openxmlformats.org/officeDocument/2006/relationships/image" Target="../media/image-42-5.png"/><Relationship Id="rId7" Type="http://schemas.openxmlformats.org/officeDocument/2006/relationships/image" Target="../media/image-42-6.png"/><Relationship Id="rId8" Type="http://schemas.openxmlformats.org/officeDocument/2006/relationships/image" Target="../media/image-42-7.png"/><Relationship Id="rId9" Type="http://schemas.openxmlformats.org/officeDocument/2006/relationships/slideLayout" Target="../slideLayouts/slideLayout4.xml"/><Relationship Id="rId10"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309360" cy="1051560"/>
          </a:xfrm>
          <a:prstGeom prst="rect">
            <a:avLst/>
          </a:prstGeom>
          <a:noFill/>
          <a:ln/>
        </p:spPr>
        <p:txBody>
          <a:bodyPr wrap="square" lIns="0" tIns="0" rIns="0" bIns="0" rtlCol="0" anchor="t"/>
          <a:lstStyle/>
          <a:p>
            <a:pPr algn="l" indent="0" marL="0">
              <a:buNone/>
            </a:pPr>
            <a:r>
              <a:rPr lang="en-US" sz="5400" b="1" dirty="0">
                <a:solidFill>
                  <a:schemeClr val="bg1"/>
                </a:solidFill>
              </a:rPr>
              <a:t>Ji-Hajoor</a:t>
            </a:r>
            <a:endParaRPr lang="en-US" sz="5400" dirty="0"/>
          </a:p>
        </p:txBody>
      </p:sp>
      <p:sp>
        <p:nvSpPr>
          <p:cNvPr id="3" name="Text 0"/>
          <p:cNvSpPr/>
          <p:nvPr>
            <p:ph idx="101" type="body" hasCustomPrompt="1"/>
          </p:nvPr>
        </p:nvSpPr>
        <p:spPr>
          <a:xfrm>
            <a:off x="731520" y="3200400"/>
            <a:ext cx="6309360" cy="1005840"/>
          </a:xfrm>
          <a:prstGeom prst="rect">
            <a:avLst/>
          </a:prstGeom>
          <a:noFill/>
          <a:ln/>
        </p:spPr>
        <p:txBody>
          <a:bodyPr wrap="square" lIns="0" tIns="0" rIns="0" bIns="0" rtlCol="0" anchor="t"/>
          <a:lstStyle/>
          <a:p>
            <a:pPr indent="0" marL="0">
              <a:buNone/>
            </a:pPr>
            <a:r>
              <a:rPr lang="en-US" sz="2200" dirty="0">
                <a:solidFill>
                  <a:schemeClr val="bg2"/>
                </a:solidFill>
              </a:rPr>
              <a:t>Platform architecture and system design</a:t>
            </a:r>
            <a:endParaRPr lang="en-US" sz="2200" dirty="0"/>
          </a:p>
        </p:txBody>
      </p:sp>
      <p:sp>
        <p:nvSpPr>
          <p:cNvPr id="4" name="text-1"/>
          <p:cNvSpPr txBox="1"/>
          <p:nvPr/>
        </p:nvSpPr>
        <p:spPr>
          <a:xfrm>
            <a:off x="731520" y="1600200"/>
            <a:ext cx="6309360" cy="365760"/>
          </a:xfrm>
          <a:prstGeom prst="rect">
            <a:avLst/>
          </a:prstGeom>
          <a:noFill/>
          <a:ln/>
        </p:spPr>
        <p:txBody>
          <a:bodyPr wrap="square" lIns="0" tIns="0" rIns="0" bIns="0" rtlCol="0" anchor="t"/>
          <a:lstStyle/>
          <a:p>
            <a:pPr algn="l" indent="0" marL="0">
              <a:buNone/>
            </a:pPr>
            <a:r>
              <a:rPr lang="en-US" sz="1300" b="1" spc="300" kern="0" dirty="0">
                <a:solidFill>
                  <a:schemeClr val="accent1"/>
                </a:solidFill>
              </a:rPr>
              <a:t>ON-DEMAND HOME SERVICES MARKETPLACE</a:t>
            </a:r>
            <a:endParaRPr lang="en-US" sz="1300" dirty="0"/>
          </a:p>
        </p:txBody>
      </p:sp>
      <p:sp>
        <p:nvSpPr>
          <p:cNvPr id="5" name="text-2"/>
          <p:cNvSpPr txBox="1"/>
          <p:nvPr/>
        </p:nvSpPr>
        <p:spPr>
          <a:xfrm>
            <a:off x="731520" y="4343400"/>
            <a:ext cx="6309360" cy="365760"/>
          </a:xfrm>
          <a:prstGeom prst="rect">
            <a:avLst/>
          </a:prstGeom>
          <a:noFill/>
          <a:ln/>
        </p:spPr>
        <p:txBody>
          <a:bodyPr wrap="square" lIns="0" tIns="0" rIns="0" bIns="0" rtlCol="0" anchor="t"/>
          <a:lstStyle/>
          <a:p>
            <a:pPr algn="l" indent="0" marL="0">
              <a:buNone/>
            </a:pPr>
            <a:r>
              <a:rPr lang="en-US" sz="1400" dirty="0">
                <a:solidFill>
                  <a:schemeClr val="accent6"/>
                </a:solidFill>
              </a:rPr>
              <a:t>Architecture walkthrough  ·  October 2026</a:t>
            </a:r>
            <a:endParaRPr lang="en-US" sz="1400" dirty="0"/>
          </a:p>
        </p:txBody>
      </p:sp>
      <p:sp>
        <p:nvSpPr>
          <p:cNvPr id="6" name="arrow-3"/>
          <p:cNvSpPr/>
          <p:nvPr/>
        </p:nvSpPr>
        <p:spPr>
          <a:xfrm flipV="1">
            <a:off x="9464040" y="1463040"/>
            <a:ext cx="0" cy="1965960"/>
          </a:xfrm>
          <a:prstGeom prst="line">
            <a:avLst/>
          </a:prstGeom>
          <a:noFill/>
          <a:ln w="25400">
            <a:solidFill>
              <a:schemeClr val="accent6"/>
            </a:solidFill>
            <a:prstDash val="solid"/>
          </a:ln>
        </p:spPr>
        <p:txBody>
          <a:bodyPr/>
          <a:p/>
        </p:txBody>
      </p:sp>
      <p:sp>
        <p:nvSpPr>
          <p:cNvPr id="7" name="arrow-4"/>
          <p:cNvSpPr/>
          <p:nvPr/>
        </p:nvSpPr>
        <p:spPr>
          <a:xfrm>
            <a:off x="9464040" y="3429000"/>
            <a:ext cx="1783080" cy="0"/>
          </a:xfrm>
          <a:prstGeom prst="line">
            <a:avLst/>
          </a:prstGeom>
          <a:noFill/>
          <a:ln w="25400">
            <a:solidFill>
              <a:schemeClr val="accent6"/>
            </a:solidFill>
            <a:prstDash val="solid"/>
          </a:ln>
        </p:spPr>
        <p:txBody>
          <a:bodyPr/>
          <a:p/>
        </p:txBody>
      </p:sp>
      <p:sp>
        <p:nvSpPr>
          <p:cNvPr id="8" name="arrow-5"/>
          <p:cNvSpPr/>
          <p:nvPr/>
        </p:nvSpPr>
        <p:spPr>
          <a:xfrm>
            <a:off x="9464040" y="3429000"/>
            <a:ext cx="0" cy="1965960"/>
          </a:xfrm>
          <a:prstGeom prst="line">
            <a:avLst/>
          </a:prstGeom>
          <a:noFill/>
          <a:ln w="25400">
            <a:solidFill>
              <a:schemeClr val="accent6"/>
            </a:solidFill>
            <a:prstDash val="solid"/>
          </a:ln>
        </p:spPr>
        <p:txBody>
          <a:bodyPr/>
          <a:p/>
        </p:txBody>
      </p:sp>
      <p:sp>
        <p:nvSpPr>
          <p:cNvPr id="9" name="arrow-6"/>
          <p:cNvSpPr/>
          <p:nvPr/>
        </p:nvSpPr>
        <p:spPr>
          <a:xfrm flipH="1">
            <a:off x="7680960" y="3429000"/>
            <a:ext cx="1783080" cy="0"/>
          </a:xfrm>
          <a:prstGeom prst="line">
            <a:avLst/>
          </a:prstGeom>
          <a:noFill/>
          <a:ln w="25400">
            <a:solidFill>
              <a:schemeClr val="accent6"/>
            </a:solidFill>
            <a:prstDash val="solid"/>
          </a:ln>
        </p:spPr>
        <p:txBody>
          <a:bodyPr/>
          <a:p/>
        </p:txBody>
      </p:sp>
      <p:sp>
        <p:nvSpPr>
          <p:cNvPr id="10" name="icon-bg-network-7"/>
          <p:cNvSpPr/>
          <p:nvPr/>
        </p:nvSpPr>
        <p:spPr>
          <a:xfrm>
            <a:off x="8823960" y="2788920"/>
            <a:ext cx="1280160" cy="1280160"/>
          </a:xfrm>
          <a:prstGeom prst="ellipse">
            <a:avLst/>
          </a:prstGeom>
          <a:solidFill>
            <a:schemeClr val="accent1"/>
          </a:solidFill>
          <a:ln/>
        </p:spPr>
        <p:txBody>
          <a:bodyPr/>
          <a:p/>
        </p:txBody>
      </p:sp>
      <p:pic>
        <p:nvPicPr>
          <p:cNvPr id="11" name="icon-network-8" descr="network">    </p:cNvPr>
          <p:cNvPicPr>
            <a:picLocks noChangeAspect="1"/>
          </p:cNvPicPr>
          <p:nvPr/>
        </p:nvPicPr>
        <p:blipFill>
          <a:blip r:embed="rId1"/>
          <a:stretch>
            <a:fillRect/>
          </a:stretch>
        </p:blipFill>
        <p:spPr>
          <a:xfrm>
            <a:off x="9131198" y="3096158"/>
            <a:ext cx="665683" cy="665683"/>
          </a:xfrm>
          <a:prstGeom prst="rect">
            <a:avLst/>
          </a:prstGeom>
        </p:spPr>
      </p:pic>
      <p:sp>
        <p:nvSpPr>
          <p:cNvPr id="12" name="text-9"/>
          <p:cNvSpPr txBox="1"/>
          <p:nvPr/>
        </p:nvSpPr>
        <p:spPr>
          <a:xfrm>
            <a:off x="9966960" y="2560320"/>
            <a:ext cx="1280160" cy="274320"/>
          </a:xfrm>
          <a:prstGeom prst="rect">
            <a:avLst/>
          </a:prstGeom>
          <a:noFill/>
          <a:ln/>
        </p:spPr>
        <p:txBody>
          <a:bodyPr wrap="square" lIns="0" tIns="0" rIns="0" bIns="0" rtlCol="0" anchor="t"/>
          <a:lstStyle/>
          <a:p>
            <a:pPr algn="l" indent="0" marL="0">
              <a:buNone/>
            </a:pPr>
            <a:r>
              <a:rPr lang="en-US" sz="1200" dirty="0">
                <a:solidFill>
                  <a:schemeClr val="bg2"/>
                </a:solidFill>
              </a:rPr>
              <a:t>api-gateway</a:t>
            </a:r>
            <a:endParaRPr lang="en-US" sz="1200" dirty="0"/>
          </a:p>
        </p:txBody>
      </p:sp>
      <p:sp>
        <p:nvSpPr>
          <p:cNvPr id="13" name="icon-bg-key-10"/>
          <p:cNvSpPr/>
          <p:nvPr/>
        </p:nvSpPr>
        <p:spPr>
          <a:xfrm>
            <a:off x="9052560" y="1051560"/>
            <a:ext cx="822960" cy="822960"/>
          </a:xfrm>
          <a:prstGeom prst="ellipse">
            <a:avLst/>
          </a:prstGeom>
          <a:solidFill>
            <a:schemeClr val="accent3"/>
          </a:solidFill>
          <a:ln/>
        </p:spPr>
        <p:txBody>
          <a:bodyPr/>
          <a:p/>
        </p:txBody>
      </p:sp>
      <p:pic>
        <p:nvPicPr>
          <p:cNvPr id="14" name="icon-key-11" descr="key">    </p:cNvPr>
          <p:cNvPicPr>
            <a:picLocks noChangeAspect="1"/>
          </p:cNvPicPr>
          <p:nvPr/>
        </p:nvPicPr>
        <p:blipFill>
          <a:blip r:embed="rId2"/>
          <a:stretch>
            <a:fillRect/>
          </a:stretch>
        </p:blipFill>
        <p:spPr>
          <a:xfrm>
            <a:off x="9250070" y="1249070"/>
            <a:ext cx="427939" cy="427939"/>
          </a:xfrm>
          <a:prstGeom prst="rect">
            <a:avLst/>
          </a:prstGeom>
        </p:spPr>
      </p:pic>
      <p:sp>
        <p:nvSpPr>
          <p:cNvPr id="15" name="text-12"/>
          <p:cNvSpPr txBox="1"/>
          <p:nvPr/>
        </p:nvSpPr>
        <p:spPr>
          <a:xfrm>
            <a:off x="8732520" y="731520"/>
            <a:ext cx="1463040" cy="274320"/>
          </a:xfrm>
          <a:prstGeom prst="rect">
            <a:avLst/>
          </a:prstGeom>
          <a:noFill/>
          <a:ln/>
        </p:spPr>
        <p:txBody>
          <a:bodyPr wrap="square" lIns="0" tIns="0" rIns="0" bIns="0" rtlCol="0" anchor="t"/>
          <a:lstStyle/>
          <a:p>
            <a:pPr algn="ctr" indent="0" marL="0">
              <a:buNone/>
            </a:pPr>
            <a:r>
              <a:rPr lang="en-US" sz="1200" b="1" dirty="0">
                <a:solidFill>
                  <a:schemeClr val="bg1"/>
                </a:solidFill>
              </a:rPr>
              <a:t>Identity</a:t>
            </a:r>
            <a:endParaRPr lang="en-US" sz="1200" dirty="0"/>
          </a:p>
        </p:txBody>
      </p:sp>
      <p:sp>
        <p:nvSpPr>
          <p:cNvPr id="16" name="icon-bg-wrench-13"/>
          <p:cNvSpPr/>
          <p:nvPr/>
        </p:nvSpPr>
        <p:spPr>
          <a:xfrm>
            <a:off x="10835640" y="3017520"/>
            <a:ext cx="822960" cy="822960"/>
          </a:xfrm>
          <a:prstGeom prst="ellipse">
            <a:avLst/>
          </a:prstGeom>
          <a:solidFill>
            <a:schemeClr val="accent1"/>
          </a:solidFill>
          <a:ln/>
        </p:spPr>
        <p:txBody>
          <a:bodyPr/>
          <a:p/>
        </p:txBody>
      </p:sp>
      <p:pic>
        <p:nvPicPr>
          <p:cNvPr id="17" name="icon-wrench-14" descr="wrench">    </p:cNvPr>
          <p:cNvPicPr>
            <a:picLocks noChangeAspect="1"/>
          </p:cNvPicPr>
          <p:nvPr/>
        </p:nvPicPr>
        <p:blipFill>
          <a:blip r:embed="rId3"/>
          <a:stretch>
            <a:fillRect/>
          </a:stretch>
        </p:blipFill>
        <p:spPr>
          <a:xfrm>
            <a:off x="11033150" y="3215030"/>
            <a:ext cx="427939" cy="427939"/>
          </a:xfrm>
          <a:prstGeom prst="rect">
            <a:avLst/>
          </a:prstGeom>
        </p:spPr>
      </p:pic>
      <p:sp>
        <p:nvSpPr>
          <p:cNvPr id="18" name="text-15"/>
          <p:cNvSpPr txBox="1"/>
          <p:nvPr/>
        </p:nvSpPr>
        <p:spPr>
          <a:xfrm>
            <a:off x="10515600" y="3886200"/>
            <a:ext cx="1463040" cy="274320"/>
          </a:xfrm>
          <a:prstGeom prst="rect">
            <a:avLst/>
          </a:prstGeom>
          <a:noFill/>
          <a:ln/>
        </p:spPr>
        <p:txBody>
          <a:bodyPr wrap="square" lIns="0" tIns="0" rIns="0" bIns="0" rtlCol="0" anchor="t"/>
          <a:lstStyle/>
          <a:p>
            <a:pPr algn="ctr" indent="0" marL="0">
              <a:buNone/>
            </a:pPr>
            <a:r>
              <a:rPr lang="en-US" sz="1200" b="1" dirty="0">
                <a:solidFill>
                  <a:schemeClr val="bg1"/>
                </a:solidFill>
              </a:rPr>
              <a:t>Jobs</a:t>
            </a:r>
            <a:endParaRPr lang="en-US" sz="1200" dirty="0"/>
          </a:p>
        </p:txBody>
      </p:sp>
      <p:sp>
        <p:nvSpPr>
          <p:cNvPr id="19" name="icon-bg-wallet-16"/>
          <p:cNvSpPr/>
          <p:nvPr/>
        </p:nvSpPr>
        <p:spPr>
          <a:xfrm>
            <a:off x="9052560" y="4983480"/>
            <a:ext cx="822960" cy="822960"/>
          </a:xfrm>
          <a:prstGeom prst="ellipse">
            <a:avLst/>
          </a:prstGeom>
          <a:solidFill>
            <a:schemeClr val="accent2"/>
          </a:solidFill>
          <a:ln/>
        </p:spPr>
        <p:txBody>
          <a:bodyPr/>
          <a:p/>
        </p:txBody>
      </p:sp>
      <p:pic>
        <p:nvPicPr>
          <p:cNvPr id="20" name="icon-wallet-17" descr="wallet">    </p:cNvPr>
          <p:cNvPicPr>
            <a:picLocks noChangeAspect="1"/>
          </p:cNvPicPr>
          <p:nvPr/>
        </p:nvPicPr>
        <p:blipFill>
          <a:blip r:embed="rId4"/>
          <a:stretch>
            <a:fillRect/>
          </a:stretch>
        </p:blipFill>
        <p:spPr>
          <a:xfrm>
            <a:off x="9250070" y="5180990"/>
            <a:ext cx="427939" cy="427939"/>
          </a:xfrm>
          <a:prstGeom prst="rect">
            <a:avLst/>
          </a:prstGeom>
        </p:spPr>
      </p:pic>
      <p:sp>
        <p:nvSpPr>
          <p:cNvPr id="21" name="text-18"/>
          <p:cNvSpPr txBox="1"/>
          <p:nvPr/>
        </p:nvSpPr>
        <p:spPr>
          <a:xfrm>
            <a:off x="8732520" y="5852160"/>
            <a:ext cx="1463040" cy="274320"/>
          </a:xfrm>
          <a:prstGeom prst="rect">
            <a:avLst/>
          </a:prstGeom>
          <a:noFill/>
          <a:ln/>
        </p:spPr>
        <p:txBody>
          <a:bodyPr wrap="square" lIns="0" tIns="0" rIns="0" bIns="0" rtlCol="0" anchor="t"/>
          <a:lstStyle/>
          <a:p>
            <a:pPr algn="ctr" indent="0" marL="0">
              <a:buNone/>
            </a:pPr>
            <a:r>
              <a:rPr lang="en-US" sz="1200" b="1" dirty="0">
                <a:solidFill>
                  <a:schemeClr val="bg1"/>
                </a:solidFill>
              </a:rPr>
              <a:t>Money</a:t>
            </a:r>
            <a:endParaRPr lang="en-US" sz="1200" dirty="0"/>
          </a:p>
        </p:txBody>
      </p:sp>
      <p:sp>
        <p:nvSpPr>
          <p:cNvPr id="22" name="icon-bg-bell-19"/>
          <p:cNvSpPr/>
          <p:nvPr/>
        </p:nvSpPr>
        <p:spPr>
          <a:xfrm>
            <a:off x="7269480" y="3017520"/>
            <a:ext cx="822960" cy="822960"/>
          </a:xfrm>
          <a:prstGeom prst="ellipse">
            <a:avLst/>
          </a:prstGeom>
          <a:solidFill>
            <a:schemeClr val="accent4"/>
          </a:solidFill>
          <a:ln/>
        </p:spPr>
        <p:txBody>
          <a:bodyPr/>
          <a:p/>
        </p:txBody>
      </p:sp>
      <p:pic>
        <p:nvPicPr>
          <p:cNvPr id="23" name="icon-bell-20" descr="bell">    </p:cNvPr>
          <p:cNvPicPr>
            <a:picLocks noChangeAspect="1"/>
          </p:cNvPicPr>
          <p:nvPr/>
        </p:nvPicPr>
        <p:blipFill>
          <a:blip r:embed="rId5"/>
          <a:stretch>
            <a:fillRect/>
          </a:stretch>
        </p:blipFill>
        <p:spPr>
          <a:xfrm>
            <a:off x="7466990" y="3215030"/>
            <a:ext cx="427939" cy="427939"/>
          </a:xfrm>
          <a:prstGeom prst="rect">
            <a:avLst/>
          </a:prstGeom>
        </p:spPr>
      </p:pic>
      <p:sp>
        <p:nvSpPr>
          <p:cNvPr id="24" name="text-21"/>
          <p:cNvSpPr txBox="1"/>
          <p:nvPr/>
        </p:nvSpPr>
        <p:spPr>
          <a:xfrm>
            <a:off x="6949440" y="3886200"/>
            <a:ext cx="1463040" cy="274320"/>
          </a:xfrm>
          <a:prstGeom prst="rect">
            <a:avLst/>
          </a:prstGeom>
          <a:noFill/>
          <a:ln/>
        </p:spPr>
        <p:txBody>
          <a:bodyPr wrap="square" lIns="0" tIns="0" rIns="0" bIns="0" rtlCol="0" anchor="t"/>
          <a:lstStyle/>
          <a:p>
            <a:pPr algn="ctr" indent="0" marL="0">
              <a:buNone/>
            </a:pPr>
            <a:r>
              <a:rPr lang="en-US" sz="1200" b="1" dirty="0">
                <a:solidFill>
                  <a:schemeClr val="bg1"/>
                </a:solidFill>
              </a:rPr>
              <a:t>Engagement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Ji-Hajoor at a glance</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Customers book verified professionals; agencies and staff keep the marketplace running</a:t>
            </a:r>
            <a:endParaRPr lang="en-US" sz="1500" dirty="0"/>
          </a:p>
        </p:txBody>
      </p:sp>
      <p:sp>
        <p:nvSpPr>
          <p:cNvPr id="4" name="icon-bg-user-22"/>
          <p:cNvSpPr/>
          <p:nvPr/>
        </p:nvSpPr>
        <p:spPr>
          <a:xfrm>
            <a:off x="548640" y="1737360"/>
            <a:ext cx="566928" cy="566928"/>
          </a:xfrm>
          <a:prstGeom prst="ellipse">
            <a:avLst/>
          </a:prstGeom>
          <a:solidFill>
            <a:schemeClr val="accent1"/>
          </a:solidFill>
          <a:ln/>
        </p:spPr>
        <p:txBody>
          <a:bodyPr/>
          <a:p/>
        </p:txBody>
      </p:sp>
      <p:pic>
        <p:nvPicPr>
          <p:cNvPr id="5" name="icon-user-23" descr="user">    </p:cNvPr>
          <p:cNvPicPr>
            <a:picLocks noChangeAspect="1"/>
          </p:cNvPicPr>
          <p:nvPr/>
        </p:nvPicPr>
        <p:blipFill>
          <a:blip r:embed="rId1"/>
          <a:stretch>
            <a:fillRect/>
          </a:stretch>
        </p:blipFill>
        <p:spPr>
          <a:xfrm>
            <a:off x="684703" y="1873423"/>
            <a:ext cx="294803" cy="294803"/>
          </a:xfrm>
          <a:prstGeom prst="rect">
            <a:avLst/>
          </a:prstGeom>
        </p:spPr>
      </p:pic>
      <p:sp>
        <p:nvSpPr>
          <p:cNvPr id="6" name="text-24"/>
          <p:cNvSpPr txBox="1"/>
          <p:nvPr/>
        </p:nvSpPr>
        <p:spPr>
          <a:xfrm>
            <a:off x="1325880" y="1691640"/>
            <a:ext cx="4389120" cy="320040"/>
          </a:xfrm>
          <a:prstGeom prst="rect">
            <a:avLst/>
          </a:prstGeom>
          <a:noFill/>
          <a:ln/>
        </p:spPr>
        <p:txBody>
          <a:bodyPr wrap="square" lIns="0" tIns="0" rIns="0" bIns="0" rtlCol="0" anchor="t"/>
          <a:lstStyle/>
          <a:p>
            <a:pPr algn="l" indent="0" marL="0">
              <a:buNone/>
            </a:pPr>
            <a:r>
              <a:rPr lang="en-US" sz="1600" b="1" dirty="0">
                <a:solidFill>
                  <a:schemeClr val="tx1"/>
                </a:solidFill>
              </a:rPr>
              <a:t>Customer</a:t>
            </a:r>
            <a:endParaRPr lang="en-US" sz="1600" dirty="0"/>
          </a:p>
        </p:txBody>
      </p:sp>
      <p:sp>
        <p:nvSpPr>
          <p:cNvPr id="7" name="text-25"/>
          <p:cNvSpPr txBox="1"/>
          <p:nvPr/>
        </p:nvSpPr>
        <p:spPr>
          <a:xfrm>
            <a:off x="1325880" y="2039112"/>
            <a:ext cx="4389120" cy="640080"/>
          </a:xfrm>
          <a:prstGeom prst="rect">
            <a:avLst/>
          </a:prstGeom>
          <a:noFill/>
          <a:ln/>
        </p:spPr>
        <p:txBody>
          <a:bodyPr wrap="square" lIns="0" tIns="0" rIns="0" bIns="0" rtlCol="0" anchor="t"/>
          <a:lstStyle/>
          <a:p>
            <a:pPr algn="l" indent="0" marL="0">
              <a:buNone/>
            </a:pPr>
            <a:r>
              <a:rPr lang="en-US" sz="1300" dirty="0">
                <a:solidFill>
                  <a:schemeClr val="accent6"/>
                </a:solidFill>
              </a:rPr>
              <a:t>Books scheduled or emergency jobs, tracks the pro live, chats, pays and reviews</a:t>
            </a:r>
            <a:endParaRPr lang="en-US" sz="1300" dirty="0"/>
          </a:p>
        </p:txBody>
      </p:sp>
      <p:sp>
        <p:nvSpPr>
          <p:cNvPr id="8" name="icon-bg-hardhat-26"/>
          <p:cNvSpPr/>
          <p:nvPr/>
        </p:nvSpPr>
        <p:spPr>
          <a:xfrm>
            <a:off x="548640" y="2852928"/>
            <a:ext cx="566928" cy="566928"/>
          </a:xfrm>
          <a:prstGeom prst="ellipse">
            <a:avLst/>
          </a:prstGeom>
          <a:solidFill>
            <a:schemeClr val="accent3"/>
          </a:solidFill>
          <a:ln/>
        </p:spPr>
        <p:txBody>
          <a:bodyPr/>
          <a:p/>
        </p:txBody>
      </p:sp>
      <p:pic>
        <p:nvPicPr>
          <p:cNvPr id="9" name="icon-hardhat-27" descr="hardhat">    </p:cNvPr>
          <p:cNvPicPr>
            <a:picLocks noChangeAspect="1"/>
          </p:cNvPicPr>
          <p:nvPr/>
        </p:nvPicPr>
        <p:blipFill>
          <a:blip r:embed="rId2"/>
          <a:stretch>
            <a:fillRect/>
          </a:stretch>
        </p:blipFill>
        <p:spPr>
          <a:xfrm>
            <a:off x="684703" y="2988991"/>
            <a:ext cx="294803" cy="294803"/>
          </a:xfrm>
          <a:prstGeom prst="rect">
            <a:avLst/>
          </a:prstGeom>
        </p:spPr>
      </p:pic>
      <p:sp>
        <p:nvSpPr>
          <p:cNvPr id="10" name="text-28"/>
          <p:cNvSpPr txBox="1"/>
          <p:nvPr/>
        </p:nvSpPr>
        <p:spPr>
          <a:xfrm>
            <a:off x="1325880" y="2807208"/>
            <a:ext cx="4389120" cy="320040"/>
          </a:xfrm>
          <a:prstGeom prst="rect">
            <a:avLst/>
          </a:prstGeom>
          <a:noFill/>
          <a:ln/>
        </p:spPr>
        <p:txBody>
          <a:bodyPr wrap="square" lIns="0" tIns="0" rIns="0" bIns="0" rtlCol="0" anchor="t"/>
          <a:lstStyle/>
          <a:p>
            <a:pPr algn="l" indent="0" marL="0">
              <a:buNone/>
            </a:pPr>
            <a:r>
              <a:rPr lang="en-US" sz="1600" b="1" dirty="0">
                <a:solidFill>
                  <a:schemeClr val="tx1"/>
                </a:solidFill>
              </a:rPr>
              <a:t>Service provider</a:t>
            </a:r>
            <a:endParaRPr lang="en-US" sz="1600" dirty="0"/>
          </a:p>
        </p:txBody>
      </p:sp>
      <p:sp>
        <p:nvSpPr>
          <p:cNvPr id="11" name="text-29"/>
          <p:cNvSpPr txBox="1"/>
          <p:nvPr/>
        </p:nvSpPr>
        <p:spPr>
          <a:xfrm>
            <a:off x="1325880" y="3154680"/>
            <a:ext cx="4389120" cy="640080"/>
          </a:xfrm>
          <a:prstGeom prst="rect">
            <a:avLst/>
          </a:prstGeom>
          <a:noFill/>
          <a:ln/>
        </p:spPr>
        <p:txBody>
          <a:bodyPr wrap="square" lIns="0" tIns="0" rIns="0" bIns="0" rtlCol="0" anchor="t"/>
          <a:lstStyle/>
          <a:p>
            <a:pPr algn="l" indent="0" marL="0">
              <a:buNone/>
            </a:pPr>
            <a:r>
              <a:rPr lang="en-US" sz="1300" dirty="0">
                <a:solidFill>
                  <a:schemeClr val="accent6"/>
                </a:solidFill>
              </a:rPr>
              <a:t>Verified by documents and a background check; accepts offers and runs the job</a:t>
            </a:r>
            <a:endParaRPr lang="en-US" sz="1300" dirty="0"/>
          </a:p>
        </p:txBody>
      </p:sp>
      <p:sp>
        <p:nvSpPr>
          <p:cNvPr id="12" name="icon-bg-building-30"/>
          <p:cNvSpPr/>
          <p:nvPr/>
        </p:nvSpPr>
        <p:spPr>
          <a:xfrm>
            <a:off x="548640" y="3968496"/>
            <a:ext cx="566928" cy="566928"/>
          </a:xfrm>
          <a:prstGeom prst="ellipse">
            <a:avLst/>
          </a:prstGeom>
          <a:solidFill>
            <a:schemeClr val="accent2"/>
          </a:solidFill>
          <a:ln/>
        </p:spPr>
        <p:txBody>
          <a:bodyPr/>
          <a:p/>
        </p:txBody>
      </p:sp>
      <p:pic>
        <p:nvPicPr>
          <p:cNvPr id="13" name="icon-building-31" descr="building">    </p:cNvPr>
          <p:cNvPicPr>
            <a:picLocks noChangeAspect="1"/>
          </p:cNvPicPr>
          <p:nvPr/>
        </p:nvPicPr>
        <p:blipFill>
          <a:blip r:embed="rId3"/>
          <a:stretch>
            <a:fillRect/>
          </a:stretch>
        </p:blipFill>
        <p:spPr>
          <a:xfrm>
            <a:off x="684703" y="4104559"/>
            <a:ext cx="294803" cy="294803"/>
          </a:xfrm>
          <a:prstGeom prst="rect">
            <a:avLst/>
          </a:prstGeom>
        </p:spPr>
      </p:pic>
      <p:sp>
        <p:nvSpPr>
          <p:cNvPr id="14" name="text-32"/>
          <p:cNvSpPr txBox="1"/>
          <p:nvPr/>
        </p:nvSpPr>
        <p:spPr>
          <a:xfrm>
            <a:off x="1325880" y="3922776"/>
            <a:ext cx="4389120" cy="320040"/>
          </a:xfrm>
          <a:prstGeom prst="rect">
            <a:avLst/>
          </a:prstGeom>
          <a:noFill/>
          <a:ln/>
        </p:spPr>
        <p:txBody>
          <a:bodyPr wrap="square" lIns="0" tIns="0" rIns="0" bIns="0" rtlCol="0" anchor="t"/>
          <a:lstStyle/>
          <a:p>
            <a:pPr algn="l" indent="0" marL="0">
              <a:buNone/>
            </a:pPr>
            <a:r>
              <a:rPr lang="en-US" sz="1600" b="1" dirty="0">
                <a:solidFill>
                  <a:schemeClr val="tx1"/>
                </a:solidFill>
              </a:rPr>
              <a:t>Agency (Tenant)</a:t>
            </a:r>
            <a:endParaRPr lang="en-US" sz="1600" dirty="0"/>
          </a:p>
        </p:txBody>
      </p:sp>
      <p:sp>
        <p:nvSpPr>
          <p:cNvPr id="15" name="text-33"/>
          <p:cNvSpPr txBox="1"/>
          <p:nvPr/>
        </p:nvSpPr>
        <p:spPr>
          <a:xfrm>
            <a:off x="1325880" y="4270248"/>
            <a:ext cx="4389120" cy="640080"/>
          </a:xfrm>
          <a:prstGeom prst="rect">
            <a:avLst/>
          </a:prstGeom>
          <a:noFill/>
          <a:ln/>
        </p:spPr>
        <p:txBody>
          <a:bodyPr wrap="square" lIns="0" tIns="0" rIns="0" bIns="0" rtlCol="0" anchor="t"/>
          <a:lstStyle/>
          <a:p>
            <a:pPr algn="l" indent="0" marL="0">
              <a:buNone/>
            </a:pPr>
            <a:r>
              <a:rPr lang="en-US" sz="1300" dirty="0">
                <a:solidFill>
                  <a:schemeClr val="accent6"/>
                </a:solidFill>
              </a:rPr>
              <a:t>Covers an area with its own team; takes bookings matching could not fill</a:t>
            </a:r>
            <a:endParaRPr lang="en-US" sz="1300" dirty="0"/>
          </a:p>
        </p:txBody>
      </p:sp>
      <p:sp>
        <p:nvSpPr>
          <p:cNvPr id="16" name="icon-bg-headset-34"/>
          <p:cNvSpPr/>
          <p:nvPr/>
        </p:nvSpPr>
        <p:spPr>
          <a:xfrm>
            <a:off x="548640" y="5084064"/>
            <a:ext cx="566928" cy="566928"/>
          </a:xfrm>
          <a:prstGeom prst="ellipse">
            <a:avLst/>
          </a:prstGeom>
          <a:solidFill>
            <a:schemeClr val="accent4"/>
          </a:solidFill>
          <a:ln/>
        </p:spPr>
        <p:txBody>
          <a:bodyPr/>
          <a:p/>
        </p:txBody>
      </p:sp>
      <p:pic>
        <p:nvPicPr>
          <p:cNvPr id="17" name="icon-headset-35" descr="headset">    </p:cNvPr>
          <p:cNvPicPr>
            <a:picLocks noChangeAspect="1"/>
          </p:cNvPicPr>
          <p:nvPr/>
        </p:nvPicPr>
        <p:blipFill>
          <a:blip r:embed="rId4"/>
          <a:stretch>
            <a:fillRect/>
          </a:stretch>
        </p:blipFill>
        <p:spPr>
          <a:xfrm>
            <a:off x="684703" y="5220127"/>
            <a:ext cx="294803" cy="294803"/>
          </a:xfrm>
          <a:prstGeom prst="rect">
            <a:avLst/>
          </a:prstGeom>
        </p:spPr>
      </p:pic>
      <p:sp>
        <p:nvSpPr>
          <p:cNvPr id="18" name="text-36"/>
          <p:cNvSpPr txBox="1"/>
          <p:nvPr/>
        </p:nvSpPr>
        <p:spPr>
          <a:xfrm>
            <a:off x="1325880" y="5038344"/>
            <a:ext cx="4389120" cy="320040"/>
          </a:xfrm>
          <a:prstGeom prst="rect">
            <a:avLst/>
          </a:prstGeom>
          <a:noFill/>
          <a:ln/>
        </p:spPr>
        <p:txBody>
          <a:bodyPr wrap="square" lIns="0" tIns="0" rIns="0" bIns="0" rtlCol="0" anchor="t"/>
          <a:lstStyle/>
          <a:p>
            <a:pPr algn="l" indent="0" marL="0">
              <a:buNone/>
            </a:pPr>
            <a:r>
              <a:rPr lang="en-US" sz="1600" b="1" dirty="0">
                <a:solidFill>
                  <a:schemeClr val="tx1"/>
                </a:solidFill>
              </a:rPr>
              <a:t>Platform staff</a:t>
            </a:r>
            <a:endParaRPr lang="en-US" sz="1600" dirty="0"/>
          </a:p>
        </p:txBody>
      </p:sp>
      <p:sp>
        <p:nvSpPr>
          <p:cNvPr id="19" name="text-37"/>
          <p:cNvSpPr txBox="1"/>
          <p:nvPr/>
        </p:nvSpPr>
        <p:spPr>
          <a:xfrm>
            <a:off x="1325880" y="5385816"/>
            <a:ext cx="4389120" cy="640080"/>
          </a:xfrm>
          <a:prstGeom prst="rect">
            <a:avLst/>
          </a:prstGeom>
          <a:noFill/>
          <a:ln/>
        </p:spPr>
        <p:txBody>
          <a:bodyPr wrap="square" lIns="0" tIns="0" rIns="0" bIns="0" rtlCol="0" anchor="t"/>
          <a:lstStyle/>
          <a:p>
            <a:pPr algn="l" indent="0" marL="0">
              <a:buNone/>
            </a:pPr>
            <a:r>
              <a:rPr lang="en-US" sz="1300" dirty="0">
                <a:solidFill>
                  <a:schemeClr val="accent6"/>
                </a:solidFill>
              </a:rPr>
              <a:t>Admin, finance, dispatch and support roles: verification, refunds, pricing, complaints</a:t>
            </a:r>
            <a:endParaRPr lang="en-US" sz="1300" dirty="0"/>
          </a:p>
        </p:txBody>
      </p:sp>
      <p:sp>
        <p:nvSpPr>
          <p:cNvPr id="20" name="panel-38"/>
          <p:cNvSpPr txBox="1"/>
          <p:nvPr/>
        </p:nvSpPr>
        <p:spPr>
          <a:xfrm>
            <a:off x="6126480" y="1691640"/>
            <a:ext cx="1691640" cy="2057400"/>
          </a:xfrm>
          <a:prstGeom prst="roundRect">
            <a:avLst>
              <a:gd name="adj" fmla="val 5405"/>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1" name="text-39"/>
          <p:cNvSpPr txBox="1"/>
          <p:nvPr/>
        </p:nvSpPr>
        <p:spPr>
          <a:xfrm>
            <a:off x="6309360" y="1965960"/>
            <a:ext cx="1371600" cy="868680"/>
          </a:xfrm>
          <a:prstGeom prst="rect">
            <a:avLst/>
          </a:prstGeom>
          <a:noFill/>
          <a:ln/>
        </p:spPr>
        <p:txBody>
          <a:bodyPr wrap="square" lIns="0" tIns="0" rIns="0" bIns="0" rtlCol="0" anchor="t"/>
          <a:lstStyle/>
          <a:p>
            <a:pPr algn="l" indent="0" marL="0">
              <a:buNone/>
            </a:pPr>
            <a:r>
              <a:rPr lang="en-US" sz="5400" b="1" dirty="0">
                <a:solidFill>
                  <a:schemeClr val="accent1"/>
                </a:solidFill>
              </a:rPr>
              <a:t>20</a:t>
            </a:r>
            <a:endParaRPr lang="en-US" sz="5400" dirty="0"/>
          </a:p>
        </p:txBody>
      </p:sp>
      <p:sp>
        <p:nvSpPr>
          <p:cNvPr id="22" name="text-40"/>
          <p:cNvSpPr txBox="1"/>
          <p:nvPr/>
        </p:nvSpPr>
        <p:spPr>
          <a:xfrm>
            <a:off x="6309360" y="2880360"/>
            <a:ext cx="1371600" cy="731520"/>
          </a:xfrm>
          <a:prstGeom prst="rect">
            <a:avLst/>
          </a:prstGeom>
          <a:noFill/>
          <a:ln/>
        </p:spPr>
        <p:txBody>
          <a:bodyPr wrap="square" lIns="0" tIns="0" rIns="0" bIns="0" rtlCol="0" anchor="t"/>
          <a:lstStyle/>
          <a:p>
            <a:pPr algn="l" indent="0" marL="0">
              <a:buNone/>
            </a:pPr>
            <a:r>
              <a:rPr lang="en-US" sz="1300" dirty="0">
                <a:solidFill>
                  <a:schemeClr val="tx1"/>
                </a:solidFill>
              </a:rPr>
              <a:t>backend services</a:t>
            </a:r>
            <a:endParaRPr lang="en-US" sz="1300" dirty="0"/>
          </a:p>
        </p:txBody>
      </p:sp>
      <p:sp>
        <p:nvSpPr>
          <p:cNvPr id="23" name="panel-41"/>
          <p:cNvSpPr txBox="1"/>
          <p:nvPr/>
        </p:nvSpPr>
        <p:spPr>
          <a:xfrm>
            <a:off x="8037576" y="1691640"/>
            <a:ext cx="1691640" cy="2057400"/>
          </a:xfrm>
          <a:prstGeom prst="roundRect">
            <a:avLst>
              <a:gd name="adj" fmla="val 5405"/>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24" name="text-42"/>
          <p:cNvSpPr txBox="1"/>
          <p:nvPr/>
        </p:nvSpPr>
        <p:spPr>
          <a:xfrm>
            <a:off x="8220456" y="1965960"/>
            <a:ext cx="1371600" cy="868680"/>
          </a:xfrm>
          <a:prstGeom prst="rect">
            <a:avLst/>
          </a:prstGeom>
          <a:noFill/>
          <a:ln/>
        </p:spPr>
        <p:txBody>
          <a:bodyPr wrap="square" lIns="0" tIns="0" rIns="0" bIns="0" rtlCol="0" anchor="t"/>
          <a:lstStyle/>
          <a:p>
            <a:pPr algn="l" indent="0" marL="0">
              <a:buNone/>
            </a:pPr>
            <a:r>
              <a:rPr lang="en-US" sz="5400" b="1" dirty="0">
                <a:solidFill>
                  <a:schemeClr val="accent3"/>
                </a:solidFill>
              </a:rPr>
              <a:t>5</a:t>
            </a:r>
            <a:endParaRPr lang="en-US" sz="5400" dirty="0"/>
          </a:p>
        </p:txBody>
      </p:sp>
      <p:sp>
        <p:nvSpPr>
          <p:cNvPr id="25" name="text-43"/>
          <p:cNvSpPr txBox="1"/>
          <p:nvPr/>
        </p:nvSpPr>
        <p:spPr>
          <a:xfrm>
            <a:off x="8220456" y="2880360"/>
            <a:ext cx="1371600" cy="731520"/>
          </a:xfrm>
          <a:prstGeom prst="rect">
            <a:avLst/>
          </a:prstGeom>
          <a:noFill/>
          <a:ln/>
        </p:spPr>
        <p:txBody>
          <a:bodyPr wrap="square" lIns="0" tIns="0" rIns="0" bIns="0" rtlCol="0" anchor="t"/>
          <a:lstStyle/>
          <a:p>
            <a:pPr algn="l" indent="0" marL="0">
              <a:buNone/>
            </a:pPr>
            <a:r>
              <a:rPr lang="en-US" sz="1300" dirty="0">
                <a:solidFill>
                  <a:schemeClr val="tx1"/>
                </a:solidFill>
              </a:rPr>
              <a:t>deployables (JVMs)</a:t>
            </a:r>
            <a:endParaRPr lang="en-US" sz="1300" dirty="0"/>
          </a:p>
        </p:txBody>
      </p:sp>
      <p:sp>
        <p:nvSpPr>
          <p:cNvPr id="26" name="panel-44"/>
          <p:cNvSpPr txBox="1"/>
          <p:nvPr/>
        </p:nvSpPr>
        <p:spPr>
          <a:xfrm>
            <a:off x="9948672" y="1691640"/>
            <a:ext cx="1691640" cy="2057400"/>
          </a:xfrm>
          <a:prstGeom prst="roundRect">
            <a:avLst>
              <a:gd name="adj" fmla="val 5405"/>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27" name="text-45"/>
          <p:cNvSpPr txBox="1"/>
          <p:nvPr/>
        </p:nvSpPr>
        <p:spPr>
          <a:xfrm>
            <a:off x="10131552" y="1965960"/>
            <a:ext cx="1371600" cy="868680"/>
          </a:xfrm>
          <a:prstGeom prst="rect">
            <a:avLst/>
          </a:prstGeom>
          <a:noFill/>
          <a:ln/>
        </p:spPr>
        <p:txBody>
          <a:bodyPr wrap="square" lIns="0" tIns="0" rIns="0" bIns="0" rtlCol="0" anchor="t"/>
          <a:lstStyle/>
          <a:p>
            <a:pPr algn="l" indent="0" marL="0">
              <a:buNone/>
            </a:pPr>
            <a:r>
              <a:rPr lang="en-US" sz="5400" b="1" dirty="0">
                <a:solidFill>
                  <a:schemeClr val="accent2"/>
                </a:solidFill>
              </a:rPr>
              <a:t>3</a:t>
            </a:r>
            <a:endParaRPr lang="en-US" sz="5400" dirty="0"/>
          </a:p>
        </p:txBody>
      </p:sp>
      <p:sp>
        <p:nvSpPr>
          <p:cNvPr id="28" name="text-46"/>
          <p:cNvSpPr txBox="1"/>
          <p:nvPr/>
        </p:nvSpPr>
        <p:spPr>
          <a:xfrm>
            <a:off x="10131552" y="2880360"/>
            <a:ext cx="1371600" cy="731520"/>
          </a:xfrm>
          <a:prstGeom prst="rect">
            <a:avLst/>
          </a:prstGeom>
          <a:noFill/>
          <a:ln/>
        </p:spPr>
        <p:txBody>
          <a:bodyPr wrap="square" lIns="0" tIns="0" rIns="0" bIns="0" rtlCol="0" anchor="t"/>
          <a:lstStyle/>
          <a:p>
            <a:pPr algn="l" indent="0" marL="0">
              <a:buNone/>
            </a:pPr>
            <a:r>
              <a:rPr lang="en-US" sz="1300" dirty="0">
                <a:solidFill>
                  <a:schemeClr val="tx1"/>
                </a:solidFill>
              </a:rPr>
              <a:t>web apps, 2 also on Android and iOS</a:t>
            </a:r>
            <a:endParaRPr lang="en-US" sz="1300" dirty="0"/>
          </a:p>
        </p:txBody>
      </p:sp>
      <p:sp>
        <p:nvSpPr>
          <p:cNvPr id="29" name="panel-47"/>
          <p:cNvSpPr txBox="1"/>
          <p:nvPr/>
        </p:nvSpPr>
        <p:spPr>
          <a:xfrm>
            <a:off x="6126480" y="3977640"/>
            <a:ext cx="1691640" cy="2057400"/>
          </a:xfrm>
          <a:prstGeom prst="roundRect">
            <a:avLst>
              <a:gd name="adj" fmla="val 5405"/>
            </a:avLst>
          </a:prstGeom>
          <a:solidFill>
            <a:schemeClr val="accent5">
              <a:alpha val="10000"/>
            </a:schemeClr>
          </a:solidFill>
          <a:ln/>
        </p:spPr>
        <p:txBody>
          <a:bodyPr wrap="square" lIns="76200" tIns="38100" rIns="76200" bIns="38100" rtlCol="0" anchor="ctr"/>
          <a:lstStyle/>
          <a:p>
            <a:pPr algn="ctr" indent="0" marL="0">
              <a:buNone/>
            </a:pPr>
            <a:endParaRPr lang="en-US" sz="1200" dirty="0"/>
          </a:p>
        </p:txBody>
      </p:sp>
      <p:sp>
        <p:nvSpPr>
          <p:cNvPr id="30" name="text-48"/>
          <p:cNvSpPr txBox="1"/>
          <p:nvPr/>
        </p:nvSpPr>
        <p:spPr>
          <a:xfrm>
            <a:off x="6309360" y="4251960"/>
            <a:ext cx="1371600" cy="868680"/>
          </a:xfrm>
          <a:prstGeom prst="rect">
            <a:avLst/>
          </a:prstGeom>
          <a:noFill/>
          <a:ln/>
        </p:spPr>
        <p:txBody>
          <a:bodyPr wrap="square" lIns="0" tIns="0" rIns="0" bIns="0" rtlCol="0" anchor="t"/>
          <a:lstStyle/>
          <a:p>
            <a:pPr algn="l" indent="0" marL="0">
              <a:buNone/>
            </a:pPr>
            <a:r>
              <a:rPr lang="en-US" sz="5400" b="1" dirty="0">
                <a:solidFill>
                  <a:schemeClr val="accent5"/>
                </a:solidFill>
              </a:rPr>
              <a:t>13</a:t>
            </a:r>
            <a:endParaRPr lang="en-US" sz="5400" dirty="0"/>
          </a:p>
        </p:txBody>
      </p:sp>
      <p:sp>
        <p:nvSpPr>
          <p:cNvPr id="31" name="text-49"/>
          <p:cNvSpPr txBox="1"/>
          <p:nvPr/>
        </p:nvSpPr>
        <p:spPr>
          <a:xfrm>
            <a:off x="6309360" y="5166360"/>
            <a:ext cx="1371600" cy="731520"/>
          </a:xfrm>
          <a:prstGeom prst="rect">
            <a:avLst/>
          </a:prstGeom>
          <a:noFill/>
          <a:ln/>
        </p:spPr>
        <p:txBody>
          <a:bodyPr wrap="square" lIns="0" tIns="0" rIns="0" bIns="0" rtlCol="0" anchor="t"/>
          <a:lstStyle/>
          <a:p>
            <a:pPr algn="l" indent="0" marL="0">
              <a:buNone/>
            </a:pPr>
            <a:r>
              <a:rPr lang="en-US" sz="1300" dirty="0">
                <a:solidFill>
                  <a:schemeClr val="tx1"/>
                </a:solidFill>
              </a:rPr>
              <a:t>Kafka event topics</a:t>
            </a:r>
            <a:endParaRPr lang="en-US" sz="1300" dirty="0"/>
          </a:p>
        </p:txBody>
      </p:sp>
      <p:sp>
        <p:nvSpPr>
          <p:cNvPr id="32" name="panel-50"/>
          <p:cNvSpPr txBox="1"/>
          <p:nvPr/>
        </p:nvSpPr>
        <p:spPr>
          <a:xfrm>
            <a:off x="8037576" y="3977640"/>
            <a:ext cx="1691640" cy="2057400"/>
          </a:xfrm>
          <a:prstGeom prst="roundRect">
            <a:avLst>
              <a:gd name="adj" fmla="val 5405"/>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33" name="text-51"/>
          <p:cNvSpPr txBox="1"/>
          <p:nvPr/>
        </p:nvSpPr>
        <p:spPr>
          <a:xfrm>
            <a:off x="8220456" y="4251960"/>
            <a:ext cx="1371600" cy="868680"/>
          </a:xfrm>
          <a:prstGeom prst="rect">
            <a:avLst/>
          </a:prstGeom>
          <a:noFill/>
          <a:ln/>
        </p:spPr>
        <p:txBody>
          <a:bodyPr wrap="square" lIns="0" tIns="0" rIns="0" bIns="0" rtlCol="0" anchor="t"/>
          <a:lstStyle/>
          <a:p>
            <a:pPr algn="l" indent="0" marL="0">
              <a:buNone/>
            </a:pPr>
            <a:r>
              <a:rPr lang="en-US" sz="5400" b="1" dirty="0">
                <a:solidFill>
                  <a:schemeClr val="accent4"/>
                </a:solidFill>
              </a:rPr>
              <a:t>19</a:t>
            </a:r>
            <a:endParaRPr lang="en-US" sz="5400" dirty="0"/>
          </a:p>
        </p:txBody>
      </p:sp>
      <p:sp>
        <p:nvSpPr>
          <p:cNvPr id="34" name="text-52"/>
          <p:cNvSpPr txBox="1"/>
          <p:nvPr/>
        </p:nvSpPr>
        <p:spPr>
          <a:xfrm>
            <a:off x="8220456" y="5166360"/>
            <a:ext cx="1371600" cy="731520"/>
          </a:xfrm>
          <a:prstGeom prst="rect">
            <a:avLst/>
          </a:prstGeom>
          <a:noFill/>
          <a:ln/>
        </p:spPr>
        <p:txBody>
          <a:bodyPr wrap="square" lIns="0" tIns="0" rIns="0" bIns="0" rtlCol="0" anchor="t"/>
          <a:lstStyle/>
          <a:p>
            <a:pPr algn="l" indent="0" marL="0">
              <a:buNone/>
            </a:pPr>
            <a:r>
              <a:rPr lang="en-US" sz="1300" dirty="0">
                <a:solidFill>
                  <a:schemeClr val="tx1"/>
                </a:solidFill>
              </a:rPr>
              <a:t>booking states</a:t>
            </a:r>
            <a:endParaRPr lang="en-US" sz="1300" dirty="0"/>
          </a:p>
        </p:txBody>
      </p:sp>
      <p:sp>
        <p:nvSpPr>
          <p:cNvPr id="35" name="panel-53"/>
          <p:cNvSpPr txBox="1"/>
          <p:nvPr/>
        </p:nvSpPr>
        <p:spPr>
          <a:xfrm>
            <a:off x="9948672" y="3977640"/>
            <a:ext cx="1691640" cy="2057400"/>
          </a:xfrm>
          <a:prstGeom prst="roundRect">
            <a:avLst>
              <a:gd name="adj" fmla="val 5405"/>
            </a:avLst>
          </a:prstGeom>
          <a:solidFill>
            <a:schemeClr val="accent6">
              <a:alpha val="10000"/>
            </a:schemeClr>
          </a:solidFill>
          <a:ln/>
        </p:spPr>
        <p:txBody>
          <a:bodyPr wrap="square" lIns="76200" tIns="38100" rIns="76200" bIns="38100" rtlCol="0" anchor="ctr"/>
          <a:lstStyle/>
          <a:p>
            <a:pPr algn="ctr" indent="0" marL="0">
              <a:buNone/>
            </a:pPr>
            <a:endParaRPr lang="en-US" sz="1200" dirty="0"/>
          </a:p>
        </p:txBody>
      </p:sp>
      <p:sp>
        <p:nvSpPr>
          <p:cNvPr id="36" name="text-54"/>
          <p:cNvSpPr txBox="1"/>
          <p:nvPr/>
        </p:nvSpPr>
        <p:spPr>
          <a:xfrm>
            <a:off x="10131552" y="4251960"/>
            <a:ext cx="1371600" cy="868680"/>
          </a:xfrm>
          <a:prstGeom prst="rect">
            <a:avLst/>
          </a:prstGeom>
          <a:noFill/>
          <a:ln/>
        </p:spPr>
        <p:txBody>
          <a:bodyPr wrap="square" lIns="0" tIns="0" rIns="0" bIns="0" rtlCol="0" anchor="t"/>
          <a:lstStyle/>
          <a:p>
            <a:pPr algn="l" indent="0" marL="0">
              <a:buNone/>
            </a:pPr>
            <a:r>
              <a:rPr lang="en-US" sz="5400" b="1" dirty="0">
                <a:solidFill>
                  <a:schemeClr val="accent6"/>
                </a:solidFill>
              </a:rPr>
              <a:t>45</a:t>
            </a:r>
            <a:endParaRPr lang="en-US" sz="5400" dirty="0"/>
          </a:p>
        </p:txBody>
      </p:sp>
      <p:sp>
        <p:nvSpPr>
          <p:cNvPr id="37" name="text-55"/>
          <p:cNvSpPr txBox="1"/>
          <p:nvPr/>
        </p:nvSpPr>
        <p:spPr>
          <a:xfrm>
            <a:off x="10131552" y="5166360"/>
            <a:ext cx="1371600" cy="731520"/>
          </a:xfrm>
          <a:prstGeom prst="rect">
            <a:avLst/>
          </a:prstGeom>
          <a:noFill/>
          <a:ln/>
        </p:spPr>
        <p:txBody>
          <a:bodyPr wrap="square" lIns="0" tIns="0" rIns="0" bIns="0" rtlCol="0" anchor="t"/>
          <a:lstStyle/>
          <a:p>
            <a:pPr algn="l" indent="0" marL="0">
              <a:buNone/>
            </a:pPr>
            <a:r>
              <a:rPr lang="en-US" sz="1300" dirty="0">
                <a:solidFill>
                  <a:schemeClr val="tx1"/>
                </a:solidFill>
              </a:rPr>
              <a:t>versioned Flyway migrations</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Who and what the platform talks to</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Every client call enters through one gateway; services talk to each other over HTTP and Kafka</a:t>
            </a:r>
            <a:endParaRPr lang="en-US" sz="1500" dirty="0"/>
          </a:p>
        </p:txBody>
      </p:sp>
      <p:sp>
        <p:nvSpPr>
          <p:cNvPr id="4" name="icon-bg-user-56"/>
          <p:cNvSpPr/>
          <p:nvPr/>
        </p:nvSpPr>
        <p:spPr>
          <a:xfrm>
            <a:off x="548640" y="1783080"/>
            <a:ext cx="548640" cy="548640"/>
          </a:xfrm>
          <a:prstGeom prst="ellipse">
            <a:avLst/>
          </a:prstGeom>
          <a:solidFill>
            <a:schemeClr val="accent1"/>
          </a:solidFill>
          <a:ln/>
        </p:spPr>
        <p:txBody>
          <a:bodyPr/>
          <a:p/>
        </p:txBody>
      </p:sp>
      <p:pic>
        <p:nvPicPr>
          <p:cNvPr id="5" name="icon-user-57" descr="user">    </p:cNvPr>
          <p:cNvPicPr>
            <a:picLocks noChangeAspect="1"/>
          </p:cNvPicPr>
          <p:nvPr/>
        </p:nvPicPr>
        <p:blipFill>
          <a:blip r:embed="rId1"/>
          <a:stretch>
            <a:fillRect/>
          </a:stretch>
        </p:blipFill>
        <p:spPr>
          <a:xfrm>
            <a:off x="680314" y="1914754"/>
            <a:ext cx="285293" cy="285293"/>
          </a:xfrm>
          <a:prstGeom prst="rect">
            <a:avLst/>
          </a:prstGeom>
        </p:spPr>
      </p:pic>
      <p:sp>
        <p:nvSpPr>
          <p:cNvPr id="6" name="text-58"/>
          <p:cNvSpPr txBox="1"/>
          <p:nvPr/>
        </p:nvSpPr>
        <p:spPr>
          <a:xfrm>
            <a:off x="1188720" y="1901952"/>
            <a:ext cx="1280160" cy="320040"/>
          </a:xfrm>
          <a:prstGeom prst="rect">
            <a:avLst/>
          </a:prstGeom>
          <a:noFill/>
          <a:ln/>
        </p:spPr>
        <p:txBody>
          <a:bodyPr wrap="square" lIns="0" tIns="0" rIns="0" bIns="0" rtlCol="0" anchor="t"/>
          <a:lstStyle/>
          <a:p>
            <a:pPr algn="l" indent="0" marL="0">
              <a:buNone/>
            </a:pPr>
            <a:r>
              <a:rPr lang="en-US" sz="1400" b="1" dirty="0">
                <a:solidFill>
                  <a:schemeClr val="tx1"/>
                </a:solidFill>
              </a:rPr>
              <a:t>Customer</a:t>
            </a:r>
            <a:endParaRPr lang="en-US" sz="1400" dirty="0"/>
          </a:p>
        </p:txBody>
      </p:sp>
      <p:sp>
        <p:nvSpPr>
          <p:cNvPr id="7" name="icon-bg-hardhat-59"/>
          <p:cNvSpPr/>
          <p:nvPr/>
        </p:nvSpPr>
        <p:spPr>
          <a:xfrm>
            <a:off x="548640" y="2770632"/>
            <a:ext cx="548640" cy="548640"/>
          </a:xfrm>
          <a:prstGeom prst="ellipse">
            <a:avLst/>
          </a:prstGeom>
          <a:solidFill>
            <a:schemeClr val="accent3"/>
          </a:solidFill>
          <a:ln/>
        </p:spPr>
        <p:txBody>
          <a:bodyPr/>
          <a:p/>
        </p:txBody>
      </p:sp>
      <p:pic>
        <p:nvPicPr>
          <p:cNvPr id="8" name="icon-hardhat-60" descr="hardhat">    </p:cNvPr>
          <p:cNvPicPr>
            <a:picLocks noChangeAspect="1"/>
          </p:cNvPicPr>
          <p:nvPr/>
        </p:nvPicPr>
        <p:blipFill>
          <a:blip r:embed="rId2"/>
          <a:stretch>
            <a:fillRect/>
          </a:stretch>
        </p:blipFill>
        <p:spPr>
          <a:xfrm>
            <a:off x="680314" y="2902306"/>
            <a:ext cx="285293" cy="285293"/>
          </a:xfrm>
          <a:prstGeom prst="rect">
            <a:avLst/>
          </a:prstGeom>
        </p:spPr>
      </p:pic>
      <p:sp>
        <p:nvSpPr>
          <p:cNvPr id="9" name="text-61"/>
          <p:cNvSpPr txBox="1"/>
          <p:nvPr/>
        </p:nvSpPr>
        <p:spPr>
          <a:xfrm>
            <a:off x="1188720" y="2889504"/>
            <a:ext cx="1280160" cy="320040"/>
          </a:xfrm>
          <a:prstGeom prst="rect">
            <a:avLst/>
          </a:prstGeom>
          <a:noFill/>
          <a:ln/>
        </p:spPr>
        <p:txBody>
          <a:bodyPr wrap="square" lIns="0" tIns="0" rIns="0" bIns="0" rtlCol="0" anchor="t"/>
          <a:lstStyle/>
          <a:p>
            <a:pPr algn="l" indent="0" marL="0">
              <a:buNone/>
            </a:pPr>
            <a:r>
              <a:rPr lang="en-US" sz="1400" b="1" dirty="0">
                <a:solidFill>
                  <a:schemeClr val="tx1"/>
                </a:solidFill>
              </a:rPr>
              <a:t>Provider</a:t>
            </a:r>
            <a:endParaRPr lang="en-US" sz="1400" dirty="0"/>
          </a:p>
        </p:txBody>
      </p:sp>
      <p:sp>
        <p:nvSpPr>
          <p:cNvPr id="10" name="icon-bg-building-62"/>
          <p:cNvSpPr/>
          <p:nvPr/>
        </p:nvSpPr>
        <p:spPr>
          <a:xfrm>
            <a:off x="548640" y="3758184"/>
            <a:ext cx="548640" cy="548640"/>
          </a:xfrm>
          <a:prstGeom prst="ellipse">
            <a:avLst/>
          </a:prstGeom>
          <a:solidFill>
            <a:schemeClr val="accent2"/>
          </a:solidFill>
          <a:ln/>
        </p:spPr>
        <p:txBody>
          <a:bodyPr/>
          <a:p/>
        </p:txBody>
      </p:sp>
      <p:pic>
        <p:nvPicPr>
          <p:cNvPr id="11" name="icon-building-63" descr="building">    </p:cNvPr>
          <p:cNvPicPr>
            <a:picLocks noChangeAspect="1"/>
          </p:cNvPicPr>
          <p:nvPr/>
        </p:nvPicPr>
        <p:blipFill>
          <a:blip r:embed="rId3"/>
          <a:stretch>
            <a:fillRect/>
          </a:stretch>
        </p:blipFill>
        <p:spPr>
          <a:xfrm>
            <a:off x="680314" y="3889858"/>
            <a:ext cx="285293" cy="285293"/>
          </a:xfrm>
          <a:prstGeom prst="rect">
            <a:avLst/>
          </a:prstGeom>
        </p:spPr>
      </p:pic>
      <p:sp>
        <p:nvSpPr>
          <p:cNvPr id="12" name="text-64"/>
          <p:cNvSpPr txBox="1"/>
          <p:nvPr/>
        </p:nvSpPr>
        <p:spPr>
          <a:xfrm>
            <a:off x="1188720" y="3877056"/>
            <a:ext cx="1280160" cy="320040"/>
          </a:xfrm>
          <a:prstGeom prst="rect">
            <a:avLst/>
          </a:prstGeom>
          <a:noFill/>
          <a:ln/>
        </p:spPr>
        <p:txBody>
          <a:bodyPr wrap="square" lIns="0" tIns="0" rIns="0" bIns="0" rtlCol="0" anchor="t"/>
          <a:lstStyle/>
          <a:p>
            <a:pPr algn="l" indent="0" marL="0">
              <a:buNone/>
            </a:pPr>
            <a:r>
              <a:rPr lang="en-US" sz="1400" b="1" dirty="0">
                <a:solidFill>
                  <a:schemeClr val="tx1"/>
                </a:solidFill>
              </a:rPr>
              <a:t>Agency admin</a:t>
            </a:r>
            <a:endParaRPr lang="en-US" sz="1400" dirty="0"/>
          </a:p>
        </p:txBody>
      </p:sp>
      <p:sp>
        <p:nvSpPr>
          <p:cNvPr id="13" name="icon-bg-headset-65"/>
          <p:cNvSpPr/>
          <p:nvPr/>
        </p:nvSpPr>
        <p:spPr>
          <a:xfrm>
            <a:off x="548640" y="4745736"/>
            <a:ext cx="548640" cy="548640"/>
          </a:xfrm>
          <a:prstGeom prst="ellipse">
            <a:avLst/>
          </a:prstGeom>
          <a:solidFill>
            <a:schemeClr val="accent4"/>
          </a:solidFill>
          <a:ln/>
        </p:spPr>
        <p:txBody>
          <a:bodyPr/>
          <a:p/>
        </p:txBody>
      </p:sp>
      <p:pic>
        <p:nvPicPr>
          <p:cNvPr id="14" name="icon-headset-66" descr="headset">    </p:cNvPr>
          <p:cNvPicPr>
            <a:picLocks noChangeAspect="1"/>
          </p:cNvPicPr>
          <p:nvPr/>
        </p:nvPicPr>
        <p:blipFill>
          <a:blip r:embed="rId4"/>
          <a:stretch>
            <a:fillRect/>
          </a:stretch>
        </p:blipFill>
        <p:spPr>
          <a:xfrm>
            <a:off x="680314" y="4877410"/>
            <a:ext cx="285293" cy="285293"/>
          </a:xfrm>
          <a:prstGeom prst="rect">
            <a:avLst/>
          </a:prstGeom>
        </p:spPr>
      </p:pic>
      <p:sp>
        <p:nvSpPr>
          <p:cNvPr id="15" name="text-67"/>
          <p:cNvSpPr txBox="1"/>
          <p:nvPr/>
        </p:nvSpPr>
        <p:spPr>
          <a:xfrm>
            <a:off x="1188720" y="4864608"/>
            <a:ext cx="1280160" cy="320040"/>
          </a:xfrm>
          <a:prstGeom prst="rect">
            <a:avLst/>
          </a:prstGeom>
          <a:noFill/>
          <a:ln/>
        </p:spPr>
        <p:txBody>
          <a:bodyPr wrap="square" lIns="0" tIns="0" rIns="0" bIns="0" rtlCol="0" anchor="t"/>
          <a:lstStyle/>
          <a:p>
            <a:pPr algn="l" indent="0" marL="0">
              <a:buNone/>
            </a:pPr>
            <a:r>
              <a:rPr lang="en-US" sz="1400" b="1" dirty="0">
                <a:solidFill>
                  <a:schemeClr val="tx1"/>
                </a:solidFill>
              </a:rPr>
              <a:t>Staff</a:t>
            </a:r>
            <a:endParaRPr lang="en-US" sz="1400" dirty="0"/>
          </a:p>
        </p:txBody>
      </p:sp>
      <p:sp>
        <p:nvSpPr>
          <p:cNvPr id="16" name="box-68"/>
          <p:cNvSpPr txBox="1"/>
          <p:nvPr/>
        </p:nvSpPr>
        <p:spPr>
          <a:xfrm>
            <a:off x="2743200" y="1828800"/>
            <a:ext cx="2011680" cy="731520"/>
          </a:xfrm>
          <a:prstGeom prst="roundRect">
            <a:avLst>
              <a:gd name="adj" fmla="val 10000"/>
            </a:avLst>
          </a:prstGeom>
          <a:solidFill>
            <a:schemeClr val="accent1">
              <a:alpha val="12000"/>
            </a:schemeClr>
          </a:solidFill>
          <a:ln/>
        </p:spPr>
        <p:txBody>
          <a:bodyPr wrap="square" lIns="76200" tIns="38100" rIns="76200" bIns="38100" rtlCol="0" anchor="ctr"/>
          <a:lstStyle/>
          <a:p>
            <a:pPr algn="ctr" indent="0" marL="0">
              <a:buNone/>
            </a:pPr>
            <a:r>
              <a:rPr lang="en-US" sz="1400" b="1" dirty="0">
                <a:solidFill>
                  <a:schemeClr val="tx1"/>
                </a:solidFill>
              </a:rPr>
              <a:t>customer-app</a:t>
            </a:r>
            <a:endParaRPr lang="en-US" sz="1200" dirty="0"/>
          </a:p>
          <a:p>
            <a:pPr algn="ctr" indent="0" marL="0">
              <a:buNone/>
            </a:pPr>
            <a:r>
              <a:rPr lang="en-US" sz="1100" dirty="0">
                <a:solidFill>
                  <a:schemeClr val="accent6"/>
                </a:solidFill>
              </a:rPr>
              <a:t>Web · Android · iOS</a:t>
            </a:r>
            <a:endParaRPr lang="en-US" sz="1200" dirty="0"/>
          </a:p>
        </p:txBody>
      </p:sp>
      <p:sp>
        <p:nvSpPr>
          <p:cNvPr id="17" name="box-69"/>
          <p:cNvSpPr txBox="1"/>
          <p:nvPr/>
        </p:nvSpPr>
        <p:spPr>
          <a:xfrm>
            <a:off x="2743200" y="2816352"/>
            <a:ext cx="2011680" cy="731520"/>
          </a:xfrm>
          <a:prstGeom prst="roundRect">
            <a:avLst>
              <a:gd name="adj" fmla="val 10000"/>
            </a:avLst>
          </a:prstGeom>
          <a:solidFill>
            <a:schemeClr val="accent1">
              <a:alpha val="12000"/>
            </a:schemeClr>
          </a:solidFill>
          <a:ln/>
        </p:spPr>
        <p:txBody>
          <a:bodyPr wrap="square" lIns="76200" tIns="38100" rIns="76200" bIns="38100" rtlCol="0" anchor="ctr"/>
          <a:lstStyle/>
          <a:p>
            <a:pPr algn="ctr" indent="0" marL="0">
              <a:buNone/>
            </a:pPr>
            <a:r>
              <a:rPr lang="en-US" sz="1400" b="1" dirty="0">
                <a:solidFill>
                  <a:schemeClr val="tx1"/>
                </a:solidFill>
              </a:rPr>
              <a:t>provider-app</a:t>
            </a:r>
            <a:endParaRPr lang="en-US" sz="1200" dirty="0"/>
          </a:p>
          <a:p>
            <a:pPr algn="ctr" indent="0" marL="0">
              <a:buNone/>
            </a:pPr>
            <a:r>
              <a:rPr lang="en-US" sz="1100" dirty="0">
                <a:solidFill>
                  <a:schemeClr val="accent6"/>
                </a:solidFill>
              </a:rPr>
              <a:t>Web · Android · iOS</a:t>
            </a:r>
            <a:endParaRPr lang="en-US" sz="1200" dirty="0"/>
          </a:p>
        </p:txBody>
      </p:sp>
      <p:sp>
        <p:nvSpPr>
          <p:cNvPr id="18" name="box-70"/>
          <p:cNvSpPr txBox="1"/>
          <p:nvPr/>
        </p:nvSpPr>
        <p:spPr>
          <a:xfrm>
            <a:off x="2743200" y="4297680"/>
            <a:ext cx="2011680" cy="731520"/>
          </a:xfrm>
          <a:prstGeom prst="roundRect">
            <a:avLst>
              <a:gd name="adj" fmla="val 10000"/>
            </a:avLst>
          </a:prstGeom>
          <a:solidFill>
            <a:schemeClr val="accent1">
              <a:alpha val="12000"/>
            </a:schemeClr>
          </a:solidFill>
          <a:ln/>
        </p:spPr>
        <p:txBody>
          <a:bodyPr wrap="square" lIns="76200" tIns="38100" rIns="76200" bIns="38100" rtlCol="0" anchor="ctr"/>
          <a:lstStyle/>
          <a:p>
            <a:pPr algn="ctr" indent="0" marL="0">
              <a:buNone/>
            </a:pPr>
            <a:r>
              <a:rPr lang="en-US" sz="1400" b="1" dirty="0">
                <a:solidFill>
                  <a:schemeClr val="tx1"/>
                </a:solidFill>
              </a:rPr>
              <a:t>admin-portal</a:t>
            </a:r>
            <a:endParaRPr lang="en-US" sz="1200" dirty="0"/>
          </a:p>
          <a:p>
            <a:pPr algn="ctr" indent="0" marL="0">
              <a:buNone/>
            </a:pPr>
            <a:r>
              <a:rPr lang="en-US" sz="1100" dirty="0">
                <a:solidFill>
                  <a:schemeClr val="accent6"/>
                </a:solidFill>
              </a:rPr>
              <a:t>Staff + Tenant Portal</a:t>
            </a:r>
            <a:endParaRPr lang="en-US" sz="1200" dirty="0"/>
          </a:p>
        </p:txBody>
      </p:sp>
      <p:sp>
        <p:nvSpPr>
          <p:cNvPr id="19" name="arrow-71"/>
          <p:cNvSpPr/>
          <p:nvPr/>
        </p:nvSpPr>
        <p:spPr>
          <a:xfrm>
            <a:off x="2468880" y="2057400"/>
            <a:ext cx="274320" cy="137160"/>
          </a:xfrm>
          <a:prstGeom prst="line">
            <a:avLst/>
          </a:prstGeom>
          <a:noFill/>
          <a:ln w="19050">
            <a:solidFill>
              <a:schemeClr val="accent6"/>
            </a:solidFill>
            <a:prstDash val="solid"/>
            <a:tailEnd type="triangle"/>
          </a:ln>
        </p:spPr>
        <p:txBody>
          <a:bodyPr/>
          <a:p/>
        </p:txBody>
      </p:sp>
      <p:sp>
        <p:nvSpPr>
          <p:cNvPr id="20" name="arrow-72"/>
          <p:cNvSpPr/>
          <p:nvPr/>
        </p:nvSpPr>
        <p:spPr>
          <a:xfrm>
            <a:off x="2468880" y="3044952"/>
            <a:ext cx="274320" cy="137160"/>
          </a:xfrm>
          <a:prstGeom prst="line">
            <a:avLst/>
          </a:prstGeom>
          <a:noFill/>
          <a:ln w="19050">
            <a:solidFill>
              <a:schemeClr val="accent6"/>
            </a:solidFill>
            <a:prstDash val="solid"/>
            <a:tailEnd type="triangle"/>
          </a:ln>
        </p:spPr>
        <p:txBody>
          <a:bodyPr/>
          <a:p/>
        </p:txBody>
      </p:sp>
      <p:sp>
        <p:nvSpPr>
          <p:cNvPr id="21" name="arrow-73"/>
          <p:cNvSpPr/>
          <p:nvPr/>
        </p:nvSpPr>
        <p:spPr>
          <a:xfrm>
            <a:off x="2468880" y="4032504"/>
            <a:ext cx="274320" cy="493776"/>
          </a:xfrm>
          <a:prstGeom prst="line">
            <a:avLst/>
          </a:prstGeom>
          <a:noFill/>
          <a:ln w="19050">
            <a:solidFill>
              <a:schemeClr val="accent6"/>
            </a:solidFill>
            <a:prstDash val="solid"/>
            <a:tailEnd type="triangle"/>
          </a:ln>
        </p:spPr>
        <p:txBody>
          <a:bodyPr/>
          <a:p/>
        </p:txBody>
      </p:sp>
      <p:sp>
        <p:nvSpPr>
          <p:cNvPr id="22" name="arrow-74"/>
          <p:cNvSpPr/>
          <p:nvPr/>
        </p:nvSpPr>
        <p:spPr>
          <a:xfrm flipV="1">
            <a:off x="2468880" y="4800600"/>
            <a:ext cx="274320" cy="219456"/>
          </a:xfrm>
          <a:prstGeom prst="line">
            <a:avLst/>
          </a:prstGeom>
          <a:noFill/>
          <a:ln w="19050">
            <a:solidFill>
              <a:schemeClr val="accent6"/>
            </a:solidFill>
            <a:prstDash val="solid"/>
            <a:tailEnd type="triangle"/>
          </a:ln>
        </p:spPr>
        <p:txBody>
          <a:bodyPr/>
          <a:p/>
        </p:txBody>
      </p:sp>
      <p:sp>
        <p:nvSpPr>
          <p:cNvPr id="23" name="box-75"/>
          <p:cNvSpPr txBox="1"/>
          <p:nvPr/>
        </p:nvSpPr>
        <p:spPr>
          <a:xfrm>
            <a:off x="5257800" y="1828800"/>
            <a:ext cx="1463040" cy="3200400"/>
          </a:xfrm>
          <a:prstGeom prst="roundRect">
            <a:avLst>
              <a:gd name="adj" fmla="val 5000"/>
            </a:avLst>
          </a:prstGeom>
          <a:solidFill>
            <a:schemeClr val="tx1"/>
          </a:solidFill>
          <a:ln/>
        </p:spPr>
        <p:txBody>
          <a:bodyPr wrap="square" lIns="76200" tIns="38100" rIns="76200" bIns="38100" rtlCol="0" anchor="ctr"/>
          <a:lstStyle/>
          <a:p>
            <a:pPr algn="ctr" indent="0" marL="0">
              <a:buNone/>
            </a:pPr>
            <a:r>
              <a:rPr lang="en-US" sz="1500" b="1" dirty="0">
                <a:solidFill>
                  <a:schemeClr val="bg1"/>
                </a:solidFill>
              </a:rPr>
              <a:t>api-gateway</a:t>
            </a:r>
            <a:endParaRPr lang="en-US" sz="1200" dirty="0"/>
          </a:p>
          <a:p>
            <a:pPr algn="ctr" indent="0" marL="0">
              <a:buNone/>
            </a:pPr>
            <a:r>
              <a:rPr lang="en-US" sz="1100" dirty="0">
                <a:solidFill>
                  <a:schemeClr val="bg2"/>
                </a:solidFill>
              </a:rPr>
              <a:t>JWT introspection, WAF, rate limits, routing</a:t>
            </a:r>
            <a:endParaRPr lang="en-US" sz="1200" dirty="0"/>
          </a:p>
        </p:txBody>
      </p:sp>
      <p:sp>
        <p:nvSpPr>
          <p:cNvPr id="24" name="arrow-76"/>
          <p:cNvSpPr/>
          <p:nvPr/>
        </p:nvSpPr>
        <p:spPr>
          <a:xfrm>
            <a:off x="4754880" y="2194560"/>
            <a:ext cx="502920" cy="0"/>
          </a:xfrm>
          <a:prstGeom prst="line">
            <a:avLst/>
          </a:prstGeom>
          <a:noFill/>
          <a:ln w="19050">
            <a:solidFill>
              <a:schemeClr val="accent6"/>
            </a:solidFill>
            <a:prstDash val="solid"/>
            <a:tailEnd type="triangle"/>
          </a:ln>
        </p:spPr>
        <p:txBody>
          <a:bodyPr/>
          <a:p/>
        </p:txBody>
      </p:sp>
      <p:sp>
        <p:nvSpPr>
          <p:cNvPr id="25" name="arrow-77"/>
          <p:cNvSpPr/>
          <p:nvPr/>
        </p:nvSpPr>
        <p:spPr>
          <a:xfrm>
            <a:off x="4754880" y="3182112"/>
            <a:ext cx="502920" cy="0"/>
          </a:xfrm>
          <a:prstGeom prst="line">
            <a:avLst/>
          </a:prstGeom>
          <a:noFill/>
          <a:ln w="19050">
            <a:solidFill>
              <a:schemeClr val="accent6"/>
            </a:solidFill>
            <a:prstDash val="solid"/>
            <a:tailEnd type="triangle"/>
          </a:ln>
        </p:spPr>
        <p:txBody>
          <a:bodyPr/>
          <a:p/>
        </p:txBody>
      </p:sp>
      <p:sp>
        <p:nvSpPr>
          <p:cNvPr id="26" name="arrow-78"/>
          <p:cNvSpPr/>
          <p:nvPr/>
        </p:nvSpPr>
        <p:spPr>
          <a:xfrm>
            <a:off x="4754880" y="4663440"/>
            <a:ext cx="502920" cy="0"/>
          </a:xfrm>
          <a:prstGeom prst="line">
            <a:avLst/>
          </a:prstGeom>
          <a:noFill/>
          <a:ln w="19050">
            <a:solidFill>
              <a:schemeClr val="accent6"/>
            </a:solidFill>
            <a:prstDash val="solid"/>
            <a:tailEnd type="triangle"/>
          </a:ln>
        </p:spPr>
        <p:txBody>
          <a:bodyPr/>
          <a:p/>
        </p:txBody>
      </p:sp>
      <p:sp>
        <p:nvSpPr>
          <p:cNvPr id="27" name="box-79"/>
          <p:cNvSpPr txBox="1"/>
          <p:nvPr/>
        </p:nvSpPr>
        <p:spPr>
          <a:xfrm>
            <a:off x="7178040" y="1828800"/>
            <a:ext cx="2148840" cy="1737360"/>
          </a:xfrm>
          <a:prstGeom prst="roundRect">
            <a:avLst>
              <a:gd name="adj" fmla="val 4211"/>
            </a:avLst>
          </a:prstGeom>
          <a:solidFill>
            <a:schemeClr val="accent1">
              <a:alpha val="15000"/>
            </a:schemeClr>
          </a:solidFill>
          <a:ln/>
        </p:spPr>
        <p:txBody>
          <a:bodyPr wrap="square" lIns="76200" tIns="38100" rIns="76200" bIns="38100" rtlCol="0" anchor="ctr"/>
          <a:lstStyle/>
          <a:p>
            <a:pPr algn="ctr" indent="0" marL="0">
              <a:buNone/>
            </a:pPr>
            <a:r>
              <a:rPr lang="en-US" sz="1500" b="1" dirty="0">
                <a:solidFill>
                  <a:schemeClr val="tx1"/>
                </a:solidFill>
              </a:rPr>
              <a:t>19 domain services</a:t>
            </a:r>
            <a:endParaRPr lang="en-US" sz="1200" dirty="0"/>
          </a:p>
          <a:p>
            <a:pPr algn="ctr" indent="0" marL="0">
              <a:buNone/>
            </a:pPr>
            <a:r>
              <a:rPr lang="en-US" sz="1200" dirty="0">
                <a:solidFill>
                  <a:schemeClr val="accent6"/>
                </a:solidFill>
              </a:rPr>
              <a:t>in four deployables</a:t>
            </a:r>
            <a:endParaRPr lang="en-US" sz="1200" dirty="0"/>
          </a:p>
        </p:txBody>
      </p:sp>
      <p:sp>
        <p:nvSpPr>
          <p:cNvPr id="28" name="chip-80"/>
          <p:cNvSpPr txBox="1"/>
          <p:nvPr/>
        </p:nvSpPr>
        <p:spPr>
          <a:xfrm>
            <a:off x="7178040" y="3749040"/>
            <a:ext cx="2148840" cy="594360"/>
          </a:xfrm>
          <a:prstGeom prst="roundRect">
            <a:avLst>
              <a:gd name="adj" fmla="val 12308"/>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Kafka · transactional outbox</a:t>
            </a:r>
            <a:endParaRPr lang="en-US" sz="1200" dirty="0"/>
          </a:p>
        </p:txBody>
      </p:sp>
      <p:sp>
        <p:nvSpPr>
          <p:cNvPr id="29" name="chip-81"/>
          <p:cNvSpPr txBox="1"/>
          <p:nvPr/>
        </p:nvSpPr>
        <p:spPr>
          <a:xfrm>
            <a:off x="7178040" y="4480560"/>
            <a:ext cx="2148840" cy="594360"/>
          </a:xfrm>
          <a:prstGeom prst="roundRect">
            <a:avLst>
              <a:gd name="adj" fmla="val 12308"/>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PostgreSQL · Redis</a:t>
            </a:r>
            <a:endParaRPr lang="en-US" sz="1200" dirty="0"/>
          </a:p>
        </p:txBody>
      </p:sp>
      <p:sp>
        <p:nvSpPr>
          <p:cNvPr id="30" name="arrow-82"/>
          <p:cNvSpPr/>
          <p:nvPr/>
        </p:nvSpPr>
        <p:spPr>
          <a:xfrm>
            <a:off x="6720840" y="2697480"/>
            <a:ext cx="457200" cy="0"/>
          </a:xfrm>
          <a:prstGeom prst="line">
            <a:avLst/>
          </a:prstGeom>
          <a:noFill/>
          <a:ln w="19050">
            <a:solidFill>
              <a:schemeClr val="accent6"/>
            </a:solidFill>
            <a:prstDash val="solid"/>
            <a:tailEnd type="triangle"/>
          </a:ln>
        </p:spPr>
        <p:txBody>
          <a:bodyPr/>
          <a:p/>
        </p:txBody>
      </p:sp>
      <p:sp>
        <p:nvSpPr>
          <p:cNvPr id="31" name="arrow-83"/>
          <p:cNvSpPr/>
          <p:nvPr/>
        </p:nvSpPr>
        <p:spPr>
          <a:xfrm>
            <a:off x="8252460" y="3566160"/>
            <a:ext cx="0" cy="182880"/>
          </a:xfrm>
          <a:prstGeom prst="line">
            <a:avLst/>
          </a:prstGeom>
          <a:noFill/>
          <a:ln w="19050">
            <a:solidFill>
              <a:schemeClr val="accent6"/>
            </a:solidFill>
            <a:prstDash val="solid"/>
            <a:headEnd type="triangle"/>
            <a:tailEnd type="triangle"/>
          </a:ln>
        </p:spPr>
        <p:txBody>
          <a:bodyPr/>
          <a:p/>
        </p:txBody>
      </p:sp>
      <p:sp>
        <p:nvSpPr>
          <p:cNvPr id="32" name="arrow-84"/>
          <p:cNvSpPr/>
          <p:nvPr/>
        </p:nvSpPr>
        <p:spPr>
          <a:xfrm>
            <a:off x="9326880" y="3108960"/>
            <a:ext cx="365760" cy="0"/>
          </a:xfrm>
          <a:prstGeom prst="line">
            <a:avLst/>
          </a:prstGeom>
          <a:noFill/>
          <a:ln w="19050">
            <a:solidFill>
              <a:schemeClr val="accent6"/>
            </a:solidFill>
            <a:prstDash val="solid"/>
            <a:tailEnd type="triangle"/>
          </a:ln>
        </p:spPr>
        <p:txBody>
          <a:bodyPr/>
          <a:p/>
        </p:txBody>
      </p:sp>
      <p:sp>
        <p:nvSpPr>
          <p:cNvPr id="33" name="box-85"/>
          <p:cNvSpPr txBox="1"/>
          <p:nvPr/>
        </p:nvSpPr>
        <p:spPr>
          <a:xfrm>
            <a:off x="9692640" y="1645920"/>
            <a:ext cx="1947672" cy="548640"/>
          </a:xfrm>
          <a:prstGeom prst="roundRect">
            <a:avLst>
              <a:gd name="adj" fmla="val 13333"/>
            </a:avLst>
          </a:prstGeom>
          <a:solidFill>
            <a:schemeClr val="bg2">
              <a:alpha val="60000"/>
            </a:schemeClr>
          </a:solidFill>
          <a:ln/>
        </p:spPr>
        <p:txBody>
          <a:bodyPr wrap="square" lIns="101600" tIns="38100" rIns="635000" bIns="38100" rtlCol="0" anchor="ctr"/>
          <a:lstStyle/>
          <a:p>
            <a:pPr algn="l" indent="0" marL="0">
              <a:buNone/>
            </a:pPr>
            <a:r>
              <a:rPr lang="en-US" sz="1200" dirty="0">
                <a:solidFill>
                  <a:schemeClr val="tx1"/>
                </a:solidFill>
              </a:rPr>
              <a:t>Google / Apple sign-in</a:t>
            </a:r>
            <a:endParaRPr lang="en-US" sz="1200" dirty="0"/>
          </a:p>
        </p:txBody>
      </p:sp>
      <p:sp>
        <p:nvSpPr>
          <p:cNvPr id="34" name="chip-86"/>
          <p:cNvSpPr txBox="1"/>
          <p:nvPr/>
        </p:nvSpPr>
        <p:spPr>
          <a:xfrm>
            <a:off x="11018520" y="1801368"/>
            <a:ext cx="566928" cy="237744"/>
          </a:xfrm>
          <a:prstGeom prst="roundRect">
            <a:avLst>
              <a:gd name="adj" fmla="val 30769"/>
            </a:avLst>
          </a:prstGeom>
          <a:solidFill>
            <a:schemeClr val="accent1"/>
          </a:solidFill>
          <a:ln/>
        </p:spPr>
        <p:txBody>
          <a:bodyPr wrap="square" lIns="0" tIns="0" rIns="0" bIns="0" rtlCol="0" anchor="ctr"/>
          <a:lstStyle/>
          <a:p>
            <a:pPr algn="ctr" indent="0" marL="0">
              <a:buNone/>
            </a:pPr>
            <a:r>
              <a:rPr lang="en-US" sz="800" b="1" dirty="0">
                <a:solidFill>
                  <a:schemeClr val="bg1"/>
                </a:solidFill>
              </a:rPr>
              <a:t>REAL</a:t>
            </a:r>
            <a:endParaRPr lang="en-US" sz="800" dirty="0"/>
          </a:p>
        </p:txBody>
      </p:sp>
      <p:sp>
        <p:nvSpPr>
          <p:cNvPr id="35" name="box-87"/>
          <p:cNvSpPr txBox="1"/>
          <p:nvPr/>
        </p:nvSpPr>
        <p:spPr>
          <a:xfrm>
            <a:off x="9692640" y="2286000"/>
            <a:ext cx="1947672" cy="548640"/>
          </a:xfrm>
          <a:prstGeom prst="roundRect">
            <a:avLst>
              <a:gd name="adj" fmla="val 13333"/>
            </a:avLst>
          </a:prstGeom>
          <a:solidFill>
            <a:schemeClr val="bg2">
              <a:alpha val="60000"/>
            </a:schemeClr>
          </a:solidFill>
          <a:ln/>
        </p:spPr>
        <p:txBody>
          <a:bodyPr wrap="square" lIns="101600" tIns="38100" rIns="635000" bIns="38100" rtlCol="0" anchor="ctr"/>
          <a:lstStyle/>
          <a:p>
            <a:pPr algn="l" indent="0" marL="0">
              <a:buNone/>
            </a:pPr>
            <a:r>
              <a:rPr lang="en-US" sz="1200" dirty="0">
                <a:solidFill>
                  <a:schemeClr val="tx1"/>
                </a:solidFill>
              </a:rPr>
              <a:t>Razorpay payments</a:t>
            </a:r>
            <a:endParaRPr lang="en-US" sz="1200" dirty="0"/>
          </a:p>
        </p:txBody>
      </p:sp>
      <p:sp>
        <p:nvSpPr>
          <p:cNvPr id="36" name="chip-88"/>
          <p:cNvSpPr txBox="1"/>
          <p:nvPr/>
        </p:nvSpPr>
        <p:spPr>
          <a:xfrm>
            <a:off x="11018520" y="2441448"/>
            <a:ext cx="566928" cy="237744"/>
          </a:xfrm>
          <a:prstGeom prst="roundRect">
            <a:avLst>
              <a:gd name="adj" fmla="val 30769"/>
            </a:avLst>
          </a:prstGeom>
          <a:solidFill>
            <a:schemeClr val="accent1"/>
          </a:solidFill>
          <a:ln/>
        </p:spPr>
        <p:txBody>
          <a:bodyPr wrap="square" lIns="0" tIns="0" rIns="0" bIns="0" rtlCol="0" anchor="ctr"/>
          <a:lstStyle/>
          <a:p>
            <a:pPr algn="ctr" indent="0" marL="0">
              <a:buNone/>
            </a:pPr>
            <a:r>
              <a:rPr lang="en-US" sz="800" b="1" dirty="0">
                <a:solidFill>
                  <a:schemeClr val="bg1"/>
                </a:solidFill>
              </a:rPr>
              <a:t>REAL</a:t>
            </a:r>
            <a:endParaRPr lang="en-US" sz="800" dirty="0"/>
          </a:p>
        </p:txBody>
      </p:sp>
      <p:sp>
        <p:nvSpPr>
          <p:cNvPr id="37" name="box-89"/>
          <p:cNvSpPr txBox="1"/>
          <p:nvPr/>
        </p:nvSpPr>
        <p:spPr>
          <a:xfrm>
            <a:off x="9692640" y="2926080"/>
            <a:ext cx="1947672" cy="548640"/>
          </a:xfrm>
          <a:prstGeom prst="roundRect">
            <a:avLst>
              <a:gd name="adj" fmla="val 13333"/>
            </a:avLst>
          </a:prstGeom>
          <a:solidFill>
            <a:schemeClr val="bg2">
              <a:alpha val="60000"/>
            </a:schemeClr>
          </a:solidFill>
          <a:ln/>
        </p:spPr>
        <p:txBody>
          <a:bodyPr wrap="square" lIns="101600" tIns="38100" rIns="635000" bIns="38100" rtlCol="0" anchor="ctr"/>
          <a:lstStyle/>
          <a:p>
            <a:pPr algn="l" indent="0" marL="0">
              <a:buNone/>
            </a:pPr>
            <a:r>
              <a:rPr lang="en-US" sz="1200" dirty="0">
                <a:solidFill>
                  <a:schemeClr val="tx1"/>
                </a:solidFill>
              </a:rPr>
              <a:t>MSG91 SMS OTP</a:t>
            </a:r>
            <a:endParaRPr lang="en-US" sz="1200" dirty="0"/>
          </a:p>
        </p:txBody>
      </p:sp>
      <p:sp>
        <p:nvSpPr>
          <p:cNvPr id="38" name="chip-90"/>
          <p:cNvSpPr txBox="1"/>
          <p:nvPr/>
        </p:nvSpPr>
        <p:spPr>
          <a:xfrm>
            <a:off x="11018520" y="3081528"/>
            <a:ext cx="566928" cy="237744"/>
          </a:xfrm>
          <a:prstGeom prst="roundRect">
            <a:avLst>
              <a:gd name="adj" fmla="val 30769"/>
            </a:avLst>
          </a:prstGeom>
          <a:solidFill>
            <a:schemeClr val="accent1"/>
          </a:solidFill>
          <a:ln/>
        </p:spPr>
        <p:txBody>
          <a:bodyPr wrap="square" lIns="0" tIns="0" rIns="0" bIns="0" rtlCol="0" anchor="ctr"/>
          <a:lstStyle/>
          <a:p>
            <a:pPr algn="ctr" indent="0" marL="0">
              <a:buNone/>
            </a:pPr>
            <a:r>
              <a:rPr lang="en-US" sz="800" b="1" dirty="0">
                <a:solidFill>
                  <a:schemeClr val="bg1"/>
                </a:solidFill>
              </a:rPr>
              <a:t>REAL</a:t>
            </a:r>
            <a:endParaRPr lang="en-US" sz="800" dirty="0"/>
          </a:p>
        </p:txBody>
      </p:sp>
      <p:sp>
        <p:nvSpPr>
          <p:cNvPr id="39" name="box-91"/>
          <p:cNvSpPr txBox="1"/>
          <p:nvPr/>
        </p:nvSpPr>
        <p:spPr>
          <a:xfrm>
            <a:off x="9692640" y="3566160"/>
            <a:ext cx="1947672" cy="548640"/>
          </a:xfrm>
          <a:prstGeom prst="roundRect">
            <a:avLst>
              <a:gd name="adj" fmla="val 13333"/>
            </a:avLst>
          </a:prstGeom>
          <a:solidFill>
            <a:schemeClr val="bg2">
              <a:alpha val="60000"/>
            </a:schemeClr>
          </a:solidFill>
          <a:ln/>
        </p:spPr>
        <p:txBody>
          <a:bodyPr wrap="square" lIns="101600" tIns="38100" rIns="635000" bIns="38100" rtlCol="0" anchor="ctr"/>
          <a:lstStyle/>
          <a:p>
            <a:pPr algn="l" indent="0" marL="0">
              <a:buNone/>
            </a:pPr>
            <a:r>
              <a:rPr lang="en-US" sz="1200" dirty="0">
                <a:solidFill>
                  <a:schemeClr val="tx1"/>
                </a:solidFill>
              </a:rPr>
              <a:t>Email (SES SMTP)</a:t>
            </a:r>
            <a:endParaRPr lang="en-US" sz="1200" dirty="0"/>
          </a:p>
        </p:txBody>
      </p:sp>
      <p:sp>
        <p:nvSpPr>
          <p:cNvPr id="40" name="chip-92"/>
          <p:cNvSpPr txBox="1"/>
          <p:nvPr/>
        </p:nvSpPr>
        <p:spPr>
          <a:xfrm>
            <a:off x="11018520" y="3721608"/>
            <a:ext cx="566928" cy="237744"/>
          </a:xfrm>
          <a:prstGeom prst="roundRect">
            <a:avLst>
              <a:gd name="adj" fmla="val 30769"/>
            </a:avLst>
          </a:prstGeom>
          <a:solidFill>
            <a:schemeClr val="accent1"/>
          </a:solidFill>
          <a:ln/>
        </p:spPr>
        <p:txBody>
          <a:bodyPr wrap="square" lIns="0" tIns="0" rIns="0" bIns="0" rtlCol="0" anchor="ctr"/>
          <a:lstStyle/>
          <a:p>
            <a:pPr algn="ctr" indent="0" marL="0">
              <a:buNone/>
            </a:pPr>
            <a:r>
              <a:rPr lang="en-US" sz="800" b="1" dirty="0">
                <a:solidFill>
                  <a:schemeClr val="bg1"/>
                </a:solidFill>
              </a:rPr>
              <a:t>REAL</a:t>
            </a:r>
            <a:endParaRPr lang="en-US" sz="800" dirty="0"/>
          </a:p>
        </p:txBody>
      </p:sp>
      <p:sp>
        <p:nvSpPr>
          <p:cNvPr id="41" name="box-93"/>
          <p:cNvSpPr txBox="1"/>
          <p:nvPr/>
        </p:nvSpPr>
        <p:spPr>
          <a:xfrm>
            <a:off x="9692640" y="4206240"/>
            <a:ext cx="1947672" cy="548640"/>
          </a:xfrm>
          <a:prstGeom prst="roundRect">
            <a:avLst>
              <a:gd name="adj" fmla="val 13333"/>
            </a:avLst>
          </a:prstGeom>
          <a:solidFill>
            <a:schemeClr val="bg2">
              <a:alpha val="60000"/>
            </a:schemeClr>
          </a:solidFill>
          <a:ln/>
        </p:spPr>
        <p:txBody>
          <a:bodyPr wrap="square" lIns="101600" tIns="38100" rIns="635000" bIns="38100" rtlCol="0" anchor="ctr"/>
          <a:lstStyle/>
          <a:p>
            <a:pPr algn="l" indent="0" marL="0">
              <a:buNone/>
            </a:pPr>
            <a:r>
              <a:rPr lang="en-US" sz="1200" dirty="0">
                <a:solidFill>
                  <a:schemeClr val="tx1"/>
                </a:solidFill>
              </a:rPr>
              <a:t>S3 photos, KYC docs</a:t>
            </a:r>
            <a:endParaRPr lang="en-US" sz="1200" dirty="0"/>
          </a:p>
        </p:txBody>
      </p:sp>
      <p:sp>
        <p:nvSpPr>
          <p:cNvPr id="42" name="chip-94"/>
          <p:cNvSpPr txBox="1"/>
          <p:nvPr/>
        </p:nvSpPr>
        <p:spPr>
          <a:xfrm>
            <a:off x="11018520" y="4361688"/>
            <a:ext cx="566928" cy="237744"/>
          </a:xfrm>
          <a:prstGeom prst="roundRect">
            <a:avLst>
              <a:gd name="adj" fmla="val 30769"/>
            </a:avLst>
          </a:prstGeom>
          <a:solidFill>
            <a:schemeClr val="accent1"/>
          </a:solidFill>
          <a:ln/>
        </p:spPr>
        <p:txBody>
          <a:bodyPr wrap="square" lIns="0" tIns="0" rIns="0" bIns="0" rtlCol="0" anchor="ctr"/>
          <a:lstStyle/>
          <a:p>
            <a:pPr algn="ctr" indent="0" marL="0">
              <a:buNone/>
            </a:pPr>
            <a:r>
              <a:rPr lang="en-US" sz="800" b="1" dirty="0">
                <a:solidFill>
                  <a:schemeClr val="bg1"/>
                </a:solidFill>
              </a:rPr>
              <a:t>REAL</a:t>
            </a:r>
            <a:endParaRPr lang="en-US" sz="800" dirty="0"/>
          </a:p>
        </p:txBody>
      </p:sp>
      <p:sp>
        <p:nvSpPr>
          <p:cNvPr id="43" name="box-95"/>
          <p:cNvSpPr txBox="1"/>
          <p:nvPr/>
        </p:nvSpPr>
        <p:spPr>
          <a:xfrm>
            <a:off x="9692640" y="4846320"/>
            <a:ext cx="1947672" cy="548640"/>
          </a:xfrm>
          <a:prstGeom prst="roundRect">
            <a:avLst>
              <a:gd name="adj" fmla="val 13333"/>
            </a:avLst>
          </a:prstGeom>
          <a:solidFill>
            <a:schemeClr val="bg2">
              <a:alpha val="60000"/>
            </a:schemeClr>
          </a:solidFill>
          <a:ln/>
        </p:spPr>
        <p:txBody>
          <a:bodyPr wrap="square" lIns="101600" tIns="38100" rIns="635000" bIns="38100" rtlCol="0" anchor="ctr"/>
          <a:lstStyle/>
          <a:p>
            <a:pPr algn="l" indent="0" marL="0">
              <a:buNone/>
            </a:pPr>
            <a:r>
              <a:rPr lang="en-US" sz="1200" dirty="0">
                <a:solidFill>
                  <a:schemeClr val="tx1"/>
                </a:solidFill>
              </a:rPr>
              <a:t>Background checks</a:t>
            </a:r>
            <a:endParaRPr lang="en-US" sz="1200" dirty="0"/>
          </a:p>
        </p:txBody>
      </p:sp>
      <p:sp>
        <p:nvSpPr>
          <p:cNvPr id="44" name="chip-96"/>
          <p:cNvSpPr txBox="1"/>
          <p:nvPr/>
        </p:nvSpPr>
        <p:spPr>
          <a:xfrm>
            <a:off x="11018520" y="5001768"/>
            <a:ext cx="566928" cy="237744"/>
          </a:xfrm>
          <a:prstGeom prst="roundRect">
            <a:avLst>
              <a:gd name="adj" fmla="val 30769"/>
            </a:avLst>
          </a:prstGeom>
          <a:solidFill>
            <a:schemeClr val="accent2"/>
          </a:solidFill>
          <a:ln/>
        </p:spPr>
        <p:txBody>
          <a:bodyPr wrap="square" lIns="0" tIns="0" rIns="0" bIns="0" rtlCol="0" anchor="ctr"/>
          <a:lstStyle/>
          <a:p>
            <a:pPr algn="ctr" indent="0" marL="0">
              <a:buNone/>
            </a:pPr>
            <a:r>
              <a:rPr lang="en-US" sz="800" b="1" dirty="0">
                <a:solidFill>
                  <a:schemeClr val="bg1"/>
                </a:solidFill>
              </a:rPr>
              <a:t>MANUAL</a:t>
            </a:r>
            <a:endParaRPr lang="en-US" sz="800" dirty="0"/>
          </a:p>
        </p:txBody>
      </p:sp>
      <p:sp>
        <p:nvSpPr>
          <p:cNvPr id="45" name="box-97"/>
          <p:cNvSpPr txBox="1"/>
          <p:nvPr/>
        </p:nvSpPr>
        <p:spPr>
          <a:xfrm>
            <a:off x="9692640" y="5486400"/>
            <a:ext cx="1947672" cy="548640"/>
          </a:xfrm>
          <a:prstGeom prst="roundRect">
            <a:avLst>
              <a:gd name="adj" fmla="val 13333"/>
            </a:avLst>
          </a:prstGeom>
          <a:solidFill>
            <a:schemeClr val="bg2">
              <a:alpha val="60000"/>
            </a:schemeClr>
          </a:solidFill>
          <a:ln/>
        </p:spPr>
        <p:txBody>
          <a:bodyPr wrap="square" lIns="101600" tIns="38100" rIns="635000" bIns="38100" rtlCol="0" anchor="ctr"/>
          <a:lstStyle/>
          <a:p>
            <a:pPr algn="l" indent="0" marL="0">
              <a:buNone/>
            </a:pPr>
            <a:r>
              <a:rPr lang="en-US" sz="1200" dirty="0">
                <a:solidFill>
                  <a:schemeClr val="tx1"/>
                </a:solidFill>
              </a:rPr>
              <a:t>Push notifications</a:t>
            </a:r>
            <a:endParaRPr lang="en-US" sz="1200" dirty="0"/>
          </a:p>
        </p:txBody>
      </p:sp>
      <p:sp>
        <p:nvSpPr>
          <p:cNvPr id="46" name="chip-98"/>
          <p:cNvSpPr txBox="1"/>
          <p:nvPr/>
        </p:nvSpPr>
        <p:spPr>
          <a:xfrm>
            <a:off x="11018520" y="5641848"/>
            <a:ext cx="566928" cy="237744"/>
          </a:xfrm>
          <a:prstGeom prst="roundRect">
            <a:avLst>
              <a:gd name="adj" fmla="val 30769"/>
            </a:avLst>
          </a:prstGeom>
          <a:solidFill>
            <a:schemeClr val="accent4"/>
          </a:solidFill>
          <a:ln/>
        </p:spPr>
        <p:txBody>
          <a:bodyPr wrap="square" lIns="0" tIns="0" rIns="0" bIns="0" rtlCol="0" anchor="ctr"/>
          <a:lstStyle/>
          <a:p>
            <a:pPr algn="ctr" indent="0" marL="0">
              <a:buNone/>
            </a:pPr>
            <a:r>
              <a:rPr lang="en-US" sz="800" b="1" dirty="0">
                <a:solidFill>
                  <a:schemeClr val="bg1"/>
                </a:solidFill>
              </a:rPr>
              <a:t>STUB</a:t>
            </a:r>
            <a:endParaRPr lang="en-US" sz="800" dirty="0"/>
          </a:p>
        </p:txBody>
      </p:sp>
      <p:sp>
        <p:nvSpPr>
          <p:cNvPr id="47" name="text-99"/>
          <p:cNvSpPr txBox="1"/>
          <p:nvPr/>
        </p:nvSpPr>
        <p:spPr>
          <a:xfrm>
            <a:off x="548640" y="6108192"/>
            <a:ext cx="11091672" cy="274320"/>
          </a:xfrm>
          <a:prstGeom prst="rect">
            <a:avLst/>
          </a:prstGeom>
          <a:noFill/>
          <a:ln/>
        </p:spPr>
        <p:txBody>
          <a:bodyPr wrap="square" lIns="0" tIns="0" rIns="0" bIns="0" rtlCol="0" anchor="t"/>
          <a:lstStyle/>
          <a:p>
            <a:pPr algn="l" indent="0" marL="0">
              <a:buNone/>
            </a:pPr>
            <a:r>
              <a:rPr lang="en-US" sz="1150" i="1" dirty="0">
                <a:solidFill>
                  <a:schemeClr val="accent6"/>
                </a:solidFill>
              </a:rPr>
              <a:t>Photos and verification documents go to S3 when a bucket is set and reachable, local disk otherwise; background checks are recorded by an admin.</a:t>
            </a:r>
            <a:endParaRPr lang="en-US" sz="11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731520" y="2697480"/>
            <a:ext cx="10515600" cy="1005840"/>
          </a:xfrm>
          <a:prstGeom prst="rect">
            <a:avLst/>
          </a:prstGeom>
          <a:noFill/>
          <a:ln/>
        </p:spPr>
        <p:txBody>
          <a:bodyPr wrap="square" lIns="0" tIns="0" rIns="0" bIns="0" rtlCol="0" anchor="t"/>
          <a:lstStyle/>
          <a:p>
            <a:pPr algn="l" indent="0" marL="0">
              <a:buNone/>
            </a:pPr>
            <a:r>
              <a:rPr lang="en-US" sz="4400" b="1" dirty="0">
                <a:solidFill>
                  <a:schemeClr val="bg1"/>
                </a:solidFill>
              </a:rPr>
              <a:t>How the system is put together</a:t>
            </a:r>
            <a:endParaRPr lang="en-US" sz="4400" dirty="0"/>
          </a:p>
        </p:txBody>
      </p:sp>
      <p:sp>
        <p:nvSpPr>
          <p:cNvPr id="3" name="Text 0"/>
          <p:cNvSpPr/>
          <p:nvPr>
            <p:ph idx="102" type="body" hasCustomPrompt="1"/>
          </p:nvPr>
        </p:nvSpPr>
        <p:spPr>
          <a:xfrm>
            <a:off x="731520" y="3749040"/>
            <a:ext cx="10515600" cy="640080"/>
          </a:xfrm>
          <a:prstGeom prst="rect">
            <a:avLst/>
          </a:prstGeom>
          <a:noFill/>
          <a:ln/>
        </p:spPr>
        <p:txBody>
          <a:bodyPr wrap="square" lIns="0" tIns="0" rIns="0" bIns="0" rtlCol="0" anchor="t"/>
          <a:lstStyle/>
          <a:p>
            <a:pPr indent="0" marL="0">
              <a:buNone/>
            </a:pPr>
            <a:r>
              <a:rPr lang="en-US" sz="2000" dirty="0">
                <a:solidFill>
                  <a:schemeClr val="bg2"/>
                </a:solidFill>
              </a:rPr>
              <a:t>Deployables, the request path and the service host</a:t>
            </a:r>
            <a:endParaRPr lang="en-US" sz="2000" dirty="0"/>
          </a:p>
        </p:txBody>
      </p:sp>
      <p:sp>
        <p:nvSpPr>
          <p:cNvPr id="4" name="Text 0"/>
          <p:cNvSpPr/>
          <p:nvPr>
            <p:ph idx="100" type="body" hasCustomPrompt="1"/>
          </p:nvPr>
        </p:nvSpPr>
        <p:spPr>
          <a:xfrm>
            <a:off x="731520" y="2011680"/>
            <a:ext cx="3657600" cy="640080"/>
          </a:xfrm>
          <a:prstGeom prst="rect">
            <a:avLst/>
          </a:prstGeom>
          <a:noFill/>
          <a:ln/>
        </p:spPr>
        <p:txBody>
          <a:bodyPr wrap="square" lIns="0" tIns="0" rIns="0" bIns="0" rtlCol="0" anchor="b"/>
          <a:lstStyle/>
          <a:p>
            <a:pPr indent="0" marL="0">
              <a:buNone/>
            </a:pPr>
            <a:r>
              <a:rPr lang="en-US" sz="2800" b="1" dirty="0">
                <a:solidFill>
                  <a:schemeClr val="bg2"/>
                </a:solidFill>
              </a:rPr>
              <a:t>01</a:t>
            </a: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Twenty services in five deployables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Each deployable is one JVM and one image; every service keeps its own port, config and schema</a:t>
            </a:r>
            <a:endParaRPr lang="en-US" sz="1500" dirty="0"/>
          </a:p>
        </p:txBody>
      </p:sp>
      <p:sp>
        <p:nvSpPr>
          <p:cNvPr id="4" name="text-100"/>
          <p:cNvSpPr txBox="1"/>
          <p:nvPr/>
        </p:nvSpPr>
        <p:spPr>
          <a:xfrm>
            <a:off x="548640" y="1572768"/>
            <a:ext cx="2286000" cy="365760"/>
          </a:xfrm>
          <a:prstGeom prst="rect">
            <a:avLst/>
          </a:prstGeom>
          <a:noFill/>
          <a:ln/>
        </p:spPr>
        <p:txBody>
          <a:bodyPr wrap="square" lIns="0" tIns="0" rIns="0" bIns="0" rtlCol="0" anchor="t"/>
          <a:lstStyle/>
          <a:p>
            <a:pPr algn="l" indent="0" marL="0">
              <a:buNone/>
            </a:pPr>
            <a:r>
              <a:rPr lang="en-US" sz="1200" dirty="0">
                <a:solidFill>
                  <a:schemeClr val="accent6"/>
                </a:solidFill>
              </a:rPr>
              <a:t>Clients through nginx /api</a:t>
            </a:r>
            <a:endParaRPr lang="en-US" sz="1200" dirty="0"/>
          </a:p>
        </p:txBody>
      </p:sp>
      <p:sp>
        <p:nvSpPr>
          <p:cNvPr id="5" name="text-101"/>
          <p:cNvSpPr txBox="1"/>
          <p:nvPr/>
        </p:nvSpPr>
        <p:spPr>
          <a:xfrm>
            <a:off x="9326880" y="1572768"/>
            <a:ext cx="2313432" cy="411480"/>
          </a:xfrm>
          <a:prstGeom prst="rect">
            <a:avLst/>
          </a:prstGeom>
          <a:noFill/>
          <a:ln/>
        </p:spPr>
        <p:txBody>
          <a:bodyPr wrap="square" lIns="0" tIns="0" rIns="0" bIns="0" rtlCol="0" anchor="t"/>
          <a:lstStyle/>
          <a:p>
            <a:pPr algn="r" indent="0" marL="0">
              <a:buNone/>
            </a:pPr>
            <a:r>
              <a:rPr lang="en-US" sz="1100" i="1" dirty="0">
                <a:solidFill>
                  <a:schemeClr val="accent6"/>
                </a:solidFill>
              </a:rPr>
              <a:t>/api/auth goes straight to auth-service</a:t>
            </a:r>
            <a:endParaRPr lang="en-US" sz="1100" dirty="0"/>
          </a:p>
        </p:txBody>
      </p:sp>
      <p:sp>
        <p:nvSpPr>
          <p:cNvPr id="6" name="box-102"/>
          <p:cNvSpPr txBox="1"/>
          <p:nvPr/>
        </p:nvSpPr>
        <p:spPr>
          <a:xfrm>
            <a:off x="2944368" y="1508760"/>
            <a:ext cx="1920240" cy="457200"/>
          </a:xfrm>
          <a:prstGeom prst="roundRect">
            <a:avLst>
              <a:gd name="adj" fmla="val 16000"/>
            </a:avLst>
          </a:prstGeom>
          <a:solidFill>
            <a:schemeClr val="accent1">
              <a:alpha val="15000"/>
            </a:schemeClr>
          </a:solidFill>
          <a:ln/>
        </p:spPr>
        <p:txBody>
          <a:bodyPr wrap="square" lIns="76200" tIns="38100" rIns="76200" bIns="38100" rtlCol="0" anchor="ctr"/>
          <a:lstStyle/>
          <a:p>
            <a:pPr algn="ctr" indent="0" marL="0">
              <a:buNone/>
            </a:pPr>
            <a:r>
              <a:rPr lang="en-US" sz="1200" b="1" dirty="0">
                <a:solidFill>
                  <a:schemeClr val="tx1"/>
                </a:solidFill>
              </a:rPr>
              <a:t>customer-app :5173</a:t>
            </a:r>
            <a:endParaRPr lang="en-US" sz="1200" dirty="0"/>
          </a:p>
        </p:txBody>
      </p:sp>
      <p:sp>
        <p:nvSpPr>
          <p:cNvPr id="7" name="arrow-103"/>
          <p:cNvSpPr/>
          <p:nvPr/>
        </p:nvSpPr>
        <p:spPr>
          <a:xfrm>
            <a:off x="3904488" y="1965960"/>
            <a:ext cx="0" cy="320040"/>
          </a:xfrm>
          <a:prstGeom prst="line">
            <a:avLst/>
          </a:prstGeom>
          <a:noFill/>
          <a:ln w="19050">
            <a:solidFill>
              <a:schemeClr val="accent6"/>
            </a:solidFill>
            <a:prstDash val="solid"/>
            <a:tailEnd type="triangle"/>
          </a:ln>
        </p:spPr>
        <p:txBody>
          <a:bodyPr/>
          <a:p/>
        </p:txBody>
      </p:sp>
      <p:sp>
        <p:nvSpPr>
          <p:cNvPr id="8" name="box-104"/>
          <p:cNvSpPr txBox="1"/>
          <p:nvPr/>
        </p:nvSpPr>
        <p:spPr>
          <a:xfrm>
            <a:off x="5138928" y="1508760"/>
            <a:ext cx="1920240" cy="457200"/>
          </a:xfrm>
          <a:prstGeom prst="roundRect">
            <a:avLst>
              <a:gd name="adj" fmla="val 16000"/>
            </a:avLst>
          </a:prstGeom>
          <a:solidFill>
            <a:schemeClr val="accent1">
              <a:alpha val="15000"/>
            </a:schemeClr>
          </a:solidFill>
          <a:ln/>
        </p:spPr>
        <p:txBody>
          <a:bodyPr wrap="square" lIns="76200" tIns="38100" rIns="76200" bIns="38100" rtlCol="0" anchor="ctr"/>
          <a:lstStyle/>
          <a:p>
            <a:pPr algn="ctr" indent="0" marL="0">
              <a:buNone/>
            </a:pPr>
            <a:r>
              <a:rPr lang="en-US" sz="1200" b="1" dirty="0">
                <a:solidFill>
                  <a:schemeClr val="tx1"/>
                </a:solidFill>
              </a:rPr>
              <a:t>provider-app :5174</a:t>
            </a:r>
            <a:endParaRPr lang="en-US" sz="1200" dirty="0"/>
          </a:p>
        </p:txBody>
      </p:sp>
      <p:sp>
        <p:nvSpPr>
          <p:cNvPr id="9" name="arrow-105"/>
          <p:cNvSpPr/>
          <p:nvPr/>
        </p:nvSpPr>
        <p:spPr>
          <a:xfrm>
            <a:off x="6099048" y="1965960"/>
            <a:ext cx="0" cy="320040"/>
          </a:xfrm>
          <a:prstGeom prst="line">
            <a:avLst/>
          </a:prstGeom>
          <a:noFill/>
          <a:ln w="19050">
            <a:solidFill>
              <a:schemeClr val="accent6"/>
            </a:solidFill>
            <a:prstDash val="solid"/>
            <a:tailEnd type="triangle"/>
          </a:ln>
        </p:spPr>
        <p:txBody>
          <a:bodyPr/>
          <a:p/>
        </p:txBody>
      </p:sp>
      <p:sp>
        <p:nvSpPr>
          <p:cNvPr id="10" name="box-106"/>
          <p:cNvSpPr txBox="1"/>
          <p:nvPr/>
        </p:nvSpPr>
        <p:spPr>
          <a:xfrm>
            <a:off x="7333488" y="1508760"/>
            <a:ext cx="1920240" cy="457200"/>
          </a:xfrm>
          <a:prstGeom prst="roundRect">
            <a:avLst>
              <a:gd name="adj" fmla="val 16000"/>
            </a:avLst>
          </a:prstGeom>
          <a:solidFill>
            <a:schemeClr val="accent1">
              <a:alpha val="15000"/>
            </a:schemeClr>
          </a:solidFill>
          <a:ln/>
        </p:spPr>
        <p:txBody>
          <a:bodyPr wrap="square" lIns="76200" tIns="38100" rIns="76200" bIns="38100" rtlCol="0" anchor="ctr"/>
          <a:lstStyle/>
          <a:p>
            <a:pPr algn="ctr" indent="0" marL="0">
              <a:buNone/>
            </a:pPr>
            <a:r>
              <a:rPr lang="en-US" sz="1200" b="1" dirty="0">
                <a:solidFill>
                  <a:schemeClr val="tx1"/>
                </a:solidFill>
              </a:rPr>
              <a:t>admin-portal :5175</a:t>
            </a:r>
            <a:endParaRPr lang="en-US" sz="1200" dirty="0"/>
          </a:p>
        </p:txBody>
      </p:sp>
      <p:sp>
        <p:nvSpPr>
          <p:cNvPr id="11" name="arrow-107"/>
          <p:cNvSpPr/>
          <p:nvPr/>
        </p:nvSpPr>
        <p:spPr>
          <a:xfrm>
            <a:off x="8293608" y="1965960"/>
            <a:ext cx="0" cy="320040"/>
          </a:xfrm>
          <a:prstGeom prst="line">
            <a:avLst/>
          </a:prstGeom>
          <a:noFill/>
          <a:ln w="19050">
            <a:solidFill>
              <a:schemeClr val="accent6"/>
            </a:solidFill>
            <a:prstDash val="solid"/>
            <a:tailEnd type="triangle"/>
          </a:ln>
        </p:spPr>
        <p:txBody>
          <a:bodyPr/>
          <a:p/>
        </p:txBody>
      </p:sp>
      <p:sp>
        <p:nvSpPr>
          <p:cNvPr id="12" name="box-108"/>
          <p:cNvSpPr txBox="1"/>
          <p:nvPr/>
        </p:nvSpPr>
        <p:spPr>
          <a:xfrm>
            <a:off x="548640" y="2286000"/>
            <a:ext cx="11091672" cy="457200"/>
          </a:xfrm>
          <a:prstGeom prst="roundRect">
            <a:avLst>
              <a:gd name="adj" fmla="val 16000"/>
            </a:avLst>
          </a:prstGeom>
          <a:solidFill>
            <a:schemeClr val="tx1"/>
          </a:solidFill>
          <a:ln/>
        </p:spPr>
        <p:txBody>
          <a:bodyPr wrap="square" lIns="76200" tIns="38100" rIns="76200" bIns="38100" rtlCol="0" anchor="ctr"/>
          <a:lstStyle/>
          <a:p>
            <a:pPr algn="ctr" indent="0" marL="0">
              <a:buNone/>
            </a:pPr>
            <a:r>
              <a:rPr lang="en-US" sz="1300" b="1" dirty="0">
                <a:solidFill>
                  <a:schemeClr val="bg1"/>
                </a:solidFill>
              </a:rPr>
              <a:t>api-gateway :8080</a:t>
            </a:r>
            <a:pPr algn="ctr" indent="0" marL="0">
              <a:buNone/>
            </a:pPr>
            <a:r>
              <a:rPr lang="en-US" sz="1300" dirty="0">
                <a:solidFill>
                  <a:schemeClr val="bg1"/>
                </a:solidFill>
              </a:rPr>
              <a:t>   ·   Spring Cloud Gateway   ·   HTTPS, WAF, JWT introspection, rate limits, routing</a:t>
            </a:r>
            <a:endParaRPr lang="en-US" sz="1300" dirty="0"/>
          </a:p>
        </p:txBody>
      </p:sp>
      <p:sp>
        <p:nvSpPr>
          <p:cNvPr id="13" name="arrow-109"/>
          <p:cNvSpPr/>
          <p:nvPr/>
        </p:nvSpPr>
        <p:spPr>
          <a:xfrm>
            <a:off x="1847088" y="2743200"/>
            <a:ext cx="0" cy="274320"/>
          </a:xfrm>
          <a:prstGeom prst="line">
            <a:avLst/>
          </a:prstGeom>
          <a:noFill/>
          <a:ln w="19050">
            <a:solidFill>
              <a:schemeClr val="accent6"/>
            </a:solidFill>
            <a:prstDash val="solid"/>
            <a:tailEnd type="triangle"/>
          </a:ln>
        </p:spPr>
        <p:txBody>
          <a:bodyPr/>
          <a:p/>
        </p:txBody>
      </p:sp>
      <p:sp>
        <p:nvSpPr>
          <p:cNvPr id="14" name="panel-110"/>
          <p:cNvSpPr txBox="1"/>
          <p:nvPr/>
        </p:nvSpPr>
        <p:spPr>
          <a:xfrm>
            <a:off x="548640" y="3017520"/>
            <a:ext cx="2601468" cy="2743200"/>
          </a:xfrm>
          <a:prstGeom prst="roundRect">
            <a:avLst>
              <a:gd name="adj" fmla="val 3515"/>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15" name="text-111"/>
          <p:cNvSpPr txBox="1"/>
          <p:nvPr/>
        </p:nvSpPr>
        <p:spPr>
          <a:xfrm>
            <a:off x="685800" y="3090672"/>
            <a:ext cx="2286000" cy="292608"/>
          </a:xfrm>
          <a:prstGeom prst="rect">
            <a:avLst/>
          </a:prstGeom>
          <a:noFill/>
          <a:ln/>
        </p:spPr>
        <p:txBody>
          <a:bodyPr wrap="square" lIns="0" tIns="0" rIns="0" bIns="0" rtlCol="0" anchor="t"/>
          <a:lstStyle/>
          <a:p>
            <a:pPr algn="l" indent="0" marL="0">
              <a:buNone/>
            </a:pPr>
            <a:r>
              <a:rPr lang="en-US" sz="1400" b="1" dirty="0">
                <a:solidFill>
                  <a:schemeClr val="accent3"/>
                </a:solidFill>
              </a:rPr>
              <a:t>identity-app</a:t>
            </a:r>
            <a:endParaRPr lang="en-US" sz="1400" dirty="0"/>
          </a:p>
        </p:txBody>
      </p:sp>
      <p:sp>
        <p:nvSpPr>
          <p:cNvPr id="16" name="chip-112"/>
          <p:cNvSpPr txBox="1"/>
          <p:nvPr/>
        </p:nvSpPr>
        <p:spPr>
          <a:xfrm>
            <a:off x="685800" y="3429000"/>
            <a:ext cx="2327148" cy="274320"/>
          </a:xfrm>
          <a:prstGeom prst="roundRect">
            <a:avLst>
              <a:gd name="adj" fmla="val 26667"/>
            </a:avLst>
          </a:prstGeom>
          <a:solidFill>
            <a:schemeClr val="accent3"/>
          </a:solidFill>
          <a:ln/>
        </p:spPr>
        <p:txBody>
          <a:bodyPr wrap="square" lIns="76200" tIns="38100" rIns="76200" bIns="38100" rtlCol="0" anchor="ctr"/>
          <a:lstStyle/>
          <a:p>
            <a:pPr algn="ctr" indent="0" marL="0">
              <a:buNone/>
            </a:pPr>
            <a:r>
              <a:rPr lang="en-US" sz="1100" dirty="0">
                <a:solidFill>
                  <a:schemeClr val="bg1"/>
                </a:solidFill>
              </a:rPr>
              <a:t>auth-service :8081</a:t>
            </a:r>
            <a:endParaRPr lang="en-US" sz="1100" dirty="0"/>
          </a:p>
        </p:txBody>
      </p:sp>
      <p:sp>
        <p:nvSpPr>
          <p:cNvPr id="17" name="chip-113"/>
          <p:cNvSpPr txBox="1"/>
          <p:nvPr/>
        </p:nvSpPr>
        <p:spPr>
          <a:xfrm>
            <a:off x="685800" y="3749040"/>
            <a:ext cx="2327148" cy="274320"/>
          </a:xfrm>
          <a:prstGeom prst="roundRect">
            <a:avLst>
              <a:gd name="adj" fmla="val 26667"/>
            </a:avLst>
          </a:prstGeom>
          <a:solidFill>
            <a:schemeClr val="accent3"/>
          </a:solidFill>
          <a:ln/>
        </p:spPr>
        <p:txBody>
          <a:bodyPr wrap="square" lIns="76200" tIns="38100" rIns="76200" bIns="38100" rtlCol="0" anchor="ctr"/>
          <a:lstStyle/>
          <a:p>
            <a:pPr algn="ctr" indent="0" marL="0">
              <a:buNone/>
            </a:pPr>
            <a:r>
              <a:rPr lang="en-US" sz="1100" dirty="0">
                <a:solidFill>
                  <a:schemeClr val="bg1"/>
                </a:solidFill>
              </a:rPr>
              <a:t>customer-service :8082</a:t>
            </a:r>
            <a:endParaRPr lang="en-US" sz="1100" dirty="0"/>
          </a:p>
        </p:txBody>
      </p:sp>
      <p:sp>
        <p:nvSpPr>
          <p:cNvPr id="18" name="chip-114"/>
          <p:cNvSpPr txBox="1"/>
          <p:nvPr/>
        </p:nvSpPr>
        <p:spPr>
          <a:xfrm>
            <a:off x="685800" y="4069080"/>
            <a:ext cx="2327148" cy="274320"/>
          </a:xfrm>
          <a:prstGeom prst="roundRect">
            <a:avLst>
              <a:gd name="adj" fmla="val 26667"/>
            </a:avLst>
          </a:prstGeom>
          <a:solidFill>
            <a:schemeClr val="accent3"/>
          </a:solidFill>
          <a:ln/>
        </p:spPr>
        <p:txBody>
          <a:bodyPr wrap="square" lIns="76200" tIns="38100" rIns="76200" bIns="38100" rtlCol="0" anchor="ctr"/>
          <a:lstStyle/>
          <a:p>
            <a:pPr algn="ctr" indent="0" marL="0">
              <a:buNone/>
            </a:pPr>
            <a:r>
              <a:rPr lang="en-US" sz="1100" dirty="0">
                <a:solidFill>
                  <a:schemeClr val="bg1"/>
                </a:solidFill>
              </a:rPr>
              <a:t>provider-service :8083</a:t>
            </a:r>
            <a:endParaRPr lang="en-US" sz="1100" dirty="0"/>
          </a:p>
        </p:txBody>
      </p:sp>
      <p:sp>
        <p:nvSpPr>
          <p:cNvPr id="19" name="chip-115"/>
          <p:cNvSpPr txBox="1"/>
          <p:nvPr/>
        </p:nvSpPr>
        <p:spPr>
          <a:xfrm>
            <a:off x="685800" y="4389120"/>
            <a:ext cx="2327148" cy="274320"/>
          </a:xfrm>
          <a:prstGeom prst="roundRect">
            <a:avLst>
              <a:gd name="adj" fmla="val 26667"/>
            </a:avLst>
          </a:prstGeom>
          <a:solidFill>
            <a:schemeClr val="accent3"/>
          </a:solidFill>
          <a:ln/>
        </p:spPr>
        <p:txBody>
          <a:bodyPr wrap="square" lIns="76200" tIns="38100" rIns="76200" bIns="38100" rtlCol="0" anchor="ctr"/>
          <a:lstStyle/>
          <a:p>
            <a:pPr algn="ctr" indent="0" marL="0">
              <a:buNone/>
            </a:pPr>
            <a:r>
              <a:rPr lang="en-US" sz="1100" dirty="0">
                <a:solidFill>
                  <a:schemeClr val="bg1"/>
                </a:solidFill>
              </a:rPr>
              <a:t>verification-service :8094</a:t>
            </a:r>
            <a:endParaRPr lang="en-US" sz="1100" dirty="0"/>
          </a:p>
        </p:txBody>
      </p:sp>
      <p:sp>
        <p:nvSpPr>
          <p:cNvPr id="20" name="arrow-116"/>
          <p:cNvSpPr/>
          <p:nvPr/>
        </p:nvSpPr>
        <p:spPr>
          <a:xfrm>
            <a:off x="4677156" y="2743200"/>
            <a:ext cx="0" cy="274320"/>
          </a:xfrm>
          <a:prstGeom prst="line">
            <a:avLst/>
          </a:prstGeom>
          <a:noFill/>
          <a:ln w="19050">
            <a:solidFill>
              <a:schemeClr val="accent6"/>
            </a:solidFill>
            <a:prstDash val="solid"/>
            <a:tailEnd type="triangle"/>
          </a:ln>
        </p:spPr>
        <p:txBody>
          <a:bodyPr/>
          <a:p/>
        </p:txBody>
      </p:sp>
      <p:sp>
        <p:nvSpPr>
          <p:cNvPr id="21" name="panel-117"/>
          <p:cNvSpPr txBox="1"/>
          <p:nvPr/>
        </p:nvSpPr>
        <p:spPr>
          <a:xfrm>
            <a:off x="3378708" y="3017520"/>
            <a:ext cx="2601468" cy="2743200"/>
          </a:xfrm>
          <a:prstGeom prst="roundRect">
            <a:avLst>
              <a:gd name="adj" fmla="val 3515"/>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2" name="text-118"/>
          <p:cNvSpPr txBox="1"/>
          <p:nvPr/>
        </p:nvSpPr>
        <p:spPr>
          <a:xfrm>
            <a:off x="3515868" y="3090672"/>
            <a:ext cx="2286000" cy="292608"/>
          </a:xfrm>
          <a:prstGeom prst="rect">
            <a:avLst/>
          </a:prstGeom>
          <a:noFill/>
          <a:ln/>
        </p:spPr>
        <p:txBody>
          <a:bodyPr wrap="square" lIns="0" tIns="0" rIns="0" bIns="0" rtlCol="0" anchor="t"/>
          <a:lstStyle/>
          <a:p>
            <a:pPr algn="l" indent="0" marL="0">
              <a:buNone/>
            </a:pPr>
            <a:r>
              <a:rPr lang="en-US" sz="1400" b="1" dirty="0">
                <a:solidFill>
                  <a:schemeClr val="accent1"/>
                </a:solidFill>
              </a:rPr>
              <a:t>jobs-app</a:t>
            </a:r>
            <a:endParaRPr lang="en-US" sz="1400" dirty="0"/>
          </a:p>
        </p:txBody>
      </p:sp>
      <p:sp>
        <p:nvSpPr>
          <p:cNvPr id="23" name="chip-119"/>
          <p:cNvSpPr txBox="1"/>
          <p:nvPr/>
        </p:nvSpPr>
        <p:spPr>
          <a:xfrm>
            <a:off x="3515868" y="3429000"/>
            <a:ext cx="2327148" cy="274320"/>
          </a:xfrm>
          <a:prstGeom prst="roundRect">
            <a:avLst>
              <a:gd name="adj" fmla="val 26667"/>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booking-service :8084</a:t>
            </a:r>
            <a:endParaRPr lang="en-US" sz="1100" dirty="0"/>
          </a:p>
        </p:txBody>
      </p:sp>
      <p:sp>
        <p:nvSpPr>
          <p:cNvPr id="24" name="chip-120"/>
          <p:cNvSpPr txBox="1"/>
          <p:nvPr/>
        </p:nvSpPr>
        <p:spPr>
          <a:xfrm>
            <a:off x="3515868" y="3749040"/>
            <a:ext cx="2327148" cy="274320"/>
          </a:xfrm>
          <a:prstGeom prst="roundRect">
            <a:avLst>
              <a:gd name="adj" fmla="val 26667"/>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catalog-service :8085</a:t>
            </a:r>
            <a:endParaRPr lang="en-US" sz="1100" dirty="0"/>
          </a:p>
        </p:txBody>
      </p:sp>
      <p:sp>
        <p:nvSpPr>
          <p:cNvPr id="25" name="chip-121"/>
          <p:cNvSpPr txBox="1"/>
          <p:nvPr/>
        </p:nvSpPr>
        <p:spPr>
          <a:xfrm>
            <a:off x="3515868" y="4069080"/>
            <a:ext cx="2327148" cy="274320"/>
          </a:xfrm>
          <a:prstGeom prst="roundRect">
            <a:avLst>
              <a:gd name="adj" fmla="val 26667"/>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pricing-engine :8086</a:t>
            </a:r>
            <a:endParaRPr lang="en-US" sz="1100" dirty="0"/>
          </a:p>
        </p:txBody>
      </p:sp>
      <p:sp>
        <p:nvSpPr>
          <p:cNvPr id="26" name="chip-122"/>
          <p:cNvSpPr txBox="1"/>
          <p:nvPr/>
        </p:nvSpPr>
        <p:spPr>
          <a:xfrm>
            <a:off x="3515868" y="4389120"/>
            <a:ext cx="2327148" cy="274320"/>
          </a:xfrm>
          <a:prstGeom prst="roundRect">
            <a:avLst>
              <a:gd name="adj" fmla="val 26667"/>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dispatch-engine :8087</a:t>
            </a:r>
            <a:endParaRPr lang="en-US" sz="1100" dirty="0"/>
          </a:p>
        </p:txBody>
      </p:sp>
      <p:sp>
        <p:nvSpPr>
          <p:cNvPr id="27" name="chip-123"/>
          <p:cNvSpPr txBox="1"/>
          <p:nvPr/>
        </p:nvSpPr>
        <p:spPr>
          <a:xfrm>
            <a:off x="3515868" y="4709160"/>
            <a:ext cx="2327148" cy="274320"/>
          </a:xfrm>
          <a:prstGeom prst="roundRect">
            <a:avLst>
              <a:gd name="adj" fmla="val 26667"/>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location-service :8092</a:t>
            </a:r>
            <a:endParaRPr lang="en-US" sz="1100" dirty="0"/>
          </a:p>
        </p:txBody>
      </p:sp>
      <p:sp>
        <p:nvSpPr>
          <p:cNvPr id="28" name="chip-124"/>
          <p:cNvSpPr txBox="1"/>
          <p:nvPr/>
        </p:nvSpPr>
        <p:spPr>
          <a:xfrm>
            <a:off x="3515868" y="5029200"/>
            <a:ext cx="2327148" cy="274320"/>
          </a:xfrm>
          <a:prstGeom prst="roundRect">
            <a:avLst>
              <a:gd name="adj" fmla="val 26667"/>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chat-service :8093</a:t>
            </a:r>
            <a:endParaRPr lang="en-US" sz="1100" dirty="0"/>
          </a:p>
        </p:txBody>
      </p:sp>
      <p:sp>
        <p:nvSpPr>
          <p:cNvPr id="29" name="chip-125"/>
          <p:cNvSpPr txBox="1"/>
          <p:nvPr/>
        </p:nvSpPr>
        <p:spPr>
          <a:xfrm>
            <a:off x="3515868" y="5349240"/>
            <a:ext cx="2327148" cy="274320"/>
          </a:xfrm>
          <a:prstGeom prst="roundRect">
            <a:avLst>
              <a:gd name="adj" fmla="val 26667"/>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promotion-service :8098</a:t>
            </a:r>
            <a:endParaRPr lang="en-US" sz="1100" dirty="0"/>
          </a:p>
        </p:txBody>
      </p:sp>
      <p:sp>
        <p:nvSpPr>
          <p:cNvPr id="30" name="arrow-126"/>
          <p:cNvSpPr/>
          <p:nvPr/>
        </p:nvSpPr>
        <p:spPr>
          <a:xfrm>
            <a:off x="7507224" y="2743200"/>
            <a:ext cx="0" cy="274320"/>
          </a:xfrm>
          <a:prstGeom prst="line">
            <a:avLst/>
          </a:prstGeom>
          <a:noFill/>
          <a:ln w="19050">
            <a:solidFill>
              <a:schemeClr val="accent6"/>
            </a:solidFill>
            <a:prstDash val="solid"/>
            <a:tailEnd type="triangle"/>
          </a:ln>
        </p:spPr>
        <p:txBody>
          <a:bodyPr/>
          <a:p/>
        </p:txBody>
      </p:sp>
      <p:sp>
        <p:nvSpPr>
          <p:cNvPr id="31" name="panel-127"/>
          <p:cNvSpPr txBox="1"/>
          <p:nvPr/>
        </p:nvSpPr>
        <p:spPr>
          <a:xfrm>
            <a:off x="6208776" y="3017520"/>
            <a:ext cx="2601468" cy="2743200"/>
          </a:xfrm>
          <a:prstGeom prst="roundRect">
            <a:avLst>
              <a:gd name="adj" fmla="val 3515"/>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32" name="text-128"/>
          <p:cNvSpPr txBox="1"/>
          <p:nvPr/>
        </p:nvSpPr>
        <p:spPr>
          <a:xfrm>
            <a:off x="6345936" y="3090672"/>
            <a:ext cx="2286000" cy="292608"/>
          </a:xfrm>
          <a:prstGeom prst="rect">
            <a:avLst/>
          </a:prstGeom>
          <a:noFill/>
          <a:ln/>
        </p:spPr>
        <p:txBody>
          <a:bodyPr wrap="square" lIns="0" tIns="0" rIns="0" bIns="0" rtlCol="0" anchor="t"/>
          <a:lstStyle/>
          <a:p>
            <a:pPr algn="l" indent="0" marL="0">
              <a:buNone/>
            </a:pPr>
            <a:r>
              <a:rPr lang="en-US" sz="1400" b="1" dirty="0">
                <a:solidFill>
                  <a:schemeClr val="accent2"/>
                </a:solidFill>
              </a:rPr>
              <a:t>money-app</a:t>
            </a:r>
            <a:endParaRPr lang="en-US" sz="1400" dirty="0"/>
          </a:p>
        </p:txBody>
      </p:sp>
      <p:sp>
        <p:nvSpPr>
          <p:cNvPr id="33" name="chip-129"/>
          <p:cNvSpPr txBox="1"/>
          <p:nvPr/>
        </p:nvSpPr>
        <p:spPr>
          <a:xfrm>
            <a:off x="6345936" y="3429000"/>
            <a:ext cx="2327148" cy="274320"/>
          </a:xfrm>
          <a:prstGeom prst="roundRect">
            <a:avLst>
              <a:gd name="adj" fmla="val 26667"/>
            </a:avLst>
          </a:prstGeom>
          <a:solidFill>
            <a:schemeClr val="accent2"/>
          </a:solidFill>
          <a:ln/>
        </p:spPr>
        <p:txBody>
          <a:bodyPr wrap="square" lIns="76200" tIns="38100" rIns="76200" bIns="38100" rtlCol="0" anchor="ctr"/>
          <a:lstStyle/>
          <a:p>
            <a:pPr algn="ctr" indent="0" marL="0">
              <a:buNone/>
            </a:pPr>
            <a:r>
              <a:rPr lang="en-US" sz="1100" dirty="0">
                <a:solidFill>
                  <a:schemeClr val="bg1"/>
                </a:solidFill>
              </a:rPr>
              <a:t>payment-service :8088</a:t>
            </a:r>
            <a:endParaRPr lang="en-US" sz="1100" dirty="0"/>
          </a:p>
        </p:txBody>
      </p:sp>
      <p:sp>
        <p:nvSpPr>
          <p:cNvPr id="34" name="chip-130"/>
          <p:cNvSpPr txBox="1"/>
          <p:nvPr/>
        </p:nvSpPr>
        <p:spPr>
          <a:xfrm>
            <a:off x="6345936" y="3749040"/>
            <a:ext cx="2327148" cy="274320"/>
          </a:xfrm>
          <a:prstGeom prst="roundRect">
            <a:avLst>
              <a:gd name="adj" fmla="val 26667"/>
            </a:avLst>
          </a:prstGeom>
          <a:solidFill>
            <a:schemeClr val="accent2"/>
          </a:solidFill>
          <a:ln/>
        </p:spPr>
        <p:txBody>
          <a:bodyPr wrap="square" lIns="76200" tIns="38100" rIns="76200" bIns="38100" rtlCol="0" anchor="ctr"/>
          <a:lstStyle/>
          <a:p>
            <a:pPr algn="ctr" indent="0" marL="0">
              <a:buNone/>
            </a:pPr>
            <a:r>
              <a:rPr lang="en-US" sz="1100" dirty="0">
                <a:solidFill>
                  <a:schemeClr val="bg1"/>
                </a:solidFill>
              </a:rPr>
              <a:t>invoice-service :8089</a:t>
            </a:r>
            <a:endParaRPr lang="en-US" sz="1100" dirty="0"/>
          </a:p>
        </p:txBody>
      </p:sp>
      <p:sp>
        <p:nvSpPr>
          <p:cNvPr id="35" name="arrow-131"/>
          <p:cNvSpPr/>
          <p:nvPr/>
        </p:nvSpPr>
        <p:spPr>
          <a:xfrm>
            <a:off x="10337292" y="2743200"/>
            <a:ext cx="0" cy="274320"/>
          </a:xfrm>
          <a:prstGeom prst="line">
            <a:avLst/>
          </a:prstGeom>
          <a:noFill/>
          <a:ln w="19050">
            <a:solidFill>
              <a:schemeClr val="accent6"/>
            </a:solidFill>
            <a:prstDash val="solid"/>
            <a:tailEnd type="triangle"/>
          </a:ln>
        </p:spPr>
        <p:txBody>
          <a:bodyPr/>
          <a:p/>
        </p:txBody>
      </p:sp>
      <p:sp>
        <p:nvSpPr>
          <p:cNvPr id="36" name="panel-132"/>
          <p:cNvSpPr txBox="1"/>
          <p:nvPr/>
        </p:nvSpPr>
        <p:spPr>
          <a:xfrm>
            <a:off x="9038844" y="3017520"/>
            <a:ext cx="2601468" cy="2743200"/>
          </a:xfrm>
          <a:prstGeom prst="roundRect">
            <a:avLst>
              <a:gd name="adj" fmla="val 3515"/>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37" name="text-133"/>
          <p:cNvSpPr txBox="1"/>
          <p:nvPr/>
        </p:nvSpPr>
        <p:spPr>
          <a:xfrm>
            <a:off x="9176004" y="3090672"/>
            <a:ext cx="2286000" cy="292608"/>
          </a:xfrm>
          <a:prstGeom prst="rect">
            <a:avLst/>
          </a:prstGeom>
          <a:noFill/>
          <a:ln/>
        </p:spPr>
        <p:txBody>
          <a:bodyPr wrap="square" lIns="0" tIns="0" rIns="0" bIns="0" rtlCol="0" anchor="t"/>
          <a:lstStyle/>
          <a:p>
            <a:pPr algn="l" indent="0" marL="0">
              <a:buNone/>
            </a:pPr>
            <a:r>
              <a:rPr lang="en-US" sz="1400" b="1" dirty="0">
                <a:solidFill>
                  <a:schemeClr val="accent4"/>
                </a:solidFill>
              </a:rPr>
              <a:t>engagement-app</a:t>
            </a:r>
            <a:endParaRPr lang="en-US" sz="1400" dirty="0"/>
          </a:p>
        </p:txBody>
      </p:sp>
      <p:sp>
        <p:nvSpPr>
          <p:cNvPr id="38" name="chip-134"/>
          <p:cNvSpPr txBox="1"/>
          <p:nvPr/>
        </p:nvSpPr>
        <p:spPr>
          <a:xfrm>
            <a:off x="9176004" y="3429000"/>
            <a:ext cx="2327148" cy="274320"/>
          </a:xfrm>
          <a:prstGeom prst="roundRect">
            <a:avLst>
              <a:gd name="adj" fmla="val 26667"/>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notification-service :8090</a:t>
            </a:r>
            <a:endParaRPr lang="en-US" sz="1100" dirty="0"/>
          </a:p>
        </p:txBody>
      </p:sp>
      <p:sp>
        <p:nvSpPr>
          <p:cNvPr id="39" name="chip-135"/>
          <p:cNvSpPr txBox="1"/>
          <p:nvPr/>
        </p:nvSpPr>
        <p:spPr>
          <a:xfrm>
            <a:off x="9176004" y="3749040"/>
            <a:ext cx="2327148" cy="274320"/>
          </a:xfrm>
          <a:prstGeom prst="roundRect">
            <a:avLst>
              <a:gd name="adj" fmla="val 26667"/>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complaint-service :8091</a:t>
            </a:r>
            <a:endParaRPr lang="en-US" sz="1100" dirty="0"/>
          </a:p>
        </p:txBody>
      </p:sp>
      <p:sp>
        <p:nvSpPr>
          <p:cNvPr id="40" name="chip-136"/>
          <p:cNvSpPr txBox="1"/>
          <p:nvPr/>
        </p:nvSpPr>
        <p:spPr>
          <a:xfrm>
            <a:off x="9176004" y="4069080"/>
            <a:ext cx="2327148" cy="274320"/>
          </a:xfrm>
          <a:prstGeom prst="roundRect">
            <a:avLst>
              <a:gd name="adj" fmla="val 26667"/>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admin-service :8095</a:t>
            </a:r>
            <a:endParaRPr lang="en-US" sz="1100" dirty="0"/>
          </a:p>
        </p:txBody>
      </p:sp>
      <p:sp>
        <p:nvSpPr>
          <p:cNvPr id="41" name="chip-137"/>
          <p:cNvSpPr txBox="1"/>
          <p:nvPr/>
        </p:nvSpPr>
        <p:spPr>
          <a:xfrm>
            <a:off x="9176004" y="4389120"/>
            <a:ext cx="2327148" cy="274320"/>
          </a:xfrm>
          <a:prstGeom prst="roundRect">
            <a:avLst>
              <a:gd name="adj" fmla="val 26667"/>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reporting-service :8096</a:t>
            </a:r>
            <a:endParaRPr lang="en-US" sz="1100" dirty="0"/>
          </a:p>
        </p:txBody>
      </p:sp>
      <p:sp>
        <p:nvSpPr>
          <p:cNvPr id="42" name="chip-138"/>
          <p:cNvSpPr txBox="1"/>
          <p:nvPr/>
        </p:nvSpPr>
        <p:spPr>
          <a:xfrm>
            <a:off x="9176004" y="4709160"/>
            <a:ext cx="2327148" cy="274320"/>
          </a:xfrm>
          <a:prstGeom prst="roundRect">
            <a:avLst>
              <a:gd name="adj" fmla="val 26667"/>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rating-review-service :8097</a:t>
            </a:r>
            <a:endParaRPr lang="en-US" sz="1100" dirty="0"/>
          </a:p>
        </p:txBody>
      </p:sp>
      <p:sp>
        <p:nvSpPr>
          <p:cNvPr id="43" name="chip-139"/>
          <p:cNvSpPr txBox="1"/>
          <p:nvPr/>
        </p:nvSpPr>
        <p:spPr>
          <a:xfrm>
            <a:off x="9176004" y="5029200"/>
            <a:ext cx="2327148" cy="274320"/>
          </a:xfrm>
          <a:prstGeom prst="roundRect">
            <a:avLst>
              <a:gd name="adj" fmla="val 26667"/>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outbox-processor :8099</a:t>
            </a:r>
            <a:endParaRPr lang="en-US" sz="1100" dirty="0"/>
          </a:p>
        </p:txBody>
      </p:sp>
      <p:sp>
        <p:nvSpPr>
          <p:cNvPr id="44" name="chip-140"/>
          <p:cNvSpPr txBox="1"/>
          <p:nvPr/>
        </p:nvSpPr>
        <p:spPr>
          <a:xfrm>
            <a:off x="548640" y="5897880"/>
            <a:ext cx="3566160" cy="384048"/>
          </a:xfrm>
          <a:prstGeom prst="roundRect">
            <a:avLst>
              <a:gd name="adj" fmla="val 19048"/>
            </a:avLst>
          </a:prstGeom>
          <a:solidFill>
            <a:schemeClr val="accent5"/>
          </a:solidFill>
          <a:ln/>
        </p:spPr>
        <p:txBody>
          <a:bodyPr wrap="square" lIns="76200" tIns="38100" rIns="76200" bIns="38100" rtlCol="0" anchor="ctr"/>
          <a:lstStyle/>
          <a:p>
            <a:pPr algn="ctr" indent="0" marL="0">
              <a:buNone/>
            </a:pPr>
            <a:r>
              <a:rPr lang="en-US" sz="1200" dirty="0">
                <a:solidFill>
                  <a:schemeClr val="bg1"/>
                </a:solidFill>
              </a:rPr>
              <a:t>PostgreSQL  ·  one database, a schema per service</a:t>
            </a:r>
            <a:endParaRPr lang="en-US" sz="1200" dirty="0"/>
          </a:p>
        </p:txBody>
      </p:sp>
      <p:sp>
        <p:nvSpPr>
          <p:cNvPr id="45" name="chip-141"/>
          <p:cNvSpPr txBox="1"/>
          <p:nvPr/>
        </p:nvSpPr>
        <p:spPr>
          <a:xfrm>
            <a:off x="4311396" y="5897880"/>
            <a:ext cx="3566160" cy="384048"/>
          </a:xfrm>
          <a:prstGeom prst="roundRect">
            <a:avLst>
              <a:gd name="adj" fmla="val 19048"/>
            </a:avLst>
          </a:prstGeom>
          <a:solidFill>
            <a:schemeClr val="accent5"/>
          </a:solidFill>
          <a:ln/>
        </p:spPr>
        <p:txBody>
          <a:bodyPr wrap="square" lIns="76200" tIns="38100" rIns="76200" bIns="38100" rtlCol="0" anchor="ctr"/>
          <a:lstStyle/>
          <a:p>
            <a:pPr algn="ctr" indent="0" marL="0">
              <a:buNone/>
            </a:pPr>
            <a:r>
              <a:rPr lang="en-US" sz="1200" dirty="0">
                <a:solidFill>
                  <a:schemeClr val="bg1"/>
                </a:solidFill>
              </a:rPr>
              <a:t>Redis  ·  offers, locks, rate limits, chat fan-out</a:t>
            </a:r>
            <a:endParaRPr lang="en-US" sz="1200" dirty="0"/>
          </a:p>
        </p:txBody>
      </p:sp>
      <p:sp>
        <p:nvSpPr>
          <p:cNvPr id="46" name="chip-142"/>
          <p:cNvSpPr txBox="1"/>
          <p:nvPr/>
        </p:nvSpPr>
        <p:spPr>
          <a:xfrm>
            <a:off x="8074152" y="5897880"/>
            <a:ext cx="3566160" cy="384048"/>
          </a:xfrm>
          <a:prstGeom prst="roundRect">
            <a:avLst>
              <a:gd name="adj" fmla="val 19048"/>
            </a:avLst>
          </a:prstGeom>
          <a:solidFill>
            <a:schemeClr val="accent5"/>
          </a:solidFill>
          <a:ln/>
        </p:spPr>
        <p:txBody>
          <a:bodyPr wrap="square" lIns="76200" tIns="38100" rIns="76200" bIns="38100" rtlCol="0" anchor="ctr"/>
          <a:lstStyle/>
          <a:p>
            <a:pPr algn="ctr" indent="0" marL="0">
              <a:buNone/>
            </a:pPr>
            <a:r>
              <a:rPr lang="en-US" sz="1200" dirty="0">
                <a:solidFill>
                  <a:schemeClr val="bg1"/>
                </a:solidFill>
              </a:rPr>
              <a:t>Kafka  ·  13 topics fed by the outbox</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One JVM, many isolated services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shared/jihajoor-service-host starts each hosted service as its own Spring application context</a:t>
            </a:r>
            <a:endParaRPr lang="en-US" sz="1500" dirty="0"/>
          </a:p>
        </p:txBody>
      </p:sp>
      <p:sp>
        <p:nvSpPr>
          <p:cNvPr id="4" name="panel-143"/>
          <p:cNvSpPr txBox="1"/>
          <p:nvPr/>
        </p:nvSpPr>
        <p:spPr>
          <a:xfrm>
            <a:off x="548640" y="1600200"/>
            <a:ext cx="6035040" cy="4343400"/>
          </a:xfrm>
          <a:prstGeom prst="roundRect">
            <a:avLst>
              <a:gd name="adj" fmla="val 2105"/>
            </a:avLst>
          </a:prstGeom>
          <a:solidFill>
            <a:schemeClr val="accent1">
              <a:alpha val="8000"/>
            </a:schemeClr>
          </a:solidFill>
          <a:ln w="12700">
            <a:solidFill>
              <a:schemeClr val="accent1">
                <a:alpha val="40000"/>
              </a:schemeClr>
            </a:solidFill>
            <a:prstDash val="solid"/>
          </a:ln>
        </p:spPr>
        <p:txBody>
          <a:bodyPr wrap="square" lIns="76200" tIns="38100" rIns="76200" bIns="38100" rtlCol="0" anchor="ctr"/>
          <a:lstStyle/>
          <a:p>
            <a:pPr algn="ctr" indent="0" marL="0">
              <a:buNone/>
            </a:pPr>
            <a:endParaRPr lang="en-US" sz="1200" dirty="0"/>
          </a:p>
        </p:txBody>
      </p:sp>
      <p:sp>
        <p:nvSpPr>
          <p:cNvPr id="5" name="text-144"/>
          <p:cNvSpPr txBox="1"/>
          <p:nvPr/>
        </p:nvSpPr>
        <p:spPr>
          <a:xfrm>
            <a:off x="777240" y="1691640"/>
            <a:ext cx="5577840" cy="320040"/>
          </a:xfrm>
          <a:prstGeom prst="rect">
            <a:avLst/>
          </a:prstGeom>
          <a:noFill/>
          <a:ln/>
        </p:spPr>
        <p:txBody>
          <a:bodyPr wrap="square" lIns="0" tIns="0" rIns="0" bIns="0" rtlCol="0" anchor="t"/>
          <a:lstStyle/>
          <a:p>
            <a:pPr algn="l" indent="0" marL="0">
              <a:buNone/>
            </a:pPr>
            <a:r>
              <a:rPr lang="en-US" sz="1400" b="1" dirty="0">
                <a:solidFill>
                  <a:schemeClr val="accent1"/>
                </a:solidFill>
              </a:rPr>
              <a:t>jobs-app  ·  one JVM  ·  one container image</a:t>
            </a:r>
            <a:endParaRPr lang="en-US" sz="1400" dirty="0"/>
          </a:p>
        </p:txBody>
      </p:sp>
      <p:sp>
        <p:nvSpPr>
          <p:cNvPr id="6" name="box-145"/>
          <p:cNvSpPr txBox="1"/>
          <p:nvPr/>
        </p:nvSpPr>
        <p:spPr>
          <a:xfrm>
            <a:off x="777240" y="2148840"/>
            <a:ext cx="2743200" cy="777240"/>
          </a:xfrm>
          <a:prstGeom prst="roundRect">
            <a:avLst>
              <a:gd name="adj" fmla="val 9412"/>
            </a:avLst>
          </a:prstGeom>
          <a:solidFill>
            <a:schemeClr val="bg1"/>
          </a:solidFill>
          <a:ln w="12700">
            <a:solidFill>
              <a:schemeClr val="accent1">
                <a:alpha val="50000"/>
              </a:schemeClr>
            </a:solidFill>
            <a:prstDash val="solid"/>
          </a:ln>
        </p:spPr>
        <p:txBody>
          <a:bodyPr wrap="square" lIns="101600" tIns="38100" rIns="101600" bIns="38100" rtlCol="0" anchor="ctr"/>
          <a:lstStyle/>
          <a:p>
            <a:pPr algn="l" indent="0" marL="0">
              <a:buNone/>
            </a:pPr>
            <a:r>
              <a:rPr lang="en-US" sz="1300" b="1" dirty="0">
                <a:solidFill>
                  <a:schemeClr val="tx1"/>
                </a:solidFill>
              </a:rPr>
              <a:t>booking-service  :8084</a:t>
            </a:r>
            <a:endParaRPr lang="en-US" sz="1200" dirty="0"/>
          </a:p>
          <a:p>
            <a:pPr algn="l" indent="0" marL="0">
              <a:buNone/>
            </a:pPr>
            <a:r>
              <a:rPr lang="en-US" sz="1050" dirty="0">
                <a:solidFill>
                  <a:schemeClr val="accent6"/>
                </a:solidFill>
              </a:rPr>
              <a:t>own context · booking-service.yml · booking schema</a:t>
            </a:r>
            <a:endParaRPr lang="en-US" sz="1200" dirty="0"/>
          </a:p>
        </p:txBody>
      </p:sp>
      <p:sp>
        <p:nvSpPr>
          <p:cNvPr id="7" name="box-146"/>
          <p:cNvSpPr txBox="1"/>
          <p:nvPr/>
        </p:nvSpPr>
        <p:spPr>
          <a:xfrm>
            <a:off x="3657600" y="2148840"/>
            <a:ext cx="2743200" cy="777240"/>
          </a:xfrm>
          <a:prstGeom prst="roundRect">
            <a:avLst>
              <a:gd name="adj" fmla="val 9412"/>
            </a:avLst>
          </a:prstGeom>
          <a:solidFill>
            <a:schemeClr val="bg1"/>
          </a:solidFill>
          <a:ln w="12700">
            <a:solidFill>
              <a:schemeClr val="accent1">
                <a:alpha val="50000"/>
              </a:schemeClr>
            </a:solidFill>
            <a:prstDash val="solid"/>
          </a:ln>
        </p:spPr>
        <p:txBody>
          <a:bodyPr wrap="square" lIns="101600" tIns="38100" rIns="101600" bIns="38100" rtlCol="0" anchor="ctr"/>
          <a:lstStyle/>
          <a:p>
            <a:pPr algn="l" indent="0" marL="0">
              <a:buNone/>
            </a:pPr>
            <a:r>
              <a:rPr lang="en-US" sz="1300" b="1" dirty="0">
                <a:solidFill>
                  <a:schemeClr val="tx1"/>
                </a:solidFill>
              </a:rPr>
              <a:t>catalog-service  :8085</a:t>
            </a:r>
            <a:endParaRPr lang="en-US" sz="1200" dirty="0"/>
          </a:p>
          <a:p>
            <a:pPr algn="l" indent="0" marL="0">
              <a:buNone/>
            </a:pPr>
            <a:r>
              <a:rPr lang="en-US" sz="1050" dirty="0">
                <a:solidFill>
                  <a:schemeClr val="accent6"/>
                </a:solidFill>
              </a:rPr>
              <a:t>own context · catalog-service.yml · catalog schema</a:t>
            </a:r>
            <a:endParaRPr lang="en-US" sz="1200" dirty="0"/>
          </a:p>
        </p:txBody>
      </p:sp>
      <p:sp>
        <p:nvSpPr>
          <p:cNvPr id="8" name="box-147"/>
          <p:cNvSpPr txBox="1"/>
          <p:nvPr/>
        </p:nvSpPr>
        <p:spPr>
          <a:xfrm>
            <a:off x="777240" y="3063240"/>
            <a:ext cx="2743200" cy="777240"/>
          </a:xfrm>
          <a:prstGeom prst="roundRect">
            <a:avLst>
              <a:gd name="adj" fmla="val 9412"/>
            </a:avLst>
          </a:prstGeom>
          <a:solidFill>
            <a:schemeClr val="bg1"/>
          </a:solidFill>
          <a:ln w="12700">
            <a:solidFill>
              <a:schemeClr val="accent1">
                <a:alpha val="50000"/>
              </a:schemeClr>
            </a:solidFill>
            <a:prstDash val="solid"/>
          </a:ln>
        </p:spPr>
        <p:txBody>
          <a:bodyPr wrap="square" lIns="101600" tIns="38100" rIns="101600" bIns="38100" rtlCol="0" anchor="ctr"/>
          <a:lstStyle/>
          <a:p>
            <a:pPr algn="l" indent="0" marL="0">
              <a:buNone/>
            </a:pPr>
            <a:r>
              <a:rPr lang="en-US" sz="1300" b="1" dirty="0">
                <a:solidFill>
                  <a:schemeClr val="tx1"/>
                </a:solidFill>
              </a:rPr>
              <a:t>pricing-engine  :8086</a:t>
            </a:r>
            <a:endParaRPr lang="en-US" sz="1200" dirty="0"/>
          </a:p>
          <a:p>
            <a:pPr algn="l" indent="0" marL="0">
              <a:buNone/>
            </a:pPr>
            <a:r>
              <a:rPr lang="en-US" sz="1050" dirty="0">
                <a:solidFill>
                  <a:schemeClr val="accent6"/>
                </a:solidFill>
              </a:rPr>
              <a:t>own context · pricing-engine.yml · pricing schema</a:t>
            </a:r>
            <a:endParaRPr lang="en-US" sz="1200" dirty="0"/>
          </a:p>
        </p:txBody>
      </p:sp>
      <p:sp>
        <p:nvSpPr>
          <p:cNvPr id="9" name="box-148"/>
          <p:cNvSpPr txBox="1"/>
          <p:nvPr/>
        </p:nvSpPr>
        <p:spPr>
          <a:xfrm>
            <a:off x="3657600" y="3063240"/>
            <a:ext cx="2743200" cy="777240"/>
          </a:xfrm>
          <a:prstGeom prst="roundRect">
            <a:avLst>
              <a:gd name="adj" fmla="val 9412"/>
            </a:avLst>
          </a:prstGeom>
          <a:solidFill>
            <a:schemeClr val="bg1"/>
          </a:solidFill>
          <a:ln w="12700">
            <a:solidFill>
              <a:schemeClr val="accent1">
                <a:alpha val="50000"/>
              </a:schemeClr>
            </a:solidFill>
            <a:prstDash val="solid"/>
          </a:ln>
        </p:spPr>
        <p:txBody>
          <a:bodyPr wrap="square" lIns="101600" tIns="38100" rIns="101600" bIns="38100" rtlCol="0" anchor="ctr"/>
          <a:lstStyle/>
          <a:p>
            <a:pPr algn="l" indent="0" marL="0">
              <a:buNone/>
            </a:pPr>
            <a:r>
              <a:rPr lang="en-US" sz="1300" b="1" dirty="0">
                <a:solidFill>
                  <a:schemeClr val="tx1"/>
                </a:solidFill>
              </a:rPr>
              <a:t>dispatch-engine  :8087</a:t>
            </a:r>
            <a:endParaRPr lang="en-US" sz="1200" dirty="0"/>
          </a:p>
          <a:p>
            <a:pPr algn="l" indent="0" marL="0">
              <a:buNone/>
            </a:pPr>
            <a:r>
              <a:rPr lang="en-US" sz="1050" dirty="0">
                <a:solidFill>
                  <a:schemeClr val="accent6"/>
                </a:solidFill>
              </a:rPr>
              <a:t>own context · dispatch-engine.yml · dispatch schema</a:t>
            </a:r>
            <a:endParaRPr lang="en-US" sz="1200" dirty="0"/>
          </a:p>
        </p:txBody>
      </p:sp>
      <p:sp>
        <p:nvSpPr>
          <p:cNvPr id="10" name="box-149"/>
          <p:cNvSpPr txBox="1"/>
          <p:nvPr/>
        </p:nvSpPr>
        <p:spPr>
          <a:xfrm>
            <a:off x="777240" y="3977640"/>
            <a:ext cx="2743200" cy="777240"/>
          </a:xfrm>
          <a:prstGeom prst="roundRect">
            <a:avLst>
              <a:gd name="adj" fmla="val 9412"/>
            </a:avLst>
          </a:prstGeom>
          <a:solidFill>
            <a:schemeClr val="bg1"/>
          </a:solidFill>
          <a:ln w="12700">
            <a:solidFill>
              <a:schemeClr val="accent1">
                <a:alpha val="50000"/>
              </a:schemeClr>
            </a:solidFill>
            <a:prstDash val="solid"/>
          </a:ln>
        </p:spPr>
        <p:txBody>
          <a:bodyPr wrap="square" lIns="101600" tIns="38100" rIns="101600" bIns="38100" rtlCol="0" anchor="ctr"/>
          <a:lstStyle/>
          <a:p>
            <a:pPr algn="l" indent="0" marL="0">
              <a:buNone/>
            </a:pPr>
            <a:r>
              <a:rPr lang="en-US" sz="1300" b="1" dirty="0">
                <a:solidFill>
                  <a:schemeClr val="tx1"/>
                </a:solidFill>
              </a:rPr>
              <a:t>location-service  :8092</a:t>
            </a:r>
            <a:endParaRPr lang="en-US" sz="1200" dirty="0"/>
          </a:p>
          <a:p>
            <a:pPr algn="l" indent="0" marL="0">
              <a:buNone/>
            </a:pPr>
            <a:r>
              <a:rPr lang="en-US" sz="1050" dirty="0">
                <a:solidFill>
                  <a:schemeClr val="accent6"/>
                </a:solidFill>
              </a:rPr>
              <a:t>own context · location-service.yml · location schema</a:t>
            </a:r>
            <a:endParaRPr lang="en-US" sz="1200" dirty="0"/>
          </a:p>
        </p:txBody>
      </p:sp>
      <p:sp>
        <p:nvSpPr>
          <p:cNvPr id="11" name="box-150"/>
          <p:cNvSpPr txBox="1"/>
          <p:nvPr/>
        </p:nvSpPr>
        <p:spPr>
          <a:xfrm>
            <a:off x="3657600" y="3977640"/>
            <a:ext cx="2743200" cy="777240"/>
          </a:xfrm>
          <a:prstGeom prst="roundRect">
            <a:avLst>
              <a:gd name="adj" fmla="val 9412"/>
            </a:avLst>
          </a:prstGeom>
          <a:solidFill>
            <a:schemeClr val="bg1"/>
          </a:solidFill>
          <a:ln w="12700">
            <a:solidFill>
              <a:schemeClr val="accent1">
                <a:alpha val="50000"/>
              </a:schemeClr>
            </a:solidFill>
            <a:prstDash val="solid"/>
          </a:ln>
        </p:spPr>
        <p:txBody>
          <a:bodyPr wrap="square" lIns="101600" tIns="38100" rIns="101600" bIns="38100" rtlCol="0" anchor="ctr"/>
          <a:lstStyle/>
          <a:p>
            <a:pPr algn="l" indent="0" marL="0">
              <a:buNone/>
            </a:pPr>
            <a:r>
              <a:rPr lang="en-US" sz="1300" b="1" dirty="0">
                <a:solidFill>
                  <a:schemeClr val="tx1"/>
                </a:solidFill>
              </a:rPr>
              <a:t>chat-service  :8093</a:t>
            </a:r>
            <a:endParaRPr lang="en-US" sz="1200" dirty="0"/>
          </a:p>
          <a:p>
            <a:pPr algn="l" indent="0" marL="0">
              <a:buNone/>
            </a:pPr>
            <a:r>
              <a:rPr lang="en-US" sz="1050" dirty="0">
                <a:solidFill>
                  <a:schemeClr val="accent6"/>
                </a:solidFill>
              </a:rPr>
              <a:t>own context · chat-service.yml · chat schema</a:t>
            </a:r>
            <a:endParaRPr lang="en-US" sz="1200" dirty="0"/>
          </a:p>
        </p:txBody>
      </p:sp>
      <p:sp>
        <p:nvSpPr>
          <p:cNvPr id="12" name="box-151"/>
          <p:cNvSpPr txBox="1"/>
          <p:nvPr/>
        </p:nvSpPr>
        <p:spPr>
          <a:xfrm>
            <a:off x="777240" y="4892040"/>
            <a:ext cx="2743200" cy="777240"/>
          </a:xfrm>
          <a:prstGeom prst="roundRect">
            <a:avLst>
              <a:gd name="adj" fmla="val 9412"/>
            </a:avLst>
          </a:prstGeom>
          <a:solidFill>
            <a:schemeClr val="bg1"/>
          </a:solidFill>
          <a:ln w="12700">
            <a:solidFill>
              <a:schemeClr val="accent1">
                <a:alpha val="50000"/>
              </a:schemeClr>
            </a:solidFill>
            <a:prstDash val="solid"/>
          </a:ln>
        </p:spPr>
        <p:txBody>
          <a:bodyPr wrap="square" lIns="101600" tIns="38100" rIns="101600" bIns="38100" rtlCol="0" anchor="ctr"/>
          <a:lstStyle/>
          <a:p>
            <a:pPr algn="l" indent="0" marL="0">
              <a:buNone/>
            </a:pPr>
            <a:r>
              <a:rPr lang="en-US" sz="1300" b="1" dirty="0">
                <a:solidFill>
                  <a:schemeClr val="tx1"/>
                </a:solidFill>
              </a:rPr>
              <a:t>promotion-service  :8098</a:t>
            </a:r>
            <a:endParaRPr lang="en-US" sz="1200" dirty="0"/>
          </a:p>
          <a:p>
            <a:pPr algn="l" indent="0" marL="0">
              <a:buNone/>
            </a:pPr>
            <a:r>
              <a:rPr lang="en-US" sz="1050" dirty="0">
                <a:solidFill>
                  <a:schemeClr val="accent6"/>
                </a:solidFill>
              </a:rPr>
              <a:t>own context · promotion-service.yml · promotion schema</a:t>
            </a:r>
            <a:endParaRPr lang="en-US" sz="1200" dirty="0"/>
          </a:p>
        </p:txBody>
      </p:sp>
      <p:graphicFrame>
        <p:nvGraphicFramePr>
          <p:cNvPr id="13" name="Chart 0" descr=""/>
          <p:cNvGraphicFramePr/>
          <p:nvPr/>
        </p:nvGraphicFramePr>
        <p:xfrm>
          <a:off x="6903720" y="1554480"/>
          <a:ext cx="4736592" cy="2697480"/>
        </p:xfrm>
        <a:graphic xmlns:a="http://schemas.openxmlformats.org/drawingml/2006/main">
          <a:graphicData uri="http://schemas.openxmlformats.org/drawingml/2006/chart">
            <c:chart xmlns:c="http://schemas.openxmlformats.org/drawingml/2006/chart" r:id="rId1"/>
          </a:graphicData>
        </a:graphic>
      </p:graphicFrame>
      <p:sp>
        <p:nvSpPr>
          <p:cNvPr id="14" name="icon-bg-boxes-152"/>
          <p:cNvSpPr/>
          <p:nvPr/>
        </p:nvSpPr>
        <p:spPr>
          <a:xfrm>
            <a:off x="6949440" y="4389120"/>
            <a:ext cx="384048" cy="384048"/>
          </a:xfrm>
          <a:prstGeom prst="ellipse">
            <a:avLst/>
          </a:prstGeom>
          <a:solidFill>
            <a:schemeClr val="accent1"/>
          </a:solidFill>
          <a:ln/>
        </p:spPr>
        <p:txBody>
          <a:bodyPr/>
          <a:p/>
        </p:txBody>
      </p:sp>
      <p:pic>
        <p:nvPicPr>
          <p:cNvPr id="15" name="icon-boxes-153" descr="boxes">    </p:cNvPr>
          <p:cNvPicPr>
            <a:picLocks noChangeAspect="1"/>
          </p:cNvPicPr>
          <p:nvPr/>
        </p:nvPicPr>
        <p:blipFill>
          <a:blip r:embed="rId2"/>
          <a:stretch>
            <a:fillRect/>
          </a:stretch>
        </p:blipFill>
        <p:spPr>
          <a:xfrm>
            <a:off x="7041612" y="4481292"/>
            <a:ext cx="199705" cy="199705"/>
          </a:xfrm>
          <a:prstGeom prst="rect">
            <a:avLst/>
          </a:prstGeom>
        </p:spPr>
      </p:pic>
      <p:sp>
        <p:nvSpPr>
          <p:cNvPr id="16" name="text-154"/>
          <p:cNvSpPr txBox="1"/>
          <p:nvPr/>
        </p:nvSpPr>
        <p:spPr>
          <a:xfrm>
            <a:off x="7452360" y="4407408"/>
            <a:ext cx="4187952" cy="457200"/>
          </a:xfrm>
          <a:prstGeom prst="rect">
            <a:avLst/>
          </a:prstGeom>
          <a:noFill/>
          <a:ln/>
        </p:spPr>
        <p:txBody>
          <a:bodyPr wrap="square" lIns="0" tIns="0" rIns="0" bIns="0" rtlCol="0" anchor="t"/>
          <a:lstStyle/>
          <a:p>
            <a:pPr algn="l" indent="0" marL="0">
              <a:buNone/>
            </a:pPr>
            <a:r>
              <a:rPr lang="en-US" sz="1300" dirty="0">
                <a:solidFill>
                  <a:schemeClr val="tx1"/>
                </a:solidFill>
              </a:rPr>
              <a:t>Movable: a service can move to its own deployable without code changes</a:t>
            </a:r>
            <a:endParaRPr lang="en-US" sz="1300" dirty="0"/>
          </a:p>
        </p:txBody>
      </p:sp>
      <p:sp>
        <p:nvSpPr>
          <p:cNvPr id="17" name="icon-bg-key-155"/>
          <p:cNvSpPr/>
          <p:nvPr/>
        </p:nvSpPr>
        <p:spPr>
          <a:xfrm>
            <a:off x="6949440" y="5010912"/>
            <a:ext cx="384048" cy="384048"/>
          </a:xfrm>
          <a:prstGeom prst="ellipse">
            <a:avLst/>
          </a:prstGeom>
          <a:solidFill>
            <a:schemeClr val="accent1"/>
          </a:solidFill>
          <a:ln/>
        </p:spPr>
        <p:txBody>
          <a:bodyPr/>
          <a:p/>
        </p:txBody>
      </p:sp>
      <p:pic>
        <p:nvPicPr>
          <p:cNvPr id="18" name="icon-key-156" descr="key">    </p:cNvPr>
          <p:cNvPicPr>
            <a:picLocks noChangeAspect="1"/>
          </p:cNvPicPr>
          <p:nvPr/>
        </p:nvPicPr>
        <p:blipFill>
          <a:blip r:embed="rId3"/>
          <a:stretch>
            <a:fillRect/>
          </a:stretch>
        </p:blipFill>
        <p:spPr>
          <a:xfrm>
            <a:off x="7041612" y="5103084"/>
            <a:ext cx="199705" cy="199705"/>
          </a:xfrm>
          <a:prstGeom prst="rect">
            <a:avLst/>
          </a:prstGeom>
        </p:spPr>
      </p:pic>
      <p:sp>
        <p:nvSpPr>
          <p:cNvPr id="19" name="text-157"/>
          <p:cNvSpPr txBox="1"/>
          <p:nvPr/>
        </p:nvSpPr>
        <p:spPr>
          <a:xfrm>
            <a:off x="7452360" y="5029200"/>
            <a:ext cx="4187952" cy="457200"/>
          </a:xfrm>
          <a:prstGeom prst="rect">
            <a:avLst/>
          </a:prstGeom>
          <a:noFill/>
          <a:ln/>
        </p:spPr>
        <p:txBody>
          <a:bodyPr wrap="square" lIns="0" tIns="0" rIns="0" bIns="0" rtlCol="0" anchor="t"/>
          <a:lstStyle/>
          <a:p>
            <a:pPr algn="l" indent="0" marL="0">
              <a:buNone/>
            </a:pPr>
            <a:r>
              <a:rPr lang="en-US" sz="1300" dirty="0">
                <a:solidFill>
                  <a:schemeClr val="tx1"/>
                </a:solidFill>
              </a:rPr>
              <a:t>Per-service settings: a PRICING_ENGINE__ prefix reaches one service only</a:t>
            </a:r>
            <a:endParaRPr lang="en-US" sz="1300" dirty="0"/>
          </a:p>
        </p:txBody>
      </p:sp>
      <p:sp>
        <p:nvSpPr>
          <p:cNvPr id="20" name="icon-bg-activity-158"/>
          <p:cNvSpPr/>
          <p:nvPr/>
        </p:nvSpPr>
        <p:spPr>
          <a:xfrm>
            <a:off x="6949440" y="5632704"/>
            <a:ext cx="384048" cy="384048"/>
          </a:xfrm>
          <a:prstGeom prst="ellipse">
            <a:avLst/>
          </a:prstGeom>
          <a:solidFill>
            <a:schemeClr val="accent1"/>
          </a:solidFill>
          <a:ln/>
        </p:spPr>
        <p:txBody>
          <a:bodyPr/>
          <a:p/>
        </p:txBody>
      </p:sp>
      <p:pic>
        <p:nvPicPr>
          <p:cNvPr id="21" name="icon-activity-159" descr="activity">    </p:cNvPr>
          <p:cNvPicPr>
            <a:picLocks noChangeAspect="1"/>
          </p:cNvPicPr>
          <p:nvPr/>
        </p:nvPicPr>
        <p:blipFill>
          <a:blip r:embed="rId4"/>
          <a:stretch>
            <a:fillRect/>
          </a:stretch>
        </p:blipFill>
        <p:spPr>
          <a:xfrm>
            <a:off x="7041612" y="5724876"/>
            <a:ext cx="199705" cy="199705"/>
          </a:xfrm>
          <a:prstGeom prst="rect">
            <a:avLst/>
          </a:prstGeom>
        </p:spPr>
      </p:pic>
      <p:sp>
        <p:nvSpPr>
          <p:cNvPr id="22" name="text-160"/>
          <p:cNvSpPr txBox="1"/>
          <p:nvPr/>
        </p:nvSpPr>
        <p:spPr>
          <a:xfrm>
            <a:off x="7452360" y="5650992"/>
            <a:ext cx="4187952" cy="457200"/>
          </a:xfrm>
          <a:prstGeom prst="rect">
            <a:avLst/>
          </a:prstGeom>
          <a:noFill/>
          <a:ln/>
        </p:spPr>
        <p:txBody>
          <a:bodyPr wrap="square" lIns="0" tIns="0" rIns="0" bIns="0" rtlCol="0" anchor="t"/>
          <a:lstStyle/>
          <a:p>
            <a:pPr algn="l" indent="0" marL="0">
              <a:buNone/>
            </a:pPr>
            <a:r>
              <a:rPr lang="en-US" sz="1300" dirty="0">
                <a:solidFill>
                  <a:schemeClr val="tx1"/>
                </a:solidFill>
              </a:rPr>
              <a:t>Health: the container probe checks every hosted service's readiness</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What happens on every authenticated request</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Two filter chains: reactive in the gateway, then servlet inside the target service</a:t>
            </a:r>
            <a:endParaRPr lang="en-US" sz="1500" dirty="0"/>
          </a:p>
        </p:txBody>
      </p:sp>
      <p:sp>
        <p:nvSpPr>
          <p:cNvPr id="4" name="chip-161"/>
          <p:cNvSpPr txBox="1"/>
          <p:nvPr/>
        </p:nvSpPr>
        <p:spPr>
          <a:xfrm>
            <a:off x="548640" y="2103120"/>
            <a:ext cx="1051560" cy="685800"/>
          </a:xfrm>
          <a:prstGeom prst="roundRect">
            <a:avLst>
              <a:gd name="adj" fmla="val 10667"/>
            </a:avLst>
          </a:prstGeom>
          <a:solidFill>
            <a:schemeClr val="tx1"/>
          </a:solidFill>
          <a:ln/>
        </p:spPr>
        <p:txBody>
          <a:bodyPr wrap="square" lIns="76200" tIns="38100" rIns="76200" bIns="38100" rtlCol="0" anchor="ctr"/>
          <a:lstStyle/>
          <a:p>
            <a:pPr algn="ctr" indent="0" marL="0">
              <a:buNone/>
            </a:pPr>
            <a:r>
              <a:rPr lang="en-US" sz="1300" b="1" dirty="0">
                <a:solidFill>
                  <a:schemeClr val="bg1"/>
                </a:solidFill>
              </a:rPr>
              <a:t>App</a:t>
            </a:r>
            <a:endParaRPr lang="en-US" sz="1300" dirty="0"/>
          </a:p>
        </p:txBody>
      </p:sp>
      <p:sp>
        <p:nvSpPr>
          <p:cNvPr id="5" name="chip-162"/>
          <p:cNvSpPr txBox="1"/>
          <p:nvPr/>
        </p:nvSpPr>
        <p:spPr>
          <a:xfrm>
            <a:off x="1828800" y="2103120"/>
            <a:ext cx="1143000" cy="685800"/>
          </a:xfrm>
          <a:prstGeom prst="roundRect">
            <a:avLst>
              <a:gd name="adj" fmla="val 10667"/>
            </a:avLst>
          </a:prstGeom>
          <a:solidFill>
            <a:schemeClr val="accent6"/>
          </a:solidFill>
          <a:ln/>
        </p:spPr>
        <p:txBody>
          <a:bodyPr wrap="square" lIns="76200" tIns="38100" rIns="76200" bIns="38100" rtlCol="0" anchor="ctr"/>
          <a:lstStyle/>
          <a:p>
            <a:pPr algn="ctr" indent="0" marL="0">
              <a:buNone/>
            </a:pPr>
            <a:r>
              <a:rPr lang="en-US" sz="1300" b="1" dirty="0">
                <a:solidFill>
                  <a:schemeClr val="bg1"/>
                </a:solidFill>
              </a:rPr>
              <a:t>nginx /api</a:t>
            </a:r>
            <a:endParaRPr lang="en-US" sz="1300" dirty="0"/>
          </a:p>
        </p:txBody>
      </p:sp>
      <p:sp>
        <p:nvSpPr>
          <p:cNvPr id="6" name="arrow-163"/>
          <p:cNvSpPr/>
          <p:nvPr/>
        </p:nvSpPr>
        <p:spPr>
          <a:xfrm>
            <a:off x="1600200" y="2446020"/>
            <a:ext cx="228600" cy="0"/>
          </a:xfrm>
          <a:prstGeom prst="line">
            <a:avLst/>
          </a:prstGeom>
          <a:noFill/>
          <a:ln w="19050">
            <a:solidFill>
              <a:schemeClr val="accent6"/>
            </a:solidFill>
            <a:prstDash val="solid"/>
            <a:tailEnd type="triangle"/>
          </a:ln>
        </p:spPr>
        <p:txBody>
          <a:bodyPr/>
          <a:p/>
        </p:txBody>
      </p:sp>
      <p:sp>
        <p:nvSpPr>
          <p:cNvPr id="7" name="arrow-164"/>
          <p:cNvSpPr/>
          <p:nvPr/>
        </p:nvSpPr>
        <p:spPr>
          <a:xfrm>
            <a:off x="2971800" y="2446020"/>
            <a:ext cx="274320" cy="0"/>
          </a:xfrm>
          <a:prstGeom prst="line">
            <a:avLst/>
          </a:prstGeom>
          <a:noFill/>
          <a:ln w="19050">
            <a:solidFill>
              <a:schemeClr val="accent6"/>
            </a:solidFill>
            <a:prstDash val="solid"/>
            <a:tailEnd type="triangle"/>
          </a:ln>
        </p:spPr>
        <p:txBody>
          <a:bodyPr/>
          <a:p/>
        </p:txBody>
      </p:sp>
      <p:sp>
        <p:nvSpPr>
          <p:cNvPr id="8" name="panel-165"/>
          <p:cNvSpPr txBox="1"/>
          <p:nvPr/>
        </p:nvSpPr>
        <p:spPr>
          <a:xfrm>
            <a:off x="3246120" y="1554480"/>
            <a:ext cx="8394192" cy="1783080"/>
          </a:xfrm>
          <a:prstGeom prst="roundRect">
            <a:avLst>
              <a:gd name="adj" fmla="val 5128"/>
            </a:avLst>
          </a:prstGeom>
          <a:solidFill>
            <a:schemeClr val="tx1">
              <a:alpha val="8000"/>
            </a:schemeClr>
          </a:solidFill>
          <a:ln/>
        </p:spPr>
        <p:txBody>
          <a:bodyPr wrap="square" lIns="76200" tIns="38100" rIns="76200" bIns="38100" rtlCol="0" anchor="ctr"/>
          <a:lstStyle/>
          <a:p>
            <a:pPr algn="ctr" indent="0" marL="0">
              <a:buNone/>
            </a:pPr>
            <a:endParaRPr lang="en-US" sz="1200" dirty="0"/>
          </a:p>
        </p:txBody>
      </p:sp>
      <p:sp>
        <p:nvSpPr>
          <p:cNvPr id="9" name="text-166"/>
          <p:cNvSpPr txBox="1"/>
          <p:nvPr/>
        </p:nvSpPr>
        <p:spPr>
          <a:xfrm>
            <a:off x="3429000" y="1627632"/>
            <a:ext cx="5486400" cy="274320"/>
          </a:xfrm>
          <a:prstGeom prst="rect">
            <a:avLst/>
          </a:prstGeom>
          <a:noFill/>
          <a:ln/>
        </p:spPr>
        <p:txBody>
          <a:bodyPr wrap="square" lIns="0" tIns="0" rIns="0" bIns="0" rtlCol="0" anchor="t"/>
          <a:lstStyle/>
          <a:p>
            <a:pPr algn="l" indent="0" marL="0">
              <a:buNone/>
            </a:pPr>
            <a:r>
              <a:rPr lang="en-US" sz="1200" b="1" dirty="0">
                <a:solidFill>
                  <a:schemeClr val="tx1"/>
                </a:solidFill>
              </a:rPr>
              <a:t>api-gateway global filters, in order</a:t>
            </a:r>
            <a:endParaRPr lang="en-US" sz="1200" dirty="0"/>
          </a:p>
        </p:txBody>
      </p:sp>
      <p:sp>
        <p:nvSpPr>
          <p:cNvPr id="10" name="box-167"/>
          <p:cNvSpPr txBox="1"/>
          <p:nvPr/>
        </p:nvSpPr>
        <p:spPr>
          <a:xfrm>
            <a:off x="3429000" y="1965960"/>
            <a:ext cx="1234440" cy="1234440"/>
          </a:xfrm>
          <a:prstGeom prst="roundRect">
            <a:avLst>
              <a:gd name="adj" fmla="val 5926"/>
            </a:avLst>
          </a:prstGeom>
          <a:solidFill>
            <a:schemeClr val="bg1"/>
          </a:solidFill>
          <a:ln w="12700">
            <a:solidFill>
              <a:schemeClr val="tx1">
                <a:alpha val="30000"/>
              </a:schemeClr>
            </a:solidFill>
            <a:prstDash val="solid"/>
          </a:ln>
        </p:spPr>
        <p:txBody>
          <a:bodyPr wrap="square" lIns="76200" tIns="50800" rIns="76200" bIns="50800" rtlCol="0" anchor="t"/>
          <a:lstStyle/>
          <a:p>
            <a:pPr algn="l" indent="0" marL="0">
              <a:buNone/>
            </a:pPr>
            <a:r>
              <a:rPr lang="en-US" sz="1000" dirty="0">
                <a:solidFill>
                  <a:schemeClr val="accent6"/>
                </a:solidFill>
              </a:rPr>
              <a:t>-100</a:t>
            </a:r>
            <a:endParaRPr lang="en-US" sz="1200" dirty="0"/>
          </a:p>
          <a:p>
            <a:pPr algn="l" indent="0" marL="0">
              <a:buNone/>
            </a:pPr>
            <a:r>
              <a:rPr lang="en-US" sz="1200" b="1" dirty="0">
                <a:solidFill>
                  <a:schemeClr val="tx1"/>
                </a:solidFill>
              </a:rPr>
              <a:t>HTTPS redirect</a:t>
            </a:r>
            <a:endParaRPr lang="en-US" sz="1200" dirty="0"/>
          </a:p>
          <a:p>
            <a:pPr algn="l" indent="0" marL="0">
              <a:buNone/>
            </a:pPr>
            <a:r>
              <a:rPr lang="en-US" sz="1050" dirty="0">
                <a:solidFill>
                  <a:schemeClr val="accent6"/>
                </a:solidFill>
              </a:rPr>
              <a:t>plain http answered with https</a:t>
            </a:r>
            <a:endParaRPr lang="en-US" sz="1200" dirty="0"/>
          </a:p>
        </p:txBody>
      </p:sp>
      <p:sp>
        <p:nvSpPr>
          <p:cNvPr id="11" name="arrow-168"/>
          <p:cNvSpPr/>
          <p:nvPr/>
        </p:nvSpPr>
        <p:spPr>
          <a:xfrm>
            <a:off x="4663440" y="2578608"/>
            <a:ext cx="109728" cy="0"/>
          </a:xfrm>
          <a:prstGeom prst="line">
            <a:avLst/>
          </a:prstGeom>
          <a:noFill/>
          <a:ln w="12700">
            <a:solidFill>
              <a:schemeClr val="accent6"/>
            </a:solidFill>
            <a:prstDash val="solid"/>
            <a:tailEnd type="triangle"/>
          </a:ln>
        </p:spPr>
        <p:txBody>
          <a:bodyPr/>
          <a:p/>
        </p:txBody>
      </p:sp>
      <p:sp>
        <p:nvSpPr>
          <p:cNvPr id="12" name="box-169"/>
          <p:cNvSpPr txBox="1"/>
          <p:nvPr/>
        </p:nvSpPr>
        <p:spPr>
          <a:xfrm>
            <a:off x="4773168" y="1965960"/>
            <a:ext cx="1234440" cy="1234440"/>
          </a:xfrm>
          <a:prstGeom prst="roundRect">
            <a:avLst>
              <a:gd name="adj" fmla="val 5926"/>
            </a:avLst>
          </a:prstGeom>
          <a:solidFill>
            <a:schemeClr val="bg1"/>
          </a:solidFill>
          <a:ln w="12700">
            <a:solidFill>
              <a:schemeClr val="tx1">
                <a:alpha val="30000"/>
              </a:schemeClr>
            </a:solidFill>
            <a:prstDash val="solid"/>
          </a:ln>
        </p:spPr>
        <p:txBody>
          <a:bodyPr wrap="square" lIns="76200" tIns="50800" rIns="76200" bIns="50800" rtlCol="0" anchor="t"/>
          <a:lstStyle/>
          <a:p>
            <a:pPr algn="l" indent="0" marL="0">
              <a:buNone/>
            </a:pPr>
            <a:r>
              <a:rPr lang="en-US" sz="1000" dirty="0">
                <a:solidFill>
                  <a:schemeClr val="accent6"/>
                </a:solidFill>
              </a:rPr>
              <a:t>-90</a:t>
            </a:r>
            <a:endParaRPr lang="en-US" sz="1200" dirty="0"/>
          </a:p>
          <a:p>
            <a:pPr algn="l" indent="0" marL="0">
              <a:buNone/>
            </a:pPr>
            <a:r>
              <a:rPr lang="en-US" sz="1200" b="1" dirty="0">
                <a:solidFill>
                  <a:schemeClr val="tx1"/>
                </a:solidFill>
              </a:rPr>
              <a:t>Correlation ID</a:t>
            </a:r>
            <a:endParaRPr lang="en-US" sz="1200" dirty="0"/>
          </a:p>
          <a:p>
            <a:pPr algn="l" indent="0" marL="0">
              <a:buNone/>
            </a:pPr>
            <a:r>
              <a:rPr lang="en-US" sz="1050" dirty="0">
                <a:solidFill>
                  <a:schemeClr val="accent6"/>
                </a:solidFill>
              </a:rPr>
              <a:t>reuse or mint X-Correlation-ID</a:t>
            </a:r>
            <a:endParaRPr lang="en-US" sz="1200" dirty="0"/>
          </a:p>
        </p:txBody>
      </p:sp>
      <p:sp>
        <p:nvSpPr>
          <p:cNvPr id="13" name="arrow-170"/>
          <p:cNvSpPr/>
          <p:nvPr/>
        </p:nvSpPr>
        <p:spPr>
          <a:xfrm>
            <a:off x="6007608" y="2578608"/>
            <a:ext cx="109728" cy="0"/>
          </a:xfrm>
          <a:prstGeom prst="line">
            <a:avLst/>
          </a:prstGeom>
          <a:noFill/>
          <a:ln w="12700">
            <a:solidFill>
              <a:schemeClr val="accent6"/>
            </a:solidFill>
            <a:prstDash val="solid"/>
            <a:tailEnd type="triangle"/>
          </a:ln>
        </p:spPr>
        <p:txBody>
          <a:bodyPr/>
          <a:p/>
        </p:txBody>
      </p:sp>
      <p:sp>
        <p:nvSpPr>
          <p:cNvPr id="14" name="box-171"/>
          <p:cNvSpPr txBox="1"/>
          <p:nvPr/>
        </p:nvSpPr>
        <p:spPr>
          <a:xfrm>
            <a:off x="6117336" y="1965960"/>
            <a:ext cx="1234440" cy="1234440"/>
          </a:xfrm>
          <a:prstGeom prst="roundRect">
            <a:avLst>
              <a:gd name="adj" fmla="val 5926"/>
            </a:avLst>
          </a:prstGeom>
          <a:solidFill>
            <a:schemeClr val="bg1"/>
          </a:solidFill>
          <a:ln w="12700">
            <a:solidFill>
              <a:schemeClr val="tx1">
                <a:alpha val="30000"/>
              </a:schemeClr>
            </a:solidFill>
            <a:prstDash val="solid"/>
          </a:ln>
        </p:spPr>
        <p:txBody>
          <a:bodyPr wrap="square" lIns="76200" tIns="50800" rIns="76200" bIns="50800" rtlCol="0" anchor="t"/>
          <a:lstStyle/>
          <a:p>
            <a:pPr algn="l" indent="0" marL="0">
              <a:buNone/>
            </a:pPr>
            <a:r>
              <a:rPr lang="en-US" sz="1000" dirty="0">
                <a:solidFill>
                  <a:schemeClr val="accent6"/>
                </a:solidFill>
              </a:rPr>
              <a:t>-80</a:t>
            </a:r>
            <a:endParaRPr lang="en-US" sz="1200" dirty="0"/>
          </a:p>
          <a:p>
            <a:pPr algn="l" indent="0" marL="0">
              <a:buNone/>
            </a:pPr>
            <a:r>
              <a:rPr lang="en-US" sz="1200" b="1" dirty="0">
                <a:solidFill>
                  <a:schemeClr val="tx1"/>
                </a:solidFill>
              </a:rPr>
              <a:t>WAF inspection</a:t>
            </a:r>
            <a:endParaRPr lang="en-US" sz="1200" dirty="0"/>
          </a:p>
          <a:p>
            <a:pPr algn="l" indent="0" marL="0">
              <a:buNone/>
            </a:pPr>
            <a:r>
              <a:rPr lang="en-US" sz="1050" dirty="0">
                <a:solidFill>
                  <a:schemeClr val="accent6"/>
                </a:solidFill>
              </a:rPr>
              <a:t>regex scan of path, query, headers</a:t>
            </a:r>
            <a:endParaRPr lang="en-US" sz="1200" dirty="0"/>
          </a:p>
        </p:txBody>
      </p:sp>
      <p:sp>
        <p:nvSpPr>
          <p:cNvPr id="15" name="arrow-172"/>
          <p:cNvSpPr/>
          <p:nvPr/>
        </p:nvSpPr>
        <p:spPr>
          <a:xfrm>
            <a:off x="7351776" y="2578608"/>
            <a:ext cx="109728" cy="0"/>
          </a:xfrm>
          <a:prstGeom prst="line">
            <a:avLst/>
          </a:prstGeom>
          <a:noFill/>
          <a:ln w="12700">
            <a:solidFill>
              <a:schemeClr val="accent6"/>
            </a:solidFill>
            <a:prstDash val="solid"/>
            <a:tailEnd type="triangle"/>
          </a:ln>
        </p:spPr>
        <p:txBody>
          <a:bodyPr/>
          <a:p/>
        </p:txBody>
      </p:sp>
      <p:sp>
        <p:nvSpPr>
          <p:cNvPr id="16" name="box-173"/>
          <p:cNvSpPr txBox="1"/>
          <p:nvPr/>
        </p:nvSpPr>
        <p:spPr>
          <a:xfrm>
            <a:off x="7461504" y="1965960"/>
            <a:ext cx="1234440" cy="1234440"/>
          </a:xfrm>
          <a:prstGeom prst="roundRect">
            <a:avLst>
              <a:gd name="adj" fmla="val 5926"/>
            </a:avLst>
          </a:prstGeom>
          <a:solidFill>
            <a:schemeClr val="bg1"/>
          </a:solidFill>
          <a:ln w="12700">
            <a:solidFill>
              <a:schemeClr val="tx1">
                <a:alpha val="30000"/>
              </a:schemeClr>
            </a:solidFill>
            <a:prstDash val="solid"/>
          </a:ln>
        </p:spPr>
        <p:txBody>
          <a:bodyPr wrap="square" lIns="76200" tIns="50800" rIns="76200" bIns="50800" rtlCol="0" anchor="t"/>
          <a:lstStyle/>
          <a:p>
            <a:pPr algn="l" indent="0" marL="0">
              <a:buNone/>
            </a:pPr>
            <a:r>
              <a:rPr lang="en-US" sz="1000" dirty="0">
                <a:solidFill>
                  <a:schemeClr val="accent6"/>
                </a:solidFill>
              </a:rPr>
              <a:t>-70</a:t>
            </a:r>
            <a:endParaRPr lang="en-US" sz="1200" dirty="0"/>
          </a:p>
          <a:p>
            <a:pPr algn="l" indent="0" marL="0">
              <a:buNone/>
            </a:pPr>
            <a:r>
              <a:rPr lang="en-US" sz="1200" b="1" dirty="0">
                <a:solidFill>
                  <a:schemeClr val="tx1"/>
                </a:solidFill>
              </a:rPr>
              <a:t>JWT introspection</a:t>
            </a:r>
            <a:endParaRPr lang="en-US" sz="1200" dirty="0"/>
          </a:p>
          <a:p>
            <a:pPr algn="l" indent="0" marL="0">
              <a:buNone/>
            </a:pPr>
            <a:r>
              <a:rPr lang="en-US" sz="1050" dirty="0">
                <a:solidFill>
                  <a:schemeClr val="accent6"/>
                </a:solidFill>
              </a:rPr>
              <a:t>auth-service, cached up to 30 s</a:t>
            </a:r>
            <a:endParaRPr lang="en-US" sz="1200" dirty="0"/>
          </a:p>
        </p:txBody>
      </p:sp>
      <p:sp>
        <p:nvSpPr>
          <p:cNvPr id="17" name="arrow-174"/>
          <p:cNvSpPr/>
          <p:nvPr/>
        </p:nvSpPr>
        <p:spPr>
          <a:xfrm>
            <a:off x="8695944" y="2578608"/>
            <a:ext cx="109728" cy="0"/>
          </a:xfrm>
          <a:prstGeom prst="line">
            <a:avLst/>
          </a:prstGeom>
          <a:noFill/>
          <a:ln w="12700">
            <a:solidFill>
              <a:schemeClr val="accent6"/>
            </a:solidFill>
            <a:prstDash val="solid"/>
            <a:tailEnd type="triangle"/>
          </a:ln>
        </p:spPr>
        <p:txBody>
          <a:bodyPr/>
          <a:p/>
        </p:txBody>
      </p:sp>
      <p:sp>
        <p:nvSpPr>
          <p:cNvPr id="18" name="box-175"/>
          <p:cNvSpPr txBox="1"/>
          <p:nvPr/>
        </p:nvSpPr>
        <p:spPr>
          <a:xfrm>
            <a:off x="8805672" y="1965960"/>
            <a:ext cx="1234440" cy="1234440"/>
          </a:xfrm>
          <a:prstGeom prst="roundRect">
            <a:avLst>
              <a:gd name="adj" fmla="val 5926"/>
            </a:avLst>
          </a:prstGeom>
          <a:solidFill>
            <a:schemeClr val="bg1"/>
          </a:solidFill>
          <a:ln w="12700">
            <a:solidFill>
              <a:schemeClr val="tx1">
                <a:alpha val="30000"/>
              </a:schemeClr>
            </a:solidFill>
            <a:prstDash val="solid"/>
          </a:ln>
        </p:spPr>
        <p:txBody>
          <a:bodyPr wrap="square" lIns="76200" tIns="50800" rIns="76200" bIns="50800" rtlCol="0" anchor="t"/>
          <a:lstStyle/>
          <a:p>
            <a:pPr algn="l" indent="0" marL="0">
              <a:buNone/>
            </a:pPr>
            <a:r>
              <a:rPr lang="en-US" sz="1000" dirty="0">
                <a:solidFill>
                  <a:schemeClr val="accent6"/>
                </a:solidFill>
              </a:rPr>
              <a:t>-60</a:t>
            </a:r>
            <a:endParaRPr lang="en-US" sz="1200" dirty="0"/>
          </a:p>
          <a:p>
            <a:pPr algn="l" indent="0" marL="0">
              <a:buNone/>
            </a:pPr>
            <a:r>
              <a:rPr lang="en-US" sz="1200" b="1" dirty="0">
                <a:solidFill>
                  <a:schemeClr val="tx1"/>
                </a:solidFill>
              </a:rPr>
              <a:t>OTP rate limit</a:t>
            </a:r>
            <a:endParaRPr lang="en-US" sz="1200" dirty="0"/>
          </a:p>
          <a:p>
            <a:pPr algn="l" indent="0" marL="0">
              <a:buNone/>
            </a:pPr>
            <a:r>
              <a:rPr lang="en-US" sz="1050" dirty="0">
                <a:solidFill>
                  <a:schemeClr val="accent6"/>
                </a:solidFill>
              </a:rPr>
              <a:t>per mobile number, in Redis</a:t>
            </a:r>
            <a:endParaRPr lang="en-US" sz="1200" dirty="0"/>
          </a:p>
        </p:txBody>
      </p:sp>
      <p:sp>
        <p:nvSpPr>
          <p:cNvPr id="19" name="arrow-176"/>
          <p:cNvSpPr/>
          <p:nvPr/>
        </p:nvSpPr>
        <p:spPr>
          <a:xfrm>
            <a:off x="10040112" y="2578608"/>
            <a:ext cx="109728" cy="0"/>
          </a:xfrm>
          <a:prstGeom prst="line">
            <a:avLst/>
          </a:prstGeom>
          <a:noFill/>
          <a:ln w="12700">
            <a:solidFill>
              <a:schemeClr val="accent6"/>
            </a:solidFill>
            <a:prstDash val="solid"/>
            <a:tailEnd type="triangle"/>
          </a:ln>
        </p:spPr>
        <p:txBody>
          <a:bodyPr/>
          <a:p/>
        </p:txBody>
      </p:sp>
      <p:sp>
        <p:nvSpPr>
          <p:cNvPr id="20" name="box-177"/>
          <p:cNvSpPr txBox="1"/>
          <p:nvPr/>
        </p:nvSpPr>
        <p:spPr>
          <a:xfrm>
            <a:off x="10149840" y="1965960"/>
            <a:ext cx="1234440" cy="1234440"/>
          </a:xfrm>
          <a:prstGeom prst="roundRect">
            <a:avLst>
              <a:gd name="adj" fmla="val 5926"/>
            </a:avLst>
          </a:prstGeom>
          <a:solidFill>
            <a:schemeClr val="bg1"/>
          </a:solidFill>
          <a:ln w="12700">
            <a:solidFill>
              <a:schemeClr val="tx1">
                <a:alpha val="30000"/>
              </a:schemeClr>
            </a:solidFill>
            <a:prstDash val="solid"/>
          </a:ln>
        </p:spPr>
        <p:txBody>
          <a:bodyPr wrap="square" lIns="76200" tIns="50800" rIns="76200" bIns="50800" rtlCol="0" anchor="t"/>
          <a:lstStyle/>
          <a:p>
            <a:pPr algn="l" indent="0" marL="0">
              <a:buNone/>
            </a:pPr>
            <a:r>
              <a:rPr lang="en-US" sz="1000" dirty="0">
                <a:solidFill>
                  <a:schemeClr val="accent6"/>
                </a:solidFill>
              </a:rPr>
              <a:t>-50</a:t>
            </a:r>
            <a:endParaRPr lang="en-US" sz="1200" dirty="0"/>
          </a:p>
          <a:p>
            <a:pPr algn="l" indent="0" marL="0">
              <a:buNone/>
            </a:pPr>
            <a:r>
              <a:rPr lang="en-US" sz="1200" b="1" dirty="0">
                <a:solidFill>
                  <a:schemeClr val="tx1"/>
                </a:solidFill>
              </a:rPr>
              <a:t>Rate limit</a:t>
            </a:r>
            <a:endParaRPr lang="en-US" sz="1200" dirty="0"/>
          </a:p>
          <a:p>
            <a:pPr algn="l" indent="0" marL="0">
              <a:buNone/>
            </a:pPr>
            <a:r>
              <a:rPr lang="en-US" sz="1050" dirty="0">
                <a:solidFill>
                  <a:schemeClr val="accent6"/>
                </a:solidFill>
              </a:rPr>
              <a:t>fixed window per user</a:t>
            </a:r>
            <a:endParaRPr lang="en-US" sz="1200" dirty="0"/>
          </a:p>
        </p:txBody>
      </p:sp>
      <p:sp>
        <p:nvSpPr>
          <p:cNvPr id="21" name="arrow-178"/>
          <p:cNvSpPr/>
          <p:nvPr/>
        </p:nvSpPr>
        <p:spPr>
          <a:xfrm>
            <a:off x="7443216" y="3337560"/>
            <a:ext cx="0" cy="365760"/>
          </a:xfrm>
          <a:prstGeom prst="line">
            <a:avLst/>
          </a:prstGeom>
          <a:noFill/>
          <a:ln w="25400">
            <a:solidFill>
              <a:schemeClr val="accent6"/>
            </a:solidFill>
            <a:prstDash val="solid"/>
            <a:tailEnd type="triangle"/>
          </a:ln>
        </p:spPr>
        <p:txBody>
          <a:bodyPr/>
          <a:p/>
        </p:txBody>
      </p:sp>
      <p:sp>
        <p:nvSpPr>
          <p:cNvPr id="22" name="panel-179"/>
          <p:cNvSpPr txBox="1"/>
          <p:nvPr/>
        </p:nvSpPr>
        <p:spPr>
          <a:xfrm>
            <a:off x="3246120" y="3703320"/>
            <a:ext cx="8394192" cy="1600200"/>
          </a:xfrm>
          <a:prstGeom prst="roundRect">
            <a:avLst>
              <a:gd name="adj" fmla="val 5714"/>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3" name="text-180"/>
          <p:cNvSpPr txBox="1"/>
          <p:nvPr/>
        </p:nvSpPr>
        <p:spPr>
          <a:xfrm>
            <a:off x="3429000" y="3776472"/>
            <a:ext cx="5486400" cy="274320"/>
          </a:xfrm>
          <a:prstGeom prst="rect">
            <a:avLst/>
          </a:prstGeom>
          <a:noFill/>
          <a:ln/>
        </p:spPr>
        <p:txBody>
          <a:bodyPr wrap="square" lIns="0" tIns="0" rIns="0" bIns="0" rtlCol="0" anchor="t"/>
          <a:lstStyle/>
          <a:p>
            <a:pPr algn="l" indent="0" marL="0">
              <a:buNone/>
            </a:pPr>
            <a:r>
              <a:rPr lang="en-US" sz="1200" b="1" dirty="0">
                <a:solidFill>
                  <a:schemeClr val="accent1"/>
                </a:solidFill>
              </a:rPr>
              <a:t>Target service servlet chain</a:t>
            </a:r>
            <a:endParaRPr lang="en-US" sz="1200" dirty="0"/>
          </a:p>
        </p:txBody>
      </p:sp>
      <p:sp>
        <p:nvSpPr>
          <p:cNvPr id="24" name="box-181"/>
          <p:cNvSpPr txBox="1"/>
          <p:nvPr/>
        </p:nvSpPr>
        <p:spPr>
          <a:xfrm>
            <a:off x="3429000" y="4114800"/>
            <a:ext cx="1892808" cy="1051560"/>
          </a:xfrm>
          <a:prstGeom prst="roundRect">
            <a:avLst>
              <a:gd name="adj" fmla="val 6957"/>
            </a:avLst>
          </a:prstGeom>
          <a:solidFill>
            <a:schemeClr val="bg1"/>
          </a:solidFill>
          <a:ln w="12700">
            <a:solidFill>
              <a:schemeClr val="accent1">
                <a:alpha val="40000"/>
              </a:schemeClr>
            </a:solidFill>
            <a:prstDash val="solid"/>
          </a:ln>
        </p:spPr>
        <p:txBody>
          <a:bodyPr wrap="square" lIns="76200" tIns="50800" rIns="76200" bIns="50800" rtlCol="0" anchor="t"/>
          <a:lstStyle/>
          <a:p>
            <a:pPr algn="l" indent="0" marL="0">
              <a:buNone/>
            </a:pPr>
            <a:r>
              <a:rPr lang="en-US" sz="1200" b="1" dirty="0">
                <a:solidFill>
                  <a:schemeClr val="tx1"/>
                </a:solidFill>
              </a:rPr>
              <a:t>CorrelationIdFilter</a:t>
            </a:r>
            <a:endParaRPr lang="en-US" sz="1200" dirty="0"/>
          </a:p>
          <a:p>
            <a:pPr algn="l" indent="0" marL="0">
              <a:buNone/>
            </a:pPr>
            <a:r>
              <a:rPr lang="en-US" sz="1050" dirty="0">
                <a:solidFill>
                  <a:schemeClr val="accent6"/>
                </a:solidFill>
              </a:rPr>
              <a:t>ID into the log MDC</a:t>
            </a:r>
            <a:endParaRPr lang="en-US" sz="1200" dirty="0"/>
          </a:p>
        </p:txBody>
      </p:sp>
      <p:sp>
        <p:nvSpPr>
          <p:cNvPr id="25" name="arrow-182"/>
          <p:cNvSpPr/>
          <p:nvPr/>
        </p:nvSpPr>
        <p:spPr>
          <a:xfrm>
            <a:off x="5321808" y="4636008"/>
            <a:ext cx="146304" cy="0"/>
          </a:xfrm>
          <a:prstGeom prst="line">
            <a:avLst/>
          </a:prstGeom>
          <a:noFill/>
          <a:ln w="12700">
            <a:solidFill>
              <a:schemeClr val="accent6"/>
            </a:solidFill>
            <a:prstDash val="solid"/>
            <a:tailEnd type="triangle"/>
          </a:ln>
        </p:spPr>
        <p:txBody>
          <a:bodyPr/>
          <a:p/>
        </p:txBody>
      </p:sp>
      <p:sp>
        <p:nvSpPr>
          <p:cNvPr id="26" name="box-183"/>
          <p:cNvSpPr txBox="1"/>
          <p:nvPr/>
        </p:nvSpPr>
        <p:spPr>
          <a:xfrm>
            <a:off x="5468112" y="4114800"/>
            <a:ext cx="1892808" cy="1051560"/>
          </a:xfrm>
          <a:prstGeom prst="roundRect">
            <a:avLst>
              <a:gd name="adj" fmla="val 6957"/>
            </a:avLst>
          </a:prstGeom>
          <a:solidFill>
            <a:schemeClr val="bg1"/>
          </a:solidFill>
          <a:ln w="12700">
            <a:solidFill>
              <a:schemeClr val="accent1">
                <a:alpha val="40000"/>
              </a:schemeClr>
            </a:solidFill>
            <a:prstDash val="solid"/>
          </a:ln>
        </p:spPr>
        <p:txBody>
          <a:bodyPr wrap="square" lIns="76200" tIns="50800" rIns="76200" bIns="50800" rtlCol="0" anchor="t"/>
          <a:lstStyle/>
          <a:p>
            <a:pPr algn="l" indent="0" marL="0">
              <a:buNone/>
            </a:pPr>
            <a:r>
              <a:rPr lang="en-US" sz="1200" b="1" dirty="0">
                <a:solidFill>
                  <a:schemeClr val="tx1"/>
                </a:solidFill>
              </a:rPr>
              <a:t>JwtValidationFilter</a:t>
            </a:r>
            <a:endParaRPr lang="en-US" sz="1200" dirty="0"/>
          </a:p>
          <a:p>
            <a:pPr algn="l" indent="0" marL="0">
              <a:buNone/>
            </a:pPr>
            <a:r>
              <a:rPr lang="en-US" sz="1050" dirty="0">
                <a:solidFill>
                  <a:schemeClr val="accent6"/>
                </a:solidFill>
              </a:rPr>
              <a:t>verify HS256 signature, roles become ROLE_*</a:t>
            </a:r>
            <a:endParaRPr lang="en-US" sz="1200" dirty="0"/>
          </a:p>
        </p:txBody>
      </p:sp>
      <p:sp>
        <p:nvSpPr>
          <p:cNvPr id="27" name="arrow-184"/>
          <p:cNvSpPr/>
          <p:nvPr/>
        </p:nvSpPr>
        <p:spPr>
          <a:xfrm>
            <a:off x="7360920" y="4636008"/>
            <a:ext cx="146304" cy="0"/>
          </a:xfrm>
          <a:prstGeom prst="line">
            <a:avLst/>
          </a:prstGeom>
          <a:noFill/>
          <a:ln w="12700">
            <a:solidFill>
              <a:schemeClr val="accent6"/>
            </a:solidFill>
            <a:prstDash val="solid"/>
            <a:tailEnd type="triangle"/>
          </a:ln>
        </p:spPr>
        <p:txBody>
          <a:bodyPr/>
          <a:p/>
        </p:txBody>
      </p:sp>
      <p:sp>
        <p:nvSpPr>
          <p:cNvPr id="28" name="box-185"/>
          <p:cNvSpPr txBox="1"/>
          <p:nvPr/>
        </p:nvSpPr>
        <p:spPr>
          <a:xfrm>
            <a:off x="7507224" y="4114800"/>
            <a:ext cx="1892808" cy="1051560"/>
          </a:xfrm>
          <a:prstGeom prst="roundRect">
            <a:avLst>
              <a:gd name="adj" fmla="val 6957"/>
            </a:avLst>
          </a:prstGeom>
          <a:solidFill>
            <a:schemeClr val="bg1"/>
          </a:solidFill>
          <a:ln w="12700">
            <a:solidFill>
              <a:schemeClr val="accent1">
                <a:alpha val="40000"/>
              </a:schemeClr>
            </a:solidFill>
            <a:prstDash val="solid"/>
          </a:ln>
        </p:spPr>
        <p:txBody>
          <a:bodyPr wrap="square" lIns="76200" tIns="50800" rIns="76200" bIns="50800" rtlCol="0" anchor="t"/>
          <a:lstStyle/>
          <a:p>
            <a:pPr algn="l" indent="0" marL="0">
              <a:buNone/>
            </a:pPr>
            <a:r>
              <a:rPr lang="en-US" sz="1200" b="1" dirty="0">
                <a:solidFill>
                  <a:schemeClr val="tx1"/>
                </a:solidFill>
              </a:rPr>
              <a:t>RbacEnforcementFilter</a:t>
            </a:r>
            <a:endParaRPr lang="en-US" sz="1200" dirty="0"/>
          </a:p>
          <a:p>
            <a:pPr algn="l" indent="0" marL="0">
              <a:buNone/>
            </a:pPr>
            <a:r>
              <a:rPr lang="en-US" sz="1050" dirty="0">
                <a:solidFill>
                  <a:schemeClr val="accent6"/>
                </a:solidFill>
              </a:rPr>
              <a:t>first matching rule; role required</a:t>
            </a:r>
            <a:endParaRPr lang="en-US" sz="1200" dirty="0"/>
          </a:p>
        </p:txBody>
      </p:sp>
      <p:sp>
        <p:nvSpPr>
          <p:cNvPr id="29" name="arrow-186"/>
          <p:cNvSpPr/>
          <p:nvPr/>
        </p:nvSpPr>
        <p:spPr>
          <a:xfrm>
            <a:off x="9400032" y="4636008"/>
            <a:ext cx="146304" cy="0"/>
          </a:xfrm>
          <a:prstGeom prst="line">
            <a:avLst/>
          </a:prstGeom>
          <a:noFill/>
          <a:ln w="12700">
            <a:solidFill>
              <a:schemeClr val="accent6"/>
            </a:solidFill>
            <a:prstDash val="solid"/>
            <a:tailEnd type="triangle"/>
          </a:ln>
        </p:spPr>
        <p:txBody>
          <a:bodyPr/>
          <a:p/>
        </p:txBody>
      </p:sp>
      <p:sp>
        <p:nvSpPr>
          <p:cNvPr id="30" name="box-187"/>
          <p:cNvSpPr txBox="1"/>
          <p:nvPr/>
        </p:nvSpPr>
        <p:spPr>
          <a:xfrm>
            <a:off x="9546336" y="4114800"/>
            <a:ext cx="1892808" cy="1051560"/>
          </a:xfrm>
          <a:prstGeom prst="roundRect">
            <a:avLst>
              <a:gd name="adj" fmla="val 6957"/>
            </a:avLst>
          </a:prstGeom>
          <a:solidFill>
            <a:schemeClr val="bg1"/>
          </a:solidFill>
          <a:ln w="12700">
            <a:solidFill>
              <a:schemeClr val="accent1">
                <a:alpha val="40000"/>
              </a:schemeClr>
            </a:solidFill>
            <a:prstDash val="solid"/>
          </a:ln>
        </p:spPr>
        <p:txBody>
          <a:bodyPr wrap="square" lIns="76200" tIns="50800" rIns="76200" bIns="50800" rtlCol="0" anchor="t"/>
          <a:lstStyle/>
          <a:p>
            <a:pPr algn="l" indent="0" marL="0">
              <a:buNone/>
            </a:pPr>
            <a:r>
              <a:rPr lang="en-US" sz="1200" b="1" dirty="0">
                <a:solidFill>
                  <a:schemeClr val="tx1"/>
                </a:solidFill>
              </a:rPr>
              <a:t>Ownership check</a:t>
            </a:r>
            <a:endParaRPr lang="en-US" sz="1200" dirty="0"/>
          </a:p>
          <a:p>
            <a:pPr algn="l" indent="0" marL="0">
              <a:buNone/>
            </a:pPr>
            <a:r>
              <a:rPr lang="en-US" sz="1050" dirty="0">
                <a:solidFill>
                  <a:schemeClr val="accent6"/>
                </a:solidFill>
              </a:rPr>
              <a:t>path id must be the caller's, unless staff</a:t>
            </a:r>
            <a:endParaRPr lang="en-US" sz="1200" dirty="0"/>
          </a:p>
        </p:txBody>
      </p:sp>
      <p:sp>
        <p:nvSpPr>
          <p:cNvPr id="31" name="chip-188"/>
          <p:cNvSpPr txBox="1"/>
          <p:nvPr/>
        </p:nvSpPr>
        <p:spPr>
          <a:xfrm>
            <a:off x="548640" y="4160520"/>
            <a:ext cx="2423160" cy="731520"/>
          </a:xfrm>
          <a:prstGeom prst="roundRect">
            <a:avLst>
              <a:gd name="adj" fmla="val 10000"/>
            </a:avLst>
          </a:prstGeom>
          <a:solidFill>
            <a:schemeClr val="accent1"/>
          </a:solidFill>
          <a:ln/>
        </p:spPr>
        <p:txBody>
          <a:bodyPr wrap="square" lIns="76200" tIns="38100" rIns="76200" bIns="38100" rtlCol="0" anchor="ctr"/>
          <a:lstStyle/>
          <a:p>
            <a:pPr algn="ctr" indent="0" marL="0">
              <a:buNone/>
            </a:pPr>
            <a:r>
              <a:rPr lang="en-US" sz="1200" b="1" dirty="0">
                <a:solidFill>
                  <a:schemeClr val="bg1"/>
                </a:solidFill>
              </a:rPr>
              <a:t>200 JSON + X-Correlation-ID</a:t>
            </a:r>
            <a:endParaRPr lang="en-US" sz="1200" dirty="0"/>
          </a:p>
        </p:txBody>
      </p:sp>
      <p:sp>
        <p:nvSpPr>
          <p:cNvPr id="32" name="arrow-189"/>
          <p:cNvSpPr/>
          <p:nvPr/>
        </p:nvSpPr>
        <p:spPr>
          <a:xfrm flipH="1">
            <a:off x="2971800" y="4526280"/>
            <a:ext cx="274320" cy="0"/>
          </a:xfrm>
          <a:prstGeom prst="line">
            <a:avLst/>
          </a:prstGeom>
          <a:noFill/>
          <a:ln w="25400">
            <a:solidFill>
              <a:schemeClr val="accent6"/>
            </a:solidFill>
            <a:prstDash val="solid"/>
            <a:tailEnd type="triangle"/>
          </a:ln>
        </p:spPr>
        <p:txBody>
          <a:bodyPr/>
          <a:p/>
        </p:txBody>
      </p:sp>
      <p:sp>
        <p:nvSpPr>
          <p:cNvPr id="33" name="icon-bg-timer-190"/>
          <p:cNvSpPr/>
          <p:nvPr/>
        </p:nvSpPr>
        <p:spPr>
          <a:xfrm>
            <a:off x="548640" y="5559552"/>
            <a:ext cx="438912" cy="438912"/>
          </a:xfrm>
          <a:prstGeom prst="ellipse">
            <a:avLst/>
          </a:prstGeom>
          <a:solidFill>
            <a:schemeClr val="tx1"/>
          </a:solidFill>
          <a:ln/>
        </p:spPr>
        <p:txBody>
          <a:bodyPr/>
          <a:p/>
        </p:txBody>
      </p:sp>
      <p:pic>
        <p:nvPicPr>
          <p:cNvPr id="34" name="icon-timer-191" descr="timer">    </p:cNvPr>
          <p:cNvPicPr>
            <a:picLocks noChangeAspect="1"/>
          </p:cNvPicPr>
          <p:nvPr/>
        </p:nvPicPr>
        <p:blipFill>
          <a:blip r:embed="rId1"/>
          <a:stretch>
            <a:fillRect/>
          </a:stretch>
        </p:blipFill>
        <p:spPr>
          <a:xfrm>
            <a:off x="653979" y="5664891"/>
            <a:ext cx="228234" cy="228234"/>
          </a:xfrm>
          <a:prstGeom prst="rect">
            <a:avLst/>
          </a:prstGeom>
        </p:spPr>
      </p:pic>
      <p:sp>
        <p:nvSpPr>
          <p:cNvPr id="35" name="text-192"/>
          <p:cNvSpPr txBox="1"/>
          <p:nvPr/>
        </p:nvSpPr>
        <p:spPr>
          <a:xfrm>
            <a:off x="1097280" y="5532120"/>
            <a:ext cx="4892040" cy="685800"/>
          </a:xfrm>
          <a:prstGeom prst="rect">
            <a:avLst/>
          </a:prstGeom>
          <a:noFill/>
          <a:ln/>
        </p:spPr>
        <p:txBody>
          <a:bodyPr wrap="square" lIns="0" tIns="0" rIns="0" bIns="0" rtlCol="0" anchor="t"/>
          <a:lstStyle/>
          <a:p>
            <a:pPr algn="l" indent="0" marL="0">
              <a:buNone/>
            </a:pPr>
            <a:r>
              <a:rPr lang="en-US" sz="1250" dirty="0">
                <a:solidFill>
                  <a:schemeClr val="tx1"/>
                </a:solidFill>
              </a:rPr>
              <a:t>Introspection results are reused for at most 30 s and never past the token's exp; an auth-service outage still denies</a:t>
            </a:r>
            <a:endParaRPr lang="en-US" sz="1250" dirty="0"/>
          </a:p>
        </p:txBody>
      </p:sp>
      <p:sp>
        <p:nvSpPr>
          <p:cNvPr id="36" name="icon-bg-shield-193"/>
          <p:cNvSpPr/>
          <p:nvPr/>
        </p:nvSpPr>
        <p:spPr>
          <a:xfrm>
            <a:off x="6185916" y="5559552"/>
            <a:ext cx="438912" cy="438912"/>
          </a:xfrm>
          <a:prstGeom prst="ellipse">
            <a:avLst/>
          </a:prstGeom>
          <a:solidFill>
            <a:schemeClr val="accent1"/>
          </a:solidFill>
          <a:ln/>
        </p:spPr>
        <p:txBody>
          <a:bodyPr/>
          <a:p/>
        </p:txBody>
      </p:sp>
      <p:pic>
        <p:nvPicPr>
          <p:cNvPr id="37" name="icon-shield-194" descr="shield">    </p:cNvPr>
          <p:cNvPicPr>
            <a:picLocks noChangeAspect="1"/>
          </p:cNvPicPr>
          <p:nvPr/>
        </p:nvPicPr>
        <p:blipFill>
          <a:blip r:embed="rId2"/>
          <a:stretch>
            <a:fillRect/>
          </a:stretch>
        </p:blipFill>
        <p:spPr>
          <a:xfrm>
            <a:off x="6291255" y="5664891"/>
            <a:ext cx="228234" cy="228234"/>
          </a:xfrm>
          <a:prstGeom prst="rect">
            <a:avLst/>
          </a:prstGeom>
        </p:spPr>
      </p:pic>
      <p:sp>
        <p:nvSpPr>
          <p:cNvPr id="38" name="text-195"/>
          <p:cNvSpPr txBox="1"/>
          <p:nvPr/>
        </p:nvSpPr>
        <p:spPr>
          <a:xfrm>
            <a:off x="6734556" y="5532120"/>
            <a:ext cx="4892040" cy="685800"/>
          </a:xfrm>
          <a:prstGeom prst="rect">
            <a:avLst/>
          </a:prstGeom>
          <a:noFill/>
          <a:ln/>
        </p:spPr>
        <p:txBody>
          <a:bodyPr wrap="square" lIns="0" tIns="0" rIns="0" bIns="0" rtlCol="0" anchor="t"/>
          <a:lstStyle/>
          <a:p>
            <a:pPr algn="l" indent="0" marL="0">
              <a:buNone/>
            </a:pPr>
            <a:r>
              <a:rPr lang="en-US" sz="1250" dirty="0">
                <a:solidFill>
                  <a:schemeClr val="tx1"/>
                </a:solidFill>
              </a:rPr>
              <a:t>Rules match the decoded path, case-insensitively; the firewall answers ; %2F // and /../ with 400 first</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731520" y="2697480"/>
            <a:ext cx="10515600" cy="1005840"/>
          </a:xfrm>
          <a:prstGeom prst="rect">
            <a:avLst/>
          </a:prstGeom>
          <a:noFill/>
          <a:ln/>
        </p:spPr>
        <p:txBody>
          <a:bodyPr wrap="square" lIns="0" tIns="0" rIns="0" bIns="0" rtlCol="0" anchor="t"/>
          <a:lstStyle/>
          <a:p>
            <a:pPr algn="l" indent="0" marL="0">
              <a:buNone/>
            </a:pPr>
            <a:r>
              <a:rPr lang="en-US" sz="4400" b="1" dirty="0">
                <a:solidFill>
                  <a:schemeClr val="bg1"/>
                </a:solidFill>
              </a:rPr>
              <a:t>From a tap on Book to an invoice</a:t>
            </a:r>
            <a:endParaRPr lang="en-US" sz="4400" dirty="0"/>
          </a:p>
        </p:txBody>
      </p:sp>
      <p:sp>
        <p:nvSpPr>
          <p:cNvPr id="3" name="Text 0"/>
          <p:cNvSpPr/>
          <p:nvPr>
            <p:ph idx="102" type="body" hasCustomPrompt="1"/>
          </p:nvPr>
        </p:nvSpPr>
        <p:spPr>
          <a:xfrm>
            <a:off x="731520" y="3749040"/>
            <a:ext cx="10515600" cy="640080"/>
          </a:xfrm>
          <a:prstGeom prst="rect">
            <a:avLst/>
          </a:prstGeom>
          <a:noFill/>
          <a:ln/>
        </p:spPr>
        <p:txBody>
          <a:bodyPr wrap="square" lIns="0" tIns="0" rIns="0" bIns="0" rtlCol="0" anchor="t"/>
          <a:lstStyle/>
          <a:p>
            <a:pPr indent="0" marL="0">
              <a:buNone/>
            </a:pPr>
            <a:r>
              <a:rPr lang="en-US" sz="2000" dirty="0">
                <a:solidFill>
                  <a:schemeClr val="bg2"/>
                </a:solidFill>
              </a:rPr>
              <a:t>Journey, dispatch, lifecycle, payment and events</a:t>
            </a:r>
            <a:endParaRPr lang="en-US" sz="2000" dirty="0"/>
          </a:p>
        </p:txBody>
      </p:sp>
      <p:sp>
        <p:nvSpPr>
          <p:cNvPr id="4" name="Text 0"/>
          <p:cNvSpPr/>
          <p:nvPr>
            <p:ph idx="100" type="body" hasCustomPrompt="1"/>
          </p:nvPr>
        </p:nvSpPr>
        <p:spPr>
          <a:xfrm>
            <a:off x="731520" y="2011680"/>
            <a:ext cx="3657600" cy="640080"/>
          </a:xfrm>
          <a:prstGeom prst="rect">
            <a:avLst/>
          </a:prstGeom>
          <a:noFill/>
          <a:ln/>
        </p:spPr>
        <p:txBody>
          <a:bodyPr wrap="square" lIns="0" tIns="0" rIns="0" bIns="0" rtlCol="0" anchor="b"/>
          <a:lstStyle/>
          <a:p>
            <a:pPr indent="0" marL="0">
              <a:buNone/>
            </a:pPr>
            <a:r>
              <a:rPr lang="en-US" sz="2800" b="1" dirty="0">
                <a:solidFill>
                  <a:schemeClr val="bg2"/>
                </a:solidFill>
              </a:rPr>
              <a:t>02</a:t>
            </a: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The customer journey end to end</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Ten steps, with two safety nets: agency fallback when nobody accepts, and complaints when a job goes wrong</a:t>
            </a:r>
            <a:endParaRPr lang="en-US" sz="1500" dirty="0"/>
          </a:p>
        </p:txBody>
      </p:sp>
      <p:sp>
        <p:nvSpPr>
          <p:cNvPr id="4" name="panel-196"/>
          <p:cNvSpPr txBox="1"/>
          <p:nvPr/>
        </p:nvSpPr>
        <p:spPr>
          <a:xfrm>
            <a:off x="548640" y="1691640"/>
            <a:ext cx="1874520" cy="1554480"/>
          </a:xfrm>
          <a:prstGeom prst="roundRect">
            <a:avLst>
              <a:gd name="adj" fmla="val 5882"/>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5" name="icon-bg-login-197"/>
          <p:cNvSpPr/>
          <p:nvPr/>
        </p:nvSpPr>
        <p:spPr>
          <a:xfrm>
            <a:off x="694944" y="1837944"/>
            <a:ext cx="457200" cy="457200"/>
          </a:xfrm>
          <a:prstGeom prst="ellipse">
            <a:avLst/>
          </a:prstGeom>
          <a:solidFill>
            <a:schemeClr val="accent1"/>
          </a:solidFill>
          <a:ln/>
        </p:spPr>
        <p:txBody>
          <a:bodyPr/>
          <a:p/>
        </p:txBody>
      </p:sp>
      <p:pic>
        <p:nvPicPr>
          <p:cNvPr id="6" name="icon-login-198" descr="login">    </p:cNvPr>
          <p:cNvPicPr>
            <a:picLocks noChangeAspect="1"/>
          </p:cNvPicPr>
          <p:nvPr/>
        </p:nvPicPr>
        <p:blipFill>
          <a:blip r:embed="rId1"/>
          <a:stretch>
            <a:fillRect/>
          </a:stretch>
        </p:blipFill>
        <p:spPr>
          <a:xfrm>
            <a:off x="804672" y="1947672"/>
            <a:ext cx="237744" cy="237744"/>
          </a:xfrm>
          <a:prstGeom prst="rect">
            <a:avLst/>
          </a:prstGeom>
        </p:spPr>
      </p:pic>
      <p:sp>
        <p:nvSpPr>
          <p:cNvPr id="7" name="text-199"/>
          <p:cNvSpPr txBox="1"/>
          <p:nvPr/>
        </p:nvSpPr>
        <p:spPr>
          <a:xfrm>
            <a:off x="1737360" y="1819656"/>
            <a:ext cx="548640" cy="274320"/>
          </a:xfrm>
          <a:prstGeom prst="rect">
            <a:avLst/>
          </a:prstGeom>
          <a:noFill/>
          <a:ln/>
        </p:spPr>
        <p:txBody>
          <a:bodyPr wrap="square" lIns="0" tIns="0" rIns="0" bIns="0" rtlCol="0" anchor="t"/>
          <a:lstStyle/>
          <a:p>
            <a:pPr algn="r" indent="0" marL="0">
              <a:buNone/>
            </a:pPr>
            <a:r>
              <a:rPr lang="en-US" sz="1200" b="1" dirty="0">
                <a:solidFill>
                  <a:schemeClr val="accent1"/>
                </a:solidFill>
              </a:rPr>
              <a:t>01</a:t>
            </a:r>
            <a:endParaRPr lang="en-US" sz="1200" dirty="0"/>
          </a:p>
        </p:txBody>
      </p:sp>
      <p:sp>
        <p:nvSpPr>
          <p:cNvPr id="8" name="card-text-200"/>
          <p:cNvSpPr txBox="1"/>
          <p:nvPr/>
        </p:nvSpPr>
        <p:spPr>
          <a:xfrm>
            <a:off x="694944" y="238658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Sign in</a:t>
            </a:r>
            <a:endParaRPr lang="en-US" sz="1400" dirty="0"/>
          </a:p>
          <a:p>
            <a:pPr indent="0" marL="0">
              <a:spcAft>
                <a:spcPts val="200"/>
              </a:spcAft>
              <a:buNone/>
            </a:pPr>
            <a:r>
              <a:rPr lang="en-US" sz="1150" dirty="0">
                <a:solidFill>
                  <a:schemeClr val="tx1"/>
                </a:solidFill>
              </a:rPr>
              <a:t>OTP, email and password, Google or Apple</a:t>
            </a:r>
            <a:endParaRPr lang="en-US" sz="1400" dirty="0"/>
          </a:p>
        </p:txBody>
      </p:sp>
      <p:sp>
        <p:nvSpPr>
          <p:cNvPr id="9" name="panel-201"/>
          <p:cNvSpPr txBox="1"/>
          <p:nvPr/>
        </p:nvSpPr>
        <p:spPr>
          <a:xfrm>
            <a:off x="2852928" y="1691640"/>
            <a:ext cx="1874520" cy="1554480"/>
          </a:xfrm>
          <a:prstGeom prst="roundRect">
            <a:avLst>
              <a:gd name="adj" fmla="val 5882"/>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0" name="icon-bg-search-202"/>
          <p:cNvSpPr/>
          <p:nvPr/>
        </p:nvSpPr>
        <p:spPr>
          <a:xfrm>
            <a:off x="2999232" y="1837944"/>
            <a:ext cx="457200" cy="457200"/>
          </a:xfrm>
          <a:prstGeom prst="ellipse">
            <a:avLst/>
          </a:prstGeom>
          <a:solidFill>
            <a:schemeClr val="accent1"/>
          </a:solidFill>
          <a:ln/>
        </p:spPr>
        <p:txBody>
          <a:bodyPr/>
          <a:p/>
        </p:txBody>
      </p:sp>
      <p:pic>
        <p:nvPicPr>
          <p:cNvPr id="11" name="icon-search-203" descr="search">    </p:cNvPr>
          <p:cNvPicPr>
            <a:picLocks noChangeAspect="1"/>
          </p:cNvPicPr>
          <p:nvPr/>
        </p:nvPicPr>
        <p:blipFill>
          <a:blip r:embed="rId2"/>
          <a:stretch>
            <a:fillRect/>
          </a:stretch>
        </p:blipFill>
        <p:spPr>
          <a:xfrm>
            <a:off x="3108960" y="1947672"/>
            <a:ext cx="237744" cy="237744"/>
          </a:xfrm>
          <a:prstGeom prst="rect">
            <a:avLst/>
          </a:prstGeom>
        </p:spPr>
      </p:pic>
      <p:sp>
        <p:nvSpPr>
          <p:cNvPr id="12" name="text-204"/>
          <p:cNvSpPr txBox="1"/>
          <p:nvPr/>
        </p:nvSpPr>
        <p:spPr>
          <a:xfrm>
            <a:off x="4041648" y="1819656"/>
            <a:ext cx="548640" cy="274320"/>
          </a:xfrm>
          <a:prstGeom prst="rect">
            <a:avLst/>
          </a:prstGeom>
          <a:noFill/>
          <a:ln/>
        </p:spPr>
        <p:txBody>
          <a:bodyPr wrap="square" lIns="0" tIns="0" rIns="0" bIns="0" rtlCol="0" anchor="t"/>
          <a:lstStyle/>
          <a:p>
            <a:pPr algn="r" indent="0" marL="0">
              <a:buNone/>
            </a:pPr>
            <a:r>
              <a:rPr lang="en-US" sz="1200" b="1" dirty="0">
                <a:solidFill>
                  <a:schemeClr val="accent1"/>
                </a:solidFill>
              </a:rPr>
              <a:t>02</a:t>
            </a:r>
            <a:endParaRPr lang="en-US" sz="1200" dirty="0"/>
          </a:p>
        </p:txBody>
      </p:sp>
      <p:sp>
        <p:nvSpPr>
          <p:cNvPr id="13" name="card-text-205"/>
          <p:cNvSpPr txBox="1"/>
          <p:nvPr/>
        </p:nvSpPr>
        <p:spPr>
          <a:xfrm>
            <a:off x="2999232" y="238658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Browse</a:t>
            </a:r>
            <a:endParaRPr lang="en-US" sz="1400" dirty="0"/>
          </a:p>
          <a:p>
            <a:pPr indent="0" marL="0">
              <a:spcAft>
                <a:spcPts val="200"/>
              </a:spcAft>
              <a:buNone/>
            </a:pPr>
            <a:r>
              <a:rPr lang="en-US" sz="1150" dirty="0">
                <a:solidFill>
                  <a:schemeClr val="tx1"/>
                </a:solidFill>
              </a:rPr>
              <a:t>Service categories from the catalog</a:t>
            </a:r>
            <a:endParaRPr lang="en-US" sz="1400" dirty="0"/>
          </a:p>
        </p:txBody>
      </p:sp>
      <p:sp>
        <p:nvSpPr>
          <p:cNvPr id="14" name="panel-206"/>
          <p:cNvSpPr txBox="1"/>
          <p:nvPr/>
        </p:nvSpPr>
        <p:spPr>
          <a:xfrm>
            <a:off x="5157216" y="1691640"/>
            <a:ext cx="1874520" cy="1554480"/>
          </a:xfrm>
          <a:prstGeom prst="roundRect">
            <a:avLst>
              <a:gd name="adj" fmla="val 5882"/>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5" name="icon-bg-receipt-207"/>
          <p:cNvSpPr/>
          <p:nvPr/>
        </p:nvSpPr>
        <p:spPr>
          <a:xfrm>
            <a:off x="5303520" y="1837944"/>
            <a:ext cx="457200" cy="457200"/>
          </a:xfrm>
          <a:prstGeom prst="ellipse">
            <a:avLst/>
          </a:prstGeom>
          <a:solidFill>
            <a:schemeClr val="accent1"/>
          </a:solidFill>
          <a:ln/>
        </p:spPr>
        <p:txBody>
          <a:bodyPr/>
          <a:p/>
        </p:txBody>
      </p:sp>
      <p:pic>
        <p:nvPicPr>
          <p:cNvPr id="16" name="icon-receipt-208" descr="receipt">    </p:cNvPr>
          <p:cNvPicPr>
            <a:picLocks noChangeAspect="1"/>
          </p:cNvPicPr>
          <p:nvPr/>
        </p:nvPicPr>
        <p:blipFill>
          <a:blip r:embed="rId3"/>
          <a:stretch>
            <a:fillRect/>
          </a:stretch>
        </p:blipFill>
        <p:spPr>
          <a:xfrm>
            <a:off x="5413248" y="1947672"/>
            <a:ext cx="237744" cy="237744"/>
          </a:xfrm>
          <a:prstGeom prst="rect">
            <a:avLst/>
          </a:prstGeom>
        </p:spPr>
      </p:pic>
      <p:sp>
        <p:nvSpPr>
          <p:cNvPr id="17" name="text-209"/>
          <p:cNvSpPr txBox="1"/>
          <p:nvPr/>
        </p:nvSpPr>
        <p:spPr>
          <a:xfrm>
            <a:off x="6345936" y="1819656"/>
            <a:ext cx="548640" cy="274320"/>
          </a:xfrm>
          <a:prstGeom prst="rect">
            <a:avLst/>
          </a:prstGeom>
          <a:noFill/>
          <a:ln/>
        </p:spPr>
        <p:txBody>
          <a:bodyPr wrap="square" lIns="0" tIns="0" rIns="0" bIns="0" rtlCol="0" anchor="t"/>
          <a:lstStyle/>
          <a:p>
            <a:pPr algn="r" indent="0" marL="0">
              <a:buNone/>
            </a:pPr>
            <a:r>
              <a:rPr lang="en-US" sz="1200" b="1" dirty="0">
                <a:solidFill>
                  <a:schemeClr val="accent1"/>
                </a:solidFill>
              </a:rPr>
              <a:t>03</a:t>
            </a:r>
            <a:endParaRPr lang="en-US" sz="1200" dirty="0"/>
          </a:p>
        </p:txBody>
      </p:sp>
      <p:sp>
        <p:nvSpPr>
          <p:cNvPr id="18" name="card-text-210"/>
          <p:cNvSpPr txBox="1"/>
          <p:nvPr/>
        </p:nvSpPr>
        <p:spPr>
          <a:xfrm>
            <a:off x="5303520" y="238658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Estimate</a:t>
            </a:r>
            <a:endParaRPr lang="en-US" sz="1400" dirty="0"/>
          </a:p>
          <a:p>
            <a:pPr indent="0" marL="0">
              <a:spcAft>
                <a:spcPts val="200"/>
              </a:spcAft>
              <a:buNone/>
            </a:pPr>
            <a:r>
              <a:rPr lang="en-US" sz="1150" dirty="0">
                <a:solidFill>
                  <a:schemeClr val="tx1"/>
                </a:solidFill>
              </a:rPr>
              <a:t>pricing-engine quote, optional coupon</a:t>
            </a:r>
            <a:endParaRPr lang="en-US" sz="1400" dirty="0"/>
          </a:p>
        </p:txBody>
      </p:sp>
      <p:sp>
        <p:nvSpPr>
          <p:cNvPr id="19" name="panel-211"/>
          <p:cNvSpPr txBox="1"/>
          <p:nvPr/>
        </p:nvSpPr>
        <p:spPr>
          <a:xfrm>
            <a:off x="7461504" y="1691640"/>
            <a:ext cx="1874520" cy="1554480"/>
          </a:xfrm>
          <a:prstGeom prst="roundRect">
            <a:avLst>
              <a:gd name="adj" fmla="val 5882"/>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0" name="icon-bg-calendar-212"/>
          <p:cNvSpPr/>
          <p:nvPr/>
        </p:nvSpPr>
        <p:spPr>
          <a:xfrm>
            <a:off x="7607808" y="1837944"/>
            <a:ext cx="457200" cy="457200"/>
          </a:xfrm>
          <a:prstGeom prst="ellipse">
            <a:avLst/>
          </a:prstGeom>
          <a:solidFill>
            <a:schemeClr val="accent1"/>
          </a:solidFill>
          <a:ln/>
        </p:spPr>
        <p:txBody>
          <a:bodyPr/>
          <a:p/>
        </p:txBody>
      </p:sp>
      <p:pic>
        <p:nvPicPr>
          <p:cNvPr id="21" name="icon-calendar-213" descr="calendar">    </p:cNvPr>
          <p:cNvPicPr>
            <a:picLocks noChangeAspect="1"/>
          </p:cNvPicPr>
          <p:nvPr/>
        </p:nvPicPr>
        <p:blipFill>
          <a:blip r:embed="rId4"/>
          <a:stretch>
            <a:fillRect/>
          </a:stretch>
        </p:blipFill>
        <p:spPr>
          <a:xfrm>
            <a:off x="7717536" y="1947672"/>
            <a:ext cx="237744" cy="237744"/>
          </a:xfrm>
          <a:prstGeom prst="rect">
            <a:avLst/>
          </a:prstGeom>
        </p:spPr>
      </p:pic>
      <p:sp>
        <p:nvSpPr>
          <p:cNvPr id="22" name="text-214"/>
          <p:cNvSpPr txBox="1"/>
          <p:nvPr/>
        </p:nvSpPr>
        <p:spPr>
          <a:xfrm>
            <a:off x="8650224" y="1819656"/>
            <a:ext cx="548640" cy="274320"/>
          </a:xfrm>
          <a:prstGeom prst="rect">
            <a:avLst/>
          </a:prstGeom>
          <a:noFill/>
          <a:ln/>
        </p:spPr>
        <p:txBody>
          <a:bodyPr wrap="square" lIns="0" tIns="0" rIns="0" bIns="0" rtlCol="0" anchor="t"/>
          <a:lstStyle/>
          <a:p>
            <a:pPr algn="r" indent="0" marL="0">
              <a:buNone/>
            </a:pPr>
            <a:r>
              <a:rPr lang="en-US" sz="1200" b="1" dirty="0">
                <a:solidFill>
                  <a:schemeClr val="accent1"/>
                </a:solidFill>
              </a:rPr>
              <a:t>04</a:t>
            </a:r>
            <a:endParaRPr lang="en-US" sz="1200" dirty="0"/>
          </a:p>
        </p:txBody>
      </p:sp>
      <p:sp>
        <p:nvSpPr>
          <p:cNvPr id="23" name="card-text-215"/>
          <p:cNvSpPr txBox="1"/>
          <p:nvPr/>
        </p:nvSpPr>
        <p:spPr>
          <a:xfrm>
            <a:off x="7607808" y="238658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Book</a:t>
            </a:r>
            <a:endParaRPr lang="en-US" sz="1400" dirty="0"/>
          </a:p>
          <a:p>
            <a:pPr indent="0" marL="0">
              <a:spcAft>
                <a:spcPts val="200"/>
              </a:spcAft>
              <a:buNone/>
            </a:pPr>
            <a:r>
              <a:rPr lang="en-US" sz="1150" dirty="0">
                <a:solidFill>
                  <a:schemeClr val="tx1"/>
                </a:solidFill>
              </a:rPr>
              <a:t>Scheduled slot or emergency, then confirm</a:t>
            </a:r>
            <a:endParaRPr lang="en-US" sz="1400" dirty="0"/>
          </a:p>
        </p:txBody>
      </p:sp>
      <p:sp>
        <p:nvSpPr>
          <p:cNvPr id="24" name="panel-216"/>
          <p:cNvSpPr txBox="1"/>
          <p:nvPr/>
        </p:nvSpPr>
        <p:spPr>
          <a:xfrm>
            <a:off x="9765792" y="1691640"/>
            <a:ext cx="1874520" cy="1554480"/>
          </a:xfrm>
          <a:prstGeom prst="roundRect">
            <a:avLst>
              <a:gd name="adj" fmla="val 5882"/>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5" name="icon-bg-radio-217"/>
          <p:cNvSpPr/>
          <p:nvPr/>
        </p:nvSpPr>
        <p:spPr>
          <a:xfrm>
            <a:off x="9912096" y="1837944"/>
            <a:ext cx="457200" cy="457200"/>
          </a:xfrm>
          <a:prstGeom prst="ellipse">
            <a:avLst/>
          </a:prstGeom>
          <a:solidFill>
            <a:schemeClr val="accent1"/>
          </a:solidFill>
          <a:ln/>
        </p:spPr>
        <p:txBody>
          <a:bodyPr/>
          <a:p/>
        </p:txBody>
      </p:sp>
      <p:pic>
        <p:nvPicPr>
          <p:cNvPr id="26" name="icon-radio-218" descr="radio">    </p:cNvPr>
          <p:cNvPicPr>
            <a:picLocks noChangeAspect="1"/>
          </p:cNvPicPr>
          <p:nvPr/>
        </p:nvPicPr>
        <p:blipFill>
          <a:blip r:embed="rId5"/>
          <a:stretch>
            <a:fillRect/>
          </a:stretch>
        </p:blipFill>
        <p:spPr>
          <a:xfrm>
            <a:off x="10021824" y="1947672"/>
            <a:ext cx="237744" cy="237744"/>
          </a:xfrm>
          <a:prstGeom prst="rect">
            <a:avLst/>
          </a:prstGeom>
        </p:spPr>
      </p:pic>
      <p:sp>
        <p:nvSpPr>
          <p:cNvPr id="27" name="text-219"/>
          <p:cNvSpPr txBox="1"/>
          <p:nvPr/>
        </p:nvSpPr>
        <p:spPr>
          <a:xfrm>
            <a:off x="10954512" y="1819656"/>
            <a:ext cx="548640" cy="274320"/>
          </a:xfrm>
          <a:prstGeom prst="rect">
            <a:avLst/>
          </a:prstGeom>
          <a:noFill/>
          <a:ln/>
        </p:spPr>
        <p:txBody>
          <a:bodyPr wrap="square" lIns="0" tIns="0" rIns="0" bIns="0" rtlCol="0" anchor="t"/>
          <a:lstStyle/>
          <a:p>
            <a:pPr algn="r" indent="0" marL="0">
              <a:buNone/>
            </a:pPr>
            <a:r>
              <a:rPr lang="en-US" sz="1200" b="1" dirty="0">
                <a:solidFill>
                  <a:schemeClr val="accent1"/>
                </a:solidFill>
              </a:rPr>
              <a:t>05</a:t>
            </a:r>
            <a:endParaRPr lang="en-US" sz="1200" dirty="0"/>
          </a:p>
        </p:txBody>
      </p:sp>
      <p:sp>
        <p:nvSpPr>
          <p:cNvPr id="28" name="card-text-220"/>
          <p:cNvSpPr txBox="1"/>
          <p:nvPr/>
        </p:nvSpPr>
        <p:spPr>
          <a:xfrm>
            <a:off x="9912096" y="238658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Match</a:t>
            </a:r>
            <a:endParaRPr lang="en-US" sz="1400" dirty="0"/>
          </a:p>
          <a:p>
            <a:pPr indent="0" marL="0">
              <a:spcAft>
                <a:spcPts val="200"/>
              </a:spcAft>
              <a:buNone/>
            </a:pPr>
            <a:r>
              <a:rPr lang="en-US" sz="1150" dirty="0">
                <a:solidFill>
                  <a:schemeClr val="tx1"/>
                </a:solidFill>
              </a:rPr>
              <a:t>dispatch-engine offers the job in waves</a:t>
            </a:r>
            <a:endParaRPr lang="en-US" sz="1400" dirty="0"/>
          </a:p>
        </p:txBody>
      </p:sp>
      <p:sp>
        <p:nvSpPr>
          <p:cNvPr id="29" name="panel-221"/>
          <p:cNvSpPr txBox="1"/>
          <p:nvPr/>
        </p:nvSpPr>
        <p:spPr>
          <a:xfrm>
            <a:off x="9765792" y="3703320"/>
            <a:ext cx="1874520" cy="1554480"/>
          </a:xfrm>
          <a:prstGeom prst="roundRect">
            <a:avLst>
              <a:gd name="adj" fmla="val 5882"/>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30" name="icon-bg-check-222"/>
          <p:cNvSpPr/>
          <p:nvPr/>
        </p:nvSpPr>
        <p:spPr>
          <a:xfrm>
            <a:off x="9912096" y="3849624"/>
            <a:ext cx="457200" cy="457200"/>
          </a:xfrm>
          <a:prstGeom prst="ellipse">
            <a:avLst/>
          </a:prstGeom>
          <a:solidFill>
            <a:schemeClr val="accent3"/>
          </a:solidFill>
          <a:ln/>
        </p:spPr>
        <p:txBody>
          <a:bodyPr/>
          <a:p/>
        </p:txBody>
      </p:sp>
      <p:pic>
        <p:nvPicPr>
          <p:cNvPr id="31" name="icon-check-223" descr="check">    </p:cNvPr>
          <p:cNvPicPr>
            <a:picLocks noChangeAspect="1"/>
          </p:cNvPicPr>
          <p:nvPr/>
        </p:nvPicPr>
        <p:blipFill>
          <a:blip r:embed="rId6"/>
          <a:stretch>
            <a:fillRect/>
          </a:stretch>
        </p:blipFill>
        <p:spPr>
          <a:xfrm>
            <a:off x="10021824" y="3959352"/>
            <a:ext cx="237744" cy="237744"/>
          </a:xfrm>
          <a:prstGeom prst="rect">
            <a:avLst/>
          </a:prstGeom>
        </p:spPr>
      </p:pic>
      <p:sp>
        <p:nvSpPr>
          <p:cNvPr id="32" name="text-224"/>
          <p:cNvSpPr txBox="1"/>
          <p:nvPr/>
        </p:nvSpPr>
        <p:spPr>
          <a:xfrm>
            <a:off x="10954512" y="3831336"/>
            <a:ext cx="548640" cy="274320"/>
          </a:xfrm>
          <a:prstGeom prst="rect">
            <a:avLst/>
          </a:prstGeom>
          <a:noFill/>
          <a:ln/>
        </p:spPr>
        <p:txBody>
          <a:bodyPr wrap="square" lIns="0" tIns="0" rIns="0" bIns="0" rtlCol="0" anchor="t"/>
          <a:lstStyle/>
          <a:p>
            <a:pPr algn="r" indent="0" marL="0">
              <a:buNone/>
            </a:pPr>
            <a:r>
              <a:rPr lang="en-US" sz="1200" b="1" dirty="0">
                <a:solidFill>
                  <a:schemeClr val="accent3"/>
                </a:solidFill>
              </a:rPr>
              <a:t>06</a:t>
            </a:r>
            <a:endParaRPr lang="en-US" sz="1200" dirty="0"/>
          </a:p>
        </p:txBody>
      </p:sp>
      <p:sp>
        <p:nvSpPr>
          <p:cNvPr id="33" name="card-text-225"/>
          <p:cNvSpPr txBox="1"/>
          <p:nvPr/>
        </p:nvSpPr>
        <p:spPr>
          <a:xfrm>
            <a:off x="9912096" y="439826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Accepted</a:t>
            </a:r>
            <a:endParaRPr lang="en-US" sz="1400" dirty="0"/>
          </a:p>
          <a:p>
            <a:pPr indent="0" marL="0">
              <a:spcAft>
                <a:spcPts val="200"/>
              </a:spcAft>
              <a:buNone/>
            </a:pPr>
            <a:r>
              <a:rPr lang="en-US" sz="1150" dirty="0">
                <a:solidFill>
                  <a:schemeClr val="tx1"/>
                </a:solidFill>
              </a:rPr>
              <a:t>Chat channel opens for both sides</a:t>
            </a:r>
            <a:endParaRPr lang="en-US" sz="1400" dirty="0"/>
          </a:p>
        </p:txBody>
      </p:sp>
      <p:sp>
        <p:nvSpPr>
          <p:cNvPr id="34" name="panel-226"/>
          <p:cNvSpPr txBox="1"/>
          <p:nvPr/>
        </p:nvSpPr>
        <p:spPr>
          <a:xfrm>
            <a:off x="7461504" y="3703320"/>
            <a:ext cx="1874520" cy="1554480"/>
          </a:xfrm>
          <a:prstGeom prst="roundRect">
            <a:avLst>
              <a:gd name="adj" fmla="val 5882"/>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35" name="icon-bg-pin-227"/>
          <p:cNvSpPr/>
          <p:nvPr/>
        </p:nvSpPr>
        <p:spPr>
          <a:xfrm>
            <a:off x="7607808" y="3849624"/>
            <a:ext cx="457200" cy="457200"/>
          </a:xfrm>
          <a:prstGeom prst="ellipse">
            <a:avLst/>
          </a:prstGeom>
          <a:solidFill>
            <a:schemeClr val="accent3"/>
          </a:solidFill>
          <a:ln/>
        </p:spPr>
        <p:txBody>
          <a:bodyPr/>
          <a:p/>
        </p:txBody>
      </p:sp>
      <p:pic>
        <p:nvPicPr>
          <p:cNvPr id="36" name="icon-pin-228" descr="pin">    </p:cNvPr>
          <p:cNvPicPr>
            <a:picLocks noChangeAspect="1"/>
          </p:cNvPicPr>
          <p:nvPr/>
        </p:nvPicPr>
        <p:blipFill>
          <a:blip r:embed="rId7"/>
          <a:stretch>
            <a:fillRect/>
          </a:stretch>
        </p:blipFill>
        <p:spPr>
          <a:xfrm>
            <a:off x="7717536" y="3959352"/>
            <a:ext cx="237744" cy="237744"/>
          </a:xfrm>
          <a:prstGeom prst="rect">
            <a:avLst/>
          </a:prstGeom>
        </p:spPr>
      </p:pic>
      <p:sp>
        <p:nvSpPr>
          <p:cNvPr id="37" name="text-229"/>
          <p:cNvSpPr txBox="1"/>
          <p:nvPr/>
        </p:nvSpPr>
        <p:spPr>
          <a:xfrm>
            <a:off x="8650224" y="3831336"/>
            <a:ext cx="548640" cy="274320"/>
          </a:xfrm>
          <a:prstGeom prst="rect">
            <a:avLst/>
          </a:prstGeom>
          <a:noFill/>
          <a:ln/>
        </p:spPr>
        <p:txBody>
          <a:bodyPr wrap="square" lIns="0" tIns="0" rIns="0" bIns="0" rtlCol="0" anchor="t"/>
          <a:lstStyle/>
          <a:p>
            <a:pPr algn="r" indent="0" marL="0">
              <a:buNone/>
            </a:pPr>
            <a:r>
              <a:rPr lang="en-US" sz="1200" b="1" dirty="0">
                <a:solidFill>
                  <a:schemeClr val="accent3"/>
                </a:solidFill>
              </a:rPr>
              <a:t>07</a:t>
            </a:r>
            <a:endParaRPr lang="en-US" sz="1200" dirty="0"/>
          </a:p>
        </p:txBody>
      </p:sp>
      <p:sp>
        <p:nvSpPr>
          <p:cNvPr id="38" name="card-text-230"/>
          <p:cNvSpPr txBox="1"/>
          <p:nvPr/>
        </p:nvSpPr>
        <p:spPr>
          <a:xfrm>
            <a:off x="7607808" y="439826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Track</a:t>
            </a:r>
            <a:endParaRPr lang="en-US" sz="1400" dirty="0"/>
          </a:p>
          <a:p>
            <a:pPr indent="0" marL="0">
              <a:spcAft>
                <a:spcPts val="200"/>
              </a:spcAft>
              <a:buNone/>
            </a:pPr>
            <a:r>
              <a:rPr lang="en-US" sz="1150" dirty="0">
                <a:solidFill>
                  <a:schemeClr val="tx1"/>
                </a:solidFill>
              </a:rPr>
              <a:t>Live provider location and ETA</a:t>
            </a:r>
            <a:endParaRPr lang="en-US" sz="1400" dirty="0"/>
          </a:p>
        </p:txBody>
      </p:sp>
      <p:sp>
        <p:nvSpPr>
          <p:cNvPr id="39" name="panel-231"/>
          <p:cNvSpPr txBox="1"/>
          <p:nvPr/>
        </p:nvSpPr>
        <p:spPr>
          <a:xfrm>
            <a:off x="5157216" y="3703320"/>
            <a:ext cx="1874520" cy="1554480"/>
          </a:xfrm>
          <a:prstGeom prst="roundRect">
            <a:avLst>
              <a:gd name="adj" fmla="val 5882"/>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40" name="icon-bg-camera-232"/>
          <p:cNvSpPr/>
          <p:nvPr/>
        </p:nvSpPr>
        <p:spPr>
          <a:xfrm>
            <a:off x="5303520" y="3849624"/>
            <a:ext cx="457200" cy="457200"/>
          </a:xfrm>
          <a:prstGeom prst="ellipse">
            <a:avLst/>
          </a:prstGeom>
          <a:solidFill>
            <a:schemeClr val="accent3"/>
          </a:solidFill>
          <a:ln/>
        </p:spPr>
        <p:txBody>
          <a:bodyPr/>
          <a:p/>
        </p:txBody>
      </p:sp>
      <p:pic>
        <p:nvPicPr>
          <p:cNvPr id="41" name="icon-camera-233" descr="camera">    </p:cNvPr>
          <p:cNvPicPr>
            <a:picLocks noChangeAspect="1"/>
          </p:cNvPicPr>
          <p:nvPr/>
        </p:nvPicPr>
        <p:blipFill>
          <a:blip r:embed="rId8"/>
          <a:stretch>
            <a:fillRect/>
          </a:stretch>
        </p:blipFill>
        <p:spPr>
          <a:xfrm>
            <a:off x="5413248" y="3959352"/>
            <a:ext cx="237744" cy="237744"/>
          </a:xfrm>
          <a:prstGeom prst="rect">
            <a:avLst/>
          </a:prstGeom>
        </p:spPr>
      </p:pic>
      <p:sp>
        <p:nvSpPr>
          <p:cNvPr id="42" name="text-234"/>
          <p:cNvSpPr txBox="1"/>
          <p:nvPr/>
        </p:nvSpPr>
        <p:spPr>
          <a:xfrm>
            <a:off x="6345936" y="3831336"/>
            <a:ext cx="548640" cy="274320"/>
          </a:xfrm>
          <a:prstGeom prst="rect">
            <a:avLst/>
          </a:prstGeom>
          <a:noFill/>
          <a:ln/>
        </p:spPr>
        <p:txBody>
          <a:bodyPr wrap="square" lIns="0" tIns="0" rIns="0" bIns="0" rtlCol="0" anchor="t"/>
          <a:lstStyle/>
          <a:p>
            <a:pPr algn="r" indent="0" marL="0">
              <a:buNone/>
            </a:pPr>
            <a:r>
              <a:rPr lang="en-US" sz="1200" b="1" dirty="0">
                <a:solidFill>
                  <a:schemeClr val="accent3"/>
                </a:solidFill>
              </a:rPr>
              <a:t>08</a:t>
            </a:r>
            <a:endParaRPr lang="en-US" sz="1200" dirty="0"/>
          </a:p>
        </p:txBody>
      </p:sp>
      <p:sp>
        <p:nvSpPr>
          <p:cNvPr id="43" name="card-text-235"/>
          <p:cNvSpPr txBox="1"/>
          <p:nvPr/>
        </p:nvSpPr>
        <p:spPr>
          <a:xfrm>
            <a:off x="5303520" y="439826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Work</a:t>
            </a:r>
            <a:endParaRPr lang="en-US" sz="1400" dirty="0"/>
          </a:p>
          <a:p>
            <a:pPr indent="0" marL="0">
              <a:spcAft>
                <a:spcPts val="200"/>
              </a:spcAft>
              <a:buNone/>
            </a:pPr>
            <a:r>
              <a:rPr lang="en-US" sz="1150" dirty="0">
                <a:solidFill>
                  <a:schemeClr val="tx1"/>
                </a:solidFill>
              </a:rPr>
              <a:t>Before and after photos, parts quote approval</a:t>
            </a:r>
            <a:endParaRPr lang="en-US" sz="1400" dirty="0"/>
          </a:p>
        </p:txBody>
      </p:sp>
      <p:sp>
        <p:nvSpPr>
          <p:cNvPr id="44" name="panel-236"/>
          <p:cNvSpPr txBox="1"/>
          <p:nvPr/>
        </p:nvSpPr>
        <p:spPr>
          <a:xfrm>
            <a:off x="2852928" y="3703320"/>
            <a:ext cx="1874520" cy="1554480"/>
          </a:xfrm>
          <a:prstGeom prst="roundRect">
            <a:avLst>
              <a:gd name="adj" fmla="val 5882"/>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45" name="icon-bg-card-237"/>
          <p:cNvSpPr/>
          <p:nvPr/>
        </p:nvSpPr>
        <p:spPr>
          <a:xfrm>
            <a:off x="2999232" y="3849624"/>
            <a:ext cx="457200" cy="457200"/>
          </a:xfrm>
          <a:prstGeom prst="ellipse">
            <a:avLst/>
          </a:prstGeom>
          <a:solidFill>
            <a:schemeClr val="accent3"/>
          </a:solidFill>
          <a:ln/>
        </p:spPr>
        <p:txBody>
          <a:bodyPr/>
          <a:p/>
        </p:txBody>
      </p:sp>
      <p:pic>
        <p:nvPicPr>
          <p:cNvPr id="46" name="icon-card-238" descr="card">    </p:cNvPr>
          <p:cNvPicPr>
            <a:picLocks noChangeAspect="1"/>
          </p:cNvPicPr>
          <p:nvPr/>
        </p:nvPicPr>
        <p:blipFill>
          <a:blip r:embed="rId9"/>
          <a:stretch>
            <a:fillRect/>
          </a:stretch>
        </p:blipFill>
        <p:spPr>
          <a:xfrm>
            <a:off x="3108960" y="3959352"/>
            <a:ext cx="237744" cy="237744"/>
          </a:xfrm>
          <a:prstGeom prst="rect">
            <a:avLst/>
          </a:prstGeom>
        </p:spPr>
      </p:pic>
      <p:sp>
        <p:nvSpPr>
          <p:cNvPr id="47" name="text-239"/>
          <p:cNvSpPr txBox="1"/>
          <p:nvPr/>
        </p:nvSpPr>
        <p:spPr>
          <a:xfrm>
            <a:off x="4041648" y="3831336"/>
            <a:ext cx="548640" cy="274320"/>
          </a:xfrm>
          <a:prstGeom prst="rect">
            <a:avLst/>
          </a:prstGeom>
          <a:noFill/>
          <a:ln/>
        </p:spPr>
        <p:txBody>
          <a:bodyPr wrap="square" lIns="0" tIns="0" rIns="0" bIns="0" rtlCol="0" anchor="t"/>
          <a:lstStyle/>
          <a:p>
            <a:pPr algn="r" indent="0" marL="0">
              <a:buNone/>
            </a:pPr>
            <a:r>
              <a:rPr lang="en-US" sz="1200" b="1" dirty="0">
                <a:solidFill>
                  <a:schemeClr val="accent3"/>
                </a:solidFill>
              </a:rPr>
              <a:t>09</a:t>
            </a:r>
            <a:endParaRPr lang="en-US" sz="1200" dirty="0"/>
          </a:p>
        </p:txBody>
      </p:sp>
      <p:sp>
        <p:nvSpPr>
          <p:cNvPr id="48" name="card-text-240"/>
          <p:cNvSpPr txBox="1"/>
          <p:nvPr/>
        </p:nvSpPr>
        <p:spPr>
          <a:xfrm>
            <a:off x="2999232" y="439826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Pay</a:t>
            </a:r>
            <a:endParaRPr lang="en-US" sz="1400" dirty="0"/>
          </a:p>
          <a:p>
            <a:pPr indent="0" marL="0">
              <a:spcAft>
                <a:spcPts val="200"/>
              </a:spcAft>
              <a:buNone/>
            </a:pPr>
            <a:r>
              <a:rPr lang="en-US" sz="1150" dirty="0">
                <a:solidFill>
                  <a:schemeClr val="tx1"/>
                </a:solidFill>
              </a:rPr>
              <a:t>Razorpay Checkout; amount set server-side</a:t>
            </a:r>
            <a:endParaRPr lang="en-US" sz="1400" dirty="0"/>
          </a:p>
        </p:txBody>
      </p:sp>
      <p:sp>
        <p:nvSpPr>
          <p:cNvPr id="49" name="panel-241"/>
          <p:cNvSpPr txBox="1"/>
          <p:nvPr/>
        </p:nvSpPr>
        <p:spPr>
          <a:xfrm>
            <a:off x="548640" y="3703320"/>
            <a:ext cx="1874520" cy="1554480"/>
          </a:xfrm>
          <a:prstGeom prst="roundRect">
            <a:avLst>
              <a:gd name="adj" fmla="val 5882"/>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50" name="icon-bg-star-242"/>
          <p:cNvSpPr/>
          <p:nvPr/>
        </p:nvSpPr>
        <p:spPr>
          <a:xfrm>
            <a:off x="694944" y="3849624"/>
            <a:ext cx="457200" cy="457200"/>
          </a:xfrm>
          <a:prstGeom prst="ellipse">
            <a:avLst/>
          </a:prstGeom>
          <a:solidFill>
            <a:schemeClr val="accent3"/>
          </a:solidFill>
          <a:ln/>
        </p:spPr>
        <p:txBody>
          <a:bodyPr/>
          <a:p/>
        </p:txBody>
      </p:sp>
      <p:pic>
        <p:nvPicPr>
          <p:cNvPr id="51" name="icon-star-243" descr="star">    </p:cNvPr>
          <p:cNvPicPr>
            <a:picLocks noChangeAspect="1"/>
          </p:cNvPicPr>
          <p:nvPr/>
        </p:nvPicPr>
        <p:blipFill>
          <a:blip r:embed="rId10"/>
          <a:stretch>
            <a:fillRect/>
          </a:stretch>
        </p:blipFill>
        <p:spPr>
          <a:xfrm>
            <a:off x="804672" y="3959352"/>
            <a:ext cx="237744" cy="237744"/>
          </a:xfrm>
          <a:prstGeom prst="rect">
            <a:avLst/>
          </a:prstGeom>
        </p:spPr>
      </p:pic>
      <p:sp>
        <p:nvSpPr>
          <p:cNvPr id="52" name="text-244"/>
          <p:cNvSpPr txBox="1"/>
          <p:nvPr/>
        </p:nvSpPr>
        <p:spPr>
          <a:xfrm>
            <a:off x="1737360" y="3831336"/>
            <a:ext cx="548640" cy="274320"/>
          </a:xfrm>
          <a:prstGeom prst="rect">
            <a:avLst/>
          </a:prstGeom>
          <a:noFill/>
          <a:ln/>
        </p:spPr>
        <p:txBody>
          <a:bodyPr wrap="square" lIns="0" tIns="0" rIns="0" bIns="0" rtlCol="0" anchor="t"/>
          <a:lstStyle/>
          <a:p>
            <a:pPr algn="r" indent="0" marL="0">
              <a:buNone/>
            </a:pPr>
            <a:r>
              <a:rPr lang="en-US" sz="1200" b="1" dirty="0">
                <a:solidFill>
                  <a:schemeClr val="accent3"/>
                </a:solidFill>
              </a:rPr>
              <a:t>10</a:t>
            </a:r>
            <a:endParaRPr lang="en-US" sz="1200" dirty="0"/>
          </a:p>
        </p:txBody>
      </p:sp>
      <p:sp>
        <p:nvSpPr>
          <p:cNvPr id="53" name="card-text-245"/>
          <p:cNvSpPr txBox="1"/>
          <p:nvPr/>
        </p:nvSpPr>
        <p:spPr>
          <a:xfrm>
            <a:off x="694944" y="4398264"/>
            <a:ext cx="1581912" cy="768096"/>
          </a:xfrm>
          <a:prstGeom prst="rect">
            <a:avLst/>
          </a:prstGeom>
          <a:noFill/>
          <a:ln/>
        </p:spPr>
        <p:txBody>
          <a:bodyPr wrap="square" lIns="0" tIns="0" rIns="0" bIns="0" rtlCol="0" anchor="t"/>
          <a:lstStyle/>
          <a:p>
            <a:pPr indent="0" marL="0">
              <a:spcAft>
                <a:spcPts val="200"/>
              </a:spcAft>
              <a:buNone/>
            </a:pPr>
            <a:r>
              <a:rPr lang="en-US" sz="1400" b="1" dirty="0">
                <a:solidFill>
                  <a:schemeClr val="tx1"/>
                </a:solidFill>
              </a:rPr>
              <a:t>Invoice and review</a:t>
            </a:r>
            <a:endParaRPr lang="en-US" sz="1400" dirty="0"/>
          </a:p>
          <a:p>
            <a:pPr indent="0" marL="0">
              <a:spcAft>
                <a:spcPts val="200"/>
              </a:spcAft>
              <a:buNone/>
            </a:pPr>
            <a:r>
              <a:rPr lang="en-US" sz="1150" dirty="0">
                <a:solidFill>
                  <a:schemeClr val="tx1"/>
                </a:solidFill>
              </a:rPr>
              <a:t>PDF invoice, 7-day review prompt</a:t>
            </a:r>
            <a:endParaRPr lang="en-US" sz="1400" dirty="0"/>
          </a:p>
        </p:txBody>
      </p:sp>
      <p:sp>
        <p:nvSpPr>
          <p:cNvPr id="54" name="arrow-246"/>
          <p:cNvSpPr/>
          <p:nvPr/>
        </p:nvSpPr>
        <p:spPr>
          <a:xfrm>
            <a:off x="2423160" y="2423160"/>
            <a:ext cx="429768" cy="0"/>
          </a:xfrm>
          <a:prstGeom prst="line">
            <a:avLst/>
          </a:prstGeom>
          <a:noFill/>
          <a:ln w="19050">
            <a:solidFill>
              <a:schemeClr val="accent6"/>
            </a:solidFill>
            <a:prstDash val="solid"/>
            <a:tailEnd type="triangle"/>
          </a:ln>
        </p:spPr>
        <p:txBody>
          <a:bodyPr/>
          <a:p/>
        </p:txBody>
      </p:sp>
      <p:sp>
        <p:nvSpPr>
          <p:cNvPr id="55" name="arrow-247"/>
          <p:cNvSpPr/>
          <p:nvPr/>
        </p:nvSpPr>
        <p:spPr>
          <a:xfrm>
            <a:off x="4727448" y="2423160"/>
            <a:ext cx="429768" cy="0"/>
          </a:xfrm>
          <a:prstGeom prst="line">
            <a:avLst/>
          </a:prstGeom>
          <a:noFill/>
          <a:ln w="19050">
            <a:solidFill>
              <a:schemeClr val="accent6"/>
            </a:solidFill>
            <a:prstDash val="solid"/>
            <a:tailEnd type="triangle"/>
          </a:ln>
        </p:spPr>
        <p:txBody>
          <a:bodyPr/>
          <a:p/>
        </p:txBody>
      </p:sp>
      <p:sp>
        <p:nvSpPr>
          <p:cNvPr id="56" name="arrow-248"/>
          <p:cNvSpPr/>
          <p:nvPr/>
        </p:nvSpPr>
        <p:spPr>
          <a:xfrm>
            <a:off x="7031736" y="2423160"/>
            <a:ext cx="429768" cy="0"/>
          </a:xfrm>
          <a:prstGeom prst="line">
            <a:avLst/>
          </a:prstGeom>
          <a:noFill/>
          <a:ln w="19050">
            <a:solidFill>
              <a:schemeClr val="accent6"/>
            </a:solidFill>
            <a:prstDash val="solid"/>
            <a:tailEnd type="triangle"/>
          </a:ln>
        </p:spPr>
        <p:txBody>
          <a:bodyPr/>
          <a:p/>
        </p:txBody>
      </p:sp>
      <p:sp>
        <p:nvSpPr>
          <p:cNvPr id="57" name="arrow-249"/>
          <p:cNvSpPr/>
          <p:nvPr/>
        </p:nvSpPr>
        <p:spPr>
          <a:xfrm>
            <a:off x="9336024" y="2423160"/>
            <a:ext cx="429768" cy="0"/>
          </a:xfrm>
          <a:prstGeom prst="line">
            <a:avLst/>
          </a:prstGeom>
          <a:noFill/>
          <a:ln w="19050">
            <a:solidFill>
              <a:schemeClr val="accent6"/>
            </a:solidFill>
            <a:prstDash val="solid"/>
            <a:tailEnd type="triangle"/>
          </a:ln>
        </p:spPr>
        <p:txBody>
          <a:bodyPr/>
          <a:p/>
        </p:txBody>
      </p:sp>
      <p:sp>
        <p:nvSpPr>
          <p:cNvPr id="58" name="arrow-250"/>
          <p:cNvSpPr/>
          <p:nvPr/>
        </p:nvSpPr>
        <p:spPr>
          <a:xfrm flipH="1">
            <a:off x="9336024" y="4434840"/>
            <a:ext cx="429768" cy="0"/>
          </a:xfrm>
          <a:prstGeom prst="line">
            <a:avLst/>
          </a:prstGeom>
          <a:noFill/>
          <a:ln w="19050">
            <a:solidFill>
              <a:schemeClr val="accent6"/>
            </a:solidFill>
            <a:prstDash val="solid"/>
            <a:tailEnd type="triangle"/>
          </a:ln>
        </p:spPr>
        <p:txBody>
          <a:bodyPr/>
          <a:p/>
        </p:txBody>
      </p:sp>
      <p:sp>
        <p:nvSpPr>
          <p:cNvPr id="59" name="arrow-251"/>
          <p:cNvSpPr/>
          <p:nvPr/>
        </p:nvSpPr>
        <p:spPr>
          <a:xfrm flipH="1">
            <a:off x="7031736" y="4434840"/>
            <a:ext cx="429768" cy="0"/>
          </a:xfrm>
          <a:prstGeom prst="line">
            <a:avLst/>
          </a:prstGeom>
          <a:noFill/>
          <a:ln w="19050">
            <a:solidFill>
              <a:schemeClr val="accent6"/>
            </a:solidFill>
            <a:prstDash val="solid"/>
            <a:tailEnd type="triangle"/>
          </a:ln>
        </p:spPr>
        <p:txBody>
          <a:bodyPr/>
          <a:p/>
        </p:txBody>
      </p:sp>
      <p:sp>
        <p:nvSpPr>
          <p:cNvPr id="60" name="arrow-252"/>
          <p:cNvSpPr/>
          <p:nvPr/>
        </p:nvSpPr>
        <p:spPr>
          <a:xfrm flipH="1">
            <a:off x="4727448" y="4434840"/>
            <a:ext cx="429768" cy="0"/>
          </a:xfrm>
          <a:prstGeom prst="line">
            <a:avLst/>
          </a:prstGeom>
          <a:noFill/>
          <a:ln w="19050">
            <a:solidFill>
              <a:schemeClr val="accent6"/>
            </a:solidFill>
            <a:prstDash val="solid"/>
            <a:tailEnd type="triangle"/>
          </a:ln>
        </p:spPr>
        <p:txBody>
          <a:bodyPr/>
          <a:p/>
        </p:txBody>
      </p:sp>
      <p:sp>
        <p:nvSpPr>
          <p:cNvPr id="61" name="arrow-253"/>
          <p:cNvSpPr/>
          <p:nvPr/>
        </p:nvSpPr>
        <p:spPr>
          <a:xfrm flipH="1">
            <a:off x="2423160" y="4434840"/>
            <a:ext cx="429768" cy="0"/>
          </a:xfrm>
          <a:prstGeom prst="line">
            <a:avLst/>
          </a:prstGeom>
          <a:noFill/>
          <a:ln w="19050">
            <a:solidFill>
              <a:schemeClr val="accent6"/>
            </a:solidFill>
            <a:prstDash val="solid"/>
            <a:tailEnd type="triangle"/>
          </a:ln>
        </p:spPr>
        <p:txBody>
          <a:bodyPr/>
          <a:p/>
        </p:txBody>
      </p:sp>
      <p:sp>
        <p:nvSpPr>
          <p:cNvPr id="62" name="arrow-254"/>
          <p:cNvSpPr/>
          <p:nvPr/>
        </p:nvSpPr>
        <p:spPr>
          <a:xfrm>
            <a:off x="10703052" y="3246120"/>
            <a:ext cx="0" cy="457200"/>
          </a:xfrm>
          <a:prstGeom prst="line">
            <a:avLst/>
          </a:prstGeom>
          <a:noFill/>
          <a:ln w="19050">
            <a:solidFill>
              <a:schemeClr val="accent6"/>
            </a:solidFill>
            <a:prstDash val="solid"/>
            <a:tailEnd type="triangle"/>
          </a:ln>
        </p:spPr>
        <p:txBody>
          <a:bodyPr/>
          <a:p/>
        </p:txBody>
      </p:sp>
      <p:sp>
        <p:nvSpPr>
          <p:cNvPr id="63" name="box-255"/>
          <p:cNvSpPr txBox="1"/>
          <p:nvPr/>
        </p:nvSpPr>
        <p:spPr>
          <a:xfrm>
            <a:off x="548640" y="5440680"/>
            <a:ext cx="5440680" cy="731520"/>
          </a:xfrm>
          <a:prstGeom prst="roundRect">
            <a:avLst>
              <a:gd name="adj" fmla="val 10000"/>
            </a:avLst>
          </a:prstGeom>
          <a:solidFill>
            <a:schemeClr val="accent2">
              <a:alpha val="12000"/>
            </a:schemeClr>
          </a:solidFill>
          <a:ln/>
        </p:spPr>
        <p:txBody>
          <a:bodyPr wrap="square" lIns="127000" tIns="50800" rIns="127000" bIns="50800" rtlCol="0" anchor="ctr"/>
          <a:lstStyle/>
          <a:p>
            <a:pPr algn="l" indent="0" marL="0">
              <a:buNone/>
            </a:pPr>
            <a:r>
              <a:rPr lang="en-US" sz="1250" b="1" dirty="0">
                <a:solidFill>
                  <a:schemeClr val="tx1"/>
                </a:solidFill>
              </a:rPr>
              <a:t>Nobody accepts in 5 min  </a:t>
            </a:r>
            <a:pPr algn="l" indent="0" marL="0">
              <a:buNone/>
            </a:pPr>
            <a:r>
              <a:rPr lang="en-US" sz="1250" dirty="0">
                <a:solidFill>
                  <a:schemeClr val="tx1"/>
                </a:solidFill>
              </a:rPr>
              <a:t>→ covering agencies' queue (AWAITING_ASSIGNMENT), otherwise SEARCHING_FAILED</a:t>
            </a:r>
            <a:endParaRPr lang="en-US" sz="1250" dirty="0"/>
          </a:p>
        </p:txBody>
      </p:sp>
      <p:sp>
        <p:nvSpPr>
          <p:cNvPr id="64" name="box-256"/>
          <p:cNvSpPr txBox="1"/>
          <p:nvPr/>
        </p:nvSpPr>
        <p:spPr>
          <a:xfrm>
            <a:off x="6199632" y="5440680"/>
            <a:ext cx="5440680" cy="731520"/>
          </a:xfrm>
          <a:prstGeom prst="roundRect">
            <a:avLst>
              <a:gd name="adj" fmla="val 10000"/>
            </a:avLst>
          </a:prstGeom>
          <a:solidFill>
            <a:schemeClr val="accent4">
              <a:alpha val="12000"/>
            </a:schemeClr>
          </a:solidFill>
          <a:ln/>
        </p:spPr>
        <p:txBody>
          <a:bodyPr wrap="square" lIns="127000" tIns="50800" rIns="127000" bIns="50800" rtlCol="0" anchor="ctr"/>
          <a:lstStyle/>
          <a:p>
            <a:pPr algn="l" indent="0" marL="0">
              <a:buNone/>
            </a:pPr>
            <a:r>
              <a:rPr lang="en-US" sz="1250" b="1" dirty="0">
                <a:solidFill>
                  <a:schemeClr val="tx1"/>
                </a:solidFill>
              </a:rPr>
              <a:t>Unhappy with the job  </a:t>
            </a:r>
            <a:pPr algn="l" indent="0" marL="0">
              <a:buNone/>
            </a:pPr>
            <a:r>
              <a:rPr lang="en-US" sz="1250" dirty="0">
                <a:solidFill>
                  <a:schemeClr val="tx1"/>
                </a:solidFill>
              </a:rPr>
              <a:t>→ complaint with an SLA clock, escalation, refund decision</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Booking to acceptance, step by step</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The booking change and its event commit together; dispatch picks the event up from Kafka</a:t>
            </a:r>
            <a:endParaRPr lang="en-US" sz="1500" dirty="0"/>
          </a:p>
        </p:txBody>
      </p:sp>
      <p:sp>
        <p:nvSpPr>
          <p:cNvPr id="4" name="chip-257"/>
          <p:cNvSpPr txBox="1"/>
          <p:nvPr/>
        </p:nvSpPr>
        <p:spPr>
          <a:xfrm>
            <a:off x="562356" y="1508760"/>
            <a:ext cx="1298448" cy="457200"/>
          </a:xfrm>
          <a:prstGeom prst="roundRect">
            <a:avLst>
              <a:gd name="adj" fmla="val 16000"/>
            </a:avLst>
          </a:prstGeom>
          <a:solidFill>
            <a:schemeClr val="accent1"/>
          </a:solidFill>
          <a:ln/>
        </p:spPr>
        <p:txBody>
          <a:bodyPr wrap="square" lIns="76200" tIns="38100" rIns="76200" bIns="38100" rtlCol="0" anchor="ctr"/>
          <a:lstStyle/>
          <a:p>
            <a:pPr algn="ctr" indent="0" marL="0">
              <a:buNone/>
            </a:pPr>
            <a:r>
              <a:rPr lang="en-US" sz="1050" b="1" dirty="0">
                <a:solidFill>
                  <a:schemeClr val="bg1"/>
                </a:solidFill>
              </a:rPr>
              <a:t>customer-app</a:t>
            </a:r>
            <a:endParaRPr lang="en-US" sz="1050" dirty="0"/>
          </a:p>
        </p:txBody>
      </p:sp>
      <p:sp>
        <p:nvSpPr>
          <p:cNvPr id="5" name="arrow-258"/>
          <p:cNvSpPr/>
          <p:nvPr/>
        </p:nvSpPr>
        <p:spPr>
          <a:xfrm>
            <a:off x="1211580" y="1965960"/>
            <a:ext cx="0" cy="4297680"/>
          </a:xfrm>
          <a:prstGeom prst="line">
            <a:avLst/>
          </a:prstGeom>
          <a:noFill/>
          <a:ln w="12700">
            <a:solidFill>
              <a:schemeClr val="accent6"/>
            </a:solidFill>
            <a:prstDash val="dash"/>
          </a:ln>
        </p:spPr>
        <p:txBody>
          <a:bodyPr/>
          <a:p/>
        </p:txBody>
      </p:sp>
      <p:sp>
        <p:nvSpPr>
          <p:cNvPr id="6" name="chip-259"/>
          <p:cNvSpPr txBox="1"/>
          <p:nvPr/>
        </p:nvSpPr>
        <p:spPr>
          <a:xfrm>
            <a:off x="1957730" y="1508760"/>
            <a:ext cx="1298448" cy="457200"/>
          </a:xfrm>
          <a:prstGeom prst="roundRect">
            <a:avLst>
              <a:gd name="adj" fmla="val 16000"/>
            </a:avLst>
          </a:prstGeom>
          <a:solidFill>
            <a:schemeClr val="accent1"/>
          </a:solidFill>
          <a:ln/>
        </p:spPr>
        <p:txBody>
          <a:bodyPr wrap="square" lIns="76200" tIns="38100" rIns="76200" bIns="38100" rtlCol="0" anchor="ctr"/>
          <a:lstStyle/>
          <a:p>
            <a:pPr algn="ctr" indent="0" marL="0">
              <a:buNone/>
            </a:pPr>
            <a:r>
              <a:rPr lang="en-US" sz="1050" b="1" dirty="0">
                <a:solidFill>
                  <a:schemeClr val="bg1"/>
                </a:solidFill>
              </a:rPr>
              <a:t>booking-service</a:t>
            </a:r>
            <a:endParaRPr lang="en-US" sz="1050" dirty="0"/>
          </a:p>
        </p:txBody>
      </p:sp>
      <p:sp>
        <p:nvSpPr>
          <p:cNvPr id="7" name="arrow-260"/>
          <p:cNvSpPr/>
          <p:nvPr/>
        </p:nvSpPr>
        <p:spPr>
          <a:xfrm>
            <a:off x="2606954" y="1965960"/>
            <a:ext cx="0" cy="4297680"/>
          </a:xfrm>
          <a:prstGeom prst="line">
            <a:avLst/>
          </a:prstGeom>
          <a:noFill/>
          <a:ln w="12700">
            <a:solidFill>
              <a:schemeClr val="accent6"/>
            </a:solidFill>
            <a:prstDash val="dash"/>
          </a:ln>
        </p:spPr>
        <p:txBody>
          <a:bodyPr/>
          <a:p/>
        </p:txBody>
      </p:sp>
      <p:sp>
        <p:nvSpPr>
          <p:cNvPr id="8" name="chip-261"/>
          <p:cNvSpPr txBox="1"/>
          <p:nvPr/>
        </p:nvSpPr>
        <p:spPr>
          <a:xfrm>
            <a:off x="3353105" y="1508760"/>
            <a:ext cx="1298448" cy="457200"/>
          </a:xfrm>
          <a:prstGeom prst="roundRect">
            <a:avLst>
              <a:gd name="adj" fmla="val 16000"/>
            </a:avLst>
          </a:prstGeom>
          <a:solidFill>
            <a:schemeClr val="accent5"/>
          </a:solidFill>
          <a:ln/>
        </p:spPr>
        <p:txBody>
          <a:bodyPr wrap="square" lIns="76200" tIns="38100" rIns="76200" bIns="38100" rtlCol="0" anchor="ctr"/>
          <a:lstStyle/>
          <a:p>
            <a:pPr algn="ctr" indent="0" marL="0">
              <a:buNone/>
            </a:pPr>
            <a:r>
              <a:rPr lang="en-US" sz="1050" b="1" dirty="0">
                <a:solidFill>
                  <a:schemeClr val="bg1"/>
                </a:solidFill>
              </a:rPr>
              <a:t>PostgreSQL</a:t>
            </a:r>
            <a:endParaRPr lang="en-US" sz="1050" dirty="0"/>
          </a:p>
        </p:txBody>
      </p:sp>
      <p:sp>
        <p:nvSpPr>
          <p:cNvPr id="9" name="arrow-262"/>
          <p:cNvSpPr/>
          <p:nvPr/>
        </p:nvSpPr>
        <p:spPr>
          <a:xfrm>
            <a:off x="4002329" y="1965960"/>
            <a:ext cx="0" cy="4297680"/>
          </a:xfrm>
          <a:prstGeom prst="line">
            <a:avLst/>
          </a:prstGeom>
          <a:noFill/>
          <a:ln w="12700">
            <a:solidFill>
              <a:schemeClr val="accent6"/>
            </a:solidFill>
            <a:prstDash val="dash"/>
          </a:ln>
        </p:spPr>
        <p:txBody>
          <a:bodyPr/>
          <a:p/>
        </p:txBody>
      </p:sp>
      <p:sp>
        <p:nvSpPr>
          <p:cNvPr id="10" name="chip-263"/>
          <p:cNvSpPr txBox="1"/>
          <p:nvPr/>
        </p:nvSpPr>
        <p:spPr>
          <a:xfrm>
            <a:off x="4748479" y="1508760"/>
            <a:ext cx="1298448" cy="457200"/>
          </a:xfrm>
          <a:prstGeom prst="roundRect">
            <a:avLst>
              <a:gd name="adj" fmla="val 16000"/>
            </a:avLst>
          </a:prstGeom>
          <a:solidFill>
            <a:schemeClr val="accent4"/>
          </a:solidFill>
          <a:ln/>
        </p:spPr>
        <p:txBody>
          <a:bodyPr wrap="square" lIns="76200" tIns="38100" rIns="76200" bIns="38100" rtlCol="0" anchor="ctr"/>
          <a:lstStyle/>
          <a:p>
            <a:pPr algn="ctr" indent="0" marL="0">
              <a:buNone/>
            </a:pPr>
            <a:r>
              <a:rPr lang="en-US" sz="1050" b="1" dirty="0">
                <a:solidFill>
                  <a:schemeClr val="bg1"/>
                </a:solidFill>
              </a:rPr>
              <a:t>outbox-processor</a:t>
            </a:r>
            <a:endParaRPr lang="en-US" sz="1050" dirty="0"/>
          </a:p>
        </p:txBody>
      </p:sp>
      <p:sp>
        <p:nvSpPr>
          <p:cNvPr id="11" name="arrow-264"/>
          <p:cNvSpPr/>
          <p:nvPr/>
        </p:nvSpPr>
        <p:spPr>
          <a:xfrm>
            <a:off x="5397703" y="1965960"/>
            <a:ext cx="0" cy="4297680"/>
          </a:xfrm>
          <a:prstGeom prst="line">
            <a:avLst/>
          </a:prstGeom>
          <a:noFill/>
          <a:ln w="12700">
            <a:solidFill>
              <a:schemeClr val="accent6"/>
            </a:solidFill>
            <a:prstDash val="dash"/>
          </a:ln>
        </p:spPr>
        <p:txBody>
          <a:bodyPr/>
          <a:p/>
        </p:txBody>
      </p:sp>
      <p:sp>
        <p:nvSpPr>
          <p:cNvPr id="12" name="chip-265"/>
          <p:cNvSpPr txBox="1"/>
          <p:nvPr/>
        </p:nvSpPr>
        <p:spPr>
          <a:xfrm>
            <a:off x="6143854" y="1508760"/>
            <a:ext cx="1298448" cy="457200"/>
          </a:xfrm>
          <a:prstGeom prst="roundRect">
            <a:avLst>
              <a:gd name="adj" fmla="val 16000"/>
            </a:avLst>
          </a:prstGeom>
          <a:solidFill>
            <a:schemeClr val="accent5"/>
          </a:solidFill>
          <a:ln/>
        </p:spPr>
        <p:txBody>
          <a:bodyPr wrap="square" lIns="76200" tIns="38100" rIns="76200" bIns="38100" rtlCol="0" anchor="ctr"/>
          <a:lstStyle/>
          <a:p>
            <a:pPr algn="ctr" indent="0" marL="0">
              <a:buNone/>
            </a:pPr>
            <a:r>
              <a:rPr lang="en-US" sz="1050" b="1" dirty="0">
                <a:solidFill>
                  <a:schemeClr val="bg1"/>
                </a:solidFill>
              </a:rPr>
              <a:t>Kafka</a:t>
            </a:r>
            <a:endParaRPr lang="en-US" sz="1050" dirty="0"/>
          </a:p>
        </p:txBody>
      </p:sp>
      <p:sp>
        <p:nvSpPr>
          <p:cNvPr id="13" name="arrow-266"/>
          <p:cNvSpPr/>
          <p:nvPr/>
        </p:nvSpPr>
        <p:spPr>
          <a:xfrm>
            <a:off x="6793078" y="1965960"/>
            <a:ext cx="0" cy="4297680"/>
          </a:xfrm>
          <a:prstGeom prst="line">
            <a:avLst/>
          </a:prstGeom>
          <a:noFill/>
          <a:ln w="12700">
            <a:solidFill>
              <a:schemeClr val="accent6"/>
            </a:solidFill>
            <a:prstDash val="dash"/>
          </a:ln>
        </p:spPr>
        <p:txBody>
          <a:bodyPr/>
          <a:p/>
        </p:txBody>
      </p:sp>
      <p:sp>
        <p:nvSpPr>
          <p:cNvPr id="14" name="chip-267"/>
          <p:cNvSpPr txBox="1"/>
          <p:nvPr/>
        </p:nvSpPr>
        <p:spPr>
          <a:xfrm>
            <a:off x="7539228" y="1508760"/>
            <a:ext cx="1298448" cy="457200"/>
          </a:xfrm>
          <a:prstGeom prst="roundRect">
            <a:avLst>
              <a:gd name="adj" fmla="val 16000"/>
            </a:avLst>
          </a:prstGeom>
          <a:solidFill>
            <a:schemeClr val="accent1"/>
          </a:solidFill>
          <a:ln/>
        </p:spPr>
        <p:txBody>
          <a:bodyPr wrap="square" lIns="76200" tIns="38100" rIns="76200" bIns="38100" rtlCol="0" anchor="ctr"/>
          <a:lstStyle/>
          <a:p>
            <a:pPr algn="ctr" indent="0" marL="0">
              <a:buNone/>
            </a:pPr>
            <a:r>
              <a:rPr lang="en-US" sz="1050" b="1" dirty="0">
                <a:solidFill>
                  <a:schemeClr val="bg1"/>
                </a:solidFill>
              </a:rPr>
              <a:t>dispatch-engine</a:t>
            </a:r>
            <a:endParaRPr lang="en-US" sz="1050" dirty="0"/>
          </a:p>
        </p:txBody>
      </p:sp>
      <p:sp>
        <p:nvSpPr>
          <p:cNvPr id="15" name="arrow-268"/>
          <p:cNvSpPr/>
          <p:nvPr/>
        </p:nvSpPr>
        <p:spPr>
          <a:xfrm>
            <a:off x="8188452" y="1965960"/>
            <a:ext cx="0" cy="4297680"/>
          </a:xfrm>
          <a:prstGeom prst="line">
            <a:avLst/>
          </a:prstGeom>
          <a:noFill/>
          <a:ln w="12700">
            <a:solidFill>
              <a:schemeClr val="accent6"/>
            </a:solidFill>
            <a:prstDash val="dash"/>
          </a:ln>
        </p:spPr>
        <p:txBody>
          <a:bodyPr/>
          <a:p/>
        </p:txBody>
      </p:sp>
      <p:sp>
        <p:nvSpPr>
          <p:cNvPr id="16" name="chip-269"/>
          <p:cNvSpPr txBox="1"/>
          <p:nvPr/>
        </p:nvSpPr>
        <p:spPr>
          <a:xfrm>
            <a:off x="8934602" y="1508760"/>
            <a:ext cx="1298448" cy="457200"/>
          </a:xfrm>
          <a:prstGeom prst="roundRect">
            <a:avLst>
              <a:gd name="adj" fmla="val 16000"/>
            </a:avLst>
          </a:prstGeom>
          <a:solidFill>
            <a:schemeClr val="accent3"/>
          </a:solidFill>
          <a:ln/>
        </p:spPr>
        <p:txBody>
          <a:bodyPr wrap="square" lIns="76200" tIns="38100" rIns="76200" bIns="38100" rtlCol="0" anchor="ctr"/>
          <a:lstStyle/>
          <a:p>
            <a:pPr algn="ctr" indent="0" marL="0">
              <a:buNone/>
            </a:pPr>
            <a:r>
              <a:rPr lang="en-US" sz="1050" b="1" dirty="0">
                <a:solidFill>
                  <a:schemeClr val="bg1"/>
                </a:solidFill>
              </a:rPr>
              <a:t>provider-service + Redis</a:t>
            </a:r>
            <a:endParaRPr lang="en-US" sz="1050" dirty="0"/>
          </a:p>
        </p:txBody>
      </p:sp>
      <p:sp>
        <p:nvSpPr>
          <p:cNvPr id="17" name="arrow-270"/>
          <p:cNvSpPr/>
          <p:nvPr/>
        </p:nvSpPr>
        <p:spPr>
          <a:xfrm>
            <a:off x="9583826" y="1965960"/>
            <a:ext cx="0" cy="4297680"/>
          </a:xfrm>
          <a:prstGeom prst="line">
            <a:avLst/>
          </a:prstGeom>
          <a:noFill/>
          <a:ln w="12700">
            <a:solidFill>
              <a:schemeClr val="accent6"/>
            </a:solidFill>
            <a:prstDash val="dash"/>
          </a:ln>
        </p:spPr>
        <p:txBody>
          <a:bodyPr/>
          <a:p/>
        </p:txBody>
      </p:sp>
      <p:sp>
        <p:nvSpPr>
          <p:cNvPr id="18" name="chip-271"/>
          <p:cNvSpPr txBox="1"/>
          <p:nvPr/>
        </p:nvSpPr>
        <p:spPr>
          <a:xfrm>
            <a:off x="10329977" y="1508760"/>
            <a:ext cx="1298448" cy="457200"/>
          </a:xfrm>
          <a:prstGeom prst="roundRect">
            <a:avLst>
              <a:gd name="adj" fmla="val 16000"/>
            </a:avLst>
          </a:prstGeom>
          <a:solidFill>
            <a:schemeClr val="accent3"/>
          </a:solidFill>
          <a:ln/>
        </p:spPr>
        <p:txBody>
          <a:bodyPr wrap="square" lIns="76200" tIns="38100" rIns="76200" bIns="38100" rtlCol="0" anchor="ctr"/>
          <a:lstStyle/>
          <a:p>
            <a:pPr algn="ctr" indent="0" marL="0">
              <a:buNone/>
            </a:pPr>
            <a:r>
              <a:rPr lang="en-US" sz="1050" b="1" dirty="0">
                <a:solidFill>
                  <a:schemeClr val="bg1"/>
                </a:solidFill>
              </a:rPr>
              <a:t>provider-app</a:t>
            </a:r>
            <a:endParaRPr lang="en-US" sz="1050" dirty="0"/>
          </a:p>
        </p:txBody>
      </p:sp>
      <p:sp>
        <p:nvSpPr>
          <p:cNvPr id="19" name="arrow-272"/>
          <p:cNvSpPr/>
          <p:nvPr/>
        </p:nvSpPr>
        <p:spPr>
          <a:xfrm>
            <a:off x="10979201" y="1965960"/>
            <a:ext cx="0" cy="4297680"/>
          </a:xfrm>
          <a:prstGeom prst="line">
            <a:avLst/>
          </a:prstGeom>
          <a:noFill/>
          <a:ln w="12700">
            <a:solidFill>
              <a:schemeClr val="accent6"/>
            </a:solidFill>
            <a:prstDash val="dash"/>
          </a:ln>
        </p:spPr>
        <p:txBody>
          <a:bodyPr/>
          <a:p/>
        </p:txBody>
      </p:sp>
      <p:sp>
        <p:nvSpPr>
          <p:cNvPr id="20" name="arrow-273"/>
          <p:cNvSpPr/>
          <p:nvPr/>
        </p:nvSpPr>
        <p:spPr>
          <a:xfrm>
            <a:off x="1211580" y="2331720"/>
            <a:ext cx="1395374" cy="0"/>
          </a:xfrm>
          <a:prstGeom prst="line">
            <a:avLst/>
          </a:prstGeom>
          <a:noFill/>
          <a:ln w="19050">
            <a:solidFill>
              <a:schemeClr val="tx1"/>
            </a:solidFill>
            <a:prstDash val="solid"/>
            <a:tailEnd type="triangle"/>
          </a:ln>
        </p:spPr>
        <p:txBody>
          <a:bodyPr/>
          <a:p/>
        </p:txBody>
      </p:sp>
      <p:sp>
        <p:nvSpPr>
          <p:cNvPr id="21" name="box-274"/>
          <p:cNvSpPr txBox="1"/>
          <p:nvPr/>
        </p:nvSpPr>
        <p:spPr>
          <a:xfrm>
            <a:off x="548640" y="2084832"/>
            <a:ext cx="3151022"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1.  POST /bookings  (catalog and price checked)</a:t>
            </a:r>
            <a:endParaRPr lang="en-US" sz="1050" dirty="0"/>
          </a:p>
        </p:txBody>
      </p:sp>
      <p:sp>
        <p:nvSpPr>
          <p:cNvPr id="22" name="arrow-275"/>
          <p:cNvSpPr/>
          <p:nvPr/>
        </p:nvSpPr>
        <p:spPr>
          <a:xfrm>
            <a:off x="2606954" y="2660904"/>
            <a:ext cx="1395374" cy="0"/>
          </a:xfrm>
          <a:prstGeom prst="line">
            <a:avLst/>
          </a:prstGeom>
          <a:noFill/>
          <a:ln w="19050">
            <a:solidFill>
              <a:schemeClr val="tx1"/>
            </a:solidFill>
            <a:prstDash val="solid"/>
            <a:tailEnd type="triangle"/>
          </a:ln>
        </p:spPr>
        <p:txBody>
          <a:bodyPr/>
          <a:p/>
        </p:txBody>
      </p:sp>
      <p:sp>
        <p:nvSpPr>
          <p:cNvPr id="23" name="box-276"/>
          <p:cNvSpPr txBox="1"/>
          <p:nvPr/>
        </p:nvSpPr>
        <p:spPr>
          <a:xfrm>
            <a:off x="2350922" y="2414016"/>
            <a:ext cx="1907438"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2.  INSERT booking: CREATED</a:t>
            </a:r>
            <a:endParaRPr lang="en-US" sz="1050" dirty="0"/>
          </a:p>
        </p:txBody>
      </p:sp>
      <p:sp>
        <p:nvSpPr>
          <p:cNvPr id="24" name="arrow-277"/>
          <p:cNvSpPr/>
          <p:nvPr/>
        </p:nvSpPr>
        <p:spPr>
          <a:xfrm>
            <a:off x="1211580" y="2990088"/>
            <a:ext cx="1395374" cy="0"/>
          </a:xfrm>
          <a:prstGeom prst="line">
            <a:avLst/>
          </a:prstGeom>
          <a:noFill/>
          <a:ln w="19050">
            <a:solidFill>
              <a:schemeClr val="tx1"/>
            </a:solidFill>
            <a:prstDash val="solid"/>
            <a:tailEnd type="triangle"/>
          </a:ln>
        </p:spPr>
        <p:txBody>
          <a:bodyPr/>
          <a:p/>
        </p:txBody>
      </p:sp>
      <p:sp>
        <p:nvSpPr>
          <p:cNvPr id="25" name="box-278"/>
          <p:cNvSpPr txBox="1"/>
          <p:nvPr/>
        </p:nvSpPr>
        <p:spPr>
          <a:xfrm>
            <a:off x="644652" y="2743200"/>
            <a:ext cx="2529230"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3.  POST /bookings/{ref}/confirmation</a:t>
            </a:r>
            <a:endParaRPr lang="en-US" sz="1050" dirty="0"/>
          </a:p>
        </p:txBody>
      </p:sp>
      <p:sp>
        <p:nvSpPr>
          <p:cNvPr id="26" name="arrow-279"/>
          <p:cNvSpPr/>
          <p:nvPr/>
        </p:nvSpPr>
        <p:spPr>
          <a:xfrm>
            <a:off x="2606954" y="3319272"/>
            <a:ext cx="1395374" cy="0"/>
          </a:xfrm>
          <a:prstGeom prst="line">
            <a:avLst/>
          </a:prstGeom>
          <a:noFill/>
          <a:ln w="19050">
            <a:solidFill>
              <a:schemeClr val="tx1"/>
            </a:solidFill>
            <a:prstDash val="solid"/>
            <a:tailEnd type="triangle"/>
          </a:ln>
        </p:spPr>
        <p:txBody>
          <a:bodyPr/>
          <a:p/>
        </p:txBody>
      </p:sp>
      <p:sp>
        <p:nvSpPr>
          <p:cNvPr id="27" name="box-280"/>
          <p:cNvSpPr txBox="1"/>
          <p:nvPr/>
        </p:nvSpPr>
        <p:spPr>
          <a:xfrm>
            <a:off x="1449324" y="3072384"/>
            <a:ext cx="3710635"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4.  SEARCHING_PROVIDER + BookingCreated, one transaction</a:t>
            </a:r>
            <a:endParaRPr lang="en-US" sz="1050" dirty="0"/>
          </a:p>
        </p:txBody>
      </p:sp>
      <p:sp>
        <p:nvSpPr>
          <p:cNvPr id="28" name="arrow-281"/>
          <p:cNvSpPr/>
          <p:nvPr/>
        </p:nvSpPr>
        <p:spPr>
          <a:xfrm flipH="1">
            <a:off x="4002329" y="3648456"/>
            <a:ext cx="1395374" cy="0"/>
          </a:xfrm>
          <a:prstGeom prst="line">
            <a:avLst/>
          </a:prstGeom>
          <a:noFill/>
          <a:ln w="19050">
            <a:solidFill>
              <a:schemeClr val="tx1"/>
            </a:solidFill>
            <a:prstDash val="solid"/>
            <a:tailEnd type="triangle"/>
          </a:ln>
        </p:spPr>
        <p:txBody>
          <a:bodyPr/>
          <a:p/>
        </p:txBody>
      </p:sp>
      <p:sp>
        <p:nvSpPr>
          <p:cNvPr id="29" name="box-282"/>
          <p:cNvSpPr txBox="1"/>
          <p:nvPr/>
        </p:nvSpPr>
        <p:spPr>
          <a:xfrm>
            <a:off x="3279953" y="3401568"/>
            <a:ext cx="2840126"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5.  claim due rows, SKIP LOCKED, every 1 s</a:t>
            </a:r>
            <a:endParaRPr lang="en-US" sz="1050" dirty="0"/>
          </a:p>
        </p:txBody>
      </p:sp>
      <p:sp>
        <p:nvSpPr>
          <p:cNvPr id="30" name="arrow-283"/>
          <p:cNvSpPr/>
          <p:nvPr/>
        </p:nvSpPr>
        <p:spPr>
          <a:xfrm>
            <a:off x="5397703" y="3977640"/>
            <a:ext cx="1395374" cy="0"/>
          </a:xfrm>
          <a:prstGeom prst="line">
            <a:avLst/>
          </a:prstGeom>
          <a:noFill/>
          <a:ln w="19050">
            <a:solidFill>
              <a:schemeClr val="tx1"/>
            </a:solidFill>
            <a:prstDash val="solid"/>
            <a:tailEnd type="triangle"/>
          </a:ln>
        </p:spPr>
        <p:txBody>
          <a:bodyPr/>
          <a:p/>
        </p:txBody>
      </p:sp>
      <p:sp>
        <p:nvSpPr>
          <p:cNvPr id="31" name="box-284"/>
          <p:cNvSpPr txBox="1"/>
          <p:nvPr/>
        </p:nvSpPr>
        <p:spPr>
          <a:xfrm>
            <a:off x="5172761" y="3730752"/>
            <a:ext cx="1845259"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6.  publish BookingCreated</a:t>
            </a:r>
            <a:endParaRPr lang="en-US" sz="1050" dirty="0"/>
          </a:p>
        </p:txBody>
      </p:sp>
      <p:sp>
        <p:nvSpPr>
          <p:cNvPr id="32" name="arrow-285"/>
          <p:cNvSpPr/>
          <p:nvPr/>
        </p:nvSpPr>
        <p:spPr>
          <a:xfrm>
            <a:off x="6793078" y="4306824"/>
            <a:ext cx="1395374" cy="0"/>
          </a:xfrm>
          <a:prstGeom prst="line">
            <a:avLst/>
          </a:prstGeom>
          <a:noFill/>
          <a:ln w="19050">
            <a:solidFill>
              <a:schemeClr val="tx1"/>
            </a:solidFill>
            <a:prstDash val="solid"/>
            <a:tailEnd type="triangle"/>
          </a:ln>
        </p:spPr>
        <p:txBody>
          <a:bodyPr/>
          <a:p/>
        </p:txBody>
      </p:sp>
      <p:sp>
        <p:nvSpPr>
          <p:cNvPr id="33" name="box-286"/>
          <p:cNvSpPr txBox="1"/>
          <p:nvPr/>
        </p:nvSpPr>
        <p:spPr>
          <a:xfrm>
            <a:off x="6568135" y="4059936"/>
            <a:ext cx="1845259"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7.  deliver BookingCreated</a:t>
            </a:r>
            <a:endParaRPr lang="en-US" sz="1050" dirty="0"/>
          </a:p>
        </p:txBody>
      </p:sp>
      <p:sp>
        <p:nvSpPr>
          <p:cNvPr id="34" name="arrow-287"/>
          <p:cNvSpPr/>
          <p:nvPr/>
        </p:nvSpPr>
        <p:spPr>
          <a:xfrm>
            <a:off x="8188452" y="4636008"/>
            <a:ext cx="1395374" cy="0"/>
          </a:xfrm>
          <a:prstGeom prst="line">
            <a:avLst/>
          </a:prstGeom>
          <a:noFill/>
          <a:ln w="19050">
            <a:solidFill>
              <a:schemeClr val="tx1"/>
            </a:solidFill>
            <a:prstDash val="solid"/>
            <a:tailEnd type="triangle"/>
          </a:ln>
        </p:spPr>
        <p:txBody>
          <a:bodyPr/>
          <a:p/>
        </p:txBody>
      </p:sp>
      <p:sp>
        <p:nvSpPr>
          <p:cNvPr id="35" name="box-288"/>
          <p:cNvSpPr txBox="1"/>
          <p:nvPr/>
        </p:nvSpPr>
        <p:spPr>
          <a:xfrm>
            <a:off x="7497166" y="4389120"/>
            <a:ext cx="2777947"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8.  eligible: APPROVED, skill tag, radius</a:t>
            </a:r>
            <a:endParaRPr lang="en-US" sz="1050" dirty="0"/>
          </a:p>
        </p:txBody>
      </p:sp>
      <p:sp>
        <p:nvSpPr>
          <p:cNvPr id="36" name="arrow-289"/>
          <p:cNvSpPr/>
          <p:nvPr/>
        </p:nvSpPr>
        <p:spPr>
          <a:xfrm>
            <a:off x="8188452" y="4965192"/>
            <a:ext cx="1395374" cy="0"/>
          </a:xfrm>
          <a:prstGeom prst="line">
            <a:avLst/>
          </a:prstGeom>
          <a:noFill/>
          <a:ln w="19050">
            <a:solidFill>
              <a:schemeClr val="tx1"/>
            </a:solidFill>
            <a:prstDash val="solid"/>
            <a:tailEnd type="triangle"/>
          </a:ln>
        </p:spPr>
        <p:txBody>
          <a:bodyPr/>
          <a:p/>
        </p:txBody>
      </p:sp>
      <p:sp>
        <p:nvSpPr>
          <p:cNvPr id="37" name="box-290"/>
          <p:cNvSpPr txBox="1"/>
          <p:nvPr/>
        </p:nvSpPr>
        <p:spPr>
          <a:xfrm>
            <a:off x="7217359" y="4718304"/>
            <a:ext cx="3337560"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9.  lock each provider, offer a wave of 3 for 60 s</a:t>
            </a:r>
            <a:endParaRPr lang="en-US" sz="1050" dirty="0"/>
          </a:p>
        </p:txBody>
      </p:sp>
      <p:sp>
        <p:nvSpPr>
          <p:cNvPr id="38" name="arrow-291"/>
          <p:cNvSpPr/>
          <p:nvPr/>
        </p:nvSpPr>
        <p:spPr>
          <a:xfrm flipH="1">
            <a:off x="8188452" y="5294376"/>
            <a:ext cx="2790749" cy="0"/>
          </a:xfrm>
          <a:prstGeom prst="line">
            <a:avLst/>
          </a:prstGeom>
          <a:noFill/>
          <a:ln w="19050">
            <a:solidFill>
              <a:schemeClr val="tx1"/>
            </a:solidFill>
            <a:prstDash val="solid"/>
            <a:tailEnd type="triangle"/>
          </a:ln>
        </p:spPr>
        <p:txBody>
          <a:bodyPr/>
          <a:p/>
        </p:txBody>
      </p:sp>
      <p:sp>
        <p:nvSpPr>
          <p:cNvPr id="39" name="box-292"/>
          <p:cNvSpPr txBox="1"/>
          <p:nvPr/>
        </p:nvSpPr>
        <p:spPr>
          <a:xfrm>
            <a:off x="8163763" y="5047488"/>
            <a:ext cx="2840126"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10.  poll offers, accept (compare-and-set)</a:t>
            </a:r>
            <a:endParaRPr lang="en-US" sz="1050" dirty="0"/>
          </a:p>
        </p:txBody>
      </p:sp>
      <p:sp>
        <p:nvSpPr>
          <p:cNvPr id="40" name="arrow-293"/>
          <p:cNvSpPr/>
          <p:nvPr/>
        </p:nvSpPr>
        <p:spPr>
          <a:xfrm flipH="1">
            <a:off x="2606954" y="5623560"/>
            <a:ext cx="5581498" cy="0"/>
          </a:xfrm>
          <a:prstGeom prst="line">
            <a:avLst/>
          </a:prstGeom>
          <a:noFill/>
          <a:ln w="19050">
            <a:solidFill>
              <a:schemeClr val="tx1"/>
            </a:solidFill>
            <a:prstDash val="solid"/>
            <a:tailEnd type="triangle"/>
          </a:ln>
        </p:spPr>
        <p:txBody>
          <a:bodyPr/>
          <a:p/>
        </p:txBody>
      </p:sp>
      <p:sp>
        <p:nvSpPr>
          <p:cNvPr id="41" name="box-294"/>
          <p:cNvSpPr txBox="1"/>
          <p:nvPr/>
        </p:nvSpPr>
        <p:spPr>
          <a:xfrm>
            <a:off x="3697834" y="5376672"/>
            <a:ext cx="3399739"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11.  internal provider-accepted → PROVIDER_ACCEPTED</a:t>
            </a:r>
            <a:endParaRPr lang="en-US" sz="1050" dirty="0"/>
          </a:p>
        </p:txBody>
      </p:sp>
      <p:sp>
        <p:nvSpPr>
          <p:cNvPr id="42" name="arrow-295"/>
          <p:cNvSpPr/>
          <p:nvPr/>
        </p:nvSpPr>
        <p:spPr>
          <a:xfrm flipH="1">
            <a:off x="4002329" y="5952744"/>
            <a:ext cx="4186123" cy="0"/>
          </a:xfrm>
          <a:prstGeom prst="line">
            <a:avLst/>
          </a:prstGeom>
          <a:noFill/>
          <a:ln w="19050">
            <a:solidFill>
              <a:schemeClr val="tx1"/>
            </a:solidFill>
            <a:prstDash val="solid"/>
            <a:tailEnd type="triangle"/>
          </a:ln>
        </p:spPr>
        <p:txBody>
          <a:bodyPr/>
          <a:p/>
        </p:txBody>
      </p:sp>
      <p:sp>
        <p:nvSpPr>
          <p:cNvPr id="43" name="box-296"/>
          <p:cNvSpPr txBox="1"/>
          <p:nvPr/>
        </p:nvSpPr>
        <p:spPr>
          <a:xfrm>
            <a:off x="4519879" y="5705856"/>
            <a:ext cx="3151022" cy="210312"/>
          </a:xfrm>
          <a:prstGeom prst="roundRect">
            <a:avLst>
              <a:gd name="adj" fmla="val 8696"/>
            </a:avLst>
          </a:prstGeom>
          <a:solidFill>
            <a:schemeClr val="bg1"/>
          </a:solidFill>
          <a:ln/>
        </p:spPr>
        <p:txBody>
          <a:bodyPr wrap="square" lIns="0" tIns="0" rIns="0" bIns="0" rtlCol="0" anchor="ctr"/>
          <a:lstStyle/>
          <a:p>
            <a:pPr algn="ctr" indent="0" marL="0">
              <a:buNone/>
            </a:pPr>
            <a:r>
              <a:rPr lang="en-US" sz="1050" dirty="0">
                <a:solidFill>
                  <a:schemeClr val="tx1"/>
                </a:solidFill>
              </a:rPr>
              <a:t>12.  ProviderAccepted via the acceptance ledger</a:t>
            </a:r>
            <a:endParaRPr lang="en-US" sz="10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How dispatch picks a provider</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Score everyone eligible, offer the best few at once, widen the search, then hand off to agencies</a:t>
            </a:r>
            <a:endParaRPr lang="en-US" sz="1500" dirty="0"/>
          </a:p>
        </p:txBody>
      </p:sp>
      <p:sp>
        <p:nvSpPr>
          <p:cNvPr id="4" name="box-297"/>
          <p:cNvSpPr txBox="1"/>
          <p:nvPr/>
        </p:nvSpPr>
        <p:spPr>
          <a:xfrm>
            <a:off x="548640" y="1645920"/>
            <a:ext cx="4297680" cy="502920"/>
          </a:xfrm>
          <a:prstGeom prst="roundRect">
            <a:avLst>
              <a:gd name="adj" fmla="val 14545"/>
            </a:avLst>
          </a:prstGeom>
          <a:solidFill>
            <a:schemeClr val="accent1">
              <a:alpha val="12000"/>
            </a:schemeClr>
          </a:solidFill>
          <a:ln/>
        </p:spPr>
        <p:txBody>
          <a:bodyPr wrap="square" lIns="127000" tIns="38100" rIns="127000" bIns="38100" rtlCol="0" anchor="ctr"/>
          <a:lstStyle/>
          <a:p>
            <a:pPr algn="l" indent="0" marL="0">
              <a:buNone/>
            </a:pPr>
            <a:r>
              <a:rPr lang="en-US" sz="1300" dirty="0">
                <a:solidFill>
                  <a:schemeClr val="tx1"/>
                </a:solidFill>
              </a:rPr>
              <a:t>1.  BookingCreated consumed</a:t>
            </a:r>
            <a:endParaRPr lang="en-US" sz="1300" dirty="0"/>
          </a:p>
        </p:txBody>
      </p:sp>
      <p:sp>
        <p:nvSpPr>
          <p:cNvPr id="5" name="arrow-298"/>
          <p:cNvSpPr/>
          <p:nvPr/>
        </p:nvSpPr>
        <p:spPr>
          <a:xfrm>
            <a:off x="2697480" y="2148840"/>
            <a:ext cx="0" cy="173736"/>
          </a:xfrm>
          <a:prstGeom prst="line">
            <a:avLst/>
          </a:prstGeom>
          <a:noFill/>
          <a:ln w="19050">
            <a:solidFill>
              <a:schemeClr val="accent6"/>
            </a:solidFill>
            <a:prstDash val="solid"/>
            <a:tailEnd type="triangle"/>
          </a:ln>
        </p:spPr>
        <p:txBody>
          <a:bodyPr/>
          <a:p/>
        </p:txBody>
      </p:sp>
      <p:sp>
        <p:nvSpPr>
          <p:cNvPr id="6" name="box-299"/>
          <p:cNvSpPr txBox="1"/>
          <p:nvPr/>
        </p:nvSpPr>
        <p:spPr>
          <a:xfrm>
            <a:off x="548640" y="2322576"/>
            <a:ext cx="4297680" cy="502920"/>
          </a:xfrm>
          <a:prstGeom prst="roundRect">
            <a:avLst>
              <a:gd name="adj" fmla="val 14545"/>
            </a:avLst>
          </a:prstGeom>
          <a:solidFill>
            <a:schemeClr val="accent1">
              <a:alpha val="12000"/>
            </a:schemeClr>
          </a:solidFill>
          <a:ln/>
        </p:spPr>
        <p:txBody>
          <a:bodyPr wrap="square" lIns="127000" tIns="38100" rIns="127000" bIns="38100" rtlCol="0" anchor="ctr"/>
          <a:lstStyle/>
          <a:p>
            <a:pPr algn="l" indent="0" marL="0">
              <a:buNone/>
            </a:pPr>
            <a:r>
              <a:rPr lang="en-US" sz="1300" dirty="0">
                <a:solidFill>
                  <a:schemeClr val="tx1"/>
                </a:solidFill>
              </a:rPr>
              <a:t>2.  Resolve address coordinates and skill tags</a:t>
            </a:r>
            <a:endParaRPr lang="en-US" sz="1300" dirty="0"/>
          </a:p>
        </p:txBody>
      </p:sp>
      <p:sp>
        <p:nvSpPr>
          <p:cNvPr id="7" name="arrow-300"/>
          <p:cNvSpPr/>
          <p:nvPr/>
        </p:nvSpPr>
        <p:spPr>
          <a:xfrm>
            <a:off x="2697480" y="2825496"/>
            <a:ext cx="0" cy="173736"/>
          </a:xfrm>
          <a:prstGeom prst="line">
            <a:avLst/>
          </a:prstGeom>
          <a:noFill/>
          <a:ln w="19050">
            <a:solidFill>
              <a:schemeClr val="accent6"/>
            </a:solidFill>
            <a:prstDash val="solid"/>
            <a:tailEnd type="triangle"/>
          </a:ln>
        </p:spPr>
        <p:txBody>
          <a:bodyPr/>
          <a:p/>
        </p:txBody>
      </p:sp>
      <p:sp>
        <p:nvSpPr>
          <p:cNvPr id="8" name="box-301"/>
          <p:cNvSpPr txBox="1"/>
          <p:nvPr/>
        </p:nvSpPr>
        <p:spPr>
          <a:xfrm>
            <a:off x="548640" y="2999232"/>
            <a:ext cx="4297680" cy="502920"/>
          </a:xfrm>
          <a:prstGeom prst="roundRect">
            <a:avLst>
              <a:gd name="adj" fmla="val 14545"/>
            </a:avLst>
          </a:prstGeom>
          <a:solidFill>
            <a:schemeClr val="accent1">
              <a:alpha val="12000"/>
            </a:schemeClr>
          </a:solidFill>
          <a:ln/>
        </p:spPr>
        <p:txBody>
          <a:bodyPr wrap="square" lIns="127000" tIns="38100" rIns="127000" bIns="38100" rtlCol="0" anchor="ctr"/>
          <a:lstStyle/>
          <a:p>
            <a:pPr algn="l" indent="0" marL="0">
              <a:buNone/>
            </a:pPr>
            <a:r>
              <a:rPr lang="en-US" sz="1300" dirty="0">
                <a:solidFill>
                  <a:schemeClr val="tx1"/>
                </a:solidFill>
              </a:rPr>
              <a:t>3.  Fetch eligible providers within the radius</a:t>
            </a:r>
            <a:endParaRPr lang="en-US" sz="1300" dirty="0"/>
          </a:p>
        </p:txBody>
      </p:sp>
      <p:sp>
        <p:nvSpPr>
          <p:cNvPr id="9" name="arrow-302"/>
          <p:cNvSpPr/>
          <p:nvPr/>
        </p:nvSpPr>
        <p:spPr>
          <a:xfrm>
            <a:off x="2697480" y="3502152"/>
            <a:ext cx="0" cy="173736"/>
          </a:xfrm>
          <a:prstGeom prst="line">
            <a:avLst/>
          </a:prstGeom>
          <a:noFill/>
          <a:ln w="19050">
            <a:solidFill>
              <a:schemeClr val="accent6"/>
            </a:solidFill>
            <a:prstDash val="solid"/>
            <a:tailEnd type="triangle"/>
          </a:ln>
        </p:spPr>
        <p:txBody>
          <a:bodyPr/>
          <a:p/>
        </p:txBody>
      </p:sp>
      <p:sp>
        <p:nvSpPr>
          <p:cNvPr id="10" name="box-303"/>
          <p:cNvSpPr txBox="1"/>
          <p:nvPr/>
        </p:nvSpPr>
        <p:spPr>
          <a:xfrm>
            <a:off x="548640" y="3675888"/>
            <a:ext cx="4297680" cy="502920"/>
          </a:xfrm>
          <a:prstGeom prst="roundRect">
            <a:avLst>
              <a:gd name="adj" fmla="val 14545"/>
            </a:avLst>
          </a:prstGeom>
          <a:solidFill>
            <a:schemeClr val="accent1">
              <a:alpha val="12000"/>
            </a:schemeClr>
          </a:solidFill>
          <a:ln/>
        </p:spPr>
        <p:txBody>
          <a:bodyPr wrap="square" lIns="127000" tIns="38100" rIns="127000" bIns="38100" rtlCol="0" anchor="ctr"/>
          <a:lstStyle/>
          <a:p>
            <a:pPr algn="l" indent="0" marL="0">
              <a:buNone/>
            </a:pPr>
            <a:r>
              <a:rPr lang="en-US" sz="1300" dirty="0">
                <a:solidFill>
                  <a:schemeClr val="tx1"/>
                </a:solidFill>
              </a:rPr>
              <a:t>4.  Score and rank the candidates</a:t>
            </a:r>
            <a:endParaRPr lang="en-US" sz="1300" dirty="0"/>
          </a:p>
        </p:txBody>
      </p:sp>
      <p:sp>
        <p:nvSpPr>
          <p:cNvPr id="11" name="arrow-304"/>
          <p:cNvSpPr/>
          <p:nvPr/>
        </p:nvSpPr>
        <p:spPr>
          <a:xfrm>
            <a:off x="2697480" y="4178808"/>
            <a:ext cx="0" cy="173736"/>
          </a:xfrm>
          <a:prstGeom prst="line">
            <a:avLst/>
          </a:prstGeom>
          <a:noFill/>
          <a:ln w="19050">
            <a:solidFill>
              <a:schemeClr val="accent6"/>
            </a:solidFill>
            <a:prstDash val="solid"/>
            <a:tailEnd type="triangle"/>
          </a:ln>
        </p:spPr>
        <p:txBody>
          <a:bodyPr/>
          <a:p/>
        </p:txBody>
      </p:sp>
      <p:sp>
        <p:nvSpPr>
          <p:cNvPr id="12" name="box-305"/>
          <p:cNvSpPr txBox="1"/>
          <p:nvPr/>
        </p:nvSpPr>
        <p:spPr>
          <a:xfrm>
            <a:off x="548640" y="4352544"/>
            <a:ext cx="4297680" cy="502920"/>
          </a:xfrm>
          <a:prstGeom prst="roundRect">
            <a:avLst>
              <a:gd name="adj" fmla="val 14545"/>
            </a:avLst>
          </a:prstGeom>
          <a:solidFill>
            <a:schemeClr val="accent1">
              <a:alpha val="12000"/>
            </a:schemeClr>
          </a:solidFill>
          <a:ln/>
        </p:spPr>
        <p:txBody>
          <a:bodyPr wrap="square" lIns="127000" tIns="38100" rIns="127000" bIns="38100" rtlCol="0" anchor="ctr"/>
          <a:lstStyle/>
          <a:p>
            <a:pPr algn="l" indent="0" marL="0">
              <a:buNone/>
            </a:pPr>
            <a:r>
              <a:rPr lang="en-US" sz="1300" dirty="0">
                <a:solidFill>
                  <a:schemeClr val="tx1"/>
                </a:solidFill>
              </a:rPr>
              <a:t>5.  Offer a wave: lock each in Redis, 60 s window</a:t>
            </a:r>
            <a:endParaRPr lang="en-US" sz="1300" dirty="0"/>
          </a:p>
        </p:txBody>
      </p:sp>
      <p:sp>
        <p:nvSpPr>
          <p:cNvPr id="13" name="arrow-306"/>
          <p:cNvSpPr/>
          <p:nvPr/>
        </p:nvSpPr>
        <p:spPr>
          <a:xfrm>
            <a:off x="2697480" y="4855464"/>
            <a:ext cx="0" cy="173736"/>
          </a:xfrm>
          <a:prstGeom prst="line">
            <a:avLst/>
          </a:prstGeom>
          <a:noFill/>
          <a:ln w="19050">
            <a:solidFill>
              <a:schemeClr val="accent6"/>
            </a:solidFill>
            <a:prstDash val="solid"/>
            <a:tailEnd type="triangle"/>
          </a:ln>
        </p:spPr>
        <p:txBody>
          <a:bodyPr/>
          <a:p/>
        </p:txBody>
      </p:sp>
      <p:sp>
        <p:nvSpPr>
          <p:cNvPr id="14" name="box-307"/>
          <p:cNvSpPr txBox="1"/>
          <p:nvPr/>
        </p:nvSpPr>
        <p:spPr>
          <a:xfrm>
            <a:off x="548640" y="5029200"/>
            <a:ext cx="4297680" cy="502920"/>
          </a:xfrm>
          <a:prstGeom prst="roundRect">
            <a:avLst>
              <a:gd name="adj" fmla="val 14545"/>
            </a:avLst>
          </a:prstGeom>
          <a:solidFill>
            <a:schemeClr val="accent1"/>
          </a:solidFill>
          <a:ln/>
        </p:spPr>
        <p:txBody>
          <a:bodyPr wrap="square" lIns="127000" tIns="38100" rIns="127000" bIns="38100" rtlCol="0" anchor="ctr"/>
          <a:lstStyle/>
          <a:p>
            <a:pPr algn="l" indent="0" marL="0">
              <a:buNone/>
            </a:pPr>
            <a:r>
              <a:rPr lang="en-US" sz="1300" b="1" dirty="0">
                <a:solidFill>
                  <a:schemeClr val="bg1"/>
                </a:solidFill>
              </a:rPr>
              <a:t>6.  First accept wins; other offers withdrawn</a:t>
            </a:r>
            <a:endParaRPr lang="en-US" sz="1300" dirty="0"/>
          </a:p>
        </p:txBody>
      </p:sp>
      <p:sp>
        <p:nvSpPr>
          <p:cNvPr id="15" name="box-308"/>
          <p:cNvSpPr txBox="1"/>
          <p:nvPr/>
        </p:nvSpPr>
        <p:spPr>
          <a:xfrm>
            <a:off x="5120640" y="2999232"/>
            <a:ext cx="1371600" cy="502920"/>
          </a:xfrm>
          <a:prstGeom prst="roundRect">
            <a:avLst>
              <a:gd name="adj" fmla="val 14545"/>
            </a:avLst>
          </a:prstGeom>
          <a:solidFill>
            <a:schemeClr val="accent2">
              <a:alpha val="15000"/>
            </a:schemeClr>
          </a:solidFill>
          <a:ln/>
        </p:spPr>
        <p:txBody>
          <a:bodyPr wrap="square" lIns="76200" tIns="38100" rIns="76200" bIns="38100" rtlCol="0" anchor="ctr"/>
          <a:lstStyle/>
          <a:p>
            <a:pPr algn="ctr" indent="0" marL="0">
              <a:buNone/>
            </a:pPr>
            <a:r>
              <a:rPr lang="en-US" sz="1100" dirty="0">
                <a:solidFill>
                  <a:schemeClr val="tx1"/>
                </a:solidFill>
              </a:rPr>
              <a:t>nobody? widen radius</a:t>
            </a:r>
            <a:endParaRPr lang="en-US" sz="1100" dirty="0"/>
          </a:p>
        </p:txBody>
      </p:sp>
      <p:sp>
        <p:nvSpPr>
          <p:cNvPr id="16" name="arrow-309"/>
          <p:cNvSpPr/>
          <p:nvPr/>
        </p:nvSpPr>
        <p:spPr>
          <a:xfrm>
            <a:off x="4846320" y="3250692"/>
            <a:ext cx="274320" cy="0"/>
          </a:xfrm>
          <a:prstGeom prst="line">
            <a:avLst/>
          </a:prstGeom>
          <a:noFill/>
          <a:ln w="19050">
            <a:solidFill>
              <a:schemeClr val="accent6"/>
            </a:solidFill>
            <a:prstDash val="solid"/>
            <a:headEnd type="triangle"/>
            <a:tailEnd type="triangle"/>
          </a:ln>
        </p:spPr>
        <p:txBody>
          <a:bodyPr/>
          <a:p/>
        </p:txBody>
      </p:sp>
      <p:sp>
        <p:nvSpPr>
          <p:cNvPr id="17" name="box-310"/>
          <p:cNvSpPr txBox="1"/>
          <p:nvPr/>
        </p:nvSpPr>
        <p:spPr>
          <a:xfrm>
            <a:off x="5120640" y="4352544"/>
            <a:ext cx="1371600" cy="502920"/>
          </a:xfrm>
          <a:prstGeom prst="roundRect">
            <a:avLst>
              <a:gd name="adj" fmla="val 14545"/>
            </a:avLst>
          </a:prstGeom>
          <a:solidFill>
            <a:schemeClr val="accent2">
              <a:alpha val="15000"/>
            </a:schemeClr>
          </a:solidFill>
          <a:ln/>
        </p:spPr>
        <p:txBody>
          <a:bodyPr wrap="square" lIns="76200" tIns="38100" rIns="76200" bIns="38100" rtlCol="0" anchor="ctr"/>
          <a:lstStyle/>
          <a:p>
            <a:pPr algn="ctr" indent="0" marL="0">
              <a:buNone/>
            </a:pPr>
            <a:r>
              <a:rPr lang="en-US" sz="1100" dirty="0">
                <a:solidFill>
                  <a:schemeClr val="tx1"/>
                </a:solidFill>
              </a:rPr>
              <a:t>all decline: next wave</a:t>
            </a:r>
            <a:endParaRPr lang="en-US" sz="1100" dirty="0"/>
          </a:p>
        </p:txBody>
      </p:sp>
      <p:sp>
        <p:nvSpPr>
          <p:cNvPr id="18" name="arrow-311"/>
          <p:cNvSpPr/>
          <p:nvPr/>
        </p:nvSpPr>
        <p:spPr>
          <a:xfrm>
            <a:off x="4846320" y="4604004"/>
            <a:ext cx="274320" cy="0"/>
          </a:xfrm>
          <a:prstGeom prst="line">
            <a:avLst/>
          </a:prstGeom>
          <a:noFill/>
          <a:ln w="19050">
            <a:solidFill>
              <a:schemeClr val="accent6"/>
            </a:solidFill>
            <a:prstDash val="solid"/>
            <a:headEnd type="triangle"/>
            <a:tailEnd type="triangle"/>
          </a:ln>
        </p:spPr>
        <p:txBody>
          <a:bodyPr/>
          <a:p/>
        </p:txBody>
      </p:sp>
      <p:sp>
        <p:nvSpPr>
          <p:cNvPr id="19" name="box-312"/>
          <p:cNvSpPr txBox="1"/>
          <p:nvPr/>
        </p:nvSpPr>
        <p:spPr>
          <a:xfrm>
            <a:off x="548640" y="5715000"/>
            <a:ext cx="5943600" cy="502920"/>
          </a:xfrm>
          <a:prstGeom prst="roundRect">
            <a:avLst>
              <a:gd name="adj" fmla="val 14545"/>
            </a:avLst>
          </a:prstGeom>
          <a:solidFill>
            <a:schemeClr val="accent4">
              <a:alpha val="12000"/>
            </a:schemeClr>
          </a:solidFill>
          <a:ln/>
        </p:spPr>
        <p:txBody>
          <a:bodyPr wrap="square" lIns="127000" tIns="38100" rIns="127000" bIns="38100" rtlCol="0" anchor="ctr"/>
          <a:lstStyle/>
          <a:p>
            <a:pPr algn="l" indent="0" marL="0">
              <a:buNone/>
            </a:pPr>
            <a:r>
              <a:rPr lang="en-US" sz="1200" b="1" dirty="0">
                <a:solidFill>
                  <a:schemeClr val="tx1"/>
                </a:solidFill>
              </a:rPr>
              <a:t>Radius used up or 5 min passed  </a:t>
            </a:r>
            <a:pPr algn="l" indent="0" marL="0">
              <a:buNone/>
            </a:pPr>
            <a:r>
              <a:rPr lang="en-US" sz="1200" dirty="0">
                <a:solidFill>
                  <a:schemeClr val="tx1"/>
                </a:solidFill>
              </a:rPr>
              <a:t>→ searching-failed: agency queue or SEARCHING_FAILED</a:t>
            </a:r>
            <a:endParaRPr lang="en-US" sz="1200" dirty="0"/>
          </a:p>
        </p:txBody>
      </p:sp>
      <p:sp>
        <p:nvSpPr>
          <p:cNvPr id="20" name="text-313"/>
          <p:cNvSpPr txBox="1"/>
          <p:nvPr/>
        </p:nvSpPr>
        <p:spPr>
          <a:xfrm>
            <a:off x="6858000" y="1600200"/>
            <a:ext cx="4572000" cy="320040"/>
          </a:xfrm>
          <a:prstGeom prst="rect">
            <a:avLst/>
          </a:prstGeom>
          <a:noFill/>
          <a:ln/>
        </p:spPr>
        <p:txBody>
          <a:bodyPr wrap="square" lIns="0" tIns="0" rIns="0" bIns="0" rtlCol="0" anchor="t"/>
          <a:lstStyle/>
          <a:p>
            <a:pPr algn="l" indent="0" marL="0">
              <a:buNone/>
            </a:pPr>
            <a:r>
              <a:rPr lang="en-US" sz="1500" b="1" dirty="0">
                <a:solidFill>
                  <a:schemeClr val="tx1"/>
                </a:solidFill>
              </a:rPr>
              <a:t>Scoring signals</a:t>
            </a:r>
            <a:endParaRPr lang="en-US" sz="1500" dirty="0"/>
          </a:p>
        </p:txBody>
      </p:sp>
      <p:sp>
        <p:nvSpPr>
          <p:cNvPr id="21" name="panel-314"/>
          <p:cNvSpPr txBox="1"/>
          <p:nvPr/>
        </p:nvSpPr>
        <p:spPr>
          <a:xfrm>
            <a:off x="6858000" y="1965960"/>
            <a:ext cx="2331720" cy="658368"/>
          </a:xfrm>
          <a:prstGeom prst="roundRect">
            <a:avLst>
              <a:gd name="adj" fmla="val 13889"/>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2" name="card-text-315"/>
          <p:cNvSpPr txBox="1"/>
          <p:nvPr/>
        </p:nvSpPr>
        <p:spPr>
          <a:xfrm>
            <a:off x="7004304" y="2093976"/>
            <a:ext cx="2039112" cy="438912"/>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Distance</a:t>
            </a:r>
            <a:endParaRPr lang="en-US" sz="1300" dirty="0"/>
          </a:p>
          <a:p>
            <a:pPr indent="0" marL="0">
              <a:spcAft>
                <a:spcPts val="200"/>
              </a:spcAft>
              <a:buNone/>
            </a:pPr>
            <a:r>
              <a:rPr lang="en-US" sz="1100" dirty="0">
                <a:solidFill>
                  <a:schemeClr val="tx1"/>
                </a:solidFill>
              </a:rPr>
              <a:t>default weight 0.30</a:t>
            </a:r>
            <a:endParaRPr lang="en-US" sz="1300" dirty="0"/>
          </a:p>
        </p:txBody>
      </p:sp>
      <p:sp>
        <p:nvSpPr>
          <p:cNvPr id="23" name="icon-bg-pin-316"/>
          <p:cNvSpPr/>
          <p:nvPr/>
        </p:nvSpPr>
        <p:spPr>
          <a:xfrm>
            <a:off x="8732520" y="2112264"/>
            <a:ext cx="365760" cy="365760"/>
          </a:xfrm>
          <a:prstGeom prst="ellipse">
            <a:avLst/>
          </a:prstGeom>
          <a:solidFill>
            <a:schemeClr val="accent1"/>
          </a:solidFill>
          <a:ln/>
        </p:spPr>
        <p:txBody>
          <a:bodyPr/>
          <a:p/>
        </p:txBody>
      </p:sp>
      <p:pic>
        <p:nvPicPr>
          <p:cNvPr id="24" name="icon-pin-317" descr="pin">    </p:cNvPr>
          <p:cNvPicPr>
            <a:picLocks noChangeAspect="1"/>
          </p:cNvPicPr>
          <p:nvPr/>
        </p:nvPicPr>
        <p:blipFill>
          <a:blip r:embed="rId1"/>
          <a:stretch>
            <a:fillRect/>
          </a:stretch>
        </p:blipFill>
        <p:spPr>
          <a:xfrm>
            <a:off x="8820302" y="2200046"/>
            <a:ext cx="190195" cy="190195"/>
          </a:xfrm>
          <a:prstGeom prst="rect">
            <a:avLst/>
          </a:prstGeom>
        </p:spPr>
      </p:pic>
      <p:sp>
        <p:nvSpPr>
          <p:cNvPr id="25" name="panel-318"/>
          <p:cNvSpPr txBox="1"/>
          <p:nvPr/>
        </p:nvSpPr>
        <p:spPr>
          <a:xfrm>
            <a:off x="9299448" y="1965960"/>
            <a:ext cx="2331720" cy="658368"/>
          </a:xfrm>
          <a:prstGeom prst="roundRect">
            <a:avLst>
              <a:gd name="adj" fmla="val 13889"/>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6" name="card-text-319"/>
          <p:cNvSpPr txBox="1"/>
          <p:nvPr/>
        </p:nvSpPr>
        <p:spPr>
          <a:xfrm>
            <a:off x="9445752" y="2093976"/>
            <a:ext cx="2039112" cy="438912"/>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Availability</a:t>
            </a:r>
            <a:endParaRPr lang="en-US" sz="1300" dirty="0"/>
          </a:p>
          <a:p>
            <a:pPr indent="0" marL="0">
              <a:spcAft>
                <a:spcPts val="200"/>
              </a:spcAft>
              <a:buNone/>
            </a:pPr>
            <a:r>
              <a:rPr lang="en-US" sz="1100" dirty="0">
                <a:solidFill>
                  <a:schemeClr val="tx1"/>
                </a:solidFill>
              </a:rPr>
              <a:t>default weight 0.25</a:t>
            </a:r>
            <a:endParaRPr lang="en-US" sz="1300" dirty="0"/>
          </a:p>
        </p:txBody>
      </p:sp>
      <p:sp>
        <p:nvSpPr>
          <p:cNvPr id="27" name="icon-bg-calendar-320"/>
          <p:cNvSpPr/>
          <p:nvPr/>
        </p:nvSpPr>
        <p:spPr>
          <a:xfrm>
            <a:off x="11173968" y="2112264"/>
            <a:ext cx="365760" cy="365760"/>
          </a:xfrm>
          <a:prstGeom prst="ellipse">
            <a:avLst/>
          </a:prstGeom>
          <a:solidFill>
            <a:schemeClr val="accent1"/>
          </a:solidFill>
          <a:ln/>
        </p:spPr>
        <p:txBody>
          <a:bodyPr/>
          <a:p/>
        </p:txBody>
      </p:sp>
      <p:pic>
        <p:nvPicPr>
          <p:cNvPr id="28" name="icon-calendar-321" descr="calendar">    </p:cNvPr>
          <p:cNvPicPr>
            <a:picLocks noChangeAspect="1"/>
          </p:cNvPicPr>
          <p:nvPr/>
        </p:nvPicPr>
        <p:blipFill>
          <a:blip r:embed="rId2"/>
          <a:stretch>
            <a:fillRect/>
          </a:stretch>
        </p:blipFill>
        <p:spPr>
          <a:xfrm>
            <a:off x="11261750" y="2200046"/>
            <a:ext cx="190195" cy="190195"/>
          </a:xfrm>
          <a:prstGeom prst="rect">
            <a:avLst/>
          </a:prstGeom>
        </p:spPr>
      </p:pic>
      <p:sp>
        <p:nvSpPr>
          <p:cNvPr id="29" name="panel-322"/>
          <p:cNvSpPr txBox="1"/>
          <p:nvPr/>
        </p:nvSpPr>
        <p:spPr>
          <a:xfrm>
            <a:off x="6858000" y="2697480"/>
            <a:ext cx="2331720" cy="658368"/>
          </a:xfrm>
          <a:prstGeom prst="roundRect">
            <a:avLst>
              <a:gd name="adj" fmla="val 13889"/>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30" name="card-text-323"/>
          <p:cNvSpPr txBox="1"/>
          <p:nvPr/>
        </p:nvSpPr>
        <p:spPr>
          <a:xfrm>
            <a:off x="7004304" y="2825496"/>
            <a:ext cx="2039112" cy="438912"/>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Rating</a:t>
            </a:r>
            <a:endParaRPr lang="en-US" sz="1300" dirty="0"/>
          </a:p>
          <a:p>
            <a:pPr indent="0" marL="0">
              <a:spcAft>
                <a:spcPts val="200"/>
              </a:spcAft>
              <a:buNone/>
            </a:pPr>
            <a:r>
              <a:rPr lang="en-US" sz="1100" dirty="0">
                <a:solidFill>
                  <a:schemeClr val="tx1"/>
                </a:solidFill>
              </a:rPr>
              <a:t>default weight 0.20</a:t>
            </a:r>
            <a:endParaRPr lang="en-US" sz="1300" dirty="0"/>
          </a:p>
        </p:txBody>
      </p:sp>
      <p:sp>
        <p:nvSpPr>
          <p:cNvPr id="31" name="icon-bg-star-324"/>
          <p:cNvSpPr/>
          <p:nvPr/>
        </p:nvSpPr>
        <p:spPr>
          <a:xfrm>
            <a:off x="8732520" y="2843784"/>
            <a:ext cx="365760" cy="365760"/>
          </a:xfrm>
          <a:prstGeom prst="ellipse">
            <a:avLst/>
          </a:prstGeom>
          <a:solidFill>
            <a:schemeClr val="accent1"/>
          </a:solidFill>
          <a:ln/>
        </p:spPr>
        <p:txBody>
          <a:bodyPr/>
          <a:p/>
        </p:txBody>
      </p:sp>
      <p:pic>
        <p:nvPicPr>
          <p:cNvPr id="32" name="icon-star-325" descr="star">    </p:cNvPr>
          <p:cNvPicPr>
            <a:picLocks noChangeAspect="1"/>
          </p:cNvPicPr>
          <p:nvPr/>
        </p:nvPicPr>
        <p:blipFill>
          <a:blip r:embed="rId3"/>
          <a:stretch>
            <a:fillRect/>
          </a:stretch>
        </p:blipFill>
        <p:spPr>
          <a:xfrm>
            <a:off x="8820302" y="2931566"/>
            <a:ext cx="190195" cy="190195"/>
          </a:xfrm>
          <a:prstGeom prst="rect">
            <a:avLst/>
          </a:prstGeom>
        </p:spPr>
      </p:pic>
      <p:sp>
        <p:nvSpPr>
          <p:cNvPr id="33" name="panel-326"/>
          <p:cNvSpPr txBox="1"/>
          <p:nvPr/>
        </p:nvSpPr>
        <p:spPr>
          <a:xfrm>
            <a:off x="9299448" y="2697480"/>
            <a:ext cx="2331720" cy="658368"/>
          </a:xfrm>
          <a:prstGeom prst="roundRect">
            <a:avLst>
              <a:gd name="adj" fmla="val 13889"/>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34" name="card-text-327"/>
          <p:cNvSpPr txBox="1"/>
          <p:nvPr/>
        </p:nvSpPr>
        <p:spPr>
          <a:xfrm>
            <a:off x="9445752" y="2825496"/>
            <a:ext cx="2039112" cy="438912"/>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Skill</a:t>
            </a:r>
            <a:endParaRPr lang="en-US" sz="1300" dirty="0"/>
          </a:p>
          <a:p>
            <a:pPr indent="0" marL="0">
              <a:spcAft>
                <a:spcPts val="200"/>
              </a:spcAft>
              <a:buNone/>
            </a:pPr>
            <a:r>
              <a:rPr lang="en-US" sz="1100" dirty="0">
                <a:solidFill>
                  <a:schemeClr val="tx1"/>
                </a:solidFill>
              </a:rPr>
              <a:t>default weight 0.15</a:t>
            </a:r>
            <a:endParaRPr lang="en-US" sz="1300" dirty="0"/>
          </a:p>
        </p:txBody>
      </p:sp>
      <p:sp>
        <p:nvSpPr>
          <p:cNvPr id="35" name="icon-bg-wrench-328"/>
          <p:cNvSpPr/>
          <p:nvPr/>
        </p:nvSpPr>
        <p:spPr>
          <a:xfrm>
            <a:off x="11173968" y="2843784"/>
            <a:ext cx="365760" cy="365760"/>
          </a:xfrm>
          <a:prstGeom prst="ellipse">
            <a:avLst/>
          </a:prstGeom>
          <a:solidFill>
            <a:schemeClr val="accent1"/>
          </a:solidFill>
          <a:ln/>
        </p:spPr>
        <p:txBody>
          <a:bodyPr/>
          <a:p/>
        </p:txBody>
      </p:sp>
      <p:pic>
        <p:nvPicPr>
          <p:cNvPr id="36" name="icon-wrench-329" descr="wrench">    </p:cNvPr>
          <p:cNvPicPr>
            <a:picLocks noChangeAspect="1"/>
          </p:cNvPicPr>
          <p:nvPr/>
        </p:nvPicPr>
        <p:blipFill>
          <a:blip r:embed="rId4"/>
          <a:stretch>
            <a:fillRect/>
          </a:stretch>
        </p:blipFill>
        <p:spPr>
          <a:xfrm>
            <a:off x="11261750" y="2931566"/>
            <a:ext cx="190195" cy="190195"/>
          </a:xfrm>
          <a:prstGeom prst="rect">
            <a:avLst/>
          </a:prstGeom>
        </p:spPr>
      </p:pic>
      <p:sp>
        <p:nvSpPr>
          <p:cNvPr id="37" name="panel-330"/>
          <p:cNvSpPr txBox="1"/>
          <p:nvPr/>
        </p:nvSpPr>
        <p:spPr>
          <a:xfrm>
            <a:off x="6858000" y="3429000"/>
            <a:ext cx="2331720" cy="658368"/>
          </a:xfrm>
          <a:prstGeom prst="roundRect">
            <a:avLst>
              <a:gd name="adj" fmla="val 13889"/>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38" name="card-text-331"/>
          <p:cNvSpPr txBox="1"/>
          <p:nvPr/>
        </p:nvSpPr>
        <p:spPr>
          <a:xfrm>
            <a:off x="7004304" y="3557016"/>
            <a:ext cx="2039112" cy="438912"/>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Performance</a:t>
            </a:r>
            <a:endParaRPr lang="en-US" sz="1300" dirty="0"/>
          </a:p>
          <a:p>
            <a:pPr indent="0" marL="0">
              <a:spcAft>
                <a:spcPts val="200"/>
              </a:spcAft>
              <a:buNone/>
            </a:pPr>
            <a:r>
              <a:rPr lang="en-US" sz="1100" dirty="0">
                <a:solidFill>
                  <a:schemeClr val="tx1"/>
                </a:solidFill>
              </a:rPr>
              <a:t>default weight 0.10</a:t>
            </a:r>
            <a:endParaRPr lang="en-US" sz="1300" dirty="0"/>
          </a:p>
        </p:txBody>
      </p:sp>
      <p:sp>
        <p:nvSpPr>
          <p:cNvPr id="39" name="icon-bg-gauge-332"/>
          <p:cNvSpPr/>
          <p:nvPr/>
        </p:nvSpPr>
        <p:spPr>
          <a:xfrm>
            <a:off x="8732520" y="3575304"/>
            <a:ext cx="365760" cy="365760"/>
          </a:xfrm>
          <a:prstGeom prst="ellipse">
            <a:avLst/>
          </a:prstGeom>
          <a:solidFill>
            <a:schemeClr val="accent1"/>
          </a:solidFill>
          <a:ln/>
        </p:spPr>
        <p:txBody>
          <a:bodyPr/>
          <a:p/>
        </p:txBody>
      </p:sp>
      <p:pic>
        <p:nvPicPr>
          <p:cNvPr id="40" name="icon-gauge-333" descr="gauge">    </p:cNvPr>
          <p:cNvPicPr>
            <a:picLocks noChangeAspect="1"/>
          </p:cNvPicPr>
          <p:nvPr/>
        </p:nvPicPr>
        <p:blipFill>
          <a:blip r:embed="rId5"/>
          <a:stretch>
            <a:fillRect/>
          </a:stretch>
        </p:blipFill>
        <p:spPr>
          <a:xfrm>
            <a:off x="8820302" y="3663086"/>
            <a:ext cx="190195" cy="190195"/>
          </a:xfrm>
          <a:prstGeom prst="rect">
            <a:avLst/>
          </a:prstGeom>
        </p:spPr>
      </p:pic>
      <p:sp>
        <p:nvSpPr>
          <p:cNvPr id="41" name="text-334"/>
          <p:cNvSpPr txBox="1"/>
          <p:nvPr/>
        </p:nvSpPr>
        <p:spPr>
          <a:xfrm>
            <a:off x="6858000" y="4206240"/>
            <a:ext cx="4782312" cy="411480"/>
          </a:xfrm>
          <a:prstGeom prst="rect">
            <a:avLst/>
          </a:prstGeom>
          <a:noFill/>
          <a:ln/>
        </p:spPr>
        <p:txBody>
          <a:bodyPr wrap="square" lIns="0" tIns="0" rIns="0" bIns="0" rtlCol="0" anchor="t"/>
          <a:lstStyle/>
          <a:p>
            <a:pPr algn="l" indent="0" marL="0">
              <a:buNone/>
            </a:pPr>
            <a:r>
              <a:rPr lang="en-US" sz="1200" dirty="0">
                <a:solidFill>
                  <a:schemeClr val="accent6"/>
                </a:solidFill>
              </a:rPr>
              <a:t>Weights must sum to 1. All settings are saved in the database and tuned in the Admin Portal</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0" y="4617720"/>
          <a:ext cx="4782312" cy="914400"/>
        </p:xfrm>
        <a:graphic>
          <a:graphicData uri="http://schemas.openxmlformats.org/drawingml/2006/table">
            <a:tbl>
              <a:tblPr/>
              <a:tblGrid>
                <a:gridCol w="2011680"/>
                <a:gridCol w="2770632"/>
              </a:tblGrid>
              <a:tr h="310896">
                <a:tc>
                  <a:txBody>
                    <a:bodyPr/>
                    <a:lstStyle/>
                    <a:p>
                      <a:pPr indent="0" marL="0">
                        <a:buNone/>
                      </a:pPr>
                      <a:r>
                        <a:rPr lang="en-US" sz="1200" b="1" dirty="0">
                          <a:solidFill>
                            <a:srgbClr val="FFFFFF"/>
                          </a:solidFill>
                        </a:rPr>
                        <a:t>Tunable</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Range / default</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310896">
                <a:tc>
                  <a:txBody>
                    <a:bodyPr/>
                    <a:lstStyle/>
                    <a:p>
                      <a:pPr indent="0" marL="0">
                        <a:buNone/>
                      </a:pPr>
                      <a:r>
                        <a:rPr lang="en-US" sz="1200" dirty="0">
                          <a:solidFill>
                            <a:srgbClr val="0F172A"/>
                          </a:solidFill>
                        </a:rPr>
                        <a:t>Offer wave size</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1–10, default 3</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0F172A"/>
                          </a:solidFill>
                        </a:rPr>
                        <a:t>Offer window</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60 s, never past the hand-off</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0F172A"/>
                          </a:solidFill>
                        </a:rPr>
                        <a:t>Agency hand-off</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1–30 min, default 5</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43" name="text-335"/>
          <p:cNvSpPr txBox="1"/>
          <p:nvPr/>
        </p:nvSpPr>
        <p:spPr>
          <a:xfrm>
            <a:off x="6858000" y="5943600"/>
            <a:ext cx="4782312" cy="274320"/>
          </a:xfrm>
          <a:prstGeom prst="rect">
            <a:avLst/>
          </a:prstGeom>
          <a:noFill/>
          <a:ln/>
        </p:spPr>
        <p:txBody>
          <a:bodyPr wrap="square" lIns="0" tIns="0" rIns="0" bIns="0" rtlCol="0" anchor="t"/>
          <a:lstStyle/>
          <a:p>
            <a:pPr algn="l" indent="0" marL="0">
              <a:buNone/>
            </a:pPr>
            <a:r>
              <a:rPr lang="en-US" sz="1100" i="1" dirty="0">
                <a:solidFill>
                  <a:schemeClr val="accent1"/>
                </a:solidFill>
              </a:rPr>
              <a:t>Saved in the database: survives restarts, every replica within 10 s</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Booking lifecycle: 19 states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BookingStateMachine is the single source of truth; an illegal transition is refused with 409</a:t>
            </a:r>
            <a:endParaRPr lang="en-US" sz="1500" dirty="0"/>
          </a:p>
        </p:txBody>
      </p:sp>
      <p:sp>
        <p:nvSpPr>
          <p:cNvPr id="4" name="chip-336"/>
          <p:cNvSpPr txBox="1"/>
          <p:nvPr/>
        </p:nvSpPr>
        <p:spPr>
          <a:xfrm>
            <a:off x="548640" y="1600200"/>
            <a:ext cx="1627632" cy="420624"/>
          </a:xfrm>
          <a:prstGeom prst="roundRect">
            <a:avLst>
              <a:gd name="adj" fmla="val 17391"/>
            </a:avLst>
          </a:prstGeom>
          <a:solidFill>
            <a:schemeClr val="accent1"/>
          </a:solidFill>
          <a:ln/>
        </p:spPr>
        <p:txBody>
          <a:bodyPr wrap="square" lIns="38100" tIns="25400" rIns="38100" bIns="25400" rtlCol="0" anchor="ctr"/>
          <a:lstStyle/>
          <a:p>
            <a:pPr algn="ctr" indent="0" marL="0">
              <a:buNone/>
            </a:pPr>
            <a:r>
              <a:rPr lang="en-US" sz="1000" b="1" dirty="0">
                <a:solidFill>
                  <a:schemeClr val="bg1"/>
                </a:solidFill>
              </a:rPr>
              <a:t>CREATED</a:t>
            </a:r>
            <a:endParaRPr lang="en-US" sz="1000" dirty="0"/>
          </a:p>
        </p:txBody>
      </p:sp>
      <p:sp>
        <p:nvSpPr>
          <p:cNvPr id="5" name="arrow-337"/>
          <p:cNvSpPr/>
          <p:nvPr/>
        </p:nvSpPr>
        <p:spPr>
          <a:xfrm>
            <a:off x="2176272" y="1810512"/>
            <a:ext cx="265176" cy="0"/>
          </a:xfrm>
          <a:prstGeom prst="line">
            <a:avLst/>
          </a:prstGeom>
          <a:noFill/>
          <a:ln w="19050">
            <a:solidFill>
              <a:schemeClr val="accent6"/>
            </a:solidFill>
            <a:prstDash val="solid"/>
            <a:tailEnd type="triangle"/>
          </a:ln>
        </p:spPr>
        <p:txBody>
          <a:bodyPr/>
          <a:p/>
        </p:txBody>
      </p:sp>
      <p:sp>
        <p:nvSpPr>
          <p:cNvPr id="6" name="chip-338"/>
          <p:cNvSpPr txBox="1"/>
          <p:nvPr/>
        </p:nvSpPr>
        <p:spPr>
          <a:xfrm>
            <a:off x="2441448" y="1600200"/>
            <a:ext cx="1627632" cy="420624"/>
          </a:xfrm>
          <a:prstGeom prst="roundRect">
            <a:avLst>
              <a:gd name="adj" fmla="val 17391"/>
            </a:avLst>
          </a:prstGeom>
          <a:solidFill>
            <a:schemeClr val="accent1"/>
          </a:solidFill>
          <a:ln/>
        </p:spPr>
        <p:txBody>
          <a:bodyPr wrap="square" lIns="38100" tIns="25400" rIns="38100" bIns="25400" rtlCol="0" anchor="ctr"/>
          <a:lstStyle/>
          <a:p>
            <a:pPr algn="ctr" indent="0" marL="0">
              <a:buNone/>
            </a:pPr>
            <a:r>
              <a:rPr lang="en-US" sz="1000" b="1" dirty="0">
                <a:solidFill>
                  <a:schemeClr val="bg1"/>
                </a:solidFill>
              </a:rPr>
              <a:t>SEARCHING_PROVIDER</a:t>
            </a:r>
            <a:endParaRPr lang="en-US" sz="1000" dirty="0"/>
          </a:p>
        </p:txBody>
      </p:sp>
      <p:sp>
        <p:nvSpPr>
          <p:cNvPr id="7" name="arrow-339"/>
          <p:cNvSpPr/>
          <p:nvPr/>
        </p:nvSpPr>
        <p:spPr>
          <a:xfrm>
            <a:off x="4069080" y="1810512"/>
            <a:ext cx="265176" cy="0"/>
          </a:xfrm>
          <a:prstGeom prst="line">
            <a:avLst/>
          </a:prstGeom>
          <a:noFill/>
          <a:ln w="19050">
            <a:solidFill>
              <a:schemeClr val="accent6"/>
            </a:solidFill>
            <a:prstDash val="solid"/>
            <a:tailEnd type="triangle"/>
          </a:ln>
        </p:spPr>
        <p:txBody>
          <a:bodyPr/>
          <a:p/>
        </p:txBody>
      </p:sp>
      <p:sp>
        <p:nvSpPr>
          <p:cNvPr id="8" name="chip-340"/>
          <p:cNvSpPr txBox="1"/>
          <p:nvPr/>
        </p:nvSpPr>
        <p:spPr>
          <a:xfrm>
            <a:off x="4334256" y="1600200"/>
            <a:ext cx="1627632" cy="420624"/>
          </a:xfrm>
          <a:prstGeom prst="roundRect">
            <a:avLst>
              <a:gd name="adj" fmla="val 17391"/>
            </a:avLst>
          </a:prstGeom>
          <a:solidFill>
            <a:schemeClr val="accent1"/>
          </a:solidFill>
          <a:ln/>
        </p:spPr>
        <p:txBody>
          <a:bodyPr wrap="square" lIns="38100" tIns="25400" rIns="38100" bIns="25400" rtlCol="0" anchor="ctr"/>
          <a:lstStyle/>
          <a:p>
            <a:pPr algn="ctr" indent="0" marL="0">
              <a:buNone/>
            </a:pPr>
            <a:r>
              <a:rPr lang="en-US" sz="1000" b="1" dirty="0">
                <a:solidFill>
                  <a:schemeClr val="bg1"/>
                </a:solidFill>
              </a:rPr>
              <a:t>PROVIDER_ASSIGNED</a:t>
            </a:r>
            <a:endParaRPr lang="en-US" sz="1000" dirty="0"/>
          </a:p>
        </p:txBody>
      </p:sp>
      <p:sp>
        <p:nvSpPr>
          <p:cNvPr id="9" name="arrow-341"/>
          <p:cNvSpPr/>
          <p:nvPr/>
        </p:nvSpPr>
        <p:spPr>
          <a:xfrm>
            <a:off x="5961888" y="1810512"/>
            <a:ext cx="265176" cy="0"/>
          </a:xfrm>
          <a:prstGeom prst="line">
            <a:avLst/>
          </a:prstGeom>
          <a:noFill/>
          <a:ln w="19050">
            <a:solidFill>
              <a:schemeClr val="accent6"/>
            </a:solidFill>
            <a:prstDash val="solid"/>
            <a:tailEnd type="triangle"/>
          </a:ln>
        </p:spPr>
        <p:txBody>
          <a:bodyPr/>
          <a:p/>
        </p:txBody>
      </p:sp>
      <p:sp>
        <p:nvSpPr>
          <p:cNvPr id="10" name="chip-342"/>
          <p:cNvSpPr txBox="1"/>
          <p:nvPr/>
        </p:nvSpPr>
        <p:spPr>
          <a:xfrm>
            <a:off x="6227064" y="1600200"/>
            <a:ext cx="1627632" cy="420624"/>
          </a:xfrm>
          <a:prstGeom prst="roundRect">
            <a:avLst>
              <a:gd name="adj" fmla="val 17391"/>
            </a:avLst>
          </a:prstGeom>
          <a:solidFill>
            <a:schemeClr val="accent1"/>
          </a:solidFill>
          <a:ln/>
        </p:spPr>
        <p:txBody>
          <a:bodyPr wrap="square" lIns="38100" tIns="25400" rIns="38100" bIns="25400" rtlCol="0" anchor="ctr"/>
          <a:lstStyle/>
          <a:p>
            <a:pPr algn="ctr" indent="0" marL="0">
              <a:buNone/>
            </a:pPr>
            <a:r>
              <a:rPr lang="en-US" sz="1000" b="1" dirty="0">
                <a:solidFill>
                  <a:schemeClr val="bg1"/>
                </a:solidFill>
              </a:rPr>
              <a:t>PROVIDER_ACCEPTED</a:t>
            </a:r>
            <a:endParaRPr lang="en-US" sz="1000" dirty="0"/>
          </a:p>
        </p:txBody>
      </p:sp>
      <p:sp>
        <p:nvSpPr>
          <p:cNvPr id="11" name="arrow-343"/>
          <p:cNvSpPr/>
          <p:nvPr/>
        </p:nvSpPr>
        <p:spPr>
          <a:xfrm>
            <a:off x="7854696" y="1810512"/>
            <a:ext cx="265176" cy="0"/>
          </a:xfrm>
          <a:prstGeom prst="line">
            <a:avLst/>
          </a:prstGeom>
          <a:noFill/>
          <a:ln w="19050">
            <a:solidFill>
              <a:schemeClr val="accent6"/>
            </a:solidFill>
            <a:prstDash val="solid"/>
            <a:tailEnd type="triangle"/>
          </a:ln>
        </p:spPr>
        <p:txBody>
          <a:bodyPr/>
          <a:p/>
        </p:txBody>
      </p:sp>
      <p:sp>
        <p:nvSpPr>
          <p:cNvPr id="12" name="chip-344"/>
          <p:cNvSpPr txBox="1"/>
          <p:nvPr/>
        </p:nvSpPr>
        <p:spPr>
          <a:xfrm>
            <a:off x="8119872" y="1600200"/>
            <a:ext cx="1627632" cy="420624"/>
          </a:xfrm>
          <a:prstGeom prst="roundRect">
            <a:avLst>
              <a:gd name="adj" fmla="val 17391"/>
            </a:avLst>
          </a:prstGeom>
          <a:solidFill>
            <a:schemeClr val="accent1"/>
          </a:solidFill>
          <a:ln/>
        </p:spPr>
        <p:txBody>
          <a:bodyPr wrap="square" lIns="38100" tIns="25400" rIns="38100" bIns="25400" rtlCol="0" anchor="ctr"/>
          <a:lstStyle/>
          <a:p>
            <a:pPr algn="ctr" indent="0" marL="0">
              <a:buNone/>
            </a:pPr>
            <a:r>
              <a:rPr lang="en-US" sz="1000" b="1" dirty="0">
                <a:solidFill>
                  <a:schemeClr val="bg1"/>
                </a:solidFill>
              </a:rPr>
              <a:t>PROVIDER_ON_THE_WAY</a:t>
            </a:r>
            <a:endParaRPr lang="en-US" sz="1000" dirty="0"/>
          </a:p>
        </p:txBody>
      </p:sp>
      <p:sp>
        <p:nvSpPr>
          <p:cNvPr id="13" name="arrow-345"/>
          <p:cNvSpPr/>
          <p:nvPr/>
        </p:nvSpPr>
        <p:spPr>
          <a:xfrm>
            <a:off x="9747504" y="1810512"/>
            <a:ext cx="265176" cy="0"/>
          </a:xfrm>
          <a:prstGeom prst="line">
            <a:avLst/>
          </a:prstGeom>
          <a:noFill/>
          <a:ln w="19050">
            <a:solidFill>
              <a:schemeClr val="accent6"/>
            </a:solidFill>
            <a:prstDash val="solid"/>
            <a:tailEnd type="triangle"/>
          </a:ln>
        </p:spPr>
        <p:txBody>
          <a:bodyPr/>
          <a:p/>
        </p:txBody>
      </p:sp>
      <p:sp>
        <p:nvSpPr>
          <p:cNvPr id="14" name="chip-346"/>
          <p:cNvSpPr txBox="1"/>
          <p:nvPr/>
        </p:nvSpPr>
        <p:spPr>
          <a:xfrm>
            <a:off x="10012680" y="1600200"/>
            <a:ext cx="1627632" cy="420624"/>
          </a:xfrm>
          <a:prstGeom prst="roundRect">
            <a:avLst>
              <a:gd name="adj" fmla="val 17391"/>
            </a:avLst>
          </a:prstGeom>
          <a:solidFill>
            <a:schemeClr val="accent1"/>
          </a:solidFill>
          <a:ln/>
        </p:spPr>
        <p:txBody>
          <a:bodyPr wrap="square" lIns="38100" tIns="25400" rIns="38100" bIns="25400" rtlCol="0" anchor="ctr"/>
          <a:lstStyle/>
          <a:p>
            <a:pPr algn="ctr" indent="0" marL="0">
              <a:buNone/>
            </a:pPr>
            <a:r>
              <a:rPr lang="en-US" sz="1000" b="1" dirty="0">
                <a:solidFill>
                  <a:schemeClr val="bg1"/>
                </a:solidFill>
              </a:rPr>
              <a:t>PROVIDER_ARRIVED</a:t>
            </a:r>
            <a:endParaRPr lang="en-US" sz="1000" dirty="0"/>
          </a:p>
        </p:txBody>
      </p:sp>
      <p:sp>
        <p:nvSpPr>
          <p:cNvPr id="15" name="chip-347"/>
          <p:cNvSpPr txBox="1"/>
          <p:nvPr/>
        </p:nvSpPr>
        <p:spPr>
          <a:xfrm>
            <a:off x="548640" y="2377440"/>
            <a:ext cx="1627632" cy="420624"/>
          </a:xfrm>
          <a:prstGeom prst="roundRect">
            <a:avLst>
              <a:gd name="adj" fmla="val 17391"/>
            </a:avLst>
          </a:prstGeom>
          <a:solidFill>
            <a:schemeClr val="accent4"/>
          </a:solidFill>
          <a:ln/>
        </p:spPr>
        <p:txBody>
          <a:bodyPr wrap="square" lIns="38100" tIns="25400" rIns="38100" bIns="25400" rtlCol="0" anchor="ctr"/>
          <a:lstStyle/>
          <a:p>
            <a:pPr algn="ctr" indent="0" marL="0">
              <a:buNone/>
            </a:pPr>
            <a:r>
              <a:rPr lang="en-US" sz="1000" b="1" dirty="0">
                <a:solidFill>
                  <a:schemeClr val="bg1"/>
                </a:solidFill>
              </a:rPr>
              <a:t>SEARCHING_FAILED</a:t>
            </a:r>
            <a:endParaRPr lang="en-US" sz="1000" dirty="0"/>
          </a:p>
        </p:txBody>
      </p:sp>
      <p:sp>
        <p:nvSpPr>
          <p:cNvPr id="16" name="chip-348"/>
          <p:cNvSpPr txBox="1"/>
          <p:nvPr/>
        </p:nvSpPr>
        <p:spPr>
          <a:xfrm>
            <a:off x="2441448" y="2377440"/>
            <a:ext cx="1627632" cy="420624"/>
          </a:xfrm>
          <a:prstGeom prst="roundRect">
            <a:avLst>
              <a:gd name="adj" fmla="val 17391"/>
            </a:avLst>
          </a:prstGeom>
          <a:solidFill>
            <a:schemeClr val="accent2"/>
          </a:solidFill>
          <a:ln/>
        </p:spPr>
        <p:txBody>
          <a:bodyPr wrap="square" lIns="38100" tIns="25400" rIns="38100" bIns="25400" rtlCol="0" anchor="ctr"/>
          <a:lstStyle/>
          <a:p>
            <a:pPr algn="ctr" indent="0" marL="0">
              <a:buNone/>
            </a:pPr>
            <a:r>
              <a:rPr lang="en-US" sz="1000" b="1" dirty="0">
                <a:solidFill>
                  <a:schemeClr val="bg1"/>
                </a:solidFill>
              </a:rPr>
              <a:t>AWAITING_ASSIGNMENT</a:t>
            </a:r>
            <a:endParaRPr lang="en-US" sz="1000" dirty="0"/>
          </a:p>
        </p:txBody>
      </p:sp>
      <p:sp>
        <p:nvSpPr>
          <p:cNvPr id="17" name="box-349"/>
          <p:cNvSpPr txBox="1"/>
          <p:nvPr/>
        </p:nvSpPr>
        <p:spPr>
          <a:xfrm>
            <a:off x="6227064" y="2377440"/>
            <a:ext cx="3520440" cy="420624"/>
          </a:xfrm>
          <a:prstGeom prst="roundRect">
            <a:avLst>
              <a:gd name="adj" fmla="val 17391"/>
            </a:avLst>
          </a:prstGeom>
          <a:solidFill>
            <a:schemeClr val="accent4">
              <a:alpha val="12000"/>
            </a:schemeClr>
          </a:solidFill>
          <a:ln/>
        </p:spPr>
        <p:txBody>
          <a:bodyPr wrap="square" lIns="76200" tIns="38100" rIns="76200" bIns="38100" rtlCol="0" anchor="ctr"/>
          <a:lstStyle/>
          <a:p>
            <a:pPr algn="ctr" indent="0" marL="0">
              <a:buNone/>
            </a:pPr>
            <a:r>
              <a:rPr lang="en-US" sz="1000" b="1" dirty="0">
                <a:solidFill>
                  <a:schemeClr val="accent4"/>
                </a:solidFill>
              </a:rPr>
              <a:t>CANCELLED</a:t>
            </a:r>
            <a:pPr algn="ctr" indent="0" marL="0">
              <a:buNone/>
            </a:pPr>
            <a:r>
              <a:rPr lang="en-US" sz="1000" dirty="0">
                <a:solidFill>
                  <a:schemeClr val="tx1"/>
                </a:solidFill>
              </a:rPr>
              <a:t>  from CREATED … PROVIDER_ON_THE_WAY</a:t>
            </a:r>
            <a:endParaRPr lang="en-US" sz="1000" dirty="0"/>
          </a:p>
        </p:txBody>
      </p:sp>
      <p:sp>
        <p:nvSpPr>
          <p:cNvPr id="18" name="arrow-350"/>
          <p:cNvSpPr/>
          <p:nvPr/>
        </p:nvSpPr>
        <p:spPr>
          <a:xfrm>
            <a:off x="3255264" y="2020824"/>
            <a:ext cx="0" cy="356616"/>
          </a:xfrm>
          <a:prstGeom prst="line">
            <a:avLst/>
          </a:prstGeom>
          <a:noFill/>
          <a:ln w="19050">
            <a:solidFill>
              <a:schemeClr val="accent6"/>
            </a:solidFill>
            <a:prstDash val="solid"/>
            <a:tailEnd type="triangle"/>
          </a:ln>
        </p:spPr>
        <p:txBody>
          <a:bodyPr/>
          <a:p/>
        </p:txBody>
      </p:sp>
      <p:sp>
        <p:nvSpPr>
          <p:cNvPr id="19" name="arrow-351"/>
          <p:cNvSpPr/>
          <p:nvPr/>
        </p:nvSpPr>
        <p:spPr>
          <a:xfrm flipH="1">
            <a:off x="1993392" y="2020824"/>
            <a:ext cx="630936" cy="356616"/>
          </a:xfrm>
          <a:prstGeom prst="line">
            <a:avLst/>
          </a:prstGeom>
          <a:noFill/>
          <a:ln w="19050">
            <a:solidFill>
              <a:schemeClr val="accent6"/>
            </a:solidFill>
            <a:prstDash val="solid"/>
            <a:tailEnd type="triangle"/>
          </a:ln>
        </p:spPr>
        <p:txBody>
          <a:bodyPr/>
          <a:p/>
        </p:txBody>
      </p:sp>
      <p:sp>
        <p:nvSpPr>
          <p:cNvPr id="20" name="arrow-352"/>
          <p:cNvSpPr/>
          <p:nvPr/>
        </p:nvSpPr>
        <p:spPr>
          <a:xfrm flipH="1">
            <a:off x="2176272" y="2587752"/>
            <a:ext cx="265176" cy="0"/>
          </a:xfrm>
          <a:prstGeom prst="line">
            <a:avLst/>
          </a:prstGeom>
          <a:noFill/>
          <a:ln w="19050">
            <a:solidFill>
              <a:schemeClr val="accent6"/>
            </a:solidFill>
            <a:prstDash val="solid"/>
            <a:tailEnd type="triangle"/>
          </a:ln>
        </p:spPr>
        <p:txBody>
          <a:bodyPr/>
          <a:p/>
        </p:txBody>
      </p:sp>
      <p:sp>
        <p:nvSpPr>
          <p:cNvPr id="21" name="arrow-353"/>
          <p:cNvSpPr/>
          <p:nvPr/>
        </p:nvSpPr>
        <p:spPr>
          <a:xfrm flipV="1">
            <a:off x="4069080" y="2020824"/>
            <a:ext cx="722376" cy="466344"/>
          </a:xfrm>
          <a:prstGeom prst="line">
            <a:avLst/>
          </a:prstGeom>
          <a:noFill/>
          <a:ln w="19050">
            <a:solidFill>
              <a:schemeClr val="accent6"/>
            </a:solidFill>
            <a:prstDash val="solid"/>
            <a:headEnd type="triangle"/>
            <a:tailEnd type="triangle"/>
          </a:ln>
        </p:spPr>
        <p:txBody>
          <a:bodyPr/>
          <a:p/>
        </p:txBody>
      </p:sp>
      <p:sp>
        <p:nvSpPr>
          <p:cNvPr id="22" name="text-354"/>
          <p:cNvSpPr txBox="1"/>
          <p:nvPr/>
        </p:nvSpPr>
        <p:spPr>
          <a:xfrm>
            <a:off x="4837176" y="2450592"/>
            <a:ext cx="1280160" cy="228600"/>
          </a:xfrm>
          <a:prstGeom prst="rect">
            <a:avLst/>
          </a:prstGeom>
          <a:noFill/>
          <a:ln/>
        </p:spPr>
        <p:txBody>
          <a:bodyPr wrap="square" lIns="0" tIns="0" rIns="0" bIns="0" rtlCol="0" anchor="t"/>
          <a:lstStyle/>
          <a:p>
            <a:pPr algn="l" indent="0" marL="0">
              <a:buNone/>
            </a:pPr>
            <a:r>
              <a:rPr lang="en-US" sz="1000" dirty="0">
                <a:solidFill>
                  <a:schemeClr val="accent6"/>
                </a:solidFill>
              </a:rPr>
              <a:t>assign / decline</a:t>
            </a:r>
            <a:endParaRPr lang="en-US" sz="1000" dirty="0"/>
          </a:p>
        </p:txBody>
      </p:sp>
      <p:sp>
        <p:nvSpPr>
          <p:cNvPr id="23" name="arrow-355"/>
          <p:cNvSpPr/>
          <p:nvPr/>
        </p:nvSpPr>
        <p:spPr>
          <a:xfrm>
            <a:off x="10826496" y="2020824"/>
            <a:ext cx="0" cy="1133856"/>
          </a:xfrm>
          <a:prstGeom prst="line">
            <a:avLst/>
          </a:prstGeom>
          <a:noFill/>
          <a:ln w="19050">
            <a:solidFill>
              <a:schemeClr val="accent6"/>
            </a:solidFill>
            <a:prstDash val="solid"/>
          </a:ln>
        </p:spPr>
        <p:txBody>
          <a:bodyPr/>
          <a:p/>
        </p:txBody>
      </p:sp>
      <p:sp>
        <p:nvSpPr>
          <p:cNvPr id="24" name="arrow-356"/>
          <p:cNvSpPr/>
          <p:nvPr/>
        </p:nvSpPr>
        <p:spPr>
          <a:xfrm flipH="1">
            <a:off x="1362456" y="3154680"/>
            <a:ext cx="9464040" cy="0"/>
          </a:xfrm>
          <a:prstGeom prst="line">
            <a:avLst/>
          </a:prstGeom>
          <a:noFill/>
          <a:ln w="19050">
            <a:solidFill>
              <a:schemeClr val="accent6"/>
            </a:solidFill>
            <a:prstDash val="solid"/>
          </a:ln>
        </p:spPr>
        <p:txBody>
          <a:bodyPr/>
          <a:p/>
        </p:txBody>
      </p:sp>
      <p:sp>
        <p:nvSpPr>
          <p:cNvPr id="25" name="arrow-357"/>
          <p:cNvSpPr/>
          <p:nvPr/>
        </p:nvSpPr>
        <p:spPr>
          <a:xfrm>
            <a:off x="1362456" y="3154680"/>
            <a:ext cx="0" cy="274320"/>
          </a:xfrm>
          <a:prstGeom prst="line">
            <a:avLst/>
          </a:prstGeom>
          <a:noFill/>
          <a:ln w="19050">
            <a:solidFill>
              <a:schemeClr val="accent6"/>
            </a:solidFill>
            <a:prstDash val="solid"/>
            <a:tailEnd type="triangle"/>
          </a:ln>
        </p:spPr>
        <p:txBody>
          <a:bodyPr/>
          <a:p/>
        </p:txBody>
      </p:sp>
      <p:sp>
        <p:nvSpPr>
          <p:cNvPr id="26" name="chip-358"/>
          <p:cNvSpPr txBox="1"/>
          <p:nvPr/>
        </p:nvSpPr>
        <p:spPr>
          <a:xfrm>
            <a:off x="548640" y="3429000"/>
            <a:ext cx="1627632" cy="420624"/>
          </a:xfrm>
          <a:prstGeom prst="roundRect">
            <a:avLst>
              <a:gd name="adj" fmla="val 17391"/>
            </a:avLst>
          </a:prstGeom>
          <a:solidFill>
            <a:schemeClr val="accent5"/>
          </a:solidFill>
          <a:ln/>
        </p:spPr>
        <p:txBody>
          <a:bodyPr wrap="square" lIns="38100" tIns="25400" rIns="38100" bIns="25400" rtlCol="0" anchor="ctr"/>
          <a:lstStyle/>
          <a:p>
            <a:pPr algn="ctr" indent="0" marL="0">
              <a:buNone/>
            </a:pPr>
            <a:r>
              <a:rPr lang="en-US" sz="1000" b="1" dirty="0">
                <a:solidFill>
                  <a:schemeClr val="bg1"/>
                </a:solidFill>
              </a:rPr>
              <a:t>JOB_STARTED</a:t>
            </a:r>
            <a:endParaRPr lang="en-US" sz="1000" dirty="0"/>
          </a:p>
        </p:txBody>
      </p:sp>
      <p:sp>
        <p:nvSpPr>
          <p:cNvPr id="27" name="chip-359"/>
          <p:cNvSpPr txBox="1"/>
          <p:nvPr/>
        </p:nvSpPr>
        <p:spPr>
          <a:xfrm>
            <a:off x="2441448" y="3429000"/>
            <a:ext cx="1627632" cy="420624"/>
          </a:xfrm>
          <a:prstGeom prst="roundRect">
            <a:avLst>
              <a:gd name="adj" fmla="val 17391"/>
            </a:avLst>
          </a:prstGeom>
          <a:solidFill>
            <a:schemeClr val="accent5"/>
          </a:solidFill>
          <a:ln/>
        </p:spPr>
        <p:txBody>
          <a:bodyPr wrap="square" lIns="38100" tIns="25400" rIns="38100" bIns="25400" rtlCol="0" anchor="ctr"/>
          <a:lstStyle/>
          <a:p>
            <a:pPr algn="ctr" indent="0" marL="0">
              <a:buNone/>
            </a:pPr>
            <a:r>
              <a:rPr lang="en-US" sz="1000" b="1" dirty="0">
                <a:solidFill>
                  <a:schemeClr val="bg1"/>
                </a:solidFill>
              </a:rPr>
              <a:t>ADDITIONAL_QUOTE_</a:t>
            </a:r>
            <a:endParaRPr lang="en-US" sz="1000" dirty="0"/>
          </a:p>
          <a:p>
            <a:pPr algn="ctr" indent="0" marL="0">
              <a:buNone/>
            </a:pPr>
            <a:r>
              <a:rPr lang="en-US" sz="1000" b="1" dirty="0">
                <a:solidFill>
                  <a:schemeClr val="bg1"/>
                </a:solidFill>
              </a:rPr>
              <a:t>REQUIRED</a:t>
            </a:r>
            <a:endParaRPr lang="en-US" sz="1000" dirty="0"/>
          </a:p>
        </p:txBody>
      </p:sp>
      <p:sp>
        <p:nvSpPr>
          <p:cNvPr id="28" name="chip-360"/>
          <p:cNvSpPr txBox="1"/>
          <p:nvPr/>
        </p:nvSpPr>
        <p:spPr>
          <a:xfrm>
            <a:off x="4334256" y="3429000"/>
            <a:ext cx="1627632" cy="420624"/>
          </a:xfrm>
          <a:prstGeom prst="roundRect">
            <a:avLst>
              <a:gd name="adj" fmla="val 17391"/>
            </a:avLst>
          </a:prstGeom>
          <a:solidFill>
            <a:schemeClr val="accent5"/>
          </a:solidFill>
          <a:ln/>
        </p:spPr>
        <p:txBody>
          <a:bodyPr wrap="square" lIns="38100" tIns="25400" rIns="38100" bIns="25400" rtlCol="0" anchor="ctr"/>
          <a:lstStyle/>
          <a:p>
            <a:pPr algn="ctr" indent="0" marL="0">
              <a:buNone/>
            </a:pPr>
            <a:r>
              <a:rPr lang="en-US" sz="1000" b="1" dirty="0">
                <a:solidFill>
                  <a:schemeClr val="bg1"/>
                </a:solidFill>
              </a:rPr>
              <a:t>CUSTOMER_APPROVAL_</a:t>
            </a:r>
            <a:endParaRPr lang="en-US" sz="1000" dirty="0"/>
          </a:p>
          <a:p>
            <a:pPr algn="ctr" indent="0" marL="0">
              <a:buNone/>
            </a:pPr>
            <a:r>
              <a:rPr lang="en-US" sz="1000" b="1" dirty="0">
                <a:solidFill>
                  <a:schemeClr val="bg1"/>
                </a:solidFill>
              </a:rPr>
              <a:t>PENDING</a:t>
            </a:r>
            <a:endParaRPr lang="en-US" sz="1000" dirty="0"/>
          </a:p>
        </p:txBody>
      </p:sp>
      <p:sp>
        <p:nvSpPr>
          <p:cNvPr id="29" name="chip-361"/>
          <p:cNvSpPr txBox="1"/>
          <p:nvPr/>
        </p:nvSpPr>
        <p:spPr>
          <a:xfrm>
            <a:off x="6227064" y="3429000"/>
            <a:ext cx="1627632" cy="420624"/>
          </a:xfrm>
          <a:prstGeom prst="roundRect">
            <a:avLst>
              <a:gd name="adj" fmla="val 17391"/>
            </a:avLst>
          </a:prstGeom>
          <a:solidFill>
            <a:schemeClr val="accent5"/>
          </a:solidFill>
          <a:ln/>
        </p:spPr>
        <p:txBody>
          <a:bodyPr wrap="square" lIns="38100" tIns="25400" rIns="38100" bIns="25400" rtlCol="0" anchor="ctr"/>
          <a:lstStyle/>
          <a:p>
            <a:pPr algn="ctr" indent="0" marL="0">
              <a:buNone/>
            </a:pPr>
            <a:r>
              <a:rPr lang="en-US" sz="1000" b="1" dirty="0">
                <a:solidFill>
                  <a:schemeClr val="bg1"/>
                </a:solidFill>
              </a:rPr>
              <a:t>JOB_COMPLETED</a:t>
            </a:r>
            <a:endParaRPr lang="en-US" sz="1000" dirty="0"/>
          </a:p>
        </p:txBody>
      </p:sp>
      <p:sp>
        <p:nvSpPr>
          <p:cNvPr id="30" name="chip-362"/>
          <p:cNvSpPr txBox="1"/>
          <p:nvPr/>
        </p:nvSpPr>
        <p:spPr>
          <a:xfrm>
            <a:off x="8119872" y="3429000"/>
            <a:ext cx="1627632" cy="420624"/>
          </a:xfrm>
          <a:prstGeom prst="roundRect">
            <a:avLst>
              <a:gd name="adj" fmla="val 17391"/>
            </a:avLst>
          </a:prstGeom>
          <a:solidFill>
            <a:schemeClr val="accent4"/>
          </a:solidFill>
          <a:ln/>
        </p:spPr>
        <p:txBody>
          <a:bodyPr wrap="square" lIns="38100" tIns="25400" rIns="38100" bIns="25400" rtlCol="0" anchor="ctr"/>
          <a:lstStyle/>
          <a:p>
            <a:pPr algn="ctr" indent="0" marL="0">
              <a:buNone/>
            </a:pPr>
            <a:r>
              <a:rPr lang="en-US" sz="1000" b="1" dirty="0">
                <a:solidFill>
                  <a:schemeClr val="bg1"/>
                </a:solidFill>
              </a:rPr>
              <a:t>DISPUTED</a:t>
            </a:r>
            <a:endParaRPr lang="en-US" sz="1000" dirty="0"/>
          </a:p>
        </p:txBody>
      </p:sp>
      <p:sp>
        <p:nvSpPr>
          <p:cNvPr id="31" name="chip-363"/>
          <p:cNvSpPr txBox="1"/>
          <p:nvPr/>
        </p:nvSpPr>
        <p:spPr>
          <a:xfrm>
            <a:off x="10012680" y="3429000"/>
            <a:ext cx="1627632" cy="420624"/>
          </a:xfrm>
          <a:prstGeom prst="roundRect">
            <a:avLst>
              <a:gd name="adj" fmla="val 17391"/>
            </a:avLst>
          </a:prstGeom>
          <a:solidFill>
            <a:schemeClr val="accent4"/>
          </a:solidFill>
          <a:ln/>
        </p:spPr>
        <p:txBody>
          <a:bodyPr wrap="square" lIns="38100" tIns="25400" rIns="38100" bIns="25400" rtlCol="0" anchor="ctr"/>
          <a:lstStyle/>
          <a:p>
            <a:pPr algn="ctr" indent="0" marL="0">
              <a:buNone/>
            </a:pPr>
            <a:r>
              <a:rPr lang="en-US" sz="1000" b="1" dirty="0">
                <a:solidFill>
                  <a:schemeClr val="bg1"/>
                </a:solidFill>
              </a:rPr>
              <a:t>REFUNDED</a:t>
            </a:r>
            <a:endParaRPr lang="en-US" sz="1000" dirty="0"/>
          </a:p>
        </p:txBody>
      </p:sp>
      <p:sp>
        <p:nvSpPr>
          <p:cNvPr id="32" name="chip-364"/>
          <p:cNvSpPr txBox="1"/>
          <p:nvPr/>
        </p:nvSpPr>
        <p:spPr>
          <a:xfrm>
            <a:off x="548640" y="4297680"/>
            <a:ext cx="1627632" cy="420624"/>
          </a:xfrm>
          <a:prstGeom prst="roundRect">
            <a:avLst>
              <a:gd name="adj" fmla="val 17391"/>
            </a:avLst>
          </a:prstGeom>
          <a:solidFill>
            <a:schemeClr val="accent5"/>
          </a:solidFill>
          <a:ln/>
        </p:spPr>
        <p:txBody>
          <a:bodyPr wrap="square" lIns="38100" tIns="25400" rIns="38100" bIns="25400" rtlCol="0" anchor="ctr"/>
          <a:lstStyle/>
          <a:p>
            <a:pPr algn="ctr" indent="0" marL="0">
              <a:buNone/>
            </a:pPr>
            <a:r>
              <a:rPr lang="en-US" sz="1000" b="1" dirty="0">
                <a:solidFill>
                  <a:schemeClr val="bg1"/>
                </a:solidFill>
              </a:rPr>
              <a:t>JOB_PAUSED</a:t>
            </a:r>
            <a:endParaRPr lang="en-US" sz="1000" dirty="0"/>
          </a:p>
        </p:txBody>
      </p:sp>
      <p:sp>
        <p:nvSpPr>
          <p:cNvPr id="33" name="arrow-365"/>
          <p:cNvSpPr/>
          <p:nvPr/>
        </p:nvSpPr>
        <p:spPr>
          <a:xfrm>
            <a:off x="2176272" y="3639312"/>
            <a:ext cx="265176" cy="0"/>
          </a:xfrm>
          <a:prstGeom prst="line">
            <a:avLst/>
          </a:prstGeom>
          <a:noFill/>
          <a:ln w="19050">
            <a:solidFill>
              <a:schemeClr val="accent6"/>
            </a:solidFill>
            <a:prstDash val="solid"/>
            <a:tailEnd type="triangle"/>
          </a:ln>
        </p:spPr>
        <p:txBody>
          <a:bodyPr/>
          <a:p/>
        </p:txBody>
      </p:sp>
      <p:sp>
        <p:nvSpPr>
          <p:cNvPr id="34" name="arrow-366"/>
          <p:cNvSpPr/>
          <p:nvPr/>
        </p:nvSpPr>
        <p:spPr>
          <a:xfrm>
            <a:off x="4069080" y="3639312"/>
            <a:ext cx="265176" cy="0"/>
          </a:xfrm>
          <a:prstGeom prst="line">
            <a:avLst/>
          </a:prstGeom>
          <a:noFill/>
          <a:ln w="19050">
            <a:solidFill>
              <a:schemeClr val="accent6"/>
            </a:solidFill>
            <a:prstDash val="solid"/>
            <a:tailEnd type="triangle"/>
          </a:ln>
        </p:spPr>
        <p:txBody>
          <a:bodyPr/>
          <a:p/>
        </p:txBody>
      </p:sp>
      <p:sp>
        <p:nvSpPr>
          <p:cNvPr id="35" name="arrow-367"/>
          <p:cNvSpPr/>
          <p:nvPr/>
        </p:nvSpPr>
        <p:spPr>
          <a:xfrm>
            <a:off x="5961888" y="3639312"/>
            <a:ext cx="265176" cy="0"/>
          </a:xfrm>
          <a:prstGeom prst="line">
            <a:avLst/>
          </a:prstGeom>
          <a:noFill/>
          <a:ln w="19050">
            <a:solidFill>
              <a:schemeClr val="accent6"/>
            </a:solidFill>
            <a:prstDash val="solid"/>
            <a:tailEnd type="triangle"/>
          </a:ln>
        </p:spPr>
        <p:txBody>
          <a:bodyPr/>
          <a:p/>
        </p:txBody>
      </p:sp>
      <p:sp>
        <p:nvSpPr>
          <p:cNvPr id="36" name="text-368"/>
          <p:cNvSpPr txBox="1"/>
          <p:nvPr/>
        </p:nvSpPr>
        <p:spPr>
          <a:xfrm>
            <a:off x="5961888" y="3209544"/>
            <a:ext cx="548640" cy="201168"/>
          </a:xfrm>
          <a:prstGeom prst="rect">
            <a:avLst/>
          </a:prstGeom>
          <a:noFill/>
          <a:ln/>
        </p:spPr>
        <p:txBody>
          <a:bodyPr wrap="square" lIns="0" tIns="0" rIns="0" bIns="0" rtlCol="0" anchor="t"/>
          <a:lstStyle/>
          <a:p>
            <a:pPr algn="ctr" indent="0" marL="0">
              <a:buNone/>
            </a:pPr>
            <a:r>
              <a:rPr lang="en-US" sz="950" dirty="0">
                <a:solidFill>
                  <a:schemeClr val="accent6"/>
                </a:solidFill>
              </a:rPr>
              <a:t>rejected</a:t>
            </a:r>
            <a:endParaRPr lang="en-US" sz="950" dirty="0"/>
          </a:p>
        </p:txBody>
      </p:sp>
      <p:sp>
        <p:nvSpPr>
          <p:cNvPr id="37" name="arrow-369"/>
          <p:cNvSpPr/>
          <p:nvPr/>
        </p:nvSpPr>
        <p:spPr>
          <a:xfrm>
            <a:off x="7854696" y="3639312"/>
            <a:ext cx="265176" cy="0"/>
          </a:xfrm>
          <a:prstGeom prst="line">
            <a:avLst/>
          </a:prstGeom>
          <a:noFill/>
          <a:ln w="19050">
            <a:solidFill>
              <a:schemeClr val="accent6"/>
            </a:solidFill>
            <a:prstDash val="solid"/>
            <a:tailEnd type="triangle"/>
          </a:ln>
        </p:spPr>
        <p:txBody>
          <a:bodyPr/>
          <a:p/>
        </p:txBody>
      </p:sp>
      <p:sp>
        <p:nvSpPr>
          <p:cNvPr id="38" name="arrow-370"/>
          <p:cNvSpPr/>
          <p:nvPr/>
        </p:nvSpPr>
        <p:spPr>
          <a:xfrm>
            <a:off x="9747504" y="3639312"/>
            <a:ext cx="265176" cy="0"/>
          </a:xfrm>
          <a:prstGeom prst="line">
            <a:avLst/>
          </a:prstGeom>
          <a:noFill/>
          <a:ln w="19050">
            <a:solidFill>
              <a:schemeClr val="accent6"/>
            </a:solidFill>
            <a:prstDash val="solid"/>
            <a:tailEnd type="triangle"/>
          </a:ln>
        </p:spPr>
        <p:txBody>
          <a:bodyPr/>
          <a:p/>
        </p:txBody>
      </p:sp>
      <p:sp>
        <p:nvSpPr>
          <p:cNvPr id="39" name="arrow-371"/>
          <p:cNvSpPr/>
          <p:nvPr/>
        </p:nvSpPr>
        <p:spPr>
          <a:xfrm>
            <a:off x="1097280" y="3849624"/>
            <a:ext cx="0" cy="448056"/>
          </a:xfrm>
          <a:prstGeom prst="line">
            <a:avLst/>
          </a:prstGeom>
          <a:noFill/>
          <a:ln w="19050">
            <a:solidFill>
              <a:schemeClr val="accent6"/>
            </a:solidFill>
            <a:prstDash val="solid"/>
            <a:headEnd type="triangle"/>
            <a:tailEnd type="triangle"/>
          </a:ln>
        </p:spPr>
        <p:txBody>
          <a:bodyPr/>
          <a:p/>
        </p:txBody>
      </p:sp>
      <p:sp>
        <p:nvSpPr>
          <p:cNvPr id="40" name="arrow-372"/>
          <p:cNvSpPr/>
          <p:nvPr/>
        </p:nvSpPr>
        <p:spPr>
          <a:xfrm>
            <a:off x="1737360" y="3849624"/>
            <a:ext cx="0" cy="201168"/>
          </a:xfrm>
          <a:prstGeom prst="line">
            <a:avLst/>
          </a:prstGeom>
          <a:noFill/>
          <a:ln w="19050">
            <a:solidFill>
              <a:schemeClr val="accent6"/>
            </a:solidFill>
            <a:prstDash val="solid"/>
          </a:ln>
        </p:spPr>
        <p:txBody>
          <a:bodyPr/>
          <a:p/>
        </p:txBody>
      </p:sp>
      <p:sp>
        <p:nvSpPr>
          <p:cNvPr id="41" name="arrow-373"/>
          <p:cNvSpPr/>
          <p:nvPr/>
        </p:nvSpPr>
        <p:spPr>
          <a:xfrm>
            <a:off x="1737360" y="4050792"/>
            <a:ext cx="4946904" cy="0"/>
          </a:xfrm>
          <a:prstGeom prst="line">
            <a:avLst/>
          </a:prstGeom>
          <a:noFill/>
          <a:ln w="19050">
            <a:solidFill>
              <a:schemeClr val="accent6"/>
            </a:solidFill>
            <a:prstDash val="solid"/>
          </a:ln>
        </p:spPr>
        <p:txBody>
          <a:bodyPr/>
          <a:p/>
        </p:txBody>
      </p:sp>
      <p:sp>
        <p:nvSpPr>
          <p:cNvPr id="42" name="arrow-374"/>
          <p:cNvSpPr/>
          <p:nvPr/>
        </p:nvSpPr>
        <p:spPr>
          <a:xfrm flipV="1">
            <a:off x="6684264" y="3849624"/>
            <a:ext cx="0" cy="201168"/>
          </a:xfrm>
          <a:prstGeom prst="line">
            <a:avLst/>
          </a:prstGeom>
          <a:noFill/>
          <a:ln w="19050">
            <a:solidFill>
              <a:schemeClr val="accent6"/>
            </a:solidFill>
            <a:prstDash val="solid"/>
            <a:tailEnd type="triangle"/>
          </a:ln>
        </p:spPr>
        <p:txBody>
          <a:bodyPr/>
          <a:p/>
        </p:txBody>
      </p:sp>
      <p:sp>
        <p:nvSpPr>
          <p:cNvPr id="43" name="arrow-375"/>
          <p:cNvSpPr/>
          <p:nvPr/>
        </p:nvSpPr>
        <p:spPr>
          <a:xfrm flipV="1">
            <a:off x="5148072" y="3319272"/>
            <a:ext cx="0" cy="109728"/>
          </a:xfrm>
          <a:prstGeom prst="line">
            <a:avLst/>
          </a:prstGeom>
          <a:noFill/>
          <a:ln w="19050">
            <a:solidFill>
              <a:schemeClr val="accent6"/>
            </a:solidFill>
            <a:prstDash val="solid"/>
          </a:ln>
        </p:spPr>
        <p:txBody>
          <a:bodyPr/>
          <a:p/>
        </p:txBody>
      </p:sp>
      <p:sp>
        <p:nvSpPr>
          <p:cNvPr id="44" name="arrow-376"/>
          <p:cNvSpPr/>
          <p:nvPr/>
        </p:nvSpPr>
        <p:spPr>
          <a:xfrm flipH="1">
            <a:off x="1737360" y="3319272"/>
            <a:ext cx="3410712" cy="0"/>
          </a:xfrm>
          <a:prstGeom prst="line">
            <a:avLst/>
          </a:prstGeom>
          <a:noFill/>
          <a:ln w="19050">
            <a:solidFill>
              <a:schemeClr val="accent6"/>
            </a:solidFill>
            <a:prstDash val="solid"/>
          </a:ln>
        </p:spPr>
        <p:txBody>
          <a:bodyPr/>
          <a:p/>
        </p:txBody>
      </p:sp>
      <p:sp>
        <p:nvSpPr>
          <p:cNvPr id="45" name="arrow-377"/>
          <p:cNvSpPr/>
          <p:nvPr/>
        </p:nvSpPr>
        <p:spPr>
          <a:xfrm>
            <a:off x="1737360" y="3319272"/>
            <a:ext cx="0" cy="109728"/>
          </a:xfrm>
          <a:prstGeom prst="line">
            <a:avLst/>
          </a:prstGeom>
          <a:noFill/>
          <a:ln w="19050">
            <a:solidFill>
              <a:schemeClr val="accent6"/>
            </a:solidFill>
            <a:prstDash val="solid"/>
            <a:tailEnd type="triangle"/>
          </a:ln>
        </p:spPr>
        <p:txBody>
          <a:bodyPr/>
          <a:p/>
        </p:txBody>
      </p:sp>
      <p:sp>
        <p:nvSpPr>
          <p:cNvPr id="46" name="text-378"/>
          <p:cNvSpPr txBox="1"/>
          <p:nvPr/>
        </p:nvSpPr>
        <p:spPr>
          <a:xfrm>
            <a:off x="5202936" y="3182112"/>
            <a:ext cx="731520" cy="182880"/>
          </a:xfrm>
          <a:prstGeom prst="rect">
            <a:avLst/>
          </a:prstGeom>
          <a:noFill/>
          <a:ln/>
        </p:spPr>
        <p:txBody>
          <a:bodyPr wrap="square" lIns="0" tIns="0" rIns="0" bIns="0" rtlCol="0" anchor="t"/>
          <a:lstStyle/>
          <a:p>
            <a:pPr algn="l" indent="0" marL="0">
              <a:buNone/>
            </a:pPr>
            <a:r>
              <a:rPr lang="en-US" sz="950" dirty="0">
                <a:solidFill>
                  <a:schemeClr val="accent6"/>
                </a:solidFill>
              </a:rPr>
              <a:t>approved</a:t>
            </a:r>
            <a:endParaRPr lang="en-US" sz="950" dirty="0"/>
          </a:p>
        </p:txBody>
      </p:sp>
      <p:sp>
        <p:nvSpPr>
          <p:cNvPr id="47" name="chip-379"/>
          <p:cNvSpPr txBox="1"/>
          <p:nvPr/>
        </p:nvSpPr>
        <p:spPr>
          <a:xfrm>
            <a:off x="6227064" y="5166360"/>
            <a:ext cx="1627632" cy="420624"/>
          </a:xfrm>
          <a:prstGeom prst="roundRect">
            <a:avLst>
              <a:gd name="adj" fmla="val 17391"/>
            </a:avLst>
          </a:prstGeom>
          <a:solidFill>
            <a:schemeClr val="accent2"/>
          </a:solidFill>
          <a:ln/>
        </p:spPr>
        <p:txBody>
          <a:bodyPr wrap="square" lIns="38100" tIns="25400" rIns="38100" bIns="25400" rtlCol="0" anchor="ctr"/>
          <a:lstStyle/>
          <a:p>
            <a:pPr algn="ctr" indent="0" marL="0">
              <a:buNone/>
            </a:pPr>
            <a:r>
              <a:rPr lang="en-US" sz="1000" b="1" dirty="0">
                <a:solidFill>
                  <a:schemeClr val="bg1"/>
                </a:solidFill>
              </a:rPr>
              <a:t>CUSTOMER_CONFIRMED</a:t>
            </a:r>
            <a:endParaRPr lang="en-US" sz="1000" dirty="0"/>
          </a:p>
        </p:txBody>
      </p:sp>
      <p:sp>
        <p:nvSpPr>
          <p:cNvPr id="48" name="chip-380"/>
          <p:cNvSpPr txBox="1"/>
          <p:nvPr/>
        </p:nvSpPr>
        <p:spPr>
          <a:xfrm>
            <a:off x="8119872" y="5166360"/>
            <a:ext cx="1627632" cy="420624"/>
          </a:xfrm>
          <a:prstGeom prst="roundRect">
            <a:avLst>
              <a:gd name="adj" fmla="val 17391"/>
            </a:avLst>
          </a:prstGeom>
          <a:solidFill>
            <a:schemeClr val="accent2"/>
          </a:solidFill>
          <a:ln/>
        </p:spPr>
        <p:txBody>
          <a:bodyPr wrap="square" lIns="38100" tIns="25400" rIns="38100" bIns="25400" rtlCol="0" anchor="ctr"/>
          <a:lstStyle/>
          <a:p>
            <a:pPr algn="ctr" indent="0" marL="0">
              <a:buNone/>
            </a:pPr>
            <a:r>
              <a:rPr lang="en-US" sz="1000" b="1" dirty="0">
                <a:solidFill>
                  <a:schemeClr val="bg1"/>
                </a:solidFill>
              </a:rPr>
              <a:t>PAYMENT_PENDING</a:t>
            </a:r>
            <a:endParaRPr lang="en-US" sz="1000" dirty="0"/>
          </a:p>
        </p:txBody>
      </p:sp>
      <p:sp>
        <p:nvSpPr>
          <p:cNvPr id="49" name="chip-381"/>
          <p:cNvSpPr txBox="1"/>
          <p:nvPr/>
        </p:nvSpPr>
        <p:spPr>
          <a:xfrm>
            <a:off x="10012680" y="5166360"/>
            <a:ext cx="1627632" cy="420624"/>
          </a:xfrm>
          <a:prstGeom prst="roundRect">
            <a:avLst>
              <a:gd name="adj" fmla="val 17391"/>
            </a:avLst>
          </a:prstGeom>
          <a:solidFill>
            <a:schemeClr val="accent2"/>
          </a:solidFill>
          <a:ln/>
        </p:spPr>
        <p:txBody>
          <a:bodyPr wrap="square" lIns="38100" tIns="25400" rIns="38100" bIns="25400" rtlCol="0" anchor="ctr"/>
          <a:lstStyle/>
          <a:p>
            <a:pPr algn="ctr" indent="0" marL="0">
              <a:buNone/>
            </a:pPr>
            <a:r>
              <a:rPr lang="en-US" sz="1000" b="1" dirty="0">
                <a:solidFill>
                  <a:schemeClr val="bg1"/>
                </a:solidFill>
              </a:rPr>
              <a:t>PAYMENT_COMPLETED</a:t>
            </a:r>
            <a:endParaRPr lang="en-US" sz="1000" dirty="0"/>
          </a:p>
        </p:txBody>
      </p:sp>
      <p:sp>
        <p:nvSpPr>
          <p:cNvPr id="50" name="arrow-382"/>
          <p:cNvSpPr/>
          <p:nvPr/>
        </p:nvSpPr>
        <p:spPr>
          <a:xfrm>
            <a:off x="7040880" y="3849624"/>
            <a:ext cx="0" cy="1316736"/>
          </a:xfrm>
          <a:prstGeom prst="line">
            <a:avLst/>
          </a:prstGeom>
          <a:noFill/>
          <a:ln w="19050">
            <a:solidFill>
              <a:schemeClr val="accent6"/>
            </a:solidFill>
            <a:prstDash val="solid"/>
            <a:tailEnd type="triangle"/>
          </a:ln>
        </p:spPr>
        <p:txBody>
          <a:bodyPr/>
          <a:p/>
        </p:txBody>
      </p:sp>
      <p:sp>
        <p:nvSpPr>
          <p:cNvPr id="51" name="text-383"/>
          <p:cNvSpPr txBox="1"/>
          <p:nvPr/>
        </p:nvSpPr>
        <p:spPr>
          <a:xfrm>
            <a:off x="7114032" y="4160520"/>
            <a:ext cx="1097280" cy="201168"/>
          </a:xfrm>
          <a:prstGeom prst="rect">
            <a:avLst/>
          </a:prstGeom>
          <a:noFill/>
          <a:ln/>
        </p:spPr>
        <p:txBody>
          <a:bodyPr wrap="square" lIns="0" tIns="0" rIns="0" bIns="0" rtlCol="0" anchor="t"/>
          <a:lstStyle/>
          <a:p>
            <a:pPr algn="l" indent="0" marL="0">
              <a:buNone/>
            </a:pPr>
            <a:r>
              <a:rPr lang="en-US" sz="950" dirty="0">
                <a:solidFill>
                  <a:schemeClr val="accent6"/>
                </a:solidFill>
              </a:rPr>
              <a:t>customer pays</a:t>
            </a:r>
            <a:endParaRPr lang="en-US" sz="950" dirty="0"/>
          </a:p>
        </p:txBody>
      </p:sp>
      <p:sp>
        <p:nvSpPr>
          <p:cNvPr id="52" name="arrow-384"/>
          <p:cNvSpPr/>
          <p:nvPr/>
        </p:nvSpPr>
        <p:spPr>
          <a:xfrm>
            <a:off x="7854696" y="5376672"/>
            <a:ext cx="265176" cy="0"/>
          </a:xfrm>
          <a:prstGeom prst="line">
            <a:avLst/>
          </a:prstGeom>
          <a:noFill/>
          <a:ln w="19050">
            <a:solidFill>
              <a:schemeClr val="accent6"/>
            </a:solidFill>
            <a:prstDash val="solid"/>
            <a:tailEnd type="triangle"/>
          </a:ln>
        </p:spPr>
        <p:txBody>
          <a:bodyPr/>
          <a:p/>
        </p:txBody>
      </p:sp>
      <p:sp>
        <p:nvSpPr>
          <p:cNvPr id="53" name="arrow-385"/>
          <p:cNvSpPr/>
          <p:nvPr/>
        </p:nvSpPr>
        <p:spPr>
          <a:xfrm>
            <a:off x="9747504" y="5376672"/>
            <a:ext cx="265176" cy="0"/>
          </a:xfrm>
          <a:prstGeom prst="line">
            <a:avLst/>
          </a:prstGeom>
          <a:noFill/>
          <a:ln w="19050">
            <a:solidFill>
              <a:schemeClr val="accent6"/>
            </a:solidFill>
            <a:prstDash val="solid"/>
            <a:tailEnd type="triangle"/>
          </a:ln>
        </p:spPr>
        <p:txBody>
          <a:bodyPr/>
          <a:p/>
        </p:txBody>
      </p:sp>
      <p:sp>
        <p:nvSpPr>
          <p:cNvPr id="54" name="arrow-386"/>
          <p:cNvSpPr/>
          <p:nvPr/>
        </p:nvSpPr>
        <p:spPr>
          <a:xfrm flipV="1">
            <a:off x="8933688" y="3849624"/>
            <a:ext cx="0" cy="1316736"/>
          </a:xfrm>
          <a:prstGeom prst="line">
            <a:avLst/>
          </a:prstGeom>
          <a:noFill/>
          <a:ln w="19050">
            <a:solidFill>
              <a:schemeClr val="accent6"/>
            </a:solidFill>
            <a:prstDash val="solid"/>
            <a:tailEnd type="triangle"/>
          </a:ln>
        </p:spPr>
        <p:txBody>
          <a:bodyPr/>
          <a:p/>
        </p:txBody>
      </p:sp>
      <p:sp>
        <p:nvSpPr>
          <p:cNvPr id="55" name="arrow-387"/>
          <p:cNvSpPr/>
          <p:nvPr/>
        </p:nvSpPr>
        <p:spPr>
          <a:xfrm flipV="1">
            <a:off x="10826496" y="3849624"/>
            <a:ext cx="0" cy="1316736"/>
          </a:xfrm>
          <a:prstGeom prst="line">
            <a:avLst/>
          </a:prstGeom>
          <a:noFill/>
          <a:ln w="19050">
            <a:solidFill>
              <a:schemeClr val="accent6"/>
            </a:solidFill>
            <a:prstDash val="solid"/>
            <a:tailEnd type="triangle"/>
          </a:ln>
        </p:spPr>
        <p:txBody>
          <a:bodyPr/>
          <a:p/>
        </p:txBody>
      </p:sp>
      <p:sp>
        <p:nvSpPr>
          <p:cNvPr id="56" name="arrow-388"/>
          <p:cNvSpPr/>
          <p:nvPr/>
        </p:nvSpPr>
        <p:spPr>
          <a:xfrm>
            <a:off x="9564624" y="3849624"/>
            <a:ext cx="722376" cy="1316736"/>
          </a:xfrm>
          <a:prstGeom prst="line">
            <a:avLst/>
          </a:prstGeom>
          <a:noFill/>
          <a:ln w="19050">
            <a:solidFill>
              <a:schemeClr val="accent6"/>
            </a:solidFill>
            <a:prstDash val="solid"/>
            <a:tailEnd type="triangle"/>
          </a:ln>
        </p:spPr>
        <p:txBody>
          <a:bodyPr/>
          <a:p/>
        </p:txBody>
      </p:sp>
      <p:sp>
        <p:nvSpPr>
          <p:cNvPr id="57" name="box-389"/>
          <p:cNvSpPr txBox="1"/>
          <p:nvPr/>
        </p:nvSpPr>
        <p:spPr>
          <a:xfrm>
            <a:off x="548640" y="5897880"/>
            <a:ext cx="256032" cy="256032"/>
          </a:xfrm>
          <a:prstGeom prst="roundRect">
            <a:avLst>
              <a:gd name="adj" fmla="val 17857"/>
            </a:avLst>
          </a:prstGeom>
          <a:solidFill>
            <a:schemeClr val="accent1"/>
          </a:solidFill>
          <a:ln/>
        </p:spPr>
        <p:txBody>
          <a:bodyPr wrap="square" lIns="76200" tIns="38100" rIns="76200" bIns="38100" rtlCol="0" anchor="ctr"/>
          <a:lstStyle/>
          <a:p>
            <a:pPr algn="ctr" indent="0" marL="0">
              <a:buNone/>
            </a:pPr>
            <a:endParaRPr lang="en-US" sz="1200" dirty="0"/>
          </a:p>
        </p:txBody>
      </p:sp>
      <p:sp>
        <p:nvSpPr>
          <p:cNvPr id="58" name="text-390"/>
          <p:cNvSpPr txBox="1"/>
          <p:nvPr/>
        </p:nvSpPr>
        <p:spPr>
          <a:xfrm>
            <a:off x="877824" y="5897880"/>
            <a:ext cx="1005840" cy="256032"/>
          </a:xfrm>
          <a:prstGeom prst="rect">
            <a:avLst/>
          </a:prstGeom>
          <a:noFill/>
          <a:ln/>
        </p:spPr>
        <p:txBody>
          <a:bodyPr wrap="square" lIns="0" tIns="0" rIns="0" bIns="0" rtlCol="0" anchor="ctr"/>
          <a:lstStyle/>
          <a:p>
            <a:pPr algn="l" indent="0" marL="0">
              <a:buNone/>
            </a:pPr>
            <a:r>
              <a:rPr lang="en-US" sz="1100" dirty="0">
                <a:solidFill>
                  <a:schemeClr val="tx1"/>
                </a:solidFill>
              </a:rPr>
              <a:t>Search</a:t>
            </a:r>
            <a:endParaRPr lang="en-US" sz="1100" dirty="0"/>
          </a:p>
        </p:txBody>
      </p:sp>
      <p:sp>
        <p:nvSpPr>
          <p:cNvPr id="59" name="box-391"/>
          <p:cNvSpPr txBox="1"/>
          <p:nvPr/>
        </p:nvSpPr>
        <p:spPr>
          <a:xfrm>
            <a:off x="1920240" y="5897880"/>
            <a:ext cx="256032" cy="256032"/>
          </a:xfrm>
          <a:prstGeom prst="roundRect">
            <a:avLst>
              <a:gd name="adj" fmla="val 17857"/>
            </a:avLst>
          </a:prstGeom>
          <a:solidFill>
            <a:schemeClr val="accent5"/>
          </a:solidFill>
          <a:ln/>
        </p:spPr>
        <p:txBody>
          <a:bodyPr wrap="square" lIns="76200" tIns="38100" rIns="76200" bIns="38100" rtlCol="0" anchor="ctr"/>
          <a:lstStyle/>
          <a:p>
            <a:pPr algn="ctr" indent="0" marL="0">
              <a:buNone/>
            </a:pPr>
            <a:endParaRPr lang="en-US" sz="1200" dirty="0"/>
          </a:p>
        </p:txBody>
      </p:sp>
      <p:sp>
        <p:nvSpPr>
          <p:cNvPr id="60" name="text-392"/>
          <p:cNvSpPr txBox="1"/>
          <p:nvPr/>
        </p:nvSpPr>
        <p:spPr>
          <a:xfrm>
            <a:off x="2249424" y="5897880"/>
            <a:ext cx="1005840" cy="256032"/>
          </a:xfrm>
          <a:prstGeom prst="rect">
            <a:avLst/>
          </a:prstGeom>
          <a:noFill/>
          <a:ln/>
        </p:spPr>
        <p:txBody>
          <a:bodyPr wrap="square" lIns="0" tIns="0" rIns="0" bIns="0" rtlCol="0" anchor="ctr"/>
          <a:lstStyle/>
          <a:p>
            <a:pPr algn="l" indent="0" marL="0">
              <a:buNone/>
            </a:pPr>
            <a:r>
              <a:rPr lang="en-US" sz="1100" dirty="0">
                <a:solidFill>
                  <a:schemeClr val="tx1"/>
                </a:solidFill>
              </a:rPr>
              <a:t>Work</a:t>
            </a:r>
            <a:endParaRPr lang="en-US" sz="1100" dirty="0"/>
          </a:p>
        </p:txBody>
      </p:sp>
      <p:sp>
        <p:nvSpPr>
          <p:cNvPr id="61" name="box-393"/>
          <p:cNvSpPr txBox="1"/>
          <p:nvPr/>
        </p:nvSpPr>
        <p:spPr>
          <a:xfrm>
            <a:off x="3291840" y="5897880"/>
            <a:ext cx="256032" cy="256032"/>
          </a:xfrm>
          <a:prstGeom prst="roundRect">
            <a:avLst>
              <a:gd name="adj" fmla="val 17857"/>
            </a:avLst>
          </a:prstGeom>
          <a:solidFill>
            <a:schemeClr val="accent2"/>
          </a:solidFill>
          <a:ln/>
        </p:spPr>
        <p:txBody>
          <a:bodyPr wrap="square" lIns="76200" tIns="38100" rIns="76200" bIns="38100" rtlCol="0" anchor="ctr"/>
          <a:lstStyle/>
          <a:p>
            <a:pPr algn="ctr" indent="0" marL="0">
              <a:buNone/>
            </a:pPr>
            <a:endParaRPr lang="en-US" sz="1200" dirty="0"/>
          </a:p>
        </p:txBody>
      </p:sp>
      <p:sp>
        <p:nvSpPr>
          <p:cNvPr id="62" name="text-394"/>
          <p:cNvSpPr txBox="1"/>
          <p:nvPr/>
        </p:nvSpPr>
        <p:spPr>
          <a:xfrm>
            <a:off x="3621024" y="5897880"/>
            <a:ext cx="1005840" cy="256032"/>
          </a:xfrm>
          <a:prstGeom prst="rect">
            <a:avLst/>
          </a:prstGeom>
          <a:noFill/>
          <a:ln/>
        </p:spPr>
        <p:txBody>
          <a:bodyPr wrap="square" lIns="0" tIns="0" rIns="0" bIns="0" rtlCol="0" anchor="ctr"/>
          <a:lstStyle/>
          <a:p>
            <a:pPr algn="l" indent="0" marL="0">
              <a:buNone/>
            </a:pPr>
            <a:r>
              <a:rPr lang="en-US" sz="1100" dirty="0">
                <a:solidFill>
                  <a:schemeClr val="tx1"/>
                </a:solidFill>
              </a:rPr>
              <a:t>Money</a:t>
            </a:r>
            <a:endParaRPr lang="en-US" sz="1100" dirty="0"/>
          </a:p>
        </p:txBody>
      </p:sp>
      <p:sp>
        <p:nvSpPr>
          <p:cNvPr id="63" name="box-395"/>
          <p:cNvSpPr txBox="1"/>
          <p:nvPr/>
        </p:nvSpPr>
        <p:spPr>
          <a:xfrm>
            <a:off x="4663440" y="5897880"/>
            <a:ext cx="256032" cy="256032"/>
          </a:xfrm>
          <a:prstGeom prst="roundRect">
            <a:avLst>
              <a:gd name="adj" fmla="val 17857"/>
            </a:avLst>
          </a:prstGeom>
          <a:solidFill>
            <a:schemeClr val="accent4"/>
          </a:solidFill>
          <a:ln/>
        </p:spPr>
        <p:txBody>
          <a:bodyPr wrap="square" lIns="76200" tIns="38100" rIns="76200" bIns="38100" rtlCol="0" anchor="ctr"/>
          <a:lstStyle/>
          <a:p>
            <a:pPr algn="ctr" indent="0" marL="0">
              <a:buNone/>
            </a:pPr>
            <a:endParaRPr lang="en-US" sz="1200" dirty="0"/>
          </a:p>
        </p:txBody>
      </p:sp>
      <p:sp>
        <p:nvSpPr>
          <p:cNvPr id="64" name="text-396"/>
          <p:cNvSpPr txBox="1"/>
          <p:nvPr/>
        </p:nvSpPr>
        <p:spPr>
          <a:xfrm>
            <a:off x="4992624" y="5897880"/>
            <a:ext cx="1005840" cy="256032"/>
          </a:xfrm>
          <a:prstGeom prst="rect">
            <a:avLst/>
          </a:prstGeom>
          <a:noFill/>
          <a:ln/>
        </p:spPr>
        <p:txBody>
          <a:bodyPr wrap="square" lIns="0" tIns="0" rIns="0" bIns="0" rtlCol="0" anchor="ctr"/>
          <a:lstStyle/>
          <a:p>
            <a:pPr algn="l" indent="0" marL="0">
              <a:buNone/>
            </a:pPr>
            <a:r>
              <a:rPr lang="en-US" sz="1100" dirty="0">
                <a:solidFill>
                  <a:schemeClr val="tx1"/>
                </a:solidFill>
              </a:rPr>
              <a:t>Exceptions</a:t>
            </a:r>
            <a:endParaRPr lang="en-US" sz="1100" dirty="0"/>
          </a:p>
        </p:txBody>
      </p:sp>
      <p:sp>
        <p:nvSpPr>
          <p:cNvPr id="65" name="text-397"/>
          <p:cNvSpPr txBox="1"/>
          <p:nvPr/>
        </p:nvSpPr>
        <p:spPr>
          <a:xfrm>
            <a:off x="6035040" y="5897880"/>
            <a:ext cx="5605272" cy="274320"/>
          </a:xfrm>
          <a:prstGeom prst="rect">
            <a:avLst/>
          </a:prstGeom>
          <a:noFill/>
          <a:ln/>
        </p:spPr>
        <p:txBody>
          <a:bodyPr wrap="square" lIns="0" tIns="0" rIns="0" bIns="0" rtlCol="0" anchor="t"/>
          <a:lstStyle/>
          <a:p>
            <a:pPr algn="r" indent="0" marL="0">
              <a:buNone/>
            </a:pPr>
            <a:r>
              <a:rPr lang="en-US" sz="1100" i="1" dirty="0">
                <a:solidFill>
                  <a:schemeClr val="accent6"/>
                </a:solidFill>
              </a:rPr>
              <a:t>Passed-through states are entered and left in one transaction: audited, but no event</a:t>
            </a:r>
            <a:endParaRPr lang="en-US" sz="11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Payment, invoice and what follows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The PENDING row commits before the gateway is called, so a charge never happens without a record</a:t>
            </a:r>
            <a:endParaRPr lang="en-US" sz="1500" dirty="0"/>
          </a:p>
        </p:txBody>
      </p:sp>
      <p:sp>
        <p:nvSpPr>
          <p:cNvPr id="4" name="panel-398"/>
          <p:cNvSpPr txBox="1"/>
          <p:nvPr/>
        </p:nvSpPr>
        <p:spPr>
          <a:xfrm>
            <a:off x="548640" y="1600200"/>
            <a:ext cx="2011680" cy="1417320"/>
          </a:xfrm>
          <a:prstGeom prst="roundRect">
            <a:avLst>
              <a:gd name="adj" fmla="val 6452"/>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5" name="icon-bg-user-399"/>
          <p:cNvSpPr/>
          <p:nvPr/>
        </p:nvSpPr>
        <p:spPr>
          <a:xfrm>
            <a:off x="694944" y="1746504"/>
            <a:ext cx="411480" cy="411480"/>
          </a:xfrm>
          <a:prstGeom prst="ellipse">
            <a:avLst/>
          </a:prstGeom>
          <a:solidFill>
            <a:schemeClr val="accent2"/>
          </a:solidFill>
          <a:ln/>
        </p:spPr>
        <p:txBody>
          <a:bodyPr/>
          <a:p/>
        </p:txBody>
      </p:sp>
      <p:pic>
        <p:nvPicPr>
          <p:cNvPr id="6" name="icon-user-400" descr="user">    </p:cNvPr>
          <p:cNvPicPr>
            <a:picLocks noChangeAspect="1"/>
          </p:cNvPicPr>
          <p:nvPr/>
        </p:nvPicPr>
        <p:blipFill>
          <a:blip r:embed="rId1"/>
          <a:stretch>
            <a:fillRect/>
          </a:stretch>
        </p:blipFill>
        <p:spPr>
          <a:xfrm>
            <a:off x="793699" y="1845259"/>
            <a:ext cx="213970" cy="213970"/>
          </a:xfrm>
          <a:prstGeom prst="rect">
            <a:avLst/>
          </a:prstGeom>
        </p:spPr>
      </p:pic>
      <p:sp>
        <p:nvSpPr>
          <p:cNvPr id="7" name="card-text-401"/>
          <p:cNvSpPr txBox="1"/>
          <p:nvPr/>
        </p:nvSpPr>
        <p:spPr>
          <a:xfrm>
            <a:off x="694944" y="2249424"/>
            <a:ext cx="171907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Customer pays</a:t>
            </a:r>
            <a:endParaRPr lang="en-US" sz="1350" dirty="0"/>
          </a:p>
          <a:p>
            <a:pPr indent="0" marL="0">
              <a:spcAft>
                <a:spcPts val="200"/>
              </a:spcAft>
              <a:buNone/>
            </a:pPr>
            <a:r>
              <a:rPr lang="en-US" sz="1150" dirty="0">
                <a:solidFill>
                  <a:schemeClr val="tx1"/>
                </a:solidFill>
              </a:rPr>
              <a:t>sends only the booking id and the method</a:t>
            </a:r>
            <a:endParaRPr lang="en-US" sz="1350" dirty="0"/>
          </a:p>
        </p:txBody>
      </p:sp>
      <p:sp>
        <p:nvSpPr>
          <p:cNvPr id="8" name="arrow-402"/>
          <p:cNvSpPr/>
          <p:nvPr/>
        </p:nvSpPr>
        <p:spPr>
          <a:xfrm>
            <a:off x="2560320" y="2304288"/>
            <a:ext cx="258318" cy="0"/>
          </a:xfrm>
          <a:prstGeom prst="line">
            <a:avLst/>
          </a:prstGeom>
          <a:noFill/>
          <a:ln w="19050">
            <a:solidFill>
              <a:schemeClr val="accent6"/>
            </a:solidFill>
            <a:prstDash val="solid"/>
            <a:tailEnd type="triangle"/>
          </a:ln>
        </p:spPr>
        <p:txBody>
          <a:bodyPr/>
          <a:p/>
        </p:txBody>
      </p:sp>
      <p:sp>
        <p:nvSpPr>
          <p:cNvPr id="9" name="panel-403"/>
          <p:cNvSpPr txBox="1"/>
          <p:nvPr/>
        </p:nvSpPr>
        <p:spPr>
          <a:xfrm>
            <a:off x="2818638" y="1600200"/>
            <a:ext cx="2011680" cy="1417320"/>
          </a:xfrm>
          <a:prstGeom prst="roundRect">
            <a:avLst>
              <a:gd name="adj" fmla="val 6452"/>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10" name="icon-bg-file-404"/>
          <p:cNvSpPr/>
          <p:nvPr/>
        </p:nvSpPr>
        <p:spPr>
          <a:xfrm>
            <a:off x="2964942" y="1746504"/>
            <a:ext cx="411480" cy="411480"/>
          </a:xfrm>
          <a:prstGeom prst="ellipse">
            <a:avLst/>
          </a:prstGeom>
          <a:solidFill>
            <a:schemeClr val="accent2"/>
          </a:solidFill>
          <a:ln/>
        </p:spPr>
        <p:txBody>
          <a:bodyPr/>
          <a:p/>
        </p:txBody>
      </p:sp>
      <p:pic>
        <p:nvPicPr>
          <p:cNvPr id="11" name="icon-file-405" descr="file">    </p:cNvPr>
          <p:cNvPicPr>
            <a:picLocks noChangeAspect="1"/>
          </p:cNvPicPr>
          <p:nvPr/>
        </p:nvPicPr>
        <p:blipFill>
          <a:blip r:embed="rId2"/>
          <a:stretch>
            <a:fillRect/>
          </a:stretch>
        </p:blipFill>
        <p:spPr>
          <a:xfrm>
            <a:off x="3063697" y="1845259"/>
            <a:ext cx="213970" cy="213970"/>
          </a:xfrm>
          <a:prstGeom prst="rect">
            <a:avLst/>
          </a:prstGeom>
        </p:spPr>
      </p:pic>
      <p:sp>
        <p:nvSpPr>
          <p:cNvPr id="12" name="card-text-406"/>
          <p:cNvSpPr txBox="1"/>
          <p:nvPr/>
        </p:nvSpPr>
        <p:spPr>
          <a:xfrm>
            <a:off x="2964942" y="2249424"/>
            <a:ext cx="171907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Facts from booking</a:t>
            </a:r>
            <a:endParaRPr lang="en-US" sz="1350" dirty="0"/>
          </a:p>
          <a:p>
            <a:pPr indent="0" marL="0">
              <a:spcAft>
                <a:spcPts val="200"/>
              </a:spcAft>
              <a:buNone/>
            </a:pPr>
            <a:r>
              <a:rPr lang="en-US" sz="1150" dirty="0">
                <a:solidFill>
                  <a:schemeClr val="tx1"/>
                </a:solidFill>
              </a:rPr>
              <a:t>amount, customer and provider read server-side</a:t>
            </a:r>
            <a:endParaRPr lang="en-US" sz="1350" dirty="0"/>
          </a:p>
        </p:txBody>
      </p:sp>
      <p:sp>
        <p:nvSpPr>
          <p:cNvPr id="13" name="arrow-407"/>
          <p:cNvSpPr/>
          <p:nvPr/>
        </p:nvSpPr>
        <p:spPr>
          <a:xfrm>
            <a:off x="4830318" y="2304288"/>
            <a:ext cx="258318" cy="0"/>
          </a:xfrm>
          <a:prstGeom prst="line">
            <a:avLst/>
          </a:prstGeom>
          <a:noFill/>
          <a:ln w="19050">
            <a:solidFill>
              <a:schemeClr val="accent6"/>
            </a:solidFill>
            <a:prstDash val="solid"/>
            <a:tailEnd type="triangle"/>
          </a:ln>
        </p:spPr>
        <p:txBody>
          <a:bodyPr/>
          <a:p/>
        </p:txBody>
      </p:sp>
      <p:sp>
        <p:nvSpPr>
          <p:cNvPr id="14" name="panel-408"/>
          <p:cNvSpPr txBox="1"/>
          <p:nvPr/>
        </p:nvSpPr>
        <p:spPr>
          <a:xfrm>
            <a:off x="5088636" y="1600200"/>
            <a:ext cx="2011680" cy="1417320"/>
          </a:xfrm>
          <a:prstGeom prst="roundRect">
            <a:avLst>
              <a:gd name="adj" fmla="val 6452"/>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15" name="icon-bg-lock-409"/>
          <p:cNvSpPr/>
          <p:nvPr/>
        </p:nvSpPr>
        <p:spPr>
          <a:xfrm>
            <a:off x="5234940" y="1746504"/>
            <a:ext cx="411480" cy="411480"/>
          </a:xfrm>
          <a:prstGeom prst="ellipse">
            <a:avLst/>
          </a:prstGeom>
          <a:solidFill>
            <a:schemeClr val="accent2"/>
          </a:solidFill>
          <a:ln/>
        </p:spPr>
        <p:txBody>
          <a:bodyPr/>
          <a:p/>
        </p:txBody>
      </p:sp>
      <p:pic>
        <p:nvPicPr>
          <p:cNvPr id="16" name="icon-lock-410" descr="lock">    </p:cNvPr>
          <p:cNvPicPr>
            <a:picLocks noChangeAspect="1"/>
          </p:cNvPicPr>
          <p:nvPr/>
        </p:nvPicPr>
        <p:blipFill>
          <a:blip r:embed="rId3"/>
          <a:stretch>
            <a:fillRect/>
          </a:stretch>
        </p:blipFill>
        <p:spPr>
          <a:xfrm>
            <a:off x="5333695" y="1845259"/>
            <a:ext cx="213970" cy="213970"/>
          </a:xfrm>
          <a:prstGeom prst="rect">
            <a:avLst/>
          </a:prstGeom>
        </p:spPr>
      </p:pic>
      <p:sp>
        <p:nvSpPr>
          <p:cNvPr id="17" name="card-text-411"/>
          <p:cNvSpPr txBox="1"/>
          <p:nvPr/>
        </p:nvSpPr>
        <p:spPr>
          <a:xfrm>
            <a:off x="5234940" y="2249424"/>
            <a:ext cx="171907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PENDING committed</a:t>
            </a:r>
            <a:endParaRPr lang="en-US" sz="1350" dirty="0"/>
          </a:p>
          <a:p>
            <a:pPr indent="0" marL="0">
              <a:spcAft>
                <a:spcPts val="200"/>
              </a:spcAft>
              <a:buNone/>
            </a:pPr>
            <a:r>
              <a:rPr lang="en-US" sz="1150" dirty="0">
                <a:solidFill>
                  <a:schemeClr val="tx1"/>
                </a:solidFill>
              </a:rPr>
              <a:t>key: customer + booking + attempt</a:t>
            </a:r>
            <a:endParaRPr lang="en-US" sz="1350" dirty="0"/>
          </a:p>
        </p:txBody>
      </p:sp>
      <p:sp>
        <p:nvSpPr>
          <p:cNvPr id="18" name="arrow-412"/>
          <p:cNvSpPr/>
          <p:nvPr/>
        </p:nvSpPr>
        <p:spPr>
          <a:xfrm>
            <a:off x="7100316" y="2304288"/>
            <a:ext cx="258318" cy="0"/>
          </a:xfrm>
          <a:prstGeom prst="line">
            <a:avLst/>
          </a:prstGeom>
          <a:noFill/>
          <a:ln w="19050">
            <a:solidFill>
              <a:schemeClr val="accent6"/>
            </a:solidFill>
            <a:prstDash val="solid"/>
            <a:tailEnd type="triangle"/>
          </a:ln>
        </p:spPr>
        <p:txBody>
          <a:bodyPr/>
          <a:p/>
        </p:txBody>
      </p:sp>
      <p:sp>
        <p:nvSpPr>
          <p:cNvPr id="19" name="panel-413"/>
          <p:cNvSpPr txBox="1"/>
          <p:nvPr/>
        </p:nvSpPr>
        <p:spPr>
          <a:xfrm>
            <a:off x="7358634" y="1600200"/>
            <a:ext cx="2011680" cy="1417320"/>
          </a:xfrm>
          <a:prstGeom prst="roundRect">
            <a:avLst>
              <a:gd name="adj" fmla="val 6452"/>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20" name="icon-bg-card-414"/>
          <p:cNvSpPr/>
          <p:nvPr/>
        </p:nvSpPr>
        <p:spPr>
          <a:xfrm>
            <a:off x="7504938" y="1746504"/>
            <a:ext cx="411480" cy="411480"/>
          </a:xfrm>
          <a:prstGeom prst="ellipse">
            <a:avLst/>
          </a:prstGeom>
          <a:solidFill>
            <a:schemeClr val="accent2"/>
          </a:solidFill>
          <a:ln/>
        </p:spPr>
        <p:txBody>
          <a:bodyPr/>
          <a:p/>
        </p:txBody>
      </p:sp>
      <p:pic>
        <p:nvPicPr>
          <p:cNvPr id="21" name="icon-card-415" descr="card">    </p:cNvPr>
          <p:cNvPicPr>
            <a:picLocks noChangeAspect="1"/>
          </p:cNvPicPr>
          <p:nvPr/>
        </p:nvPicPr>
        <p:blipFill>
          <a:blip r:embed="rId4"/>
          <a:stretch>
            <a:fillRect/>
          </a:stretch>
        </p:blipFill>
        <p:spPr>
          <a:xfrm>
            <a:off x="7603693" y="1845259"/>
            <a:ext cx="213970" cy="213970"/>
          </a:xfrm>
          <a:prstGeom prst="rect">
            <a:avLst/>
          </a:prstGeom>
        </p:spPr>
      </p:pic>
      <p:sp>
        <p:nvSpPr>
          <p:cNvPr id="22" name="card-text-416"/>
          <p:cNvSpPr txBox="1"/>
          <p:nvPr/>
        </p:nvSpPr>
        <p:spPr>
          <a:xfrm>
            <a:off x="7504938" y="2249424"/>
            <a:ext cx="171907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Razorpay Checkout</a:t>
            </a:r>
            <a:endParaRPr lang="en-US" sz="1350" dirty="0"/>
          </a:p>
          <a:p>
            <a:pPr indent="0" marL="0">
              <a:spcAft>
                <a:spcPts val="200"/>
              </a:spcAft>
              <a:buNone/>
            </a:pPr>
            <a:r>
              <a:rPr lang="en-US" sz="1150" dirty="0">
                <a:solidFill>
                  <a:schemeClr val="tx1"/>
                </a:solidFill>
              </a:rPr>
              <a:t>order in paise; HMAC verify or webhook</a:t>
            </a:r>
            <a:endParaRPr lang="en-US" sz="1350" dirty="0"/>
          </a:p>
        </p:txBody>
      </p:sp>
      <p:sp>
        <p:nvSpPr>
          <p:cNvPr id="23" name="arrow-417"/>
          <p:cNvSpPr/>
          <p:nvPr/>
        </p:nvSpPr>
        <p:spPr>
          <a:xfrm>
            <a:off x="9370314" y="2304288"/>
            <a:ext cx="258318" cy="0"/>
          </a:xfrm>
          <a:prstGeom prst="line">
            <a:avLst/>
          </a:prstGeom>
          <a:noFill/>
          <a:ln w="19050">
            <a:solidFill>
              <a:schemeClr val="accent6"/>
            </a:solidFill>
            <a:prstDash val="solid"/>
            <a:tailEnd type="triangle"/>
          </a:ln>
        </p:spPr>
        <p:txBody>
          <a:bodyPr/>
          <a:p/>
        </p:txBody>
      </p:sp>
      <p:sp>
        <p:nvSpPr>
          <p:cNvPr id="24" name="panel-418"/>
          <p:cNvSpPr txBox="1"/>
          <p:nvPr/>
        </p:nvSpPr>
        <p:spPr>
          <a:xfrm>
            <a:off x="9628632" y="1600200"/>
            <a:ext cx="2011680" cy="1417320"/>
          </a:xfrm>
          <a:prstGeom prst="roundRect">
            <a:avLst>
              <a:gd name="adj" fmla="val 6452"/>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25" name="icon-bg-check-419"/>
          <p:cNvSpPr/>
          <p:nvPr/>
        </p:nvSpPr>
        <p:spPr>
          <a:xfrm>
            <a:off x="9774936" y="1746504"/>
            <a:ext cx="411480" cy="411480"/>
          </a:xfrm>
          <a:prstGeom prst="ellipse">
            <a:avLst/>
          </a:prstGeom>
          <a:solidFill>
            <a:schemeClr val="accent2"/>
          </a:solidFill>
          <a:ln/>
        </p:spPr>
        <p:txBody>
          <a:bodyPr/>
          <a:p/>
        </p:txBody>
      </p:sp>
      <p:pic>
        <p:nvPicPr>
          <p:cNvPr id="26" name="icon-check-420" descr="check">    </p:cNvPr>
          <p:cNvPicPr>
            <a:picLocks noChangeAspect="1"/>
          </p:cNvPicPr>
          <p:nvPr/>
        </p:nvPicPr>
        <p:blipFill>
          <a:blip r:embed="rId5"/>
          <a:stretch>
            <a:fillRect/>
          </a:stretch>
        </p:blipFill>
        <p:spPr>
          <a:xfrm>
            <a:off x="9873691" y="1845259"/>
            <a:ext cx="213970" cy="213970"/>
          </a:xfrm>
          <a:prstGeom prst="rect">
            <a:avLst/>
          </a:prstGeom>
        </p:spPr>
      </p:pic>
      <p:sp>
        <p:nvSpPr>
          <p:cNvPr id="27" name="card-text-421"/>
          <p:cNvSpPr txBox="1"/>
          <p:nvPr/>
        </p:nvSpPr>
        <p:spPr>
          <a:xfrm>
            <a:off x="9774936" y="2249424"/>
            <a:ext cx="171907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SUCCESS</a:t>
            </a:r>
            <a:endParaRPr lang="en-US" sz="1350" dirty="0"/>
          </a:p>
          <a:p>
            <a:pPr indent="0" marL="0">
              <a:spcAft>
                <a:spcPts val="200"/>
              </a:spcAft>
              <a:buNone/>
            </a:pPr>
            <a:r>
              <a:rPr lang="en-US" sz="1150" dirty="0">
                <a:solidFill>
                  <a:schemeClr val="tx1"/>
                </a:solidFill>
              </a:rPr>
              <a:t>PaymentCompleted in the outbox, same transaction</a:t>
            </a:r>
            <a:endParaRPr lang="en-US" sz="1350" dirty="0"/>
          </a:p>
        </p:txBody>
      </p:sp>
      <p:sp>
        <p:nvSpPr>
          <p:cNvPr id="28" name="chip-422"/>
          <p:cNvSpPr txBox="1"/>
          <p:nvPr/>
        </p:nvSpPr>
        <p:spPr>
          <a:xfrm>
            <a:off x="4818888" y="3429000"/>
            <a:ext cx="2560320" cy="502920"/>
          </a:xfrm>
          <a:prstGeom prst="roundRect">
            <a:avLst>
              <a:gd name="adj" fmla="val 14545"/>
            </a:avLst>
          </a:prstGeom>
          <a:solidFill>
            <a:schemeClr val="accent5"/>
          </a:solidFill>
          <a:ln/>
        </p:spPr>
        <p:txBody>
          <a:bodyPr wrap="square" lIns="76200" tIns="38100" rIns="76200" bIns="38100" rtlCol="0" anchor="ctr"/>
          <a:lstStyle/>
          <a:p>
            <a:pPr algn="ctr" indent="0" marL="0">
              <a:buNone/>
            </a:pPr>
            <a:r>
              <a:rPr lang="en-US" sz="1400" b="1" dirty="0">
                <a:solidFill>
                  <a:schemeClr val="bg1"/>
                </a:solidFill>
              </a:rPr>
              <a:t>PaymentCompleted</a:t>
            </a:r>
            <a:endParaRPr lang="en-US" sz="1400" dirty="0"/>
          </a:p>
        </p:txBody>
      </p:sp>
      <p:sp>
        <p:nvSpPr>
          <p:cNvPr id="29" name="arrow-423"/>
          <p:cNvSpPr/>
          <p:nvPr/>
        </p:nvSpPr>
        <p:spPr>
          <a:xfrm flipH="1">
            <a:off x="7379208" y="3017520"/>
            <a:ext cx="3255264" cy="658368"/>
          </a:xfrm>
          <a:prstGeom prst="line">
            <a:avLst/>
          </a:prstGeom>
          <a:noFill/>
          <a:ln w="19050">
            <a:solidFill>
              <a:schemeClr val="accent6"/>
            </a:solidFill>
            <a:prstDash val="solid"/>
            <a:tailEnd type="triangle"/>
          </a:ln>
        </p:spPr>
        <p:txBody>
          <a:bodyPr/>
          <a:p/>
        </p:txBody>
      </p:sp>
      <p:sp>
        <p:nvSpPr>
          <p:cNvPr id="30" name="arrow-424"/>
          <p:cNvSpPr/>
          <p:nvPr/>
        </p:nvSpPr>
        <p:spPr>
          <a:xfrm flipH="1">
            <a:off x="1554480" y="3931920"/>
            <a:ext cx="4544568" cy="502920"/>
          </a:xfrm>
          <a:prstGeom prst="line">
            <a:avLst/>
          </a:prstGeom>
          <a:noFill/>
          <a:ln w="15875">
            <a:solidFill>
              <a:schemeClr val="accent6"/>
            </a:solidFill>
            <a:prstDash val="solid"/>
            <a:tailEnd type="triangle"/>
          </a:ln>
        </p:spPr>
        <p:txBody>
          <a:bodyPr/>
          <a:p/>
        </p:txBody>
      </p:sp>
      <p:sp>
        <p:nvSpPr>
          <p:cNvPr id="31" name="panel-425"/>
          <p:cNvSpPr txBox="1"/>
          <p:nvPr/>
        </p:nvSpPr>
        <p:spPr>
          <a:xfrm>
            <a:off x="548640" y="4434840"/>
            <a:ext cx="2011680" cy="1005840"/>
          </a:xfrm>
          <a:prstGeom prst="roundRect">
            <a:avLst>
              <a:gd name="adj" fmla="val 9091"/>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32" name="card-text-426"/>
          <p:cNvSpPr txBox="1"/>
          <p:nvPr/>
        </p:nvSpPr>
        <p:spPr>
          <a:xfrm>
            <a:off x="694944" y="4562856"/>
            <a:ext cx="1719072" cy="78638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booking-service</a:t>
            </a:r>
            <a:endParaRPr lang="en-US" sz="1300" dirty="0"/>
          </a:p>
          <a:p>
            <a:pPr indent="0" marL="0">
              <a:spcAft>
                <a:spcPts val="200"/>
              </a:spcAft>
              <a:buNone/>
            </a:pPr>
            <a:r>
              <a:rPr lang="en-US" sz="1150" dirty="0">
                <a:solidFill>
                  <a:schemeClr val="tx1"/>
                </a:solidFill>
              </a:rPr>
              <a:t>→ PAYMENT_COMPLETED</a:t>
            </a:r>
            <a:endParaRPr lang="en-US" sz="1300" dirty="0"/>
          </a:p>
        </p:txBody>
      </p:sp>
      <p:sp>
        <p:nvSpPr>
          <p:cNvPr id="33" name="arrow-427"/>
          <p:cNvSpPr/>
          <p:nvPr/>
        </p:nvSpPr>
        <p:spPr>
          <a:xfrm flipH="1">
            <a:off x="3824478" y="3931920"/>
            <a:ext cx="2274570" cy="502920"/>
          </a:xfrm>
          <a:prstGeom prst="line">
            <a:avLst/>
          </a:prstGeom>
          <a:noFill/>
          <a:ln w="15875">
            <a:solidFill>
              <a:schemeClr val="accent6"/>
            </a:solidFill>
            <a:prstDash val="solid"/>
            <a:tailEnd type="triangle"/>
          </a:ln>
        </p:spPr>
        <p:txBody>
          <a:bodyPr/>
          <a:p/>
        </p:txBody>
      </p:sp>
      <p:sp>
        <p:nvSpPr>
          <p:cNvPr id="34" name="panel-428"/>
          <p:cNvSpPr txBox="1"/>
          <p:nvPr/>
        </p:nvSpPr>
        <p:spPr>
          <a:xfrm>
            <a:off x="2818638" y="4434840"/>
            <a:ext cx="2011680" cy="1005840"/>
          </a:xfrm>
          <a:prstGeom prst="roundRect">
            <a:avLst>
              <a:gd name="adj" fmla="val 9091"/>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35" name="card-text-429"/>
          <p:cNvSpPr txBox="1"/>
          <p:nvPr/>
        </p:nvSpPr>
        <p:spPr>
          <a:xfrm>
            <a:off x="2964942" y="4562856"/>
            <a:ext cx="1719072" cy="78638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invoice-service</a:t>
            </a:r>
            <a:endParaRPr lang="en-US" sz="1300" dirty="0"/>
          </a:p>
          <a:p>
            <a:pPr indent="0" marL="0">
              <a:spcAft>
                <a:spcPts val="200"/>
              </a:spcAft>
              <a:buNone/>
            </a:pPr>
            <a:r>
              <a:rPr lang="en-US" sz="1150" dirty="0">
                <a:solidFill>
                  <a:schemeClr val="tx1"/>
                </a:solidFill>
              </a:rPr>
              <a:t>INV-YYYY-MM-NNNNNN PDF</a:t>
            </a:r>
            <a:endParaRPr lang="en-US" sz="1300" dirty="0"/>
          </a:p>
        </p:txBody>
      </p:sp>
      <p:sp>
        <p:nvSpPr>
          <p:cNvPr id="36" name="arrow-430"/>
          <p:cNvSpPr/>
          <p:nvPr/>
        </p:nvSpPr>
        <p:spPr>
          <a:xfrm flipH="1">
            <a:off x="6094476" y="3931920"/>
            <a:ext cx="4572" cy="502920"/>
          </a:xfrm>
          <a:prstGeom prst="line">
            <a:avLst/>
          </a:prstGeom>
          <a:noFill/>
          <a:ln w="15875">
            <a:solidFill>
              <a:schemeClr val="accent6"/>
            </a:solidFill>
            <a:prstDash val="solid"/>
            <a:tailEnd type="triangle"/>
          </a:ln>
        </p:spPr>
        <p:txBody>
          <a:bodyPr/>
          <a:p/>
        </p:txBody>
      </p:sp>
      <p:sp>
        <p:nvSpPr>
          <p:cNvPr id="37" name="panel-431"/>
          <p:cNvSpPr txBox="1"/>
          <p:nvPr/>
        </p:nvSpPr>
        <p:spPr>
          <a:xfrm>
            <a:off x="5088636" y="4434840"/>
            <a:ext cx="2011680" cy="1005840"/>
          </a:xfrm>
          <a:prstGeom prst="roundRect">
            <a:avLst>
              <a:gd name="adj" fmla="val 9091"/>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38" name="card-text-432"/>
          <p:cNvSpPr txBox="1"/>
          <p:nvPr/>
        </p:nvSpPr>
        <p:spPr>
          <a:xfrm>
            <a:off x="5234940" y="4562856"/>
            <a:ext cx="1719072" cy="78638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rating-review</a:t>
            </a:r>
            <a:endParaRPr lang="en-US" sz="1300" dirty="0"/>
          </a:p>
          <a:p>
            <a:pPr indent="0" marL="0">
              <a:spcAft>
                <a:spcPts val="200"/>
              </a:spcAft>
              <a:buNone/>
            </a:pPr>
            <a:r>
              <a:rPr lang="en-US" sz="1150" dirty="0">
                <a:solidFill>
                  <a:schemeClr val="tx1"/>
                </a:solidFill>
              </a:rPr>
              <a:t>7-day review prompt</a:t>
            </a:r>
            <a:endParaRPr lang="en-US" sz="1300" dirty="0"/>
          </a:p>
        </p:txBody>
      </p:sp>
      <p:sp>
        <p:nvSpPr>
          <p:cNvPr id="39" name="arrow-433"/>
          <p:cNvSpPr/>
          <p:nvPr/>
        </p:nvSpPr>
        <p:spPr>
          <a:xfrm>
            <a:off x="6099048" y="3931920"/>
            <a:ext cx="2265426" cy="502920"/>
          </a:xfrm>
          <a:prstGeom prst="line">
            <a:avLst/>
          </a:prstGeom>
          <a:noFill/>
          <a:ln w="15875">
            <a:solidFill>
              <a:schemeClr val="accent6"/>
            </a:solidFill>
            <a:prstDash val="solid"/>
            <a:tailEnd type="triangle"/>
          </a:ln>
        </p:spPr>
        <p:txBody>
          <a:bodyPr/>
          <a:p/>
        </p:txBody>
      </p:sp>
      <p:sp>
        <p:nvSpPr>
          <p:cNvPr id="40" name="panel-434"/>
          <p:cNvSpPr txBox="1"/>
          <p:nvPr/>
        </p:nvSpPr>
        <p:spPr>
          <a:xfrm>
            <a:off x="7358634" y="4434840"/>
            <a:ext cx="2011680" cy="1005840"/>
          </a:xfrm>
          <a:prstGeom prst="roundRect">
            <a:avLst>
              <a:gd name="adj" fmla="val 9091"/>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41" name="card-text-435"/>
          <p:cNvSpPr txBox="1"/>
          <p:nvPr/>
        </p:nvSpPr>
        <p:spPr>
          <a:xfrm>
            <a:off x="7504938" y="4562856"/>
            <a:ext cx="1719072" cy="78638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chat-service</a:t>
            </a:r>
            <a:endParaRPr lang="en-US" sz="1300" dirty="0"/>
          </a:p>
          <a:p>
            <a:pPr indent="0" marL="0">
              <a:spcAft>
                <a:spcPts val="200"/>
              </a:spcAft>
              <a:buNone/>
            </a:pPr>
            <a:r>
              <a:rPr lang="en-US" sz="1150" dirty="0">
                <a:solidFill>
                  <a:schemeClr val="tx1"/>
                </a:solidFill>
              </a:rPr>
              <a:t>channel closed</a:t>
            </a:r>
            <a:endParaRPr lang="en-US" sz="1300" dirty="0"/>
          </a:p>
        </p:txBody>
      </p:sp>
      <p:sp>
        <p:nvSpPr>
          <p:cNvPr id="42" name="arrow-436"/>
          <p:cNvSpPr/>
          <p:nvPr/>
        </p:nvSpPr>
        <p:spPr>
          <a:xfrm>
            <a:off x="6099048" y="3931920"/>
            <a:ext cx="4535424" cy="502920"/>
          </a:xfrm>
          <a:prstGeom prst="line">
            <a:avLst/>
          </a:prstGeom>
          <a:noFill/>
          <a:ln w="15875">
            <a:solidFill>
              <a:schemeClr val="accent6"/>
            </a:solidFill>
            <a:prstDash val="solid"/>
            <a:tailEnd type="triangle"/>
          </a:ln>
        </p:spPr>
        <p:txBody>
          <a:bodyPr/>
          <a:p/>
        </p:txBody>
      </p:sp>
      <p:sp>
        <p:nvSpPr>
          <p:cNvPr id="43" name="panel-437"/>
          <p:cNvSpPr txBox="1"/>
          <p:nvPr/>
        </p:nvSpPr>
        <p:spPr>
          <a:xfrm>
            <a:off x="9628632" y="4434840"/>
            <a:ext cx="2011680" cy="1005840"/>
          </a:xfrm>
          <a:prstGeom prst="roundRect">
            <a:avLst>
              <a:gd name="adj" fmla="val 9091"/>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44" name="card-text-438"/>
          <p:cNvSpPr txBox="1"/>
          <p:nvPr/>
        </p:nvSpPr>
        <p:spPr>
          <a:xfrm>
            <a:off x="9774936" y="4562856"/>
            <a:ext cx="1719072" cy="786384"/>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notification</a:t>
            </a:r>
            <a:endParaRPr lang="en-US" sz="1300" dirty="0"/>
          </a:p>
          <a:p>
            <a:pPr indent="0" marL="0">
              <a:spcAft>
                <a:spcPts val="200"/>
              </a:spcAft>
              <a:buNone/>
            </a:pPr>
            <a:r>
              <a:rPr lang="en-US" sz="1150" dirty="0">
                <a:solidFill>
                  <a:schemeClr val="tx1"/>
                </a:solidFill>
              </a:rPr>
              <a:t>receipt and "payment received"</a:t>
            </a:r>
            <a:endParaRPr lang="en-US" sz="1300" dirty="0"/>
          </a:p>
        </p:txBody>
      </p:sp>
      <p:sp>
        <p:nvSpPr>
          <p:cNvPr id="45" name="text-439"/>
          <p:cNvSpPr txBox="1"/>
          <p:nvPr/>
        </p:nvSpPr>
        <p:spPr>
          <a:xfrm>
            <a:off x="548640" y="5669280"/>
            <a:ext cx="11091672" cy="548640"/>
          </a:xfrm>
          <a:prstGeom prst="rect">
            <a:avLst/>
          </a:prstGeom>
          <a:noFill/>
          <a:ln/>
        </p:spPr>
        <p:txBody>
          <a:bodyPr wrap="square" lIns="0" tIns="0" rIns="0" bIns="0" rtlCol="0" anchor="t"/>
          <a:lstStyle/>
          <a:p>
            <a:pPr algn="l" indent="0" marL="0">
              <a:buNone/>
            </a:pPr>
            <a:r>
              <a:rPr lang="en-US" sz="1250" dirty="0">
                <a:solidFill>
                  <a:schemeClr val="accent6"/>
                </a:solidFill>
              </a:rPr>
              <a:t>The provider's wallet credit is sent at once; WalletCreditSweeper re-sends an unconfirmed one every minute, and provider-service applies a booking's credit only once.</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Reliable events: the transactional outbox</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A domain change and its event share one transaction; delivery is at-least-once, handling is once</a:t>
            </a:r>
            <a:endParaRPr lang="en-US" sz="1500" dirty="0"/>
          </a:p>
        </p:txBody>
      </p:sp>
      <p:sp>
        <p:nvSpPr>
          <p:cNvPr id="4" name="panel-440"/>
          <p:cNvSpPr txBox="1"/>
          <p:nvPr/>
        </p:nvSpPr>
        <p:spPr>
          <a:xfrm>
            <a:off x="548640" y="1600200"/>
            <a:ext cx="2514600" cy="2331720"/>
          </a:xfrm>
          <a:prstGeom prst="roundRect">
            <a:avLst>
              <a:gd name="adj" fmla="val 3922"/>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5" name="icon-bg-db-441"/>
          <p:cNvSpPr/>
          <p:nvPr/>
        </p:nvSpPr>
        <p:spPr>
          <a:xfrm>
            <a:off x="694944" y="1746504"/>
            <a:ext cx="502920" cy="502920"/>
          </a:xfrm>
          <a:prstGeom prst="ellipse">
            <a:avLst/>
          </a:prstGeom>
          <a:solidFill>
            <a:schemeClr val="accent1"/>
          </a:solidFill>
          <a:ln/>
        </p:spPr>
        <p:txBody>
          <a:bodyPr/>
          <a:p/>
        </p:txBody>
      </p:sp>
      <p:pic>
        <p:nvPicPr>
          <p:cNvPr id="6" name="icon-db-442" descr="db">    </p:cNvPr>
          <p:cNvPicPr>
            <a:picLocks noChangeAspect="1"/>
          </p:cNvPicPr>
          <p:nvPr/>
        </p:nvPicPr>
        <p:blipFill>
          <a:blip r:embed="rId1"/>
          <a:stretch>
            <a:fillRect/>
          </a:stretch>
        </p:blipFill>
        <p:spPr>
          <a:xfrm>
            <a:off x="815645" y="1867205"/>
            <a:ext cx="261518" cy="261518"/>
          </a:xfrm>
          <a:prstGeom prst="rect">
            <a:avLst/>
          </a:prstGeom>
        </p:spPr>
      </p:pic>
      <p:sp>
        <p:nvSpPr>
          <p:cNvPr id="7" name="card-text-443"/>
          <p:cNvSpPr txBox="1"/>
          <p:nvPr/>
        </p:nvSpPr>
        <p:spPr>
          <a:xfrm>
            <a:off x="694944" y="2340864"/>
            <a:ext cx="2221992" cy="149961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Producer</a:t>
            </a:r>
            <a:endParaRPr lang="en-US" sz="1500" dirty="0"/>
          </a:p>
          <a:p>
            <a:pPr indent="0" marL="0">
              <a:spcAft>
                <a:spcPts val="200"/>
              </a:spcAft>
              <a:buNone/>
            </a:pPr>
            <a:r>
              <a:rPr lang="en-US" sz="1250" dirty="0">
                <a:solidFill>
                  <a:schemeClr val="tx1"/>
                </a:solidFill>
              </a:rPr>
              <a:t>Domain row and outbox_event in one transaction. Propagation.MANDATORY: no event without one.</a:t>
            </a:r>
            <a:endParaRPr lang="en-US" sz="1500" dirty="0"/>
          </a:p>
        </p:txBody>
      </p:sp>
      <p:sp>
        <p:nvSpPr>
          <p:cNvPr id="8" name="arrow-444"/>
          <p:cNvSpPr/>
          <p:nvPr/>
        </p:nvSpPr>
        <p:spPr>
          <a:xfrm>
            <a:off x="3063240" y="2743200"/>
            <a:ext cx="344729" cy="0"/>
          </a:xfrm>
          <a:prstGeom prst="line">
            <a:avLst/>
          </a:prstGeom>
          <a:noFill/>
          <a:ln w="25400">
            <a:solidFill>
              <a:schemeClr val="accent6"/>
            </a:solidFill>
            <a:prstDash val="solid"/>
            <a:tailEnd type="triangle"/>
          </a:ln>
        </p:spPr>
        <p:txBody>
          <a:bodyPr/>
          <a:p/>
        </p:txBody>
      </p:sp>
      <p:sp>
        <p:nvSpPr>
          <p:cNvPr id="9" name="panel-445"/>
          <p:cNvSpPr txBox="1"/>
          <p:nvPr/>
        </p:nvSpPr>
        <p:spPr>
          <a:xfrm>
            <a:off x="3407969" y="1600200"/>
            <a:ext cx="2514600" cy="2331720"/>
          </a:xfrm>
          <a:prstGeom prst="roundRect">
            <a:avLst>
              <a:gd name="adj" fmla="val 3922"/>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10" name="icon-bg-refresh-446"/>
          <p:cNvSpPr/>
          <p:nvPr/>
        </p:nvSpPr>
        <p:spPr>
          <a:xfrm>
            <a:off x="3554273" y="1746504"/>
            <a:ext cx="502920" cy="502920"/>
          </a:xfrm>
          <a:prstGeom prst="ellipse">
            <a:avLst/>
          </a:prstGeom>
          <a:solidFill>
            <a:schemeClr val="accent4"/>
          </a:solidFill>
          <a:ln/>
        </p:spPr>
        <p:txBody>
          <a:bodyPr/>
          <a:p/>
        </p:txBody>
      </p:sp>
      <p:pic>
        <p:nvPicPr>
          <p:cNvPr id="11" name="icon-refresh-447" descr="refresh">    </p:cNvPr>
          <p:cNvPicPr>
            <a:picLocks noChangeAspect="1"/>
          </p:cNvPicPr>
          <p:nvPr/>
        </p:nvPicPr>
        <p:blipFill>
          <a:blip r:embed="rId2"/>
          <a:stretch>
            <a:fillRect/>
          </a:stretch>
        </p:blipFill>
        <p:spPr>
          <a:xfrm>
            <a:off x="3674974" y="1867205"/>
            <a:ext cx="261518" cy="261518"/>
          </a:xfrm>
          <a:prstGeom prst="rect">
            <a:avLst/>
          </a:prstGeom>
        </p:spPr>
      </p:pic>
      <p:sp>
        <p:nvSpPr>
          <p:cNvPr id="12" name="card-text-448"/>
          <p:cNvSpPr txBox="1"/>
          <p:nvPr/>
        </p:nvSpPr>
        <p:spPr>
          <a:xfrm>
            <a:off x="3554273" y="2340864"/>
            <a:ext cx="2221992" cy="149961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outbox-processor</a:t>
            </a:r>
            <a:endParaRPr lang="en-US" sz="1500" dirty="0"/>
          </a:p>
          <a:p>
            <a:pPr indent="0" marL="0">
              <a:spcAft>
                <a:spcPts val="200"/>
              </a:spcAft>
              <a:buNone/>
            </a:pPr>
            <a:r>
              <a:rPr lang="en-US" sz="1250" dirty="0">
                <a:solidFill>
                  <a:schemeClr val="tx1"/>
                </a:solidFill>
              </a:rPr>
              <a:t>Every 1 s, batch 100. Claims rows with FOR UPDATE SKIP LOCKED and a 2-minute lease, so relays never share a row.</a:t>
            </a:r>
            <a:endParaRPr lang="en-US" sz="1500" dirty="0"/>
          </a:p>
        </p:txBody>
      </p:sp>
      <p:sp>
        <p:nvSpPr>
          <p:cNvPr id="13" name="arrow-449"/>
          <p:cNvSpPr/>
          <p:nvPr/>
        </p:nvSpPr>
        <p:spPr>
          <a:xfrm>
            <a:off x="5922569" y="2743200"/>
            <a:ext cx="344729" cy="0"/>
          </a:xfrm>
          <a:prstGeom prst="line">
            <a:avLst/>
          </a:prstGeom>
          <a:noFill/>
          <a:ln w="25400">
            <a:solidFill>
              <a:schemeClr val="accent6"/>
            </a:solidFill>
            <a:prstDash val="solid"/>
            <a:tailEnd type="triangle"/>
          </a:ln>
        </p:spPr>
        <p:txBody>
          <a:bodyPr/>
          <a:p/>
        </p:txBody>
      </p:sp>
      <p:sp>
        <p:nvSpPr>
          <p:cNvPr id="14" name="panel-450"/>
          <p:cNvSpPr txBox="1"/>
          <p:nvPr/>
        </p:nvSpPr>
        <p:spPr>
          <a:xfrm>
            <a:off x="6267298" y="1600200"/>
            <a:ext cx="2514600" cy="2331720"/>
          </a:xfrm>
          <a:prstGeom prst="roundRect">
            <a:avLst>
              <a:gd name="adj" fmla="val 3922"/>
            </a:avLst>
          </a:prstGeom>
          <a:solidFill>
            <a:schemeClr val="accent5">
              <a:alpha val="10000"/>
            </a:schemeClr>
          </a:solidFill>
          <a:ln/>
        </p:spPr>
        <p:txBody>
          <a:bodyPr wrap="square" lIns="76200" tIns="38100" rIns="76200" bIns="38100" rtlCol="0" anchor="ctr"/>
          <a:lstStyle/>
          <a:p>
            <a:pPr algn="ctr" indent="0" marL="0">
              <a:buNone/>
            </a:pPr>
            <a:endParaRPr lang="en-US" sz="1200" dirty="0"/>
          </a:p>
        </p:txBody>
      </p:sp>
      <p:sp>
        <p:nvSpPr>
          <p:cNvPr id="15" name="icon-bg-zap-451"/>
          <p:cNvSpPr/>
          <p:nvPr/>
        </p:nvSpPr>
        <p:spPr>
          <a:xfrm>
            <a:off x="6413602" y="1746504"/>
            <a:ext cx="502920" cy="502920"/>
          </a:xfrm>
          <a:prstGeom prst="ellipse">
            <a:avLst/>
          </a:prstGeom>
          <a:solidFill>
            <a:schemeClr val="accent5"/>
          </a:solidFill>
          <a:ln/>
        </p:spPr>
        <p:txBody>
          <a:bodyPr/>
          <a:p/>
        </p:txBody>
      </p:sp>
      <p:pic>
        <p:nvPicPr>
          <p:cNvPr id="16" name="icon-zap-452" descr="zap">    </p:cNvPr>
          <p:cNvPicPr>
            <a:picLocks noChangeAspect="1"/>
          </p:cNvPicPr>
          <p:nvPr/>
        </p:nvPicPr>
        <p:blipFill>
          <a:blip r:embed="rId3"/>
          <a:stretch>
            <a:fillRect/>
          </a:stretch>
        </p:blipFill>
        <p:spPr>
          <a:xfrm>
            <a:off x="6534302" y="1867205"/>
            <a:ext cx="261518" cy="261518"/>
          </a:xfrm>
          <a:prstGeom prst="rect">
            <a:avLst/>
          </a:prstGeom>
        </p:spPr>
      </p:pic>
      <p:sp>
        <p:nvSpPr>
          <p:cNvPr id="17" name="card-text-453"/>
          <p:cNvSpPr txBox="1"/>
          <p:nvPr/>
        </p:nvSpPr>
        <p:spPr>
          <a:xfrm>
            <a:off x="6413602" y="2340864"/>
            <a:ext cx="2221992" cy="149961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Kafka</a:t>
            </a:r>
            <a:endParaRPr lang="en-US" sz="1500" dirty="0"/>
          </a:p>
          <a:p>
            <a:pPr indent="0" marL="0">
              <a:spcAft>
                <a:spcPts val="200"/>
              </a:spcAft>
              <a:buNone/>
            </a:pPr>
            <a:r>
              <a:rPr lang="en-US" sz="1250" dirty="0">
                <a:solidFill>
                  <a:schemeClr val="tx1"/>
                </a:solidFill>
              </a:rPr>
              <a:t>acks=all, idempotent producer. Every record carries an eventId header.</a:t>
            </a:r>
            <a:endParaRPr lang="en-US" sz="1500" dirty="0"/>
          </a:p>
        </p:txBody>
      </p:sp>
      <p:sp>
        <p:nvSpPr>
          <p:cNvPr id="18" name="arrow-454"/>
          <p:cNvSpPr/>
          <p:nvPr/>
        </p:nvSpPr>
        <p:spPr>
          <a:xfrm>
            <a:off x="8781898" y="2743200"/>
            <a:ext cx="344729" cy="0"/>
          </a:xfrm>
          <a:prstGeom prst="line">
            <a:avLst/>
          </a:prstGeom>
          <a:noFill/>
          <a:ln w="25400">
            <a:solidFill>
              <a:schemeClr val="accent6"/>
            </a:solidFill>
            <a:prstDash val="solid"/>
            <a:tailEnd type="triangle"/>
          </a:ln>
        </p:spPr>
        <p:txBody>
          <a:bodyPr/>
          <a:p/>
        </p:txBody>
      </p:sp>
      <p:sp>
        <p:nvSpPr>
          <p:cNvPr id="19" name="panel-455"/>
          <p:cNvSpPr txBox="1"/>
          <p:nvPr/>
        </p:nvSpPr>
        <p:spPr>
          <a:xfrm>
            <a:off x="9126626" y="1600200"/>
            <a:ext cx="2514600" cy="2331720"/>
          </a:xfrm>
          <a:prstGeom prst="roundRect">
            <a:avLst>
              <a:gd name="adj" fmla="val 3922"/>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20" name="icon-bg-check-456"/>
          <p:cNvSpPr/>
          <p:nvPr/>
        </p:nvSpPr>
        <p:spPr>
          <a:xfrm>
            <a:off x="9272930" y="1746504"/>
            <a:ext cx="502920" cy="502920"/>
          </a:xfrm>
          <a:prstGeom prst="ellipse">
            <a:avLst/>
          </a:prstGeom>
          <a:solidFill>
            <a:schemeClr val="accent3"/>
          </a:solidFill>
          <a:ln/>
        </p:spPr>
        <p:txBody>
          <a:bodyPr/>
          <a:p/>
        </p:txBody>
      </p:sp>
      <p:pic>
        <p:nvPicPr>
          <p:cNvPr id="21" name="icon-check-457" descr="check">    </p:cNvPr>
          <p:cNvPicPr>
            <a:picLocks noChangeAspect="1"/>
          </p:cNvPicPr>
          <p:nvPr/>
        </p:nvPicPr>
        <p:blipFill>
          <a:blip r:embed="rId4"/>
          <a:stretch>
            <a:fillRect/>
          </a:stretch>
        </p:blipFill>
        <p:spPr>
          <a:xfrm>
            <a:off x="9393631" y="1867205"/>
            <a:ext cx="261518" cy="261518"/>
          </a:xfrm>
          <a:prstGeom prst="rect">
            <a:avLst/>
          </a:prstGeom>
        </p:spPr>
      </p:pic>
      <p:sp>
        <p:nvSpPr>
          <p:cNvPr id="22" name="card-text-458"/>
          <p:cNvSpPr txBox="1"/>
          <p:nvPr/>
        </p:nvSpPr>
        <p:spPr>
          <a:xfrm>
            <a:off x="9272930" y="2340864"/>
            <a:ext cx="2221992" cy="149961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Consumer</a:t>
            </a:r>
            <a:endParaRPr lang="en-US" sz="1500" dirty="0"/>
          </a:p>
          <a:p>
            <a:pPr indent="0" marL="0">
              <a:spcAft>
                <a:spcPts val="200"/>
              </a:spcAft>
              <a:buNone/>
            </a:pPr>
            <a:r>
              <a:rPr lang="en-US" sz="1250" dirty="0">
                <a:solidFill>
                  <a:schemeClr val="tx1"/>
                </a:solidFill>
              </a:rPr>
              <a:t>Checks processed_event first; handler and dedupe row share a transaction. 3 failures go to topic.DLT.</a:t>
            </a:r>
            <a:endParaRPr lang="en-US" sz="1500" dirty="0"/>
          </a:p>
        </p:txBody>
      </p:sp>
      <p:sp>
        <p:nvSpPr>
          <p:cNvPr id="23" name="box-459"/>
          <p:cNvSpPr txBox="1"/>
          <p:nvPr/>
        </p:nvSpPr>
        <p:spPr>
          <a:xfrm>
            <a:off x="548640" y="4251960"/>
            <a:ext cx="3429000" cy="731520"/>
          </a:xfrm>
          <a:prstGeom prst="roundRect">
            <a:avLst>
              <a:gd name="adj" fmla="val 10000"/>
            </a:avLst>
          </a:prstGeom>
          <a:solidFill>
            <a:schemeClr val="accent4">
              <a:alpha val="12000"/>
            </a:schemeClr>
          </a:solidFill>
          <a:ln/>
        </p:spPr>
        <p:txBody>
          <a:bodyPr wrap="square" lIns="76200" tIns="38100" rIns="76200" bIns="38100" rtlCol="0" anchor="ctr"/>
          <a:lstStyle/>
          <a:p>
            <a:pPr algn="ctr" indent="0" marL="0">
              <a:buNone/>
            </a:pPr>
            <a:r>
              <a:rPr lang="en-US" sz="1250" b="1" dirty="0">
                <a:solidFill>
                  <a:schemeClr val="tx1"/>
                </a:solidFill>
              </a:rPr>
              <a:t>Publish fails</a:t>
            </a:r>
            <a:endParaRPr lang="en-US" sz="1250" dirty="0"/>
          </a:p>
        </p:txBody>
      </p:sp>
      <p:sp>
        <p:nvSpPr>
          <p:cNvPr id="24" name="arrow-460"/>
          <p:cNvSpPr/>
          <p:nvPr/>
        </p:nvSpPr>
        <p:spPr>
          <a:xfrm>
            <a:off x="3977640" y="4617720"/>
            <a:ext cx="338328" cy="0"/>
          </a:xfrm>
          <a:prstGeom prst="line">
            <a:avLst/>
          </a:prstGeom>
          <a:noFill/>
          <a:ln w="19050">
            <a:solidFill>
              <a:schemeClr val="accent6"/>
            </a:solidFill>
            <a:prstDash val="solid"/>
            <a:tailEnd type="triangle"/>
          </a:ln>
        </p:spPr>
        <p:txBody>
          <a:bodyPr/>
          <a:p/>
        </p:txBody>
      </p:sp>
      <p:sp>
        <p:nvSpPr>
          <p:cNvPr id="25" name="box-461"/>
          <p:cNvSpPr txBox="1"/>
          <p:nvPr/>
        </p:nvSpPr>
        <p:spPr>
          <a:xfrm>
            <a:off x="4315968" y="4251960"/>
            <a:ext cx="3429000" cy="731520"/>
          </a:xfrm>
          <a:prstGeom prst="roundRect">
            <a:avLst>
              <a:gd name="adj" fmla="val 10000"/>
            </a:avLst>
          </a:prstGeom>
          <a:solidFill>
            <a:schemeClr val="accent2">
              <a:alpha val="12000"/>
            </a:schemeClr>
          </a:solidFill>
          <a:ln/>
        </p:spPr>
        <p:txBody>
          <a:bodyPr wrap="square" lIns="76200" tIns="38100" rIns="76200" bIns="38100" rtlCol="0" anchor="ctr"/>
          <a:lstStyle/>
          <a:p>
            <a:pPr algn="ctr" indent="0" marL="0">
              <a:buNone/>
            </a:pPr>
            <a:r>
              <a:rPr lang="en-US" sz="1250" dirty="0">
                <a:solidFill>
                  <a:schemeClr val="tx1"/>
                </a:solidFill>
              </a:rPr>
              <a:t>Error stored, next_attempt_at = now + backoff (1 s → 60 s)</a:t>
            </a:r>
            <a:endParaRPr lang="en-US" sz="1250" dirty="0"/>
          </a:p>
        </p:txBody>
      </p:sp>
      <p:sp>
        <p:nvSpPr>
          <p:cNvPr id="26" name="arrow-462"/>
          <p:cNvSpPr/>
          <p:nvPr/>
        </p:nvSpPr>
        <p:spPr>
          <a:xfrm>
            <a:off x="7744968" y="4617720"/>
            <a:ext cx="338328" cy="0"/>
          </a:xfrm>
          <a:prstGeom prst="line">
            <a:avLst/>
          </a:prstGeom>
          <a:noFill/>
          <a:ln w="19050">
            <a:solidFill>
              <a:schemeClr val="accent6"/>
            </a:solidFill>
            <a:prstDash val="solid"/>
            <a:tailEnd type="triangle"/>
          </a:ln>
        </p:spPr>
        <p:txBody>
          <a:bodyPr/>
          <a:p/>
        </p:txBody>
      </p:sp>
      <p:sp>
        <p:nvSpPr>
          <p:cNvPr id="27" name="box-463"/>
          <p:cNvSpPr txBox="1"/>
          <p:nvPr/>
        </p:nvSpPr>
        <p:spPr>
          <a:xfrm>
            <a:off x="8083296" y="4251960"/>
            <a:ext cx="3429000" cy="731520"/>
          </a:xfrm>
          <a:prstGeom prst="roundRect">
            <a:avLst>
              <a:gd name="adj" fmla="val 10000"/>
            </a:avLst>
          </a:prstGeom>
          <a:solidFill>
            <a:schemeClr val="accent4">
              <a:alpha val="12000"/>
            </a:schemeClr>
          </a:solidFill>
          <a:ln/>
        </p:spPr>
        <p:txBody>
          <a:bodyPr wrap="square" lIns="76200" tIns="38100" rIns="76200" bIns="38100" rtlCol="0" anchor="ctr"/>
          <a:lstStyle/>
          <a:p>
            <a:pPr algn="ctr" indent="0" marL="0">
              <a:buNone/>
            </a:pPr>
            <a:r>
              <a:rPr lang="en-US" sz="1250" b="1" dirty="0">
                <a:solidFill>
                  <a:schemeClr val="tx1"/>
                </a:solidFill>
              </a:rPr>
              <a:t>10th attempt: FAILED, manual replay</a:t>
            </a:r>
            <a:endParaRPr lang="en-US" sz="1250" dirty="0"/>
          </a:p>
        </p:txBody>
      </p:sp>
      <p:sp>
        <p:nvSpPr>
          <p:cNvPr id="28" name="box-464"/>
          <p:cNvSpPr txBox="1"/>
          <p:nvPr/>
        </p:nvSpPr>
        <p:spPr>
          <a:xfrm>
            <a:off x="548640" y="5303520"/>
            <a:ext cx="11091672" cy="777240"/>
          </a:xfrm>
          <a:prstGeom prst="roundRect">
            <a:avLst>
              <a:gd name="adj" fmla="val 9412"/>
            </a:avLst>
          </a:prstGeom>
          <a:solidFill>
            <a:schemeClr val="accent1">
              <a:alpha val="12000"/>
            </a:schemeClr>
          </a:solidFill>
          <a:ln/>
        </p:spPr>
        <p:txBody>
          <a:bodyPr wrap="square" lIns="152400" tIns="50800" rIns="152400" bIns="50800" rtlCol="0" anchor="ctr"/>
          <a:lstStyle/>
          <a:p>
            <a:pPr algn="l" indent="0" marL="0">
              <a:buNone/>
            </a:pPr>
            <a:r>
              <a:rPr lang="en-US" sz="1300" b="1" dirty="0">
                <a:solidFill>
                  <a:schemeClr val="tx1"/>
                </a:solidFill>
              </a:rPr>
              <a:t>Duplicates are expected, not harmful.  </a:t>
            </a:r>
            <a:pPr algn="l" indent="0" marL="0">
              <a:buNone/>
            </a:pPr>
            <a:r>
              <a:rPr lang="en-US" sz="1300" dirty="0">
                <a:solidFill>
                  <a:schemeClr val="tx1"/>
                </a:solidFill>
              </a:rPr>
              <a:t>A crash after the broker ack or an outlived lease can publish twice; consumers dedupe on eventId, so each event takes effect once.</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Who listens to which event</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13 topics from 5 producers; notification-service listens to all of them</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514600"/>
                <a:gridCol w="1965960"/>
                <a:gridCol w="944575"/>
                <a:gridCol w="944575"/>
                <a:gridCol w="944575"/>
                <a:gridCol w="944575"/>
                <a:gridCol w="944575"/>
                <a:gridCol w="944575"/>
                <a:gridCol w="943661"/>
              </a:tblGrid>
              <a:tr h="292608">
                <a:tc>
                  <a:txBody>
                    <a:bodyPr/>
                    <a:lstStyle/>
                    <a:p>
                      <a:pPr algn="l" indent="0" marL="0">
                        <a:buNone/>
                      </a:pPr>
                      <a:r>
                        <a:rPr lang="en-US" sz="1200" b="1" dirty="0">
                          <a:solidFill>
                            <a:srgbClr val="FFFFFF"/>
                          </a:solidFill>
                        </a:rPr>
                        <a:t>Topic</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rPr>
                        <a:t>Produced by</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rPr>
                        <a:t>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rPr>
                        <a:t>dispatch</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rPr>
                        <a:t>invoice</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rPr>
                        <a:t>chat</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rPr>
                        <a:t>rating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rPr>
                        <a:t>location</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rPr>
                        <a:t>notify</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292608">
                <a:tc>
                  <a:txBody>
                    <a:bodyPr/>
                    <a:lstStyle/>
                    <a:p>
                      <a:pPr indent="0" marL="0">
                        <a:buNone/>
                      </a:pPr>
                      <a:r>
                        <a:rPr lang="en-US" sz="1200" b="1" dirty="0">
                          <a:solidFill>
                            <a:srgbClr val="0F172A"/>
                          </a:solidFill>
                        </a:rPr>
                        <a:t>BookingCreated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64748B"/>
                          </a:solidFill>
                        </a:rPr>
                        <a:t>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92608">
                <a:tc>
                  <a:txBody>
                    <a:bodyPr/>
                    <a:lstStyle/>
                    <a:p>
                      <a:pPr indent="0" marL="0">
                        <a:buNone/>
                      </a:pPr>
                      <a:r>
                        <a:rPr lang="en-US" sz="1200" b="1" dirty="0">
                          <a:solidFill>
                            <a:srgbClr val="0F172A"/>
                          </a:solidFill>
                        </a:rPr>
                        <a:t>ProviderAssigned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64748B"/>
                          </a:solidFill>
                        </a:rPr>
                        <a:t>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0F172A"/>
                          </a:solidFill>
                        </a:rPr>
                        <a:t>ProviderAccepted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64748B"/>
                          </a:solidFill>
                        </a:rPr>
                        <a:t>dispatch, 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92608">
                <a:tc>
                  <a:txBody>
                    <a:bodyPr/>
                    <a:lstStyle/>
                    <a:p>
                      <a:pPr indent="0" marL="0">
                        <a:buNone/>
                      </a:pPr>
                      <a:r>
                        <a:rPr lang="en-US" sz="1200" b="1" dirty="0">
                          <a:solidFill>
                            <a:srgbClr val="0F172A"/>
                          </a:solidFill>
                        </a:rPr>
                        <a:t>ProviderRejected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64748B"/>
                          </a:solidFill>
                        </a:rPr>
                        <a:t>dispatch</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0F172A"/>
                          </a:solidFill>
                        </a:rPr>
                        <a:t>ProviderArriving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64748B"/>
                          </a:solidFill>
                        </a:rPr>
                        <a:t>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92608">
                <a:tc>
                  <a:txBody>
                    <a:bodyPr/>
                    <a:lstStyle/>
                    <a:p>
                      <a:pPr indent="0" marL="0">
                        <a:buNone/>
                      </a:pPr>
                      <a:r>
                        <a:rPr lang="en-US" sz="1200" b="1" dirty="0">
                          <a:solidFill>
                            <a:srgbClr val="0F172A"/>
                          </a:solidFill>
                        </a:rPr>
                        <a:t>ProviderArrived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64748B"/>
                          </a:solidFill>
                        </a:rPr>
                        <a:t>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0F172A"/>
                          </a:solidFill>
                        </a:rPr>
                        <a:t>JobStarted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64748B"/>
                          </a:solidFill>
                        </a:rPr>
                        <a:t>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92608">
                <a:tc>
                  <a:txBody>
                    <a:bodyPr/>
                    <a:lstStyle/>
                    <a:p>
                      <a:pPr indent="0" marL="0">
                        <a:buNone/>
                      </a:pPr>
                      <a:r>
                        <a:rPr lang="en-US" sz="1200" b="1" dirty="0">
                          <a:solidFill>
                            <a:srgbClr val="0F172A"/>
                          </a:solidFill>
                        </a:rPr>
                        <a:t>JobCompleted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64748B"/>
                          </a:solidFill>
                        </a:rPr>
                        <a:t>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0F172A"/>
                          </a:solidFill>
                        </a:rPr>
                        <a:t>PaymentCompleted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64748B"/>
                          </a:solidFill>
                        </a:rPr>
                        <a:t>payment</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92608">
                <a:tc>
                  <a:txBody>
                    <a:bodyPr/>
                    <a:lstStyle/>
                    <a:p>
                      <a:pPr indent="0" marL="0">
                        <a:buNone/>
                      </a:pPr>
                      <a:r>
                        <a:rPr lang="en-US" sz="1200" b="1" dirty="0">
                          <a:solidFill>
                            <a:srgbClr val="0F172A"/>
                          </a:solidFill>
                        </a:rPr>
                        <a:t>BookingCancelled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64748B"/>
                          </a:solidFill>
                        </a:rPr>
                        <a:t>booking</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0F766E"/>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0F172A"/>
                          </a:solidFill>
                        </a:rPr>
                        <a:t>ReviewSubmitted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64748B"/>
                          </a:solidFill>
                        </a:rPr>
                        <a:t>rating-review</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92608">
                <a:tc>
                  <a:txBody>
                    <a:bodyPr/>
                    <a:lstStyle/>
                    <a:p>
                      <a:pPr indent="0" marL="0">
                        <a:buNone/>
                      </a:pPr>
                      <a:r>
                        <a:rPr lang="en-US" sz="1200" b="1" dirty="0">
                          <a:solidFill>
                            <a:srgbClr val="0F172A"/>
                          </a:solidFill>
                        </a:rPr>
                        <a:t>ComplaintCreated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64748B"/>
                          </a:solidFill>
                        </a:rPr>
                        <a:t>complaint</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0F172A"/>
                          </a:solidFill>
                        </a:rPr>
                        <a:t>ComplaintStatusChanged</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64748B"/>
                          </a:solidFill>
                        </a:rPr>
                        <a:t>complaint</a:t>
                      </a:r>
                      <a:endParaRPr lang="en-US" sz="12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400" dirty="0">
                          <a:solidFill>
                            <a:srgbClr val="64748B"/>
                          </a:solidFill>
                        </a:rPr>
                        <a:t>●</a:t>
                      </a:r>
                      <a:endParaRPr lang="en-US" sz="1400" dirty="0"/>
                    </a:p>
                  </a:txBody>
                  <a:tcPr marL="76200" marR="762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5" name="text-465"/>
          <p:cNvSpPr txBox="1"/>
          <p:nvPr/>
        </p:nvSpPr>
        <p:spPr>
          <a:xfrm>
            <a:off x="548640" y="5806440"/>
            <a:ext cx="11091672" cy="320040"/>
          </a:xfrm>
          <a:prstGeom prst="rect">
            <a:avLst/>
          </a:prstGeom>
          <a:noFill/>
          <a:ln/>
        </p:spPr>
        <p:txBody>
          <a:bodyPr wrap="square" lIns="0" tIns="0" rIns="0" bIns="0" rtlCol="0" anchor="t"/>
          <a:lstStyle/>
          <a:p>
            <a:pPr algn="l" indent="0" marL="0">
              <a:buNone/>
            </a:pPr>
            <a:r>
              <a:rPr lang="en-US" sz="1200" i="1" dirty="0">
                <a:solidFill>
                  <a:schemeClr val="accent6"/>
                </a:solidFill>
              </a:rPr>
              <a:t>Provider ratings travel over HTTP instead: rating-review-service pushes each provider's aggregate to provider-service after every review change, retried until it lands.</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731520" y="2697480"/>
            <a:ext cx="10515600" cy="1005840"/>
          </a:xfrm>
          <a:prstGeom prst="rect">
            <a:avLst/>
          </a:prstGeom>
          <a:noFill/>
          <a:ln/>
        </p:spPr>
        <p:txBody>
          <a:bodyPr wrap="square" lIns="0" tIns="0" rIns="0" bIns="0" rtlCol="0" anchor="t"/>
          <a:lstStyle/>
          <a:p>
            <a:pPr algn="l" indent="0" marL="0">
              <a:buNone/>
            </a:pPr>
            <a:r>
              <a:rPr lang="en-US" sz="4400" b="1" dirty="0">
                <a:solidFill>
                  <a:schemeClr val="bg1"/>
                </a:solidFill>
              </a:rPr>
              <a:t>Platform foundations</a:t>
            </a:r>
            <a:endParaRPr lang="en-US" sz="4400" dirty="0"/>
          </a:p>
        </p:txBody>
      </p:sp>
      <p:sp>
        <p:nvSpPr>
          <p:cNvPr id="3" name="Text 0"/>
          <p:cNvSpPr/>
          <p:nvPr>
            <p:ph idx="102" type="body" hasCustomPrompt="1"/>
          </p:nvPr>
        </p:nvSpPr>
        <p:spPr>
          <a:xfrm>
            <a:off x="731520" y="3749040"/>
            <a:ext cx="10515600" cy="640080"/>
          </a:xfrm>
          <a:prstGeom prst="rect">
            <a:avLst/>
          </a:prstGeom>
          <a:noFill/>
          <a:ln/>
        </p:spPr>
        <p:txBody>
          <a:bodyPr wrap="square" lIns="0" tIns="0" rIns="0" bIns="0" rtlCol="0" anchor="t"/>
          <a:lstStyle/>
          <a:p>
            <a:pPr indent="0" marL="0">
              <a:buNone/>
            </a:pPr>
            <a:r>
              <a:rPr lang="en-US" sz="2000" dirty="0">
                <a:solidFill>
                  <a:schemeClr val="bg2"/>
                </a:solidFill>
              </a:rPr>
              <a:t>Real-time, agencies, security and data</a:t>
            </a:r>
            <a:endParaRPr lang="en-US" sz="2000" dirty="0"/>
          </a:p>
        </p:txBody>
      </p:sp>
      <p:sp>
        <p:nvSpPr>
          <p:cNvPr id="4" name="Text 0"/>
          <p:cNvSpPr/>
          <p:nvPr>
            <p:ph idx="100" type="body" hasCustomPrompt="1"/>
          </p:nvPr>
        </p:nvSpPr>
        <p:spPr>
          <a:xfrm>
            <a:off x="731520" y="2011680"/>
            <a:ext cx="3657600" cy="640080"/>
          </a:xfrm>
          <a:prstGeom prst="rect">
            <a:avLst/>
          </a:prstGeom>
          <a:noFill/>
          <a:ln/>
        </p:spPr>
        <p:txBody>
          <a:bodyPr wrap="square" lIns="0" tIns="0" rIns="0" bIns="0" rtlCol="0" anchor="b"/>
          <a:lstStyle/>
          <a:p>
            <a:pPr indent="0" marL="0">
              <a:buNone/>
            </a:pPr>
            <a:r>
              <a:rPr lang="en-US" sz="2800" b="1" dirty="0">
                <a:solidFill>
                  <a:schemeClr val="bg2"/>
                </a:solidFill>
              </a:rPr>
              <a:t>03</a:t>
            </a: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Real-time: live location and chat</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Browsers cannot set headers on SSE or WebSocket, so the gateway accepts ?access_token= on these two paths only</a:t>
            </a:r>
            <a:endParaRPr lang="en-US" sz="1500" dirty="0"/>
          </a:p>
        </p:txBody>
      </p:sp>
      <p:sp>
        <p:nvSpPr>
          <p:cNvPr id="4" name="panel-466"/>
          <p:cNvSpPr txBox="1"/>
          <p:nvPr/>
        </p:nvSpPr>
        <p:spPr>
          <a:xfrm>
            <a:off x="548640" y="1600200"/>
            <a:ext cx="5440680" cy="4617720"/>
          </a:xfrm>
          <a:prstGeom prst="roundRect">
            <a:avLst>
              <a:gd name="adj" fmla="val 1980"/>
            </a:avLst>
          </a:prstGeom>
          <a:solidFill>
            <a:schemeClr val="accent1">
              <a:alpha val="8000"/>
            </a:schemeClr>
          </a:solidFill>
          <a:ln/>
        </p:spPr>
        <p:txBody>
          <a:bodyPr wrap="square" lIns="76200" tIns="38100" rIns="76200" bIns="38100" rtlCol="0" anchor="ctr"/>
          <a:lstStyle/>
          <a:p>
            <a:pPr algn="ctr" indent="0" marL="0">
              <a:buNone/>
            </a:pPr>
            <a:endParaRPr lang="en-US" sz="1200" dirty="0"/>
          </a:p>
        </p:txBody>
      </p:sp>
      <p:sp>
        <p:nvSpPr>
          <p:cNvPr id="5" name="text-467"/>
          <p:cNvSpPr txBox="1"/>
          <p:nvPr/>
        </p:nvSpPr>
        <p:spPr>
          <a:xfrm>
            <a:off x="777240" y="1691640"/>
            <a:ext cx="4937760" cy="365760"/>
          </a:xfrm>
          <a:prstGeom prst="rect">
            <a:avLst/>
          </a:prstGeom>
          <a:noFill/>
          <a:ln/>
        </p:spPr>
        <p:txBody>
          <a:bodyPr wrap="square" lIns="0" tIns="0" rIns="0" bIns="0" rtlCol="0" anchor="t"/>
          <a:lstStyle/>
          <a:p>
            <a:pPr algn="l" indent="0" marL="0">
              <a:buNone/>
            </a:pPr>
            <a:r>
              <a:rPr lang="en-US" sz="1600" b="1" dirty="0">
                <a:solidFill>
                  <a:schemeClr val="accent1"/>
                </a:solidFill>
              </a:rPr>
              <a:t>Live location</a:t>
            </a:r>
            <a:endParaRPr lang="en-US" sz="1600" dirty="0"/>
          </a:p>
        </p:txBody>
      </p:sp>
      <p:sp>
        <p:nvSpPr>
          <p:cNvPr id="6" name="box-468"/>
          <p:cNvSpPr txBox="1"/>
          <p:nvPr/>
        </p:nvSpPr>
        <p:spPr>
          <a:xfrm>
            <a:off x="777240" y="2148840"/>
            <a:ext cx="4983480" cy="975360"/>
          </a:xfrm>
          <a:prstGeom prst="roundRect">
            <a:avLst>
              <a:gd name="adj" fmla="val 7500"/>
            </a:avLst>
          </a:prstGeom>
          <a:solidFill>
            <a:schemeClr val="bg1"/>
          </a:solidFill>
          <a:ln w="12700">
            <a:solidFill>
              <a:schemeClr val="accent1">
                <a:alpha val="40000"/>
              </a:schemeClr>
            </a:solidFill>
            <a:prstDash val="solid"/>
          </a:ln>
        </p:spPr>
        <p:txBody>
          <a:bodyPr wrap="square" lIns="812800" tIns="38100" rIns="101600" bIns="38100" rtlCol="0" anchor="ctr"/>
          <a:lstStyle/>
          <a:p>
            <a:pPr algn="l" indent="0" marL="0">
              <a:buNone/>
            </a:pPr>
            <a:r>
              <a:rPr lang="en-US" sz="1300" b="1" dirty="0">
                <a:solidFill>
                  <a:schemeClr val="tx1"/>
                </a:solidFill>
              </a:rPr>
              <a:t>provider-app posts each GPS fix</a:t>
            </a:r>
            <a:endParaRPr lang="en-US" sz="1200" dirty="0"/>
          </a:p>
          <a:p>
            <a:pPr algn="l" indent="0" marL="0">
              <a:buNone/>
            </a:pPr>
            <a:r>
              <a:rPr lang="en-US" sz="1150" dirty="0">
                <a:solidFill>
                  <a:schemeClr val="accent6"/>
                </a:solidFill>
              </a:rPr>
              <a:t>POST /locations/{bookingId}, at most one per 5 s</a:t>
            </a:r>
            <a:endParaRPr lang="en-US" sz="1200" dirty="0"/>
          </a:p>
        </p:txBody>
      </p:sp>
      <p:sp>
        <p:nvSpPr>
          <p:cNvPr id="7" name="icon-bg-hardhat-469"/>
          <p:cNvSpPr/>
          <p:nvPr/>
        </p:nvSpPr>
        <p:spPr>
          <a:xfrm>
            <a:off x="896112" y="2417064"/>
            <a:ext cx="438912" cy="438912"/>
          </a:xfrm>
          <a:prstGeom prst="ellipse">
            <a:avLst/>
          </a:prstGeom>
          <a:solidFill>
            <a:schemeClr val="accent1"/>
          </a:solidFill>
          <a:ln/>
        </p:spPr>
        <p:txBody>
          <a:bodyPr/>
          <a:p/>
        </p:txBody>
      </p:sp>
      <p:pic>
        <p:nvPicPr>
          <p:cNvPr id="8" name="icon-hardhat-470" descr="hardhat">    </p:cNvPr>
          <p:cNvPicPr>
            <a:picLocks noChangeAspect="1"/>
          </p:cNvPicPr>
          <p:nvPr/>
        </p:nvPicPr>
        <p:blipFill>
          <a:blip r:embed="rId1"/>
          <a:stretch>
            <a:fillRect/>
          </a:stretch>
        </p:blipFill>
        <p:spPr>
          <a:xfrm>
            <a:off x="1001451" y="2522403"/>
            <a:ext cx="228234" cy="228234"/>
          </a:xfrm>
          <a:prstGeom prst="rect">
            <a:avLst/>
          </a:prstGeom>
        </p:spPr>
      </p:pic>
      <p:sp>
        <p:nvSpPr>
          <p:cNvPr id="9" name="arrow-471"/>
          <p:cNvSpPr/>
          <p:nvPr/>
        </p:nvSpPr>
        <p:spPr>
          <a:xfrm>
            <a:off x="3246120" y="3124200"/>
            <a:ext cx="0" cy="228600"/>
          </a:xfrm>
          <a:prstGeom prst="line">
            <a:avLst/>
          </a:prstGeom>
          <a:noFill/>
          <a:ln w="19050">
            <a:solidFill>
              <a:schemeClr val="accent6"/>
            </a:solidFill>
            <a:prstDash val="solid"/>
            <a:tailEnd type="triangle"/>
          </a:ln>
        </p:spPr>
        <p:txBody>
          <a:bodyPr/>
          <a:p/>
        </p:txBody>
      </p:sp>
      <p:sp>
        <p:nvSpPr>
          <p:cNvPr id="10" name="box-472"/>
          <p:cNvSpPr txBox="1"/>
          <p:nvPr/>
        </p:nvSpPr>
        <p:spPr>
          <a:xfrm>
            <a:off x="777240" y="3352800"/>
            <a:ext cx="4983480" cy="975360"/>
          </a:xfrm>
          <a:prstGeom prst="roundRect">
            <a:avLst>
              <a:gd name="adj" fmla="val 7500"/>
            </a:avLst>
          </a:prstGeom>
          <a:solidFill>
            <a:schemeClr val="bg1"/>
          </a:solidFill>
          <a:ln w="12700">
            <a:solidFill>
              <a:schemeClr val="accent1">
                <a:alpha val="40000"/>
              </a:schemeClr>
            </a:solidFill>
            <a:prstDash val="solid"/>
          </a:ln>
        </p:spPr>
        <p:txBody>
          <a:bodyPr wrap="square" lIns="812800" tIns="38100" rIns="101600" bIns="38100" rtlCol="0" anchor="ctr"/>
          <a:lstStyle/>
          <a:p>
            <a:pPr algn="l" indent="0" marL="0">
              <a:buNone/>
            </a:pPr>
            <a:r>
              <a:rPr lang="en-US" sz="1300" b="1" dirty="0">
                <a:solidFill>
                  <a:schemeClr val="tx1"/>
                </a:solidFill>
              </a:rPr>
              <a:t>location-service</a:t>
            </a:r>
            <a:endParaRPr lang="en-US" sz="1200" dirty="0"/>
          </a:p>
          <a:p>
            <a:pPr algn="l" indent="0" marL="0">
              <a:buNone/>
            </a:pPr>
            <a:r>
              <a:rPr lang="en-US" sz="1150" dirty="0">
                <a:solidFill>
                  <a:schemeClr val="accent6"/>
                </a:solidFill>
              </a:rPr>
              <a:t>latest position in Redis, trail in location_history</a:t>
            </a:r>
            <a:endParaRPr lang="en-US" sz="1200" dirty="0"/>
          </a:p>
        </p:txBody>
      </p:sp>
      <p:sp>
        <p:nvSpPr>
          <p:cNvPr id="11" name="icon-bg-pin-473"/>
          <p:cNvSpPr/>
          <p:nvPr/>
        </p:nvSpPr>
        <p:spPr>
          <a:xfrm>
            <a:off x="896112" y="3621024"/>
            <a:ext cx="438912" cy="438912"/>
          </a:xfrm>
          <a:prstGeom prst="ellipse">
            <a:avLst/>
          </a:prstGeom>
          <a:solidFill>
            <a:schemeClr val="accent1"/>
          </a:solidFill>
          <a:ln/>
        </p:spPr>
        <p:txBody>
          <a:bodyPr/>
          <a:p/>
        </p:txBody>
      </p:sp>
      <p:pic>
        <p:nvPicPr>
          <p:cNvPr id="12" name="icon-pin-474" descr="pin">    </p:cNvPr>
          <p:cNvPicPr>
            <a:picLocks noChangeAspect="1"/>
          </p:cNvPicPr>
          <p:nvPr/>
        </p:nvPicPr>
        <p:blipFill>
          <a:blip r:embed="rId2"/>
          <a:stretch>
            <a:fillRect/>
          </a:stretch>
        </p:blipFill>
        <p:spPr>
          <a:xfrm>
            <a:off x="1001451" y="3726363"/>
            <a:ext cx="228234" cy="228234"/>
          </a:xfrm>
          <a:prstGeom prst="rect">
            <a:avLst/>
          </a:prstGeom>
        </p:spPr>
      </p:pic>
      <p:sp>
        <p:nvSpPr>
          <p:cNvPr id="13" name="arrow-475"/>
          <p:cNvSpPr/>
          <p:nvPr/>
        </p:nvSpPr>
        <p:spPr>
          <a:xfrm>
            <a:off x="3246120" y="4328160"/>
            <a:ext cx="0" cy="228600"/>
          </a:xfrm>
          <a:prstGeom prst="line">
            <a:avLst/>
          </a:prstGeom>
          <a:noFill/>
          <a:ln w="19050">
            <a:solidFill>
              <a:schemeClr val="accent6"/>
            </a:solidFill>
            <a:prstDash val="solid"/>
            <a:tailEnd type="triangle"/>
          </a:ln>
        </p:spPr>
        <p:txBody>
          <a:bodyPr/>
          <a:p/>
        </p:txBody>
      </p:sp>
      <p:sp>
        <p:nvSpPr>
          <p:cNvPr id="14" name="box-476"/>
          <p:cNvSpPr txBox="1"/>
          <p:nvPr/>
        </p:nvSpPr>
        <p:spPr>
          <a:xfrm>
            <a:off x="777240" y="4556760"/>
            <a:ext cx="4983480" cy="975360"/>
          </a:xfrm>
          <a:prstGeom prst="roundRect">
            <a:avLst>
              <a:gd name="adj" fmla="val 7500"/>
            </a:avLst>
          </a:prstGeom>
          <a:solidFill>
            <a:schemeClr val="bg1"/>
          </a:solidFill>
          <a:ln w="12700">
            <a:solidFill>
              <a:schemeClr val="accent1">
                <a:alpha val="40000"/>
              </a:schemeClr>
            </a:solidFill>
            <a:prstDash val="solid"/>
          </a:ln>
        </p:spPr>
        <p:txBody>
          <a:bodyPr wrap="square" lIns="812800" tIns="38100" rIns="101600" bIns="38100" rtlCol="0" anchor="ctr"/>
          <a:lstStyle/>
          <a:p>
            <a:pPr algn="l" indent="0" marL="0">
              <a:buNone/>
            </a:pPr>
            <a:r>
              <a:rPr lang="en-US" sz="1300" b="1" dirty="0">
                <a:solidFill>
                  <a:schemeClr val="tx1"/>
                </a:solidFill>
              </a:rPr>
              <a:t>customer-app follows along</a:t>
            </a:r>
            <a:endParaRPr lang="en-US" sz="1200" dirty="0"/>
          </a:p>
          <a:p>
            <a:pPr algn="l" indent="0" marL="0">
              <a:buNone/>
            </a:pPr>
            <a:r>
              <a:rPr lang="en-US" sz="1150" dirty="0">
                <a:solidFill>
                  <a:schemeClr val="accent6"/>
                </a:solidFill>
              </a:rPr>
              <a:t>snapshot, then the SSE stream; ETA estimated in the app</a:t>
            </a:r>
            <a:endParaRPr lang="en-US" sz="1200" dirty="0"/>
          </a:p>
        </p:txBody>
      </p:sp>
      <p:sp>
        <p:nvSpPr>
          <p:cNvPr id="15" name="icon-bg-user-477"/>
          <p:cNvSpPr/>
          <p:nvPr/>
        </p:nvSpPr>
        <p:spPr>
          <a:xfrm>
            <a:off x="896112" y="4824984"/>
            <a:ext cx="438912" cy="438912"/>
          </a:xfrm>
          <a:prstGeom prst="ellipse">
            <a:avLst/>
          </a:prstGeom>
          <a:solidFill>
            <a:schemeClr val="accent1"/>
          </a:solidFill>
          <a:ln/>
        </p:spPr>
        <p:txBody>
          <a:bodyPr/>
          <a:p/>
        </p:txBody>
      </p:sp>
      <p:pic>
        <p:nvPicPr>
          <p:cNvPr id="16" name="icon-user-478" descr="user">    </p:cNvPr>
          <p:cNvPicPr>
            <a:picLocks noChangeAspect="1"/>
          </p:cNvPicPr>
          <p:nvPr/>
        </p:nvPicPr>
        <p:blipFill>
          <a:blip r:embed="rId3"/>
          <a:stretch>
            <a:fillRect/>
          </a:stretch>
        </p:blipFill>
        <p:spPr>
          <a:xfrm>
            <a:off x="1001451" y="4930323"/>
            <a:ext cx="228234" cy="228234"/>
          </a:xfrm>
          <a:prstGeom prst="rect">
            <a:avLst/>
          </a:prstGeom>
        </p:spPr>
      </p:pic>
      <p:sp>
        <p:nvSpPr>
          <p:cNvPr id="17" name="text-479"/>
          <p:cNvSpPr txBox="1"/>
          <p:nvPr/>
        </p:nvSpPr>
        <p:spPr>
          <a:xfrm>
            <a:off x="777240" y="5715000"/>
            <a:ext cx="4983480" cy="457200"/>
          </a:xfrm>
          <a:prstGeom prst="rect">
            <a:avLst/>
          </a:prstGeom>
          <a:noFill/>
          <a:ln/>
        </p:spPr>
        <p:txBody>
          <a:bodyPr wrap="square" lIns="0" tIns="0" rIns="0" bIns="0" rtlCol="0" anchor="t"/>
          <a:lstStyle/>
          <a:p>
            <a:pPr algn="l" indent="0" marL="0">
              <a:buNone/>
            </a:pPr>
            <a:r>
              <a:rPr lang="en-US" sz="1150" i="1" dirty="0">
                <a:solidFill>
                  <a:schemeClr val="tx1"/>
                </a:solidFill>
              </a:rPr>
              <a:t>Reads are ownership-checked; JobStarted ends the feed.</a:t>
            </a:r>
            <a:endParaRPr lang="en-US" sz="1150" dirty="0"/>
          </a:p>
        </p:txBody>
      </p:sp>
      <p:sp>
        <p:nvSpPr>
          <p:cNvPr id="18" name="panel-480"/>
          <p:cNvSpPr txBox="1"/>
          <p:nvPr/>
        </p:nvSpPr>
        <p:spPr>
          <a:xfrm>
            <a:off x="6199632" y="1600200"/>
            <a:ext cx="5440680" cy="4617720"/>
          </a:xfrm>
          <a:prstGeom prst="roundRect">
            <a:avLst>
              <a:gd name="adj" fmla="val 1980"/>
            </a:avLst>
          </a:prstGeom>
          <a:solidFill>
            <a:schemeClr val="accent3">
              <a:alpha val="8000"/>
            </a:schemeClr>
          </a:solidFill>
          <a:ln/>
        </p:spPr>
        <p:txBody>
          <a:bodyPr wrap="square" lIns="76200" tIns="38100" rIns="76200" bIns="38100" rtlCol="0" anchor="ctr"/>
          <a:lstStyle/>
          <a:p>
            <a:pPr algn="ctr" indent="0" marL="0">
              <a:buNone/>
            </a:pPr>
            <a:endParaRPr lang="en-US" sz="1200" dirty="0"/>
          </a:p>
        </p:txBody>
      </p:sp>
      <p:sp>
        <p:nvSpPr>
          <p:cNvPr id="19" name="text-481"/>
          <p:cNvSpPr txBox="1"/>
          <p:nvPr/>
        </p:nvSpPr>
        <p:spPr>
          <a:xfrm>
            <a:off x="6428232" y="1691640"/>
            <a:ext cx="4937760" cy="365760"/>
          </a:xfrm>
          <a:prstGeom prst="rect">
            <a:avLst/>
          </a:prstGeom>
          <a:noFill/>
          <a:ln/>
        </p:spPr>
        <p:txBody>
          <a:bodyPr wrap="square" lIns="0" tIns="0" rIns="0" bIns="0" rtlCol="0" anchor="t"/>
          <a:lstStyle/>
          <a:p>
            <a:pPr algn="l" indent="0" marL="0">
              <a:buNone/>
            </a:pPr>
            <a:r>
              <a:rPr lang="en-US" sz="1600" b="1" dirty="0">
                <a:solidFill>
                  <a:schemeClr val="accent3"/>
                </a:solidFill>
              </a:rPr>
              <a:t>Chat  (repaired in this review)</a:t>
            </a:r>
            <a:endParaRPr lang="en-US" sz="1600" dirty="0"/>
          </a:p>
        </p:txBody>
      </p:sp>
      <p:sp>
        <p:nvSpPr>
          <p:cNvPr id="20" name="box-482"/>
          <p:cNvSpPr txBox="1"/>
          <p:nvPr/>
        </p:nvSpPr>
        <p:spPr>
          <a:xfrm>
            <a:off x="6428232" y="2148840"/>
            <a:ext cx="4983480" cy="674370"/>
          </a:xfrm>
          <a:prstGeom prst="roundRect">
            <a:avLst>
              <a:gd name="adj" fmla="val 10847"/>
            </a:avLst>
          </a:prstGeom>
          <a:solidFill>
            <a:schemeClr val="bg1"/>
          </a:solidFill>
          <a:ln w="12700">
            <a:solidFill>
              <a:schemeClr val="accent3">
                <a:alpha val="40000"/>
              </a:schemeClr>
            </a:solidFill>
            <a:prstDash val="solid"/>
          </a:ln>
        </p:spPr>
        <p:txBody>
          <a:bodyPr wrap="square" lIns="812800" tIns="38100" rIns="101600" bIns="38100" rtlCol="0" anchor="ctr"/>
          <a:lstStyle/>
          <a:p>
            <a:pPr algn="l" indent="0" marL="0">
              <a:buNone/>
            </a:pPr>
            <a:r>
              <a:rPr lang="en-US" sz="1300" b="1" dirty="0">
                <a:solidFill>
                  <a:schemeClr val="tx1"/>
                </a:solidFill>
              </a:rPr>
              <a:t>Both apps open a WebSocket</a:t>
            </a:r>
            <a:endParaRPr lang="en-US" sz="1200" dirty="0"/>
          </a:p>
          <a:p>
            <a:pPr algn="l" indent="0" marL="0">
              <a:buNone/>
            </a:pPr>
            <a:r>
              <a:rPr lang="en-US" sz="1150" dirty="0">
                <a:solidFill>
                  <a:schemeClr val="accent6"/>
                </a:solidFill>
              </a:rPr>
              <a:t>/chat/channels/{bookingId}/ws?access_token=…</a:t>
            </a:r>
            <a:endParaRPr lang="en-US" sz="1200" dirty="0"/>
          </a:p>
        </p:txBody>
      </p:sp>
      <p:sp>
        <p:nvSpPr>
          <p:cNvPr id="21" name="icon-bg-phone-483"/>
          <p:cNvSpPr/>
          <p:nvPr/>
        </p:nvSpPr>
        <p:spPr>
          <a:xfrm>
            <a:off x="6547104" y="2266569"/>
            <a:ext cx="438912" cy="438912"/>
          </a:xfrm>
          <a:prstGeom prst="ellipse">
            <a:avLst/>
          </a:prstGeom>
          <a:solidFill>
            <a:schemeClr val="accent3"/>
          </a:solidFill>
          <a:ln/>
        </p:spPr>
        <p:txBody>
          <a:bodyPr/>
          <a:p/>
        </p:txBody>
      </p:sp>
      <p:pic>
        <p:nvPicPr>
          <p:cNvPr id="22" name="icon-phone-484" descr="phone">    </p:cNvPr>
          <p:cNvPicPr>
            <a:picLocks noChangeAspect="1"/>
          </p:cNvPicPr>
          <p:nvPr/>
        </p:nvPicPr>
        <p:blipFill>
          <a:blip r:embed="rId4"/>
          <a:stretch>
            <a:fillRect/>
          </a:stretch>
        </p:blipFill>
        <p:spPr>
          <a:xfrm>
            <a:off x="6652443" y="2371908"/>
            <a:ext cx="228234" cy="228234"/>
          </a:xfrm>
          <a:prstGeom prst="rect">
            <a:avLst/>
          </a:prstGeom>
        </p:spPr>
      </p:pic>
      <p:sp>
        <p:nvSpPr>
          <p:cNvPr id="23" name="arrow-485"/>
          <p:cNvSpPr/>
          <p:nvPr/>
        </p:nvSpPr>
        <p:spPr>
          <a:xfrm>
            <a:off x="8897112" y="2823210"/>
            <a:ext cx="0" cy="228600"/>
          </a:xfrm>
          <a:prstGeom prst="line">
            <a:avLst/>
          </a:prstGeom>
          <a:noFill/>
          <a:ln w="19050">
            <a:solidFill>
              <a:schemeClr val="accent6"/>
            </a:solidFill>
            <a:prstDash val="solid"/>
            <a:tailEnd type="triangle"/>
          </a:ln>
        </p:spPr>
        <p:txBody>
          <a:bodyPr/>
          <a:p/>
        </p:txBody>
      </p:sp>
      <p:sp>
        <p:nvSpPr>
          <p:cNvPr id="24" name="box-486"/>
          <p:cNvSpPr txBox="1"/>
          <p:nvPr/>
        </p:nvSpPr>
        <p:spPr>
          <a:xfrm>
            <a:off x="6428232" y="3051810"/>
            <a:ext cx="4983480" cy="674370"/>
          </a:xfrm>
          <a:prstGeom prst="roundRect">
            <a:avLst>
              <a:gd name="adj" fmla="val 10847"/>
            </a:avLst>
          </a:prstGeom>
          <a:solidFill>
            <a:schemeClr val="bg1"/>
          </a:solidFill>
          <a:ln w="12700">
            <a:solidFill>
              <a:schemeClr val="accent3">
                <a:alpha val="40000"/>
              </a:schemeClr>
            </a:solidFill>
            <a:prstDash val="solid"/>
          </a:ln>
        </p:spPr>
        <p:txBody>
          <a:bodyPr wrap="square" lIns="812800" tIns="38100" rIns="101600" bIns="38100" rtlCol="0" anchor="ctr"/>
          <a:lstStyle/>
          <a:p>
            <a:pPr algn="l" indent="0" marL="0">
              <a:buNone/>
            </a:pPr>
            <a:r>
              <a:rPr lang="en-US" sz="1300" b="1" dirty="0">
                <a:solidFill>
                  <a:schemeClr val="tx1"/>
                </a:solidFill>
              </a:rPr>
              <a:t>api-gateway</a:t>
            </a:r>
            <a:endParaRPr lang="en-US" sz="1200" dirty="0"/>
          </a:p>
          <a:p>
            <a:pPr algn="l" indent="0" marL="0">
              <a:buNone/>
            </a:pPr>
            <a:r>
              <a:rPr lang="en-US" sz="1150" dirty="0">
                <a:solidFill>
                  <a:schemeClr val="accent6"/>
                </a:solidFill>
              </a:rPr>
              <a:t>moves the token into the Bearer header</a:t>
            </a:r>
            <a:endParaRPr lang="en-US" sz="1200" dirty="0"/>
          </a:p>
        </p:txBody>
      </p:sp>
      <p:sp>
        <p:nvSpPr>
          <p:cNvPr id="25" name="icon-bg-network-487"/>
          <p:cNvSpPr/>
          <p:nvPr/>
        </p:nvSpPr>
        <p:spPr>
          <a:xfrm>
            <a:off x="6547104" y="3169539"/>
            <a:ext cx="438912" cy="438912"/>
          </a:xfrm>
          <a:prstGeom prst="ellipse">
            <a:avLst/>
          </a:prstGeom>
          <a:solidFill>
            <a:schemeClr val="accent3"/>
          </a:solidFill>
          <a:ln/>
        </p:spPr>
        <p:txBody>
          <a:bodyPr/>
          <a:p/>
        </p:txBody>
      </p:sp>
      <p:pic>
        <p:nvPicPr>
          <p:cNvPr id="26" name="icon-network-488" descr="network">    </p:cNvPr>
          <p:cNvPicPr>
            <a:picLocks noChangeAspect="1"/>
          </p:cNvPicPr>
          <p:nvPr/>
        </p:nvPicPr>
        <p:blipFill>
          <a:blip r:embed="rId5"/>
          <a:stretch>
            <a:fillRect/>
          </a:stretch>
        </p:blipFill>
        <p:spPr>
          <a:xfrm>
            <a:off x="6652443" y="3274878"/>
            <a:ext cx="228234" cy="228234"/>
          </a:xfrm>
          <a:prstGeom prst="rect">
            <a:avLst/>
          </a:prstGeom>
        </p:spPr>
      </p:pic>
      <p:sp>
        <p:nvSpPr>
          <p:cNvPr id="27" name="arrow-489"/>
          <p:cNvSpPr/>
          <p:nvPr/>
        </p:nvSpPr>
        <p:spPr>
          <a:xfrm>
            <a:off x="8897112" y="3726180"/>
            <a:ext cx="0" cy="228600"/>
          </a:xfrm>
          <a:prstGeom prst="line">
            <a:avLst/>
          </a:prstGeom>
          <a:noFill/>
          <a:ln w="19050">
            <a:solidFill>
              <a:schemeClr val="accent6"/>
            </a:solidFill>
            <a:prstDash val="solid"/>
            <a:tailEnd type="triangle"/>
          </a:ln>
        </p:spPr>
        <p:txBody>
          <a:bodyPr/>
          <a:p/>
        </p:txBody>
      </p:sp>
      <p:sp>
        <p:nvSpPr>
          <p:cNvPr id="28" name="box-490"/>
          <p:cNvSpPr txBox="1"/>
          <p:nvPr/>
        </p:nvSpPr>
        <p:spPr>
          <a:xfrm>
            <a:off x="6428232" y="3954780"/>
            <a:ext cx="4983480" cy="674370"/>
          </a:xfrm>
          <a:prstGeom prst="roundRect">
            <a:avLst>
              <a:gd name="adj" fmla="val 10847"/>
            </a:avLst>
          </a:prstGeom>
          <a:solidFill>
            <a:schemeClr val="bg1"/>
          </a:solidFill>
          <a:ln w="12700">
            <a:solidFill>
              <a:schemeClr val="accent3">
                <a:alpha val="40000"/>
              </a:schemeClr>
            </a:solidFill>
            <a:prstDash val="solid"/>
          </a:ln>
        </p:spPr>
        <p:txBody>
          <a:bodyPr wrap="square" lIns="812800" tIns="38100" rIns="101600" bIns="38100" rtlCol="0" anchor="ctr"/>
          <a:lstStyle/>
          <a:p>
            <a:pPr algn="l" indent="0" marL="0">
              <a:buNone/>
            </a:pPr>
            <a:r>
              <a:rPr lang="en-US" sz="1300" b="1" dirty="0">
                <a:solidFill>
                  <a:schemeClr val="tx1"/>
                </a:solidFill>
              </a:rPr>
              <a:t>chat-service handshake</a:t>
            </a:r>
            <a:endParaRPr lang="en-US" sz="1200" dirty="0"/>
          </a:p>
          <a:p>
            <a:pPr algn="l" indent="0" marL="0">
              <a:buNone/>
            </a:pPr>
            <a:r>
              <a:rPr lang="en-US" sz="1150" dirty="0">
                <a:solidFill>
                  <a:schemeClr val="accent6"/>
                </a:solidFill>
              </a:rPr>
              <a:t>booking participants only: 401, 403 or 404 otherwise</a:t>
            </a:r>
            <a:endParaRPr lang="en-US" sz="1200" dirty="0"/>
          </a:p>
        </p:txBody>
      </p:sp>
      <p:sp>
        <p:nvSpPr>
          <p:cNvPr id="29" name="icon-bg-shield-491"/>
          <p:cNvSpPr/>
          <p:nvPr/>
        </p:nvSpPr>
        <p:spPr>
          <a:xfrm>
            <a:off x="6547104" y="4072509"/>
            <a:ext cx="438912" cy="438912"/>
          </a:xfrm>
          <a:prstGeom prst="ellipse">
            <a:avLst/>
          </a:prstGeom>
          <a:solidFill>
            <a:schemeClr val="accent3"/>
          </a:solidFill>
          <a:ln/>
        </p:spPr>
        <p:txBody>
          <a:bodyPr/>
          <a:p/>
        </p:txBody>
      </p:sp>
      <p:pic>
        <p:nvPicPr>
          <p:cNvPr id="30" name="icon-shield-492" descr="shield">    </p:cNvPr>
          <p:cNvPicPr>
            <a:picLocks noChangeAspect="1"/>
          </p:cNvPicPr>
          <p:nvPr/>
        </p:nvPicPr>
        <p:blipFill>
          <a:blip r:embed="rId6"/>
          <a:stretch>
            <a:fillRect/>
          </a:stretch>
        </p:blipFill>
        <p:spPr>
          <a:xfrm>
            <a:off x="6652443" y="4177848"/>
            <a:ext cx="228234" cy="228234"/>
          </a:xfrm>
          <a:prstGeom prst="rect">
            <a:avLst/>
          </a:prstGeom>
        </p:spPr>
      </p:pic>
      <p:sp>
        <p:nvSpPr>
          <p:cNvPr id="31" name="arrow-493"/>
          <p:cNvSpPr/>
          <p:nvPr/>
        </p:nvSpPr>
        <p:spPr>
          <a:xfrm>
            <a:off x="8897112" y="4629150"/>
            <a:ext cx="0" cy="228600"/>
          </a:xfrm>
          <a:prstGeom prst="line">
            <a:avLst/>
          </a:prstGeom>
          <a:noFill/>
          <a:ln w="19050">
            <a:solidFill>
              <a:schemeClr val="accent6"/>
            </a:solidFill>
            <a:prstDash val="solid"/>
            <a:tailEnd type="triangle"/>
          </a:ln>
        </p:spPr>
        <p:txBody>
          <a:bodyPr/>
          <a:p/>
        </p:txBody>
      </p:sp>
      <p:sp>
        <p:nvSpPr>
          <p:cNvPr id="32" name="box-494"/>
          <p:cNvSpPr txBox="1"/>
          <p:nvPr/>
        </p:nvSpPr>
        <p:spPr>
          <a:xfrm>
            <a:off x="6428232" y="4857750"/>
            <a:ext cx="4983480" cy="674370"/>
          </a:xfrm>
          <a:prstGeom prst="roundRect">
            <a:avLst>
              <a:gd name="adj" fmla="val 10847"/>
            </a:avLst>
          </a:prstGeom>
          <a:solidFill>
            <a:schemeClr val="bg1"/>
          </a:solidFill>
          <a:ln w="12700">
            <a:solidFill>
              <a:schemeClr val="accent3">
                <a:alpha val="40000"/>
              </a:schemeClr>
            </a:solidFill>
            <a:prstDash val="solid"/>
          </a:ln>
        </p:spPr>
        <p:txBody>
          <a:bodyPr wrap="square" lIns="812800" tIns="38100" rIns="101600" bIns="38100" rtlCol="0" anchor="ctr"/>
          <a:lstStyle/>
          <a:p>
            <a:pPr algn="l" indent="0" marL="0">
              <a:buNone/>
            </a:pPr>
            <a:r>
              <a:rPr lang="en-US" sz="1300" b="1" dirty="0">
                <a:solidFill>
                  <a:schemeClr val="tx1"/>
                </a:solidFill>
              </a:rPr>
              <a:t>ChatService, then Redis</a:t>
            </a:r>
            <a:endParaRPr lang="en-US" sz="1200" dirty="0"/>
          </a:p>
          <a:p>
            <a:pPr algn="l" indent="0" marL="0">
              <a:buNone/>
            </a:pPr>
            <a:r>
              <a:rPr lang="en-US" sz="1150" dirty="0">
                <a:solidFill>
                  <a:schemeClr val="accent6"/>
                </a:solidFill>
              </a:rPr>
              <a:t>masks numbers, stores, publishes once; every node delivers</a:t>
            </a:r>
            <a:endParaRPr lang="en-US" sz="1200" dirty="0"/>
          </a:p>
        </p:txBody>
      </p:sp>
      <p:sp>
        <p:nvSpPr>
          <p:cNvPr id="33" name="icon-bg-chat-495"/>
          <p:cNvSpPr/>
          <p:nvPr/>
        </p:nvSpPr>
        <p:spPr>
          <a:xfrm>
            <a:off x="6547104" y="4975479"/>
            <a:ext cx="438912" cy="438912"/>
          </a:xfrm>
          <a:prstGeom prst="ellipse">
            <a:avLst/>
          </a:prstGeom>
          <a:solidFill>
            <a:schemeClr val="accent3"/>
          </a:solidFill>
          <a:ln/>
        </p:spPr>
        <p:txBody>
          <a:bodyPr/>
          <a:p/>
        </p:txBody>
      </p:sp>
      <p:pic>
        <p:nvPicPr>
          <p:cNvPr id="34" name="icon-chat-496" descr="chat">    </p:cNvPr>
          <p:cNvPicPr>
            <a:picLocks noChangeAspect="1"/>
          </p:cNvPicPr>
          <p:nvPr/>
        </p:nvPicPr>
        <p:blipFill>
          <a:blip r:embed="rId7"/>
          <a:stretch>
            <a:fillRect/>
          </a:stretch>
        </p:blipFill>
        <p:spPr>
          <a:xfrm>
            <a:off x="6652443" y="5080818"/>
            <a:ext cx="228234" cy="228234"/>
          </a:xfrm>
          <a:prstGeom prst="rect">
            <a:avLst/>
          </a:prstGeom>
        </p:spPr>
      </p:pic>
      <p:sp>
        <p:nvSpPr>
          <p:cNvPr id="35" name="text-497"/>
          <p:cNvSpPr txBox="1"/>
          <p:nvPr/>
        </p:nvSpPr>
        <p:spPr>
          <a:xfrm>
            <a:off x="6428232" y="5715000"/>
            <a:ext cx="4983480" cy="457200"/>
          </a:xfrm>
          <a:prstGeom prst="rect">
            <a:avLst/>
          </a:prstGeom>
          <a:noFill/>
          <a:ln/>
        </p:spPr>
        <p:txBody>
          <a:bodyPr wrap="square" lIns="0" tIns="0" rIns="0" bIns="0" rtlCol="0" anchor="t"/>
          <a:lstStyle/>
          <a:p>
            <a:pPr algn="l" indent="0" marL="0">
              <a:buNone/>
            </a:pPr>
            <a:r>
              <a:rPr lang="en-US" sz="1150" i="1" dirty="0">
                <a:solidFill>
                  <a:schemeClr val="tx1"/>
                </a:solidFill>
              </a:rPr>
              <a:t>Works across instances: Redis pub/sub fan-out, presence in Redis with a 10 s TTL.</a:t>
            </a:r>
            <a:endParaRPr lang="en-US" sz="11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When nobody accepts: agency fallback</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Agencies (Tenants) cover an area and a set of categories with their own team of providers</a:t>
            </a:r>
            <a:endParaRPr lang="en-US" sz="1500" dirty="0"/>
          </a:p>
        </p:txBody>
      </p:sp>
      <p:sp>
        <p:nvSpPr>
          <p:cNvPr id="4" name="panel-498"/>
          <p:cNvSpPr txBox="1"/>
          <p:nvPr/>
        </p:nvSpPr>
        <p:spPr>
          <a:xfrm>
            <a:off x="548640" y="1645920"/>
            <a:ext cx="2011680" cy="1600200"/>
          </a:xfrm>
          <a:prstGeom prst="roundRect">
            <a:avLst>
              <a:gd name="adj" fmla="val 5714"/>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5" name="icon-bg-radio-499"/>
          <p:cNvSpPr/>
          <p:nvPr/>
        </p:nvSpPr>
        <p:spPr>
          <a:xfrm>
            <a:off x="694944" y="1792224"/>
            <a:ext cx="438912" cy="438912"/>
          </a:xfrm>
          <a:prstGeom prst="ellipse">
            <a:avLst/>
          </a:prstGeom>
          <a:solidFill>
            <a:schemeClr val="accent2"/>
          </a:solidFill>
          <a:ln/>
        </p:spPr>
        <p:txBody>
          <a:bodyPr/>
          <a:p/>
        </p:txBody>
      </p:sp>
      <p:pic>
        <p:nvPicPr>
          <p:cNvPr id="6" name="icon-radio-500" descr="radio">    </p:cNvPr>
          <p:cNvPicPr>
            <a:picLocks noChangeAspect="1"/>
          </p:cNvPicPr>
          <p:nvPr/>
        </p:nvPicPr>
        <p:blipFill>
          <a:blip r:embed="rId1"/>
          <a:stretch>
            <a:fillRect/>
          </a:stretch>
        </p:blipFill>
        <p:spPr>
          <a:xfrm>
            <a:off x="800283" y="1897563"/>
            <a:ext cx="228234" cy="228234"/>
          </a:xfrm>
          <a:prstGeom prst="rect">
            <a:avLst/>
          </a:prstGeom>
        </p:spPr>
      </p:pic>
      <p:sp>
        <p:nvSpPr>
          <p:cNvPr id="7" name="card-text-501"/>
          <p:cNvSpPr txBox="1"/>
          <p:nvPr/>
        </p:nvSpPr>
        <p:spPr>
          <a:xfrm>
            <a:off x="694944" y="2322576"/>
            <a:ext cx="1719072" cy="83210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No acceptance</a:t>
            </a:r>
            <a:endParaRPr lang="en-US" sz="1350" dirty="0"/>
          </a:p>
          <a:p>
            <a:pPr indent="0" marL="0">
              <a:spcAft>
                <a:spcPts val="200"/>
              </a:spcAft>
              <a:buNone/>
            </a:pPr>
            <a:r>
              <a:rPr lang="en-US" sz="1150" dirty="0">
                <a:solidFill>
                  <a:schemeClr val="tx1"/>
                </a:solidFill>
              </a:rPr>
              <a:t>dispatch gives up after 5 min or when the radius runs out</a:t>
            </a:r>
            <a:endParaRPr lang="en-US" sz="1350" dirty="0"/>
          </a:p>
        </p:txBody>
      </p:sp>
      <p:sp>
        <p:nvSpPr>
          <p:cNvPr id="8" name="arrow-502"/>
          <p:cNvSpPr/>
          <p:nvPr/>
        </p:nvSpPr>
        <p:spPr>
          <a:xfrm>
            <a:off x="2560320" y="2441448"/>
            <a:ext cx="258318" cy="0"/>
          </a:xfrm>
          <a:prstGeom prst="line">
            <a:avLst/>
          </a:prstGeom>
          <a:noFill/>
          <a:ln w="19050">
            <a:solidFill>
              <a:schemeClr val="accent6"/>
            </a:solidFill>
            <a:prstDash val="solid"/>
            <a:tailEnd type="triangle"/>
          </a:ln>
        </p:spPr>
        <p:txBody>
          <a:bodyPr/>
          <a:p/>
        </p:txBody>
      </p:sp>
      <p:sp>
        <p:nvSpPr>
          <p:cNvPr id="9" name="panel-503"/>
          <p:cNvSpPr txBox="1"/>
          <p:nvPr/>
        </p:nvSpPr>
        <p:spPr>
          <a:xfrm>
            <a:off x="2818638" y="1645920"/>
            <a:ext cx="2011680" cy="1600200"/>
          </a:xfrm>
          <a:prstGeom prst="roundRect">
            <a:avLst>
              <a:gd name="adj" fmla="val 5714"/>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10" name="icon-bg-search-504"/>
          <p:cNvSpPr/>
          <p:nvPr/>
        </p:nvSpPr>
        <p:spPr>
          <a:xfrm>
            <a:off x="2964942" y="1792224"/>
            <a:ext cx="438912" cy="438912"/>
          </a:xfrm>
          <a:prstGeom prst="ellipse">
            <a:avLst/>
          </a:prstGeom>
          <a:solidFill>
            <a:schemeClr val="accent2"/>
          </a:solidFill>
          <a:ln/>
        </p:spPr>
        <p:txBody>
          <a:bodyPr/>
          <a:p/>
        </p:txBody>
      </p:sp>
      <p:pic>
        <p:nvPicPr>
          <p:cNvPr id="11" name="icon-search-505" descr="search">    </p:cNvPr>
          <p:cNvPicPr>
            <a:picLocks noChangeAspect="1"/>
          </p:cNvPicPr>
          <p:nvPr/>
        </p:nvPicPr>
        <p:blipFill>
          <a:blip r:embed="rId2"/>
          <a:stretch>
            <a:fillRect/>
          </a:stretch>
        </p:blipFill>
        <p:spPr>
          <a:xfrm>
            <a:off x="3070281" y="1897563"/>
            <a:ext cx="228234" cy="228234"/>
          </a:xfrm>
          <a:prstGeom prst="rect">
            <a:avLst/>
          </a:prstGeom>
        </p:spPr>
      </p:pic>
      <p:sp>
        <p:nvSpPr>
          <p:cNvPr id="12" name="card-text-506"/>
          <p:cNvSpPr txBox="1"/>
          <p:nvPr/>
        </p:nvSpPr>
        <p:spPr>
          <a:xfrm>
            <a:off x="2964942" y="2322576"/>
            <a:ext cx="1719072" cy="83210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Find covering agencies</a:t>
            </a:r>
            <a:endParaRPr lang="en-US" sz="1350" dirty="0"/>
          </a:p>
          <a:p>
            <a:pPr indent="0" marL="0">
              <a:spcAft>
                <a:spcPts val="200"/>
              </a:spcAft>
              <a:buNone/>
            </a:pPr>
            <a:r>
              <a:rPr lang="en-US" sz="1150" dirty="0">
                <a:solidFill>
                  <a:schemeClr val="tx1"/>
                </a:solidFill>
              </a:rPr>
              <a:t>provider-service: area + category, ACTIVE only</a:t>
            </a:r>
            <a:endParaRPr lang="en-US" sz="1350" dirty="0"/>
          </a:p>
        </p:txBody>
      </p:sp>
      <p:sp>
        <p:nvSpPr>
          <p:cNvPr id="13" name="arrow-507"/>
          <p:cNvSpPr/>
          <p:nvPr/>
        </p:nvSpPr>
        <p:spPr>
          <a:xfrm>
            <a:off x="4830318" y="2441448"/>
            <a:ext cx="258318" cy="0"/>
          </a:xfrm>
          <a:prstGeom prst="line">
            <a:avLst/>
          </a:prstGeom>
          <a:noFill/>
          <a:ln w="19050">
            <a:solidFill>
              <a:schemeClr val="accent6"/>
            </a:solidFill>
            <a:prstDash val="solid"/>
            <a:tailEnd type="triangle"/>
          </a:ln>
        </p:spPr>
        <p:txBody>
          <a:bodyPr/>
          <a:p/>
        </p:txBody>
      </p:sp>
      <p:sp>
        <p:nvSpPr>
          <p:cNvPr id="14" name="panel-508"/>
          <p:cNvSpPr txBox="1"/>
          <p:nvPr/>
        </p:nvSpPr>
        <p:spPr>
          <a:xfrm>
            <a:off x="5088636" y="1645920"/>
            <a:ext cx="2011680" cy="1600200"/>
          </a:xfrm>
          <a:prstGeom prst="roundRect">
            <a:avLst>
              <a:gd name="adj" fmla="val 5714"/>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15" name="icon-bg-users-509"/>
          <p:cNvSpPr/>
          <p:nvPr/>
        </p:nvSpPr>
        <p:spPr>
          <a:xfrm>
            <a:off x="5234940" y="1792224"/>
            <a:ext cx="438912" cy="438912"/>
          </a:xfrm>
          <a:prstGeom prst="ellipse">
            <a:avLst/>
          </a:prstGeom>
          <a:solidFill>
            <a:schemeClr val="accent2"/>
          </a:solidFill>
          <a:ln/>
        </p:spPr>
        <p:txBody>
          <a:bodyPr/>
          <a:p/>
        </p:txBody>
      </p:sp>
      <p:pic>
        <p:nvPicPr>
          <p:cNvPr id="16" name="icon-users-510" descr="users">    </p:cNvPr>
          <p:cNvPicPr>
            <a:picLocks noChangeAspect="1"/>
          </p:cNvPicPr>
          <p:nvPr/>
        </p:nvPicPr>
        <p:blipFill>
          <a:blip r:embed="rId3"/>
          <a:stretch>
            <a:fillRect/>
          </a:stretch>
        </p:blipFill>
        <p:spPr>
          <a:xfrm>
            <a:off x="5340279" y="1897563"/>
            <a:ext cx="228234" cy="228234"/>
          </a:xfrm>
          <a:prstGeom prst="rect">
            <a:avLst/>
          </a:prstGeom>
        </p:spPr>
      </p:pic>
      <p:sp>
        <p:nvSpPr>
          <p:cNvPr id="17" name="card-text-511"/>
          <p:cNvSpPr txBox="1"/>
          <p:nvPr/>
        </p:nvSpPr>
        <p:spPr>
          <a:xfrm>
            <a:off x="5234940" y="2322576"/>
            <a:ext cx="1719072" cy="83210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Agency queue</a:t>
            </a:r>
            <a:endParaRPr lang="en-US" sz="1350" dirty="0"/>
          </a:p>
          <a:p>
            <a:pPr indent="0" marL="0">
              <a:spcAft>
                <a:spcPts val="200"/>
              </a:spcAft>
              <a:buNone/>
            </a:pPr>
            <a:r>
              <a:rPr lang="en-US" sz="1150" dirty="0">
                <a:solidFill>
                  <a:schemeClr val="tx1"/>
                </a:solidFill>
              </a:rPr>
              <a:t>AWAITING_ASSIGNMENT at every covering agency</a:t>
            </a:r>
            <a:endParaRPr lang="en-US" sz="1350" dirty="0"/>
          </a:p>
        </p:txBody>
      </p:sp>
      <p:sp>
        <p:nvSpPr>
          <p:cNvPr id="18" name="arrow-512"/>
          <p:cNvSpPr/>
          <p:nvPr/>
        </p:nvSpPr>
        <p:spPr>
          <a:xfrm>
            <a:off x="7100316" y="2441448"/>
            <a:ext cx="258318" cy="0"/>
          </a:xfrm>
          <a:prstGeom prst="line">
            <a:avLst/>
          </a:prstGeom>
          <a:noFill/>
          <a:ln w="19050">
            <a:solidFill>
              <a:schemeClr val="accent6"/>
            </a:solidFill>
            <a:prstDash val="solid"/>
            <a:tailEnd type="triangle"/>
          </a:ln>
        </p:spPr>
        <p:txBody>
          <a:bodyPr/>
          <a:p/>
        </p:txBody>
      </p:sp>
      <p:sp>
        <p:nvSpPr>
          <p:cNvPr id="19" name="panel-513"/>
          <p:cNvSpPr txBox="1"/>
          <p:nvPr/>
        </p:nvSpPr>
        <p:spPr>
          <a:xfrm>
            <a:off x="7358634" y="1645920"/>
            <a:ext cx="2011680" cy="1600200"/>
          </a:xfrm>
          <a:prstGeom prst="roundRect">
            <a:avLst>
              <a:gd name="adj" fmla="val 5714"/>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20" name="icon-bg-clipboard-514"/>
          <p:cNvSpPr/>
          <p:nvPr/>
        </p:nvSpPr>
        <p:spPr>
          <a:xfrm>
            <a:off x="7504938" y="1792224"/>
            <a:ext cx="438912" cy="438912"/>
          </a:xfrm>
          <a:prstGeom prst="ellipse">
            <a:avLst/>
          </a:prstGeom>
          <a:solidFill>
            <a:schemeClr val="accent2"/>
          </a:solidFill>
          <a:ln/>
        </p:spPr>
        <p:txBody>
          <a:bodyPr/>
          <a:p/>
        </p:txBody>
      </p:sp>
      <p:pic>
        <p:nvPicPr>
          <p:cNvPr id="21" name="icon-clipboard-515" descr="clipboard">    </p:cNvPr>
          <p:cNvPicPr>
            <a:picLocks noChangeAspect="1"/>
          </p:cNvPicPr>
          <p:nvPr/>
        </p:nvPicPr>
        <p:blipFill>
          <a:blip r:embed="rId4"/>
          <a:stretch>
            <a:fillRect/>
          </a:stretch>
        </p:blipFill>
        <p:spPr>
          <a:xfrm>
            <a:off x="7610277" y="1897563"/>
            <a:ext cx="228234" cy="228234"/>
          </a:xfrm>
          <a:prstGeom prst="rect">
            <a:avLst/>
          </a:prstGeom>
        </p:spPr>
      </p:pic>
      <p:sp>
        <p:nvSpPr>
          <p:cNvPr id="22" name="card-text-516"/>
          <p:cNvSpPr txBox="1"/>
          <p:nvPr/>
        </p:nvSpPr>
        <p:spPr>
          <a:xfrm>
            <a:off x="7504938" y="2322576"/>
            <a:ext cx="1719072" cy="83210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Agency admin assigns</a:t>
            </a:r>
            <a:endParaRPr lang="en-US" sz="1350" dirty="0"/>
          </a:p>
          <a:p>
            <a:pPr indent="0" marL="0">
              <a:spcAft>
                <a:spcPts val="200"/>
              </a:spcAft>
              <a:buNone/>
            </a:pPr>
            <a:r>
              <a:rPr lang="en-US" sz="1150" dirty="0">
                <a:solidFill>
                  <a:schemeClr val="tx1"/>
                </a:solidFill>
              </a:rPr>
              <a:t>one of their own approved providers; first wins</a:t>
            </a:r>
            <a:endParaRPr lang="en-US" sz="1350" dirty="0"/>
          </a:p>
        </p:txBody>
      </p:sp>
      <p:sp>
        <p:nvSpPr>
          <p:cNvPr id="23" name="arrow-517"/>
          <p:cNvSpPr/>
          <p:nvPr/>
        </p:nvSpPr>
        <p:spPr>
          <a:xfrm>
            <a:off x="9370314" y="2441448"/>
            <a:ext cx="258318" cy="0"/>
          </a:xfrm>
          <a:prstGeom prst="line">
            <a:avLst/>
          </a:prstGeom>
          <a:noFill/>
          <a:ln w="19050">
            <a:solidFill>
              <a:schemeClr val="accent6"/>
            </a:solidFill>
            <a:prstDash val="solid"/>
            <a:tailEnd type="triangle"/>
          </a:ln>
        </p:spPr>
        <p:txBody>
          <a:bodyPr/>
          <a:p/>
        </p:txBody>
      </p:sp>
      <p:sp>
        <p:nvSpPr>
          <p:cNvPr id="24" name="panel-518"/>
          <p:cNvSpPr txBox="1"/>
          <p:nvPr/>
        </p:nvSpPr>
        <p:spPr>
          <a:xfrm>
            <a:off x="9628632" y="1645920"/>
            <a:ext cx="2011680" cy="1600200"/>
          </a:xfrm>
          <a:prstGeom prst="roundRect">
            <a:avLst>
              <a:gd name="adj" fmla="val 5714"/>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25" name="icon-bg-check-519"/>
          <p:cNvSpPr/>
          <p:nvPr/>
        </p:nvSpPr>
        <p:spPr>
          <a:xfrm>
            <a:off x="9774936" y="1792224"/>
            <a:ext cx="438912" cy="438912"/>
          </a:xfrm>
          <a:prstGeom prst="ellipse">
            <a:avLst/>
          </a:prstGeom>
          <a:solidFill>
            <a:schemeClr val="accent2"/>
          </a:solidFill>
          <a:ln/>
        </p:spPr>
        <p:txBody>
          <a:bodyPr/>
          <a:p/>
        </p:txBody>
      </p:sp>
      <p:pic>
        <p:nvPicPr>
          <p:cNvPr id="26" name="icon-check-520" descr="check">    </p:cNvPr>
          <p:cNvPicPr>
            <a:picLocks noChangeAspect="1"/>
          </p:cNvPicPr>
          <p:nvPr/>
        </p:nvPicPr>
        <p:blipFill>
          <a:blip r:embed="rId5"/>
          <a:stretch>
            <a:fillRect/>
          </a:stretch>
        </p:blipFill>
        <p:spPr>
          <a:xfrm>
            <a:off x="9880275" y="1897563"/>
            <a:ext cx="228234" cy="228234"/>
          </a:xfrm>
          <a:prstGeom prst="rect">
            <a:avLst/>
          </a:prstGeom>
        </p:spPr>
      </p:pic>
      <p:sp>
        <p:nvSpPr>
          <p:cNvPr id="27" name="card-text-521"/>
          <p:cNvSpPr txBox="1"/>
          <p:nvPr/>
        </p:nvSpPr>
        <p:spPr>
          <a:xfrm>
            <a:off x="9774936" y="2322576"/>
            <a:ext cx="1719072" cy="83210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Provider accepts</a:t>
            </a:r>
            <a:endParaRPr lang="en-US" sz="1350" dirty="0"/>
          </a:p>
          <a:p>
            <a:pPr indent="0" marL="0">
              <a:spcAft>
                <a:spcPts val="200"/>
              </a:spcAft>
              <a:buNone/>
            </a:pPr>
            <a:r>
              <a:rPr lang="en-US" sz="1150" dirty="0">
                <a:solidFill>
                  <a:schemeClr val="tx1"/>
                </a:solidFill>
              </a:rPr>
              <a:t>PROVIDER_ACCEPTED, tenant_id recorded</a:t>
            </a:r>
            <a:endParaRPr lang="en-US" sz="1350" dirty="0"/>
          </a:p>
        </p:txBody>
      </p:sp>
      <p:sp>
        <p:nvSpPr>
          <p:cNvPr id="28" name="arrow-522"/>
          <p:cNvSpPr/>
          <p:nvPr/>
        </p:nvSpPr>
        <p:spPr>
          <a:xfrm>
            <a:off x="3824478" y="3246120"/>
            <a:ext cx="0" cy="502920"/>
          </a:xfrm>
          <a:prstGeom prst="line">
            <a:avLst/>
          </a:prstGeom>
          <a:noFill/>
          <a:ln w="19050">
            <a:solidFill>
              <a:schemeClr val="accent6"/>
            </a:solidFill>
            <a:prstDash val="solid"/>
            <a:tailEnd type="triangle"/>
          </a:ln>
        </p:spPr>
        <p:txBody>
          <a:bodyPr/>
          <a:p/>
        </p:txBody>
      </p:sp>
      <p:sp>
        <p:nvSpPr>
          <p:cNvPr id="29" name="box-523"/>
          <p:cNvSpPr txBox="1"/>
          <p:nvPr/>
        </p:nvSpPr>
        <p:spPr>
          <a:xfrm>
            <a:off x="2818638" y="3749040"/>
            <a:ext cx="2011680" cy="960120"/>
          </a:xfrm>
          <a:prstGeom prst="roundRect">
            <a:avLst>
              <a:gd name="adj" fmla="val 7619"/>
            </a:avLst>
          </a:prstGeom>
          <a:solidFill>
            <a:schemeClr val="accent4">
              <a:alpha val="14000"/>
            </a:schemeClr>
          </a:solidFill>
          <a:ln/>
        </p:spPr>
        <p:txBody>
          <a:bodyPr wrap="square" lIns="101600" tIns="63500" rIns="101600" bIns="63500" rtlCol="0" anchor="t"/>
          <a:lstStyle/>
          <a:p>
            <a:pPr algn="l" indent="0" marL="0">
              <a:buNone/>
            </a:pPr>
            <a:r>
              <a:rPr lang="en-US" sz="1250" b="1" dirty="0">
                <a:solidFill>
                  <a:schemeClr val="tx1"/>
                </a:solidFill>
              </a:rPr>
              <a:t>No agency covers it</a:t>
            </a:r>
            <a:endParaRPr lang="en-US" sz="1200" dirty="0"/>
          </a:p>
          <a:p>
            <a:pPr algn="l" indent="0" marL="0">
              <a:buNone/>
            </a:pPr>
            <a:r>
              <a:rPr lang="en-US" sz="1150" dirty="0">
                <a:solidFill>
                  <a:schemeClr val="tx1"/>
                </a:solidFill>
              </a:rPr>
              <a:t>→ SEARCHING_FAILED (announced as BookingCancelled)</a:t>
            </a:r>
            <a:endParaRPr lang="en-US" sz="1200" dirty="0"/>
          </a:p>
        </p:txBody>
      </p:sp>
      <p:sp>
        <p:nvSpPr>
          <p:cNvPr id="30" name="arrow-524"/>
          <p:cNvSpPr/>
          <p:nvPr/>
        </p:nvSpPr>
        <p:spPr>
          <a:xfrm>
            <a:off x="6094476" y="3246120"/>
            <a:ext cx="0" cy="502920"/>
          </a:xfrm>
          <a:prstGeom prst="line">
            <a:avLst/>
          </a:prstGeom>
          <a:noFill/>
          <a:ln w="19050">
            <a:solidFill>
              <a:schemeClr val="accent6"/>
            </a:solidFill>
            <a:prstDash val="solid"/>
            <a:tailEnd type="triangle"/>
          </a:ln>
        </p:spPr>
        <p:txBody>
          <a:bodyPr/>
          <a:p/>
        </p:txBody>
      </p:sp>
      <p:sp>
        <p:nvSpPr>
          <p:cNvPr id="31" name="box-525"/>
          <p:cNvSpPr txBox="1"/>
          <p:nvPr/>
        </p:nvSpPr>
        <p:spPr>
          <a:xfrm>
            <a:off x="5088636" y="3749040"/>
            <a:ext cx="2011680" cy="960120"/>
          </a:xfrm>
          <a:prstGeom prst="roundRect">
            <a:avLst>
              <a:gd name="adj" fmla="val 7619"/>
            </a:avLst>
          </a:prstGeom>
          <a:solidFill>
            <a:schemeClr val="accent4">
              <a:alpha val="14000"/>
            </a:schemeClr>
          </a:solidFill>
          <a:ln/>
        </p:spPr>
        <p:txBody>
          <a:bodyPr wrap="square" lIns="101600" tIns="63500" rIns="101600" bIns="63500" rtlCol="0" anchor="t"/>
          <a:lstStyle/>
          <a:p>
            <a:pPr algn="l" indent="0" marL="0">
              <a:buNone/>
            </a:pPr>
            <a:r>
              <a:rPr lang="en-US" sz="1250" b="1" dirty="0">
                <a:solidFill>
                  <a:schemeClr val="tx1"/>
                </a:solidFill>
              </a:rPr>
              <a:t>60-minute deadline passes</a:t>
            </a:r>
            <a:endParaRPr lang="en-US" sz="1200" dirty="0"/>
          </a:p>
          <a:p>
            <a:pPr algn="l" indent="0" marL="0">
              <a:buNone/>
            </a:pPr>
            <a:r>
              <a:rPr lang="en-US" sz="1150" dirty="0">
                <a:solidFill>
                  <a:schemeClr val="tx1"/>
                </a:solidFill>
              </a:rPr>
              <a:t>→ SEARCHING_FAILED</a:t>
            </a:r>
            <a:endParaRPr lang="en-US" sz="1200" dirty="0"/>
          </a:p>
        </p:txBody>
      </p:sp>
      <p:sp>
        <p:nvSpPr>
          <p:cNvPr id="32" name="arrow-526"/>
          <p:cNvSpPr/>
          <p:nvPr/>
        </p:nvSpPr>
        <p:spPr>
          <a:xfrm>
            <a:off x="10634472" y="3246120"/>
            <a:ext cx="0" cy="502920"/>
          </a:xfrm>
          <a:prstGeom prst="line">
            <a:avLst/>
          </a:prstGeom>
          <a:noFill/>
          <a:ln w="19050">
            <a:solidFill>
              <a:schemeClr val="accent6"/>
            </a:solidFill>
            <a:prstDash val="solid"/>
            <a:tailEnd type="triangle"/>
          </a:ln>
        </p:spPr>
        <p:txBody>
          <a:bodyPr/>
          <a:p/>
        </p:txBody>
      </p:sp>
      <p:sp>
        <p:nvSpPr>
          <p:cNvPr id="33" name="box-527"/>
          <p:cNvSpPr txBox="1"/>
          <p:nvPr/>
        </p:nvSpPr>
        <p:spPr>
          <a:xfrm>
            <a:off x="9628632" y="3749040"/>
            <a:ext cx="2011680" cy="960120"/>
          </a:xfrm>
          <a:prstGeom prst="roundRect">
            <a:avLst>
              <a:gd name="adj" fmla="val 7619"/>
            </a:avLst>
          </a:prstGeom>
          <a:solidFill>
            <a:schemeClr val="accent2">
              <a:alpha val="14000"/>
            </a:schemeClr>
          </a:solidFill>
          <a:ln/>
        </p:spPr>
        <p:txBody>
          <a:bodyPr wrap="square" lIns="101600" tIns="63500" rIns="101600" bIns="63500" rtlCol="0" anchor="t"/>
          <a:lstStyle/>
          <a:p>
            <a:pPr algn="l" indent="0" marL="0">
              <a:buNone/>
            </a:pPr>
            <a:r>
              <a:rPr lang="en-US" sz="1250" b="1" dirty="0">
                <a:solidFill>
                  <a:schemeClr val="tx1"/>
                </a:solidFill>
              </a:rPr>
              <a:t>Provider declines</a:t>
            </a:r>
            <a:endParaRPr lang="en-US" sz="1200" dirty="0"/>
          </a:p>
          <a:p>
            <a:pPr algn="l" indent="0" marL="0">
              <a:buNone/>
            </a:pPr>
            <a:r>
              <a:rPr lang="en-US" sz="1150" dirty="0">
                <a:solidFill>
                  <a:schemeClr val="tx1"/>
                </a:solidFill>
              </a:rPr>
              <a:t>→ back to the same agency's queue</a:t>
            </a:r>
            <a:endParaRPr lang="en-US" sz="1200" dirty="0"/>
          </a:p>
        </p:txBody>
      </p:sp>
      <p:sp>
        <p:nvSpPr>
          <p:cNvPr id="34" name="panel-528"/>
          <p:cNvSpPr txBox="1"/>
          <p:nvPr/>
        </p:nvSpPr>
        <p:spPr>
          <a:xfrm>
            <a:off x="548640" y="5074920"/>
            <a:ext cx="11091672" cy="1051560"/>
          </a:xfrm>
          <a:prstGeom prst="roundRect">
            <a:avLst>
              <a:gd name="adj" fmla="val 8696"/>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35" name="icon-bg-monitor-529"/>
          <p:cNvSpPr/>
          <p:nvPr/>
        </p:nvSpPr>
        <p:spPr>
          <a:xfrm>
            <a:off x="777240" y="5303520"/>
            <a:ext cx="594360" cy="594360"/>
          </a:xfrm>
          <a:prstGeom prst="ellipse">
            <a:avLst/>
          </a:prstGeom>
          <a:solidFill>
            <a:schemeClr val="accent3"/>
          </a:solidFill>
          <a:ln/>
        </p:spPr>
        <p:txBody>
          <a:bodyPr/>
          <a:p/>
        </p:txBody>
      </p:sp>
      <p:pic>
        <p:nvPicPr>
          <p:cNvPr id="36" name="icon-monitor-530" descr="monitor">    </p:cNvPr>
          <p:cNvPicPr>
            <a:picLocks noChangeAspect="1"/>
          </p:cNvPicPr>
          <p:nvPr/>
        </p:nvPicPr>
        <p:blipFill>
          <a:blip r:embed="rId6"/>
          <a:stretch>
            <a:fillRect/>
          </a:stretch>
        </p:blipFill>
        <p:spPr>
          <a:xfrm>
            <a:off x="919886" y="5446166"/>
            <a:ext cx="309067" cy="309067"/>
          </a:xfrm>
          <a:prstGeom prst="rect">
            <a:avLst/>
          </a:prstGeom>
        </p:spPr>
      </p:pic>
      <p:sp>
        <p:nvSpPr>
          <p:cNvPr id="37" name="text-531"/>
          <p:cNvSpPr txBox="1"/>
          <p:nvPr/>
        </p:nvSpPr>
        <p:spPr>
          <a:xfrm>
            <a:off x="1554480" y="5230368"/>
            <a:ext cx="9875520" cy="777240"/>
          </a:xfrm>
          <a:prstGeom prst="rect">
            <a:avLst/>
          </a:prstGeom>
          <a:noFill/>
          <a:ln/>
        </p:spPr>
        <p:txBody>
          <a:bodyPr wrap="square" lIns="0" tIns="0" rIns="0" bIns="0" rtlCol="0" anchor="ctr"/>
          <a:lstStyle/>
          <a:p>
            <a:pPr algn="l" indent="0" marL="0">
              <a:buNone/>
            </a:pPr>
            <a:r>
              <a:rPr lang="en-US" sz="1350" b="1" dirty="0">
                <a:solidFill>
                  <a:schemeClr val="tx1"/>
                </a:solidFill>
              </a:rPr>
              <a:t>Tenant Portal in the Admin Portal: </a:t>
            </a:r>
            <a:pPr algn="l" indent="0" marL="0">
              <a:buNone/>
            </a:pPr>
            <a:r>
              <a:rPr lang="en-US" sz="1350" dirty="0">
                <a:solidFill>
                  <a:schemeClr val="tx1"/>
                </a:solidFill>
              </a:rPr>
              <a:t>Requests (live badge, polled every 15 s), Team and Jobs. Customers, catalog and pricing stay shared; earnings still go to the provider.</a:t>
            </a:r>
            <a:endParaRPr lang="en-US" sz="13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Security in four layers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Defence in depth from the edge to the data</a:t>
            </a:r>
            <a:endParaRPr lang="en-US" sz="1500" dirty="0"/>
          </a:p>
        </p:txBody>
      </p:sp>
      <p:sp>
        <p:nvSpPr>
          <p:cNvPr id="4" name="chip-532"/>
          <p:cNvSpPr txBox="1"/>
          <p:nvPr/>
        </p:nvSpPr>
        <p:spPr>
          <a:xfrm>
            <a:off x="548640" y="1600200"/>
            <a:ext cx="2194560" cy="987552"/>
          </a:xfrm>
          <a:prstGeom prst="roundRect">
            <a:avLst>
              <a:gd name="adj" fmla="val 7407"/>
            </a:avLst>
          </a:prstGeom>
          <a:solidFill>
            <a:schemeClr val="tx1"/>
          </a:solidFill>
          <a:ln/>
        </p:spPr>
        <p:txBody>
          <a:bodyPr wrap="square" lIns="76200" tIns="38100" rIns="76200" bIns="38100" rtlCol="0" anchor="ctr"/>
          <a:lstStyle/>
          <a:p>
            <a:pPr algn="ctr" indent="0" marL="0">
              <a:buNone/>
            </a:pPr>
            <a:endParaRPr lang="en-US" sz="1100" dirty="0"/>
          </a:p>
        </p:txBody>
      </p:sp>
      <p:pic>
        <p:nvPicPr>
          <p:cNvPr id="5" name="Image 0" descr="Edge">    </p:cNvPr>
          <p:cNvPicPr>
            <a:picLocks noChangeAspect="1"/>
          </p:cNvPicPr>
          <p:nvPr/>
        </p:nvPicPr>
        <p:blipFill>
          <a:blip r:embed="rId1"/>
          <a:stretch>
            <a:fillRect/>
          </a:stretch>
        </p:blipFill>
        <p:spPr>
          <a:xfrm>
            <a:off x="749808" y="1874520"/>
            <a:ext cx="438912" cy="438912"/>
          </a:xfrm>
          <a:prstGeom prst="rect">
            <a:avLst/>
          </a:prstGeom>
        </p:spPr>
      </p:pic>
      <p:sp>
        <p:nvSpPr>
          <p:cNvPr id="6" name="text-533"/>
          <p:cNvSpPr txBox="1"/>
          <p:nvPr/>
        </p:nvSpPr>
        <p:spPr>
          <a:xfrm>
            <a:off x="1325880" y="1874520"/>
            <a:ext cx="1371600" cy="411480"/>
          </a:xfrm>
          <a:prstGeom prst="rect">
            <a:avLst/>
          </a:prstGeom>
          <a:noFill/>
          <a:ln/>
        </p:spPr>
        <p:txBody>
          <a:bodyPr wrap="square" lIns="0" tIns="0" rIns="0" bIns="0" rtlCol="0" anchor="t"/>
          <a:lstStyle/>
          <a:p>
            <a:pPr algn="l" indent="0" marL="0">
              <a:buNone/>
            </a:pPr>
            <a:r>
              <a:rPr lang="en-US" sz="1700" b="1" dirty="0">
                <a:solidFill>
                  <a:schemeClr val="bg1"/>
                </a:solidFill>
              </a:rPr>
              <a:t>Edge</a:t>
            </a:r>
            <a:endParaRPr lang="en-US" sz="1700" dirty="0"/>
          </a:p>
        </p:txBody>
      </p:sp>
      <p:sp>
        <p:nvSpPr>
          <p:cNvPr id="7" name="panel-534"/>
          <p:cNvSpPr txBox="1"/>
          <p:nvPr/>
        </p:nvSpPr>
        <p:spPr>
          <a:xfrm>
            <a:off x="2880360" y="1600200"/>
            <a:ext cx="8759952" cy="987552"/>
          </a:xfrm>
          <a:prstGeom prst="roundRect">
            <a:avLst>
              <a:gd name="adj" fmla="val 9259"/>
            </a:avLst>
          </a:prstGeom>
          <a:solidFill>
            <a:schemeClr val="tx1">
              <a:alpha val="10000"/>
            </a:schemeClr>
          </a:solidFill>
          <a:ln/>
        </p:spPr>
        <p:txBody>
          <a:bodyPr wrap="square" lIns="76200" tIns="38100" rIns="76200" bIns="38100" rtlCol="0" anchor="ctr"/>
          <a:lstStyle/>
          <a:p>
            <a:pPr algn="ctr" indent="0" marL="0">
              <a:buNone/>
            </a:pPr>
            <a:endParaRPr lang="en-US" sz="1200" dirty="0"/>
          </a:p>
        </p:txBody>
      </p:sp>
      <p:sp>
        <p:nvSpPr>
          <p:cNvPr id="8" name="text-535"/>
          <p:cNvSpPr txBox="1"/>
          <p:nvPr/>
        </p:nvSpPr>
        <p:spPr>
          <a:xfrm>
            <a:off x="3063240" y="1755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HTTPS redirect</a:t>
            </a:r>
            <a:endParaRPr lang="en-US" sz="1400" dirty="0"/>
          </a:p>
          <a:p>
            <a:pPr algn="l" indent="0" marL="0">
              <a:buNone/>
            </a:pPr>
            <a:r>
              <a:rPr lang="en-US" sz="1200" dirty="0">
                <a:solidFill>
                  <a:schemeClr val="tx1"/>
                </a:solidFill>
              </a:rPr>
              <a:t>plain http answered with https</a:t>
            </a:r>
            <a:endParaRPr lang="en-US" sz="1400" dirty="0"/>
          </a:p>
        </p:txBody>
      </p:sp>
      <p:sp>
        <p:nvSpPr>
          <p:cNvPr id="9" name="text-536"/>
          <p:cNvSpPr txBox="1"/>
          <p:nvPr/>
        </p:nvSpPr>
        <p:spPr>
          <a:xfrm>
            <a:off x="5943600" y="1755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WAF inspection</a:t>
            </a:r>
            <a:endParaRPr lang="en-US" sz="1400" dirty="0"/>
          </a:p>
          <a:p>
            <a:pPr algn="l" indent="0" marL="0">
              <a:buNone/>
            </a:pPr>
            <a:r>
              <a:rPr lang="en-US" sz="1200" dirty="0">
                <a:solidFill>
                  <a:schemeClr val="tx1"/>
                </a:solidFill>
              </a:rPr>
              <a:t>regex rules over path, query and headers</a:t>
            </a:r>
            <a:endParaRPr lang="en-US" sz="1400" dirty="0"/>
          </a:p>
        </p:txBody>
      </p:sp>
      <p:sp>
        <p:nvSpPr>
          <p:cNvPr id="10" name="text-537"/>
          <p:cNvSpPr txBox="1"/>
          <p:nvPr/>
        </p:nvSpPr>
        <p:spPr>
          <a:xfrm>
            <a:off x="8823960" y="1755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Rate limits</a:t>
            </a:r>
            <a:endParaRPr lang="en-US" sz="1400" dirty="0"/>
          </a:p>
          <a:p>
            <a:pPr algn="l" indent="0" marL="0">
              <a:buNone/>
            </a:pPr>
            <a:r>
              <a:rPr lang="en-US" sz="1200" dirty="0">
                <a:solidFill>
                  <a:schemeClr val="tx1"/>
                </a:solidFill>
              </a:rPr>
              <a:t>per user, and per number for OTP, in Redis</a:t>
            </a:r>
            <a:endParaRPr lang="en-US" sz="1400" dirty="0"/>
          </a:p>
        </p:txBody>
      </p:sp>
      <p:sp>
        <p:nvSpPr>
          <p:cNvPr id="11" name="chip-538"/>
          <p:cNvSpPr txBox="1"/>
          <p:nvPr/>
        </p:nvSpPr>
        <p:spPr>
          <a:xfrm>
            <a:off x="548640" y="2743200"/>
            <a:ext cx="2194560" cy="987552"/>
          </a:xfrm>
          <a:prstGeom prst="roundRect">
            <a:avLst>
              <a:gd name="adj" fmla="val 7407"/>
            </a:avLst>
          </a:prstGeom>
          <a:solidFill>
            <a:schemeClr val="accent3"/>
          </a:solidFill>
          <a:ln/>
        </p:spPr>
        <p:txBody>
          <a:bodyPr wrap="square" lIns="76200" tIns="38100" rIns="76200" bIns="38100" rtlCol="0" anchor="ctr"/>
          <a:lstStyle/>
          <a:p>
            <a:pPr algn="ctr" indent="0" marL="0">
              <a:buNone/>
            </a:pPr>
            <a:endParaRPr lang="en-US" sz="1100" dirty="0"/>
          </a:p>
        </p:txBody>
      </p:sp>
      <p:pic>
        <p:nvPicPr>
          <p:cNvPr id="12" name="Image 1" descr="Identity">    </p:cNvPr>
          <p:cNvPicPr>
            <a:picLocks noChangeAspect="1"/>
          </p:cNvPicPr>
          <p:nvPr/>
        </p:nvPicPr>
        <p:blipFill>
          <a:blip r:embed="rId2"/>
          <a:stretch>
            <a:fillRect/>
          </a:stretch>
        </p:blipFill>
        <p:spPr>
          <a:xfrm>
            <a:off x="749808" y="3017520"/>
            <a:ext cx="438912" cy="438912"/>
          </a:xfrm>
          <a:prstGeom prst="rect">
            <a:avLst/>
          </a:prstGeom>
        </p:spPr>
      </p:pic>
      <p:sp>
        <p:nvSpPr>
          <p:cNvPr id="13" name="text-539"/>
          <p:cNvSpPr txBox="1"/>
          <p:nvPr/>
        </p:nvSpPr>
        <p:spPr>
          <a:xfrm>
            <a:off x="1325880" y="3017520"/>
            <a:ext cx="1371600" cy="411480"/>
          </a:xfrm>
          <a:prstGeom prst="rect">
            <a:avLst/>
          </a:prstGeom>
          <a:noFill/>
          <a:ln/>
        </p:spPr>
        <p:txBody>
          <a:bodyPr wrap="square" lIns="0" tIns="0" rIns="0" bIns="0" rtlCol="0" anchor="t"/>
          <a:lstStyle/>
          <a:p>
            <a:pPr algn="l" indent="0" marL="0">
              <a:buNone/>
            </a:pPr>
            <a:r>
              <a:rPr lang="en-US" sz="1700" b="1" dirty="0">
                <a:solidFill>
                  <a:schemeClr val="bg1"/>
                </a:solidFill>
              </a:rPr>
              <a:t>Identity</a:t>
            </a:r>
            <a:endParaRPr lang="en-US" sz="1700" dirty="0"/>
          </a:p>
        </p:txBody>
      </p:sp>
      <p:sp>
        <p:nvSpPr>
          <p:cNvPr id="14" name="panel-540"/>
          <p:cNvSpPr txBox="1"/>
          <p:nvPr/>
        </p:nvSpPr>
        <p:spPr>
          <a:xfrm>
            <a:off x="2880360" y="2743200"/>
            <a:ext cx="8759952" cy="987552"/>
          </a:xfrm>
          <a:prstGeom prst="roundRect">
            <a:avLst>
              <a:gd name="adj" fmla="val 9259"/>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15" name="text-541"/>
          <p:cNvSpPr txBox="1"/>
          <p:nvPr/>
        </p:nvSpPr>
        <p:spPr>
          <a:xfrm>
            <a:off x="3063240" y="2898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OTP sign-in</a:t>
            </a:r>
            <a:endParaRPr lang="en-US" sz="1400" dirty="0"/>
          </a:p>
          <a:p>
            <a:pPr algn="l" indent="0" marL="0">
              <a:buNone/>
            </a:pPr>
            <a:r>
              <a:rPr lang="en-US" sz="1200" dirty="0">
                <a:solidFill>
                  <a:schemeClr val="tx1"/>
                </a:solidFill>
              </a:rPr>
              <a:t>5 wrong codes lock the number for 30 min</a:t>
            </a:r>
            <a:endParaRPr lang="en-US" sz="1400" dirty="0"/>
          </a:p>
        </p:txBody>
      </p:sp>
      <p:sp>
        <p:nvSpPr>
          <p:cNvPr id="16" name="text-542"/>
          <p:cNvSpPr txBox="1"/>
          <p:nvPr/>
        </p:nvSpPr>
        <p:spPr>
          <a:xfrm>
            <a:off x="5943600" y="2898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Passwords and OIDC</a:t>
            </a:r>
            <a:endParaRPr lang="en-US" sz="1400" dirty="0"/>
          </a:p>
          <a:p>
            <a:pPr algn="l" indent="0" marL="0">
              <a:buNone/>
            </a:pPr>
            <a:r>
              <a:rPr lang="en-US" sz="1200" dirty="0">
                <a:solidFill>
                  <a:schemeClr val="tx1"/>
                </a:solidFill>
              </a:rPr>
              <a:t>bcrypt; Google and Apple tokens checked by audience</a:t>
            </a:r>
            <a:endParaRPr lang="en-US" sz="1400" dirty="0"/>
          </a:p>
        </p:txBody>
      </p:sp>
      <p:sp>
        <p:nvSpPr>
          <p:cNvPr id="17" name="text-543"/>
          <p:cNvSpPr txBox="1"/>
          <p:nvPr/>
        </p:nvSpPr>
        <p:spPr>
          <a:xfrm>
            <a:off x="8823960" y="2898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Token rotation</a:t>
            </a:r>
            <a:endParaRPr lang="en-US" sz="1400" dirty="0"/>
          </a:p>
          <a:p>
            <a:pPr algn="l" indent="0" marL="0">
              <a:buNone/>
            </a:pPr>
            <a:r>
              <a:rPr lang="en-US" sz="1200" dirty="0">
                <a:solidFill>
                  <a:schemeClr val="tx1"/>
                </a:solidFill>
              </a:rPr>
              <a:t>short-lived access JWT; refresh replay is detected</a:t>
            </a:r>
            <a:endParaRPr lang="en-US" sz="1400" dirty="0"/>
          </a:p>
        </p:txBody>
      </p:sp>
      <p:sp>
        <p:nvSpPr>
          <p:cNvPr id="18" name="chip-544"/>
          <p:cNvSpPr txBox="1"/>
          <p:nvPr/>
        </p:nvSpPr>
        <p:spPr>
          <a:xfrm>
            <a:off x="548640" y="3886200"/>
            <a:ext cx="2194560" cy="987552"/>
          </a:xfrm>
          <a:prstGeom prst="roundRect">
            <a:avLst>
              <a:gd name="adj" fmla="val 7407"/>
            </a:avLst>
          </a:prstGeom>
          <a:solidFill>
            <a:schemeClr val="accent1"/>
          </a:solidFill>
          <a:ln/>
        </p:spPr>
        <p:txBody>
          <a:bodyPr wrap="square" lIns="76200" tIns="38100" rIns="76200" bIns="38100" rtlCol="0" anchor="ctr"/>
          <a:lstStyle/>
          <a:p>
            <a:pPr algn="ctr" indent="0" marL="0">
              <a:buNone/>
            </a:pPr>
            <a:endParaRPr lang="en-US" sz="1100" dirty="0"/>
          </a:p>
        </p:txBody>
      </p:sp>
      <p:pic>
        <p:nvPicPr>
          <p:cNvPr id="19" name="Image 2" descr="Authorization">    </p:cNvPr>
          <p:cNvPicPr>
            <a:picLocks noChangeAspect="1"/>
          </p:cNvPicPr>
          <p:nvPr/>
        </p:nvPicPr>
        <p:blipFill>
          <a:blip r:embed="rId3"/>
          <a:stretch>
            <a:fillRect/>
          </a:stretch>
        </p:blipFill>
        <p:spPr>
          <a:xfrm>
            <a:off x="749808" y="4160520"/>
            <a:ext cx="438912" cy="438912"/>
          </a:xfrm>
          <a:prstGeom prst="rect">
            <a:avLst/>
          </a:prstGeom>
        </p:spPr>
      </p:pic>
      <p:sp>
        <p:nvSpPr>
          <p:cNvPr id="20" name="text-545"/>
          <p:cNvSpPr txBox="1"/>
          <p:nvPr/>
        </p:nvSpPr>
        <p:spPr>
          <a:xfrm>
            <a:off x="1325880" y="4160520"/>
            <a:ext cx="1371600" cy="411480"/>
          </a:xfrm>
          <a:prstGeom prst="rect">
            <a:avLst/>
          </a:prstGeom>
          <a:noFill/>
          <a:ln/>
        </p:spPr>
        <p:txBody>
          <a:bodyPr wrap="square" lIns="0" tIns="0" rIns="0" bIns="0" rtlCol="0" anchor="t"/>
          <a:lstStyle/>
          <a:p>
            <a:pPr algn="l" indent="0" marL="0">
              <a:buNone/>
            </a:pPr>
            <a:r>
              <a:rPr lang="en-US" sz="1700" b="1" dirty="0">
                <a:solidFill>
                  <a:schemeClr val="bg1"/>
                </a:solidFill>
              </a:rPr>
              <a:t>Authorization</a:t>
            </a:r>
            <a:endParaRPr lang="en-US" sz="1700" dirty="0"/>
          </a:p>
        </p:txBody>
      </p:sp>
      <p:sp>
        <p:nvSpPr>
          <p:cNvPr id="21" name="panel-546"/>
          <p:cNvSpPr txBox="1"/>
          <p:nvPr/>
        </p:nvSpPr>
        <p:spPr>
          <a:xfrm>
            <a:off x="2880360" y="3886200"/>
            <a:ext cx="8759952" cy="987552"/>
          </a:xfrm>
          <a:prstGeom prst="roundRect">
            <a:avLst>
              <a:gd name="adj" fmla="val 9259"/>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2" name="text-547"/>
          <p:cNvSpPr txBox="1"/>
          <p:nvPr/>
        </p:nvSpPr>
        <p:spPr>
          <a:xfrm>
            <a:off x="3063240" y="4041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RBAC rule maps</a:t>
            </a:r>
            <a:endParaRPr lang="en-US" sz="1400" dirty="0"/>
          </a:p>
          <a:p>
            <a:pPr algn="l" indent="0" marL="0">
              <a:buNone/>
            </a:pPr>
            <a:r>
              <a:rPr lang="en-US" sz="1200" dirty="0">
                <a:solidFill>
                  <a:schemeClr val="tx1"/>
                </a:solidFill>
              </a:rPr>
              <a:t>18 services, first matching rule wins</a:t>
            </a:r>
            <a:endParaRPr lang="en-US" sz="1400" dirty="0"/>
          </a:p>
        </p:txBody>
      </p:sp>
      <p:sp>
        <p:nvSpPr>
          <p:cNvPr id="23" name="text-548"/>
          <p:cNvSpPr txBox="1"/>
          <p:nvPr/>
        </p:nvSpPr>
        <p:spPr>
          <a:xfrm>
            <a:off x="5943600" y="4041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Ownership checks</a:t>
            </a:r>
            <a:endParaRPr lang="en-US" sz="1400" dirty="0"/>
          </a:p>
          <a:p>
            <a:pPr algn="l" indent="0" marL="0">
              <a:buNone/>
            </a:pPr>
            <a:r>
              <a:rPr lang="en-US" sz="1200" dirty="0">
                <a:solidFill>
                  <a:schemeClr val="tx1"/>
                </a:solidFill>
              </a:rPr>
              <a:t>path id must be the caller's, unless staff</a:t>
            </a:r>
            <a:endParaRPr lang="en-US" sz="1400" dirty="0"/>
          </a:p>
        </p:txBody>
      </p:sp>
      <p:sp>
        <p:nvSpPr>
          <p:cNvPr id="24" name="text-549"/>
          <p:cNvSpPr txBox="1"/>
          <p:nvPr/>
        </p:nvSpPr>
        <p:spPr>
          <a:xfrm>
            <a:off x="8823960" y="4041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Internal API key</a:t>
            </a:r>
            <a:endParaRPr lang="en-US" sz="1400" dirty="0"/>
          </a:p>
          <a:p>
            <a:pPr algn="l" indent="0" marL="0">
              <a:buNone/>
            </a:pPr>
            <a:r>
              <a:rPr lang="en-US" sz="1200" dirty="0">
                <a:solidFill>
                  <a:schemeClr val="tx1"/>
                </a:solidFill>
              </a:rPr>
              <a:t>/internal/** for service-to-service calls</a:t>
            </a:r>
            <a:endParaRPr lang="en-US" sz="1400" dirty="0"/>
          </a:p>
        </p:txBody>
      </p:sp>
      <p:sp>
        <p:nvSpPr>
          <p:cNvPr id="25" name="chip-550"/>
          <p:cNvSpPr txBox="1"/>
          <p:nvPr/>
        </p:nvSpPr>
        <p:spPr>
          <a:xfrm>
            <a:off x="548640" y="5029200"/>
            <a:ext cx="2194560" cy="987552"/>
          </a:xfrm>
          <a:prstGeom prst="roundRect">
            <a:avLst>
              <a:gd name="adj" fmla="val 7407"/>
            </a:avLst>
          </a:prstGeom>
          <a:solidFill>
            <a:schemeClr val="accent5"/>
          </a:solidFill>
          <a:ln/>
        </p:spPr>
        <p:txBody>
          <a:bodyPr wrap="square" lIns="76200" tIns="38100" rIns="76200" bIns="38100" rtlCol="0" anchor="ctr"/>
          <a:lstStyle/>
          <a:p>
            <a:pPr algn="ctr" indent="0" marL="0">
              <a:buNone/>
            </a:pPr>
            <a:endParaRPr lang="en-US" sz="1100" dirty="0"/>
          </a:p>
        </p:txBody>
      </p:sp>
      <p:pic>
        <p:nvPicPr>
          <p:cNvPr id="26" name="Image 3" descr="Data">    </p:cNvPr>
          <p:cNvPicPr>
            <a:picLocks noChangeAspect="1"/>
          </p:cNvPicPr>
          <p:nvPr/>
        </p:nvPicPr>
        <p:blipFill>
          <a:blip r:embed="rId4"/>
          <a:stretch>
            <a:fillRect/>
          </a:stretch>
        </p:blipFill>
        <p:spPr>
          <a:xfrm>
            <a:off x="749808" y="5303520"/>
            <a:ext cx="438912" cy="438912"/>
          </a:xfrm>
          <a:prstGeom prst="rect">
            <a:avLst/>
          </a:prstGeom>
        </p:spPr>
      </p:pic>
      <p:sp>
        <p:nvSpPr>
          <p:cNvPr id="27" name="text-551"/>
          <p:cNvSpPr txBox="1"/>
          <p:nvPr/>
        </p:nvSpPr>
        <p:spPr>
          <a:xfrm>
            <a:off x="1325880" y="5303520"/>
            <a:ext cx="1371600" cy="411480"/>
          </a:xfrm>
          <a:prstGeom prst="rect">
            <a:avLst/>
          </a:prstGeom>
          <a:noFill/>
          <a:ln/>
        </p:spPr>
        <p:txBody>
          <a:bodyPr wrap="square" lIns="0" tIns="0" rIns="0" bIns="0" rtlCol="0" anchor="t"/>
          <a:lstStyle/>
          <a:p>
            <a:pPr algn="l" indent="0" marL="0">
              <a:buNone/>
            </a:pPr>
            <a:r>
              <a:rPr lang="en-US" sz="1700" b="1" dirty="0">
                <a:solidFill>
                  <a:schemeClr val="bg1"/>
                </a:solidFill>
              </a:rPr>
              <a:t>Data</a:t>
            </a:r>
            <a:endParaRPr lang="en-US" sz="1700" dirty="0"/>
          </a:p>
        </p:txBody>
      </p:sp>
      <p:sp>
        <p:nvSpPr>
          <p:cNvPr id="28" name="panel-552"/>
          <p:cNvSpPr txBox="1"/>
          <p:nvPr/>
        </p:nvSpPr>
        <p:spPr>
          <a:xfrm>
            <a:off x="2880360" y="5029200"/>
            <a:ext cx="8759952" cy="987552"/>
          </a:xfrm>
          <a:prstGeom prst="roundRect">
            <a:avLst>
              <a:gd name="adj" fmla="val 9259"/>
            </a:avLst>
          </a:prstGeom>
          <a:solidFill>
            <a:schemeClr val="accent5">
              <a:alpha val="10000"/>
            </a:schemeClr>
          </a:solidFill>
          <a:ln/>
        </p:spPr>
        <p:txBody>
          <a:bodyPr wrap="square" lIns="76200" tIns="38100" rIns="76200" bIns="38100" rtlCol="0" anchor="ctr"/>
          <a:lstStyle/>
          <a:p>
            <a:pPr algn="ctr" indent="0" marL="0">
              <a:buNone/>
            </a:pPr>
            <a:endParaRPr lang="en-US" sz="1200" dirty="0"/>
          </a:p>
        </p:txBody>
      </p:sp>
      <p:sp>
        <p:nvSpPr>
          <p:cNvPr id="29" name="text-553"/>
          <p:cNvSpPr txBox="1"/>
          <p:nvPr/>
        </p:nvSpPr>
        <p:spPr>
          <a:xfrm>
            <a:off x="3063240" y="5184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Schema per service</a:t>
            </a:r>
            <a:endParaRPr lang="en-US" sz="1400" dirty="0"/>
          </a:p>
          <a:p>
            <a:pPr algn="l" indent="0" marL="0">
              <a:buNone/>
            </a:pPr>
            <a:r>
              <a:rPr lang="en-US" sz="1200" dirty="0">
                <a:solidFill>
                  <a:schemeClr val="tx1"/>
                </a:solidFill>
              </a:rPr>
              <a:t>no service reads another's schema</a:t>
            </a:r>
            <a:endParaRPr lang="en-US" sz="1400" dirty="0"/>
          </a:p>
        </p:txBody>
      </p:sp>
      <p:sp>
        <p:nvSpPr>
          <p:cNvPr id="30" name="text-554"/>
          <p:cNvSpPr txBox="1"/>
          <p:nvPr/>
        </p:nvSpPr>
        <p:spPr>
          <a:xfrm>
            <a:off x="5943600" y="5184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PII protection</a:t>
            </a:r>
            <a:endParaRPr lang="en-US" sz="1400" dirty="0"/>
          </a:p>
          <a:p>
            <a:pPr algn="l" indent="0" marL="0">
              <a:buNone/>
            </a:pPr>
            <a:r>
              <a:rPr lang="en-US" sz="1200" dirty="0">
                <a:solidFill>
                  <a:schemeClr val="tx1"/>
                </a:solidFill>
              </a:rPr>
              <a:t>encrypted fields, masked log output</a:t>
            </a:r>
            <a:endParaRPr lang="en-US" sz="1400" dirty="0"/>
          </a:p>
        </p:txBody>
      </p:sp>
      <p:sp>
        <p:nvSpPr>
          <p:cNvPr id="31" name="text-555"/>
          <p:cNvSpPr txBox="1"/>
          <p:nvPr/>
        </p:nvSpPr>
        <p:spPr>
          <a:xfrm>
            <a:off x="8823960" y="5184648"/>
            <a:ext cx="2697480" cy="731520"/>
          </a:xfrm>
          <a:prstGeom prst="rect">
            <a:avLst/>
          </a:prstGeom>
          <a:noFill/>
          <a:ln/>
        </p:spPr>
        <p:txBody>
          <a:bodyPr wrap="square" lIns="0" tIns="0" rIns="0" bIns="0" rtlCol="0" anchor="t"/>
          <a:lstStyle/>
          <a:p>
            <a:pPr algn="l" indent="0" marL="0">
              <a:buNone/>
            </a:pPr>
            <a:r>
              <a:rPr lang="en-US" sz="1350" b="1" dirty="0">
                <a:solidFill>
                  <a:schemeClr val="tx1"/>
                </a:solidFill>
              </a:rPr>
              <a:t>Chat masking</a:t>
            </a:r>
            <a:endParaRPr lang="en-US" sz="1400" dirty="0"/>
          </a:p>
          <a:p>
            <a:pPr algn="l" indent="0" marL="0">
              <a:buNone/>
            </a:pPr>
            <a:r>
              <a:rPr lang="en-US" sz="1200" dirty="0">
                <a:solidFill>
                  <a:schemeClr val="tx1"/>
                </a:solidFill>
              </a:rPr>
              <a:t>phone numbers removed before storage</a:t>
            </a:r>
            <a:endParaRPr lang="en-US" sz="14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Data: one database, a schema per service</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Flyway migrates each schema at startup; Hibernate only validates</a:t>
            </a:r>
            <a:endParaRPr lang="en-US" sz="1500" dirty="0"/>
          </a:p>
        </p:txBody>
      </p:sp>
      <p:sp>
        <p:nvSpPr>
          <p:cNvPr id="4" name="panel-556"/>
          <p:cNvSpPr txBox="1"/>
          <p:nvPr/>
        </p:nvSpPr>
        <p:spPr>
          <a:xfrm>
            <a:off x="548640" y="1600200"/>
            <a:ext cx="6583680" cy="640080"/>
          </a:xfrm>
          <a:prstGeom prst="roundRect">
            <a:avLst>
              <a:gd name="adj" fmla="val 14286"/>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5" name="text-557"/>
          <p:cNvSpPr txBox="1"/>
          <p:nvPr/>
        </p:nvSpPr>
        <p:spPr>
          <a:xfrm>
            <a:off x="731520" y="1600200"/>
            <a:ext cx="1463040" cy="640080"/>
          </a:xfrm>
          <a:prstGeom prst="rect">
            <a:avLst/>
          </a:prstGeom>
          <a:noFill/>
          <a:ln/>
        </p:spPr>
        <p:txBody>
          <a:bodyPr wrap="square" lIns="0" tIns="0" rIns="0" bIns="0" rtlCol="0" anchor="ctr"/>
          <a:lstStyle/>
          <a:p>
            <a:pPr algn="l" indent="0" marL="0">
              <a:buNone/>
            </a:pPr>
            <a:r>
              <a:rPr lang="en-US" sz="1300" b="1" dirty="0">
                <a:solidFill>
                  <a:schemeClr val="accent3"/>
                </a:solidFill>
              </a:rPr>
              <a:t>identity-app</a:t>
            </a:r>
            <a:endParaRPr lang="en-US" sz="1300" dirty="0"/>
          </a:p>
        </p:txBody>
      </p:sp>
      <p:sp>
        <p:nvSpPr>
          <p:cNvPr id="6" name="chip-558"/>
          <p:cNvSpPr txBox="1"/>
          <p:nvPr/>
        </p:nvSpPr>
        <p:spPr>
          <a:xfrm>
            <a:off x="2240280" y="1691640"/>
            <a:ext cx="896112" cy="365760"/>
          </a:xfrm>
          <a:prstGeom prst="roundRect">
            <a:avLst>
              <a:gd name="adj" fmla="val 20000"/>
            </a:avLst>
          </a:prstGeom>
          <a:solidFill>
            <a:schemeClr val="accent3"/>
          </a:solidFill>
          <a:ln/>
        </p:spPr>
        <p:txBody>
          <a:bodyPr wrap="square" lIns="76200" tIns="38100" rIns="76200" bIns="38100" rtlCol="0" anchor="ctr"/>
          <a:lstStyle/>
          <a:p>
            <a:pPr algn="ctr" indent="0" marL="0">
              <a:buNone/>
            </a:pPr>
            <a:r>
              <a:rPr lang="en-US" sz="1100" dirty="0">
                <a:solidFill>
                  <a:schemeClr val="bg1"/>
                </a:solidFill>
              </a:rPr>
              <a:t>auth</a:t>
            </a:r>
            <a:endParaRPr lang="en-US" sz="1100" dirty="0"/>
          </a:p>
        </p:txBody>
      </p:sp>
      <p:sp>
        <p:nvSpPr>
          <p:cNvPr id="7" name="chip-559"/>
          <p:cNvSpPr txBox="1"/>
          <p:nvPr/>
        </p:nvSpPr>
        <p:spPr>
          <a:xfrm>
            <a:off x="3209544" y="1691640"/>
            <a:ext cx="896112" cy="365760"/>
          </a:xfrm>
          <a:prstGeom prst="roundRect">
            <a:avLst>
              <a:gd name="adj" fmla="val 20000"/>
            </a:avLst>
          </a:prstGeom>
          <a:solidFill>
            <a:schemeClr val="accent3"/>
          </a:solidFill>
          <a:ln/>
        </p:spPr>
        <p:txBody>
          <a:bodyPr wrap="square" lIns="76200" tIns="38100" rIns="76200" bIns="38100" rtlCol="0" anchor="ctr"/>
          <a:lstStyle/>
          <a:p>
            <a:pPr algn="ctr" indent="0" marL="0">
              <a:buNone/>
            </a:pPr>
            <a:r>
              <a:rPr lang="en-US" sz="1100" dirty="0">
                <a:solidFill>
                  <a:schemeClr val="bg1"/>
                </a:solidFill>
              </a:rPr>
              <a:t>customer</a:t>
            </a:r>
            <a:endParaRPr lang="en-US" sz="1100" dirty="0"/>
          </a:p>
        </p:txBody>
      </p:sp>
      <p:sp>
        <p:nvSpPr>
          <p:cNvPr id="8" name="chip-560"/>
          <p:cNvSpPr txBox="1"/>
          <p:nvPr/>
        </p:nvSpPr>
        <p:spPr>
          <a:xfrm>
            <a:off x="4178808" y="1691640"/>
            <a:ext cx="896112" cy="365760"/>
          </a:xfrm>
          <a:prstGeom prst="roundRect">
            <a:avLst>
              <a:gd name="adj" fmla="val 20000"/>
            </a:avLst>
          </a:prstGeom>
          <a:solidFill>
            <a:schemeClr val="accent3"/>
          </a:solidFill>
          <a:ln/>
        </p:spPr>
        <p:txBody>
          <a:bodyPr wrap="square" lIns="76200" tIns="38100" rIns="76200" bIns="38100" rtlCol="0" anchor="ctr"/>
          <a:lstStyle/>
          <a:p>
            <a:pPr algn="ctr" indent="0" marL="0">
              <a:buNone/>
            </a:pPr>
            <a:r>
              <a:rPr lang="en-US" sz="1100" dirty="0">
                <a:solidFill>
                  <a:schemeClr val="bg1"/>
                </a:solidFill>
              </a:rPr>
              <a:t>provider</a:t>
            </a:r>
            <a:endParaRPr lang="en-US" sz="1100" dirty="0"/>
          </a:p>
        </p:txBody>
      </p:sp>
      <p:sp>
        <p:nvSpPr>
          <p:cNvPr id="9" name="chip-561"/>
          <p:cNvSpPr txBox="1"/>
          <p:nvPr/>
        </p:nvSpPr>
        <p:spPr>
          <a:xfrm>
            <a:off x="5148072" y="1691640"/>
            <a:ext cx="896112" cy="365760"/>
          </a:xfrm>
          <a:prstGeom prst="roundRect">
            <a:avLst>
              <a:gd name="adj" fmla="val 20000"/>
            </a:avLst>
          </a:prstGeom>
          <a:solidFill>
            <a:schemeClr val="accent3"/>
          </a:solidFill>
          <a:ln/>
        </p:spPr>
        <p:txBody>
          <a:bodyPr wrap="square" lIns="76200" tIns="38100" rIns="76200" bIns="38100" rtlCol="0" anchor="ctr"/>
          <a:lstStyle/>
          <a:p>
            <a:pPr algn="ctr" indent="0" marL="0">
              <a:buNone/>
            </a:pPr>
            <a:r>
              <a:rPr lang="en-US" sz="1100" dirty="0">
                <a:solidFill>
                  <a:schemeClr val="bg1"/>
                </a:solidFill>
              </a:rPr>
              <a:t>verification</a:t>
            </a:r>
            <a:endParaRPr lang="en-US" sz="1100" dirty="0"/>
          </a:p>
        </p:txBody>
      </p:sp>
      <p:sp>
        <p:nvSpPr>
          <p:cNvPr id="10" name="panel-562"/>
          <p:cNvSpPr txBox="1"/>
          <p:nvPr/>
        </p:nvSpPr>
        <p:spPr>
          <a:xfrm>
            <a:off x="548640" y="2377440"/>
            <a:ext cx="6583680" cy="1097280"/>
          </a:xfrm>
          <a:prstGeom prst="roundRect">
            <a:avLst>
              <a:gd name="adj" fmla="val 8333"/>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1" name="text-563"/>
          <p:cNvSpPr txBox="1"/>
          <p:nvPr/>
        </p:nvSpPr>
        <p:spPr>
          <a:xfrm>
            <a:off x="731520" y="2377440"/>
            <a:ext cx="1463040" cy="1097280"/>
          </a:xfrm>
          <a:prstGeom prst="rect">
            <a:avLst/>
          </a:prstGeom>
          <a:noFill/>
          <a:ln/>
        </p:spPr>
        <p:txBody>
          <a:bodyPr wrap="square" lIns="0" tIns="0" rIns="0" bIns="0" rtlCol="0" anchor="ctr"/>
          <a:lstStyle/>
          <a:p>
            <a:pPr algn="l" indent="0" marL="0">
              <a:buNone/>
            </a:pPr>
            <a:r>
              <a:rPr lang="en-US" sz="1300" b="1" dirty="0">
                <a:solidFill>
                  <a:schemeClr val="accent1"/>
                </a:solidFill>
              </a:rPr>
              <a:t>jobs-app</a:t>
            </a:r>
            <a:endParaRPr lang="en-US" sz="1300" dirty="0"/>
          </a:p>
        </p:txBody>
      </p:sp>
      <p:sp>
        <p:nvSpPr>
          <p:cNvPr id="12" name="chip-564"/>
          <p:cNvSpPr txBox="1"/>
          <p:nvPr/>
        </p:nvSpPr>
        <p:spPr>
          <a:xfrm>
            <a:off x="2240280" y="2468880"/>
            <a:ext cx="896112" cy="365760"/>
          </a:xfrm>
          <a:prstGeom prst="roundRect">
            <a:avLst>
              <a:gd name="adj" fmla="val 20000"/>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booking</a:t>
            </a:r>
            <a:endParaRPr lang="en-US" sz="1100" dirty="0"/>
          </a:p>
        </p:txBody>
      </p:sp>
      <p:sp>
        <p:nvSpPr>
          <p:cNvPr id="13" name="chip-565"/>
          <p:cNvSpPr txBox="1"/>
          <p:nvPr/>
        </p:nvSpPr>
        <p:spPr>
          <a:xfrm>
            <a:off x="3209544" y="2468880"/>
            <a:ext cx="896112" cy="365760"/>
          </a:xfrm>
          <a:prstGeom prst="roundRect">
            <a:avLst>
              <a:gd name="adj" fmla="val 20000"/>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catalog</a:t>
            </a:r>
            <a:endParaRPr lang="en-US" sz="1100" dirty="0"/>
          </a:p>
        </p:txBody>
      </p:sp>
      <p:sp>
        <p:nvSpPr>
          <p:cNvPr id="14" name="chip-566"/>
          <p:cNvSpPr txBox="1"/>
          <p:nvPr/>
        </p:nvSpPr>
        <p:spPr>
          <a:xfrm>
            <a:off x="4178808" y="2468880"/>
            <a:ext cx="896112" cy="365760"/>
          </a:xfrm>
          <a:prstGeom prst="roundRect">
            <a:avLst>
              <a:gd name="adj" fmla="val 20000"/>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pricing</a:t>
            </a:r>
            <a:endParaRPr lang="en-US" sz="1100" dirty="0"/>
          </a:p>
        </p:txBody>
      </p:sp>
      <p:sp>
        <p:nvSpPr>
          <p:cNvPr id="15" name="chip-567"/>
          <p:cNvSpPr txBox="1"/>
          <p:nvPr/>
        </p:nvSpPr>
        <p:spPr>
          <a:xfrm>
            <a:off x="5148072" y="2468880"/>
            <a:ext cx="896112" cy="365760"/>
          </a:xfrm>
          <a:prstGeom prst="roundRect">
            <a:avLst>
              <a:gd name="adj" fmla="val 20000"/>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location</a:t>
            </a:r>
            <a:endParaRPr lang="en-US" sz="1100" dirty="0"/>
          </a:p>
        </p:txBody>
      </p:sp>
      <p:sp>
        <p:nvSpPr>
          <p:cNvPr id="16" name="chip-568"/>
          <p:cNvSpPr txBox="1"/>
          <p:nvPr/>
        </p:nvSpPr>
        <p:spPr>
          <a:xfrm>
            <a:off x="6117336" y="2468880"/>
            <a:ext cx="896112" cy="365760"/>
          </a:xfrm>
          <a:prstGeom prst="roundRect">
            <a:avLst>
              <a:gd name="adj" fmla="val 20000"/>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chat</a:t>
            </a:r>
            <a:endParaRPr lang="en-US" sz="1100" dirty="0"/>
          </a:p>
        </p:txBody>
      </p:sp>
      <p:sp>
        <p:nvSpPr>
          <p:cNvPr id="17" name="chip-569"/>
          <p:cNvSpPr txBox="1"/>
          <p:nvPr/>
        </p:nvSpPr>
        <p:spPr>
          <a:xfrm>
            <a:off x="2240280" y="2926080"/>
            <a:ext cx="896112" cy="365760"/>
          </a:xfrm>
          <a:prstGeom prst="roundRect">
            <a:avLst>
              <a:gd name="adj" fmla="val 20000"/>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promotion</a:t>
            </a:r>
            <a:endParaRPr lang="en-US" sz="1100" dirty="0"/>
          </a:p>
        </p:txBody>
      </p:sp>
      <p:sp>
        <p:nvSpPr>
          <p:cNvPr id="18" name="chip-570"/>
          <p:cNvSpPr txBox="1"/>
          <p:nvPr/>
        </p:nvSpPr>
        <p:spPr>
          <a:xfrm>
            <a:off x="3209544" y="2926080"/>
            <a:ext cx="896112" cy="365760"/>
          </a:xfrm>
          <a:prstGeom prst="roundRect">
            <a:avLst>
              <a:gd name="adj" fmla="val 20000"/>
            </a:avLst>
          </a:prstGeom>
          <a:solidFill>
            <a:schemeClr val="accent1"/>
          </a:solidFill>
          <a:ln/>
        </p:spPr>
        <p:txBody>
          <a:bodyPr wrap="square" lIns="76200" tIns="38100" rIns="76200" bIns="38100" rtlCol="0" anchor="ctr"/>
          <a:lstStyle/>
          <a:p>
            <a:pPr algn="ctr" indent="0" marL="0">
              <a:buNone/>
            </a:pPr>
            <a:r>
              <a:rPr lang="en-US" sz="1100" dirty="0">
                <a:solidFill>
                  <a:schemeClr val="bg1"/>
                </a:solidFill>
              </a:rPr>
              <a:t>dispatch</a:t>
            </a:r>
            <a:endParaRPr lang="en-US" sz="1100" dirty="0"/>
          </a:p>
        </p:txBody>
      </p:sp>
      <p:sp>
        <p:nvSpPr>
          <p:cNvPr id="19" name="panel-571"/>
          <p:cNvSpPr txBox="1"/>
          <p:nvPr/>
        </p:nvSpPr>
        <p:spPr>
          <a:xfrm>
            <a:off x="548640" y="3611880"/>
            <a:ext cx="6583680" cy="640080"/>
          </a:xfrm>
          <a:prstGeom prst="roundRect">
            <a:avLst>
              <a:gd name="adj" fmla="val 14286"/>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20" name="text-572"/>
          <p:cNvSpPr txBox="1"/>
          <p:nvPr/>
        </p:nvSpPr>
        <p:spPr>
          <a:xfrm>
            <a:off x="731520" y="3611880"/>
            <a:ext cx="1463040" cy="640080"/>
          </a:xfrm>
          <a:prstGeom prst="rect">
            <a:avLst/>
          </a:prstGeom>
          <a:noFill/>
          <a:ln/>
        </p:spPr>
        <p:txBody>
          <a:bodyPr wrap="square" lIns="0" tIns="0" rIns="0" bIns="0" rtlCol="0" anchor="ctr"/>
          <a:lstStyle/>
          <a:p>
            <a:pPr algn="l" indent="0" marL="0">
              <a:buNone/>
            </a:pPr>
            <a:r>
              <a:rPr lang="en-US" sz="1300" b="1" dirty="0">
                <a:solidFill>
                  <a:schemeClr val="accent2"/>
                </a:solidFill>
              </a:rPr>
              <a:t>money-app</a:t>
            </a:r>
            <a:endParaRPr lang="en-US" sz="1300" dirty="0"/>
          </a:p>
        </p:txBody>
      </p:sp>
      <p:sp>
        <p:nvSpPr>
          <p:cNvPr id="21" name="chip-573"/>
          <p:cNvSpPr txBox="1"/>
          <p:nvPr/>
        </p:nvSpPr>
        <p:spPr>
          <a:xfrm>
            <a:off x="2240280" y="3703320"/>
            <a:ext cx="896112" cy="365760"/>
          </a:xfrm>
          <a:prstGeom prst="roundRect">
            <a:avLst>
              <a:gd name="adj" fmla="val 20000"/>
            </a:avLst>
          </a:prstGeom>
          <a:solidFill>
            <a:schemeClr val="accent2"/>
          </a:solidFill>
          <a:ln/>
        </p:spPr>
        <p:txBody>
          <a:bodyPr wrap="square" lIns="76200" tIns="38100" rIns="76200" bIns="38100" rtlCol="0" anchor="ctr"/>
          <a:lstStyle/>
          <a:p>
            <a:pPr algn="ctr" indent="0" marL="0">
              <a:buNone/>
            </a:pPr>
            <a:r>
              <a:rPr lang="en-US" sz="1100" dirty="0">
                <a:solidFill>
                  <a:schemeClr val="bg1"/>
                </a:solidFill>
              </a:rPr>
              <a:t>payment</a:t>
            </a:r>
            <a:endParaRPr lang="en-US" sz="1100" dirty="0"/>
          </a:p>
        </p:txBody>
      </p:sp>
      <p:sp>
        <p:nvSpPr>
          <p:cNvPr id="22" name="chip-574"/>
          <p:cNvSpPr txBox="1"/>
          <p:nvPr/>
        </p:nvSpPr>
        <p:spPr>
          <a:xfrm>
            <a:off x="3209544" y="3703320"/>
            <a:ext cx="896112" cy="365760"/>
          </a:xfrm>
          <a:prstGeom prst="roundRect">
            <a:avLst>
              <a:gd name="adj" fmla="val 20000"/>
            </a:avLst>
          </a:prstGeom>
          <a:solidFill>
            <a:schemeClr val="accent2"/>
          </a:solidFill>
          <a:ln/>
        </p:spPr>
        <p:txBody>
          <a:bodyPr wrap="square" lIns="76200" tIns="38100" rIns="76200" bIns="38100" rtlCol="0" anchor="ctr"/>
          <a:lstStyle/>
          <a:p>
            <a:pPr algn="ctr" indent="0" marL="0">
              <a:buNone/>
            </a:pPr>
            <a:r>
              <a:rPr lang="en-US" sz="1100" dirty="0">
                <a:solidFill>
                  <a:schemeClr val="bg1"/>
                </a:solidFill>
              </a:rPr>
              <a:t>invoice</a:t>
            </a:r>
            <a:endParaRPr lang="en-US" sz="1100" dirty="0"/>
          </a:p>
        </p:txBody>
      </p:sp>
      <p:sp>
        <p:nvSpPr>
          <p:cNvPr id="23" name="panel-575"/>
          <p:cNvSpPr txBox="1"/>
          <p:nvPr/>
        </p:nvSpPr>
        <p:spPr>
          <a:xfrm>
            <a:off x="548640" y="4389120"/>
            <a:ext cx="6583680" cy="640080"/>
          </a:xfrm>
          <a:prstGeom prst="roundRect">
            <a:avLst>
              <a:gd name="adj" fmla="val 14286"/>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24" name="text-576"/>
          <p:cNvSpPr txBox="1"/>
          <p:nvPr/>
        </p:nvSpPr>
        <p:spPr>
          <a:xfrm>
            <a:off x="731520" y="4389120"/>
            <a:ext cx="1463040" cy="640080"/>
          </a:xfrm>
          <a:prstGeom prst="rect">
            <a:avLst/>
          </a:prstGeom>
          <a:noFill/>
          <a:ln/>
        </p:spPr>
        <p:txBody>
          <a:bodyPr wrap="square" lIns="0" tIns="0" rIns="0" bIns="0" rtlCol="0" anchor="ctr"/>
          <a:lstStyle/>
          <a:p>
            <a:pPr algn="l" indent="0" marL="0">
              <a:buNone/>
            </a:pPr>
            <a:r>
              <a:rPr lang="en-US" sz="1300" b="1" dirty="0">
                <a:solidFill>
                  <a:schemeClr val="accent4"/>
                </a:solidFill>
              </a:rPr>
              <a:t>engagement-app</a:t>
            </a:r>
            <a:endParaRPr lang="en-US" sz="1300" dirty="0"/>
          </a:p>
        </p:txBody>
      </p:sp>
      <p:sp>
        <p:nvSpPr>
          <p:cNvPr id="25" name="chip-577"/>
          <p:cNvSpPr txBox="1"/>
          <p:nvPr/>
        </p:nvSpPr>
        <p:spPr>
          <a:xfrm>
            <a:off x="2240280" y="4480560"/>
            <a:ext cx="896112" cy="365760"/>
          </a:xfrm>
          <a:prstGeom prst="roundRect">
            <a:avLst>
              <a:gd name="adj" fmla="val 20000"/>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notification</a:t>
            </a:r>
            <a:endParaRPr lang="en-US" sz="1100" dirty="0"/>
          </a:p>
        </p:txBody>
      </p:sp>
      <p:sp>
        <p:nvSpPr>
          <p:cNvPr id="26" name="chip-578"/>
          <p:cNvSpPr txBox="1"/>
          <p:nvPr/>
        </p:nvSpPr>
        <p:spPr>
          <a:xfrm>
            <a:off x="3209544" y="4480560"/>
            <a:ext cx="896112" cy="365760"/>
          </a:xfrm>
          <a:prstGeom prst="roundRect">
            <a:avLst>
              <a:gd name="adj" fmla="val 20000"/>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complaint</a:t>
            </a:r>
            <a:endParaRPr lang="en-US" sz="1100" dirty="0"/>
          </a:p>
        </p:txBody>
      </p:sp>
      <p:sp>
        <p:nvSpPr>
          <p:cNvPr id="27" name="chip-579"/>
          <p:cNvSpPr txBox="1"/>
          <p:nvPr/>
        </p:nvSpPr>
        <p:spPr>
          <a:xfrm>
            <a:off x="4178808" y="4480560"/>
            <a:ext cx="896112" cy="365760"/>
          </a:xfrm>
          <a:prstGeom prst="roundRect">
            <a:avLst>
              <a:gd name="adj" fmla="val 20000"/>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rating</a:t>
            </a:r>
            <a:endParaRPr lang="en-US" sz="1100" dirty="0"/>
          </a:p>
        </p:txBody>
      </p:sp>
      <p:sp>
        <p:nvSpPr>
          <p:cNvPr id="28" name="chip-580"/>
          <p:cNvSpPr txBox="1"/>
          <p:nvPr/>
        </p:nvSpPr>
        <p:spPr>
          <a:xfrm>
            <a:off x="5148072" y="4480560"/>
            <a:ext cx="896112" cy="365760"/>
          </a:xfrm>
          <a:prstGeom prst="roundRect">
            <a:avLst>
              <a:gd name="adj" fmla="val 20000"/>
            </a:avLst>
          </a:prstGeom>
          <a:solidFill>
            <a:schemeClr val="accent4"/>
          </a:solidFill>
          <a:ln/>
        </p:spPr>
        <p:txBody>
          <a:bodyPr wrap="square" lIns="76200" tIns="38100" rIns="76200" bIns="38100" rtlCol="0" anchor="ctr"/>
          <a:lstStyle/>
          <a:p>
            <a:pPr algn="ctr" indent="0" marL="0">
              <a:buNone/>
            </a:pPr>
            <a:r>
              <a:rPr lang="en-US" sz="1100" dirty="0">
                <a:solidFill>
                  <a:schemeClr val="bg1"/>
                </a:solidFill>
              </a:rPr>
              <a:t>admin</a:t>
            </a:r>
            <a:endParaRPr lang="en-US" sz="1100" dirty="0"/>
          </a:p>
        </p:txBody>
      </p:sp>
      <p:sp>
        <p:nvSpPr>
          <p:cNvPr id="29" name="panel-581"/>
          <p:cNvSpPr txBox="1"/>
          <p:nvPr/>
        </p:nvSpPr>
        <p:spPr>
          <a:xfrm>
            <a:off x="548640" y="5166360"/>
            <a:ext cx="6583680" cy="640080"/>
          </a:xfrm>
          <a:prstGeom prst="roundRect">
            <a:avLst>
              <a:gd name="adj" fmla="val 14286"/>
            </a:avLst>
          </a:prstGeom>
          <a:solidFill>
            <a:schemeClr val="accent5">
              <a:alpha val="10000"/>
            </a:schemeClr>
          </a:solidFill>
          <a:ln/>
        </p:spPr>
        <p:txBody>
          <a:bodyPr wrap="square" lIns="76200" tIns="38100" rIns="76200" bIns="38100" rtlCol="0" anchor="ctr"/>
          <a:lstStyle/>
          <a:p>
            <a:pPr algn="ctr" indent="0" marL="0">
              <a:buNone/>
            </a:pPr>
            <a:endParaRPr lang="en-US" sz="1200" dirty="0"/>
          </a:p>
        </p:txBody>
      </p:sp>
      <p:sp>
        <p:nvSpPr>
          <p:cNvPr id="30" name="text-582"/>
          <p:cNvSpPr txBox="1"/>
          <p:nvPr/>
        </p:nvSpPr>
        <p:spPr>
          <a:xfrm>
            <a:off x="731520" y="5166360"/>
            <a:ext cx="1463040" cy="640080"/>
          </a:xfrm>
          <a:prstGeom prst="rect">
            <a:avLst/>
          </a:prstGeom>
          <a:noFill/>
          <a:ln/>
        </p:spPr>
        <p:txBody>
          <a:bodyPr wrap="square" lIns="0" tIns="0" rIns="0" bIns="0" rtlCol="0" anchor="ctr"/>
          <a:lstStyle/>
          <a:p>
            <a:pPr algn="l" indent="0" marL="0">
              <a:buNone/>
            </a:pPr>
            <a:r>
              <a:rPr lang="en-US" sz="1300" b="1" dirty="0">
                <a:solidFill>
                  <a:schemeClr val="accent5"/>
                </a:solidFill>
              </a:rPr>
              <a:t>shared</a:t>
            </a:r>
            <a:endParaRPr lang="en-US" sz="1300" dirty="0"/>
          </a:p>
        </p:txBody>
      </p:sp>
      <p:sp>
        <p:nvSpPr>
          <p:cNvPr id="31" name="chip-583"/>
          <p:cNvSpPr txBox="1"/>
          <p:nvPr/>
        </p:nvSpPr>
        <p:spPr>
          <a:xfrm>
            <a:off x="2240280" y="5257800"/>
            <a:ext cx="896112" cy="365760"/>
          </a:xfrm>
          <a:prstGeom prst="roundRect">
            <a:avLst>
              <a:gd name="adj" fmla="val 20000"/>
            </a:avLst>
          </a:prstGeom>
          <a:solidFill>
            <a:schemeClr val="accent5"/>
          </a:solidFill>
          <a:ln/>
        </p:spPr>
        <p:txBody>
          <a:bodyPr wrap="square" lIns="76200" tIns="38100" rIns="76200" bIns="38100" rtlCol="0" anchor="ctr"/>
          <a:lstStyle/>
          <a:p>
            <a:pPr algn="ctr" indent="0" marL="0">
              <a:buNone/>
            </a:pPr>
            <a:r>
              <a:rPr lang="en-US" sz="1100" dirty="0">
                <a:solidFill>
                  <a:schemeClr val="bg1"/>
                </a:solidFill>
              </a:rPr>
              <a:t>outbox</a:t>
            </a:r>
            <a:endParaRPr lang="en-US" sz="1100" dirty="0"/>
          </a:p>
        </p:txBody>
      </p:sp>
      <p:sp>
        <p:nvSpPr>
          <p:cNvPr id="32" name="chip-584"/>
          <p:cNvSpPr txBox="1"/>
          <p:nvPr/>
        </p:nvSpPr>
        <p:spPr>
          <a:xfrm>
            <a:off x="3209544" y="5257800"/>
            <a:ext cx="896112" cy="365760"/>
          </a:xfrm>
          <a:prstGeom prst="roundRect">
            <a:avLst>
              <a:gd name="adj" fmla="val 20000"/>
            </a:avLst>
          </a:prstGeom>
          <a:solidFill>
            <a:schemeClr val="accent5"/>
          </a:solidFill>
          <a:ln/>
        </p:spPr>
        <p:txBody>
          <a:bodyPr wrap="square" lIns="76200" tIns="38100" rIns="76200" bIns="38100" rtlCol="0" anchor="ctr"/>
          <a:lstStyle/>
          <a:p>
            <a:pPr algn="ctr" indent="0" marL="0">
              <a:buNone/>
            </a:pPr>
            <a:r>
              <a:rPr lang="en-US" sz="1100" dirty="0">
                <a:solidFill>
                  <a:schemeClr val="bg1"/>
                </a:solidFill>
              </a:rPr>
              <a:t>config</a:t>
            </a:r>
            <a:endParaRPr lang="en-US" sz="1100" dirty="0"/>
          </a:p>
        </p:txBody>
      </p:sp>
      <p:sp>
        <p:nvSpPr>
          <p:cNvPr id="33" name="text-585"/>
          <p:cNvSpPr txBox="1"/>
          <p:nvPr/>
        </p:nvSpPr>
        <p:spPr>
          <a:xfrm>
            <a:off x="548640" y="5943600"/>
            <a:ext cx="6583680" cy="274320"/>
          </a:xfrm>
          <a:prstGeom prst="rect">
            <a:avLst/>
          </a:prstGeom>
          <a:noFill/>
          <a:ln/>
        </p:spPr>
        <p:txBody>
          <a:bodyPr wrap="square" lIns="0" tIns="0" rIns="0" bIns="0" rtlCol="0" anchor="t"/>
          <a:lstStyle/>
          <a:p>
            <a:pPr algn="l" indent="0" marL="0">
              <a:buNone/>
            </a:pPr>
            <a:r>
              <a:rPr lang="en-US" sz="1100" i="1" dirty="0">
                <a:solidFill>
                  <a:schemeClr val="accent6"/>
                </a:solidFill>
              </a:rPr>
              <a:t>dispatch keeps only its settings row; offers and locks live in Redis</a:t>
            </a:r>
            <a:endParaRPr lang="en-US" sz="1100" dirty="0"/>
          </a:p>
        </p:txBody>
      </p:sp>
      <p:sp>
        <p:nvSpPr>
          <p:cNvPr id="34" name="icon-bg-file-586"/>
          <p:cNvSpPr/>
          <p:nvPr/>
        </p:nvSpPr>
        <p:spPr>
          <a:xfrm>
            <a:off x="7498080" y="1645920"/>
            <a:ext cx="502920" cy="502920"/>
          </a:xfrm>
          <a:prstGeom prst="ellipse">
            <a:avLst/>
          </a:prstGeom>
          <a:solidFill>
            <a:schemeClr val="accent5"/>
          </a:solidFill>
          <a:ln/>
        </p:spPr>
        <p:txBody>
          <a:bodyPr/>
          <a:p/>
        </p:txBody>
      </p:sp>
      <p:pic>
        <p:nvPicPr>
          <p:cNvPr id="35" name="icon-file-587" descr="file">    </p:cNvPr>
          <p:cNvPicPr>
            <a:picLocks noChangeAspect="1"/>
          </p:cNvPicPr>
          <p:nvPr/>
        </p:nvPicPr>
        <p:blipFill>
          <a:blip r:embed="rId1"/>
          <a:stretch>
            <a:fillRect/>
          </a:stretch>
        </p:blipFill>
        <p:spPr>
          <a:xfrm>
            <a:off x="7618781" y="1766621"/>
            <a:ext cx="261518" cy="261518"/>
          </a:xfrm>
          <a:prstGeom prst="rect">
            <a:avLst/>
          </a:prstGeom>
        </p:spPr>
      </p:pic>
      <p:sp>
        <p:nvSpPr>
          <p:cNvPr id="36" name="text-588"/>
          <p:cNvSpPr txBox="1"/>
          <p:nvPr/>
        </p:nvSpPr>
        <p:spPr>
          <a:xfrm>
            <a:off x="8183880" y="1627632"/>
            <a:ext cx="3456432" cy="914400"/>
          </a:xfrm>
          <a:prstGeom prst="rect">
            <a:avLst/>
          </a:prstGeom>
          <a:noFill/>
          <a:ln/>
        </p:spPr>
        <p:txBody>
          <a:bodyPr wrap="square" lIns="0" tIns="0" rIns="0" bIns="0" rtlCol="0" anchor="t"/>
          <a:lstStyle/>
          <a:p>
            <a:pPr algn="l" indent="0" marL="0">
              <a:buNone/>
            </a:pPr>
            <a:r>
              <a:rPr lang="en-US" sz="1350" dirty="0">
                <a:solidFill>
                  <a:schemeClr val="tx1"/>
                </a:solidFill>
              </a:rPr>
              <a:t>66 Flyway migrations; each V1 baseline is frozen, later changes are incremental</a:t>
            </a:r>
            <a:endParaRPr lang="en-US" sz="1350" dirty="0"/>
          </a:p>
        </p:txBody>
      </p:sp>
      <p:sp>
        <p:nvSpPr>
          <p:cNvPr id="37" name="icon-bg-branch-589"/>
          <p:cNvSpPr/>
          <p:nvPr/>
        </p:nvSpPr>
        <p:spPr>
          <a:xfrm>
            <a:off x="7498080" y="2743200"/>
            <a:ext cx="502920" cy="502920"/>
          </a:xfrm>
          <a:prstGeom prst="ellipse">
            <a:avLst/>
          </a:prstGeom>
          <a:solidFill>
            <a:schemeClr val="accent5"/>
          </a:solidFill>
          <a:ln/>
        </p:spPr>
        <p:txBody>
          <a:bodyPr/>
          <a:p/>
        </p:txBody>
      </p:sp>
      <p:pic>
        <p:nvPicPr>
          <p:cNvPr id="38" name="icon-branch-590" descr="branch">    </p:cNvPr>
          <p:cNvPicPr>
            <a:picLocks noChangeAspect="1"/>
          </p:cNvPicPr>
          <p:nvPr/>
        </p:nvPicPr>
        <p:blipFill>
          <a:blip r:embed="rId2"/>
          <a:stretch>
            <a:fillRect/>
          </a:stretch>
        </p:blipFill>
        <p:spPr>
          <a:xfrm>
            <a:off x="7618781" y="2863901"/>
            <a:ext cx="261518" cy="261518"/>
          </a:xfrm>
          <a:prstGeom prst="rect">
            <a:avLst/>
          </a:prstGeom>
        </p:spPr>
      </p:pic>
      <p:sp>
        <p:nvSpPr>
          <p:cNvPr id="39" name="text-591"/>
          <p:cNvSpPr txBox="1"/>
          <p:nvPr/>
        </p:nvSpPr>
        <p:spPr>
          <a:xfrm>
            <a:off x="8183880" y="2724912"/>
            <a:ext cx="3456432" cy="914400"/>
          </a:xfrm>
          <a:prstGeom prst="rect">
            <a:avLst/>
          </a:prstGeom>
          <a:noFill/>
          <a:ln/>
        </p:spPr>
        <p:txBody>
          <a:bodyPr wrap="square" lIns="0" tIns="0" rIns="0" bIns="0" rtlCol="0" anchor="t"/>
          <a:lstStyle/>
          <a:p>
            <a:pPr algn="l" indent="0" marL="0">
              <a:buNone/>
            </a:pPr>
            <a:r>
              <a:rPr lang="en-US" sz="1350" dirty="0">
                <a:solidFill>
                  <a:schemeClr val="tx1"/>
                </a:solidFill>
              </a:rPr>
              <a:t>No cross-schema foreign keys: references are UUIDs held by value</a:t>
            </a:r>
            <a:endParaRPr lang="en-US" sz="1350" dirty="0"/>
          </a:p>
        </p:txBody>
      </p:sp>
      <p:sp>
        <p:nvSpPr>
          <p:cNvPr id="40" name="icon-bg-zap-592"/>
          <p:cNvSpPr/>
          <p:nvPr/>
        </p:nvSpPr>
        <p:spPr>
          <a:xfrm>
            <a:off x="7498080" y="3840480"/>
            <a:ext cx="502920" cy="502920"/>
          </a:xfrm>
          <a:prstGeom prst="ellipse">
            <a:avLst/>
          </a:prstGeom>
          <a:solidFill>
            <a:schemeClr val="accent5"/>
          </a:solidFill>
          <a:ln/>
        </p:spPr>
        <p:txBody>
          <a:bodyPr/>
          <a:p/>
        </p:txBody>
      </p:sp>
      <p:pic>
        <p:nvPicPr>
          <p:cNvPr id="41" name="icon-zap-593" descr="zap">    </p:cNvPr>
          <p:cNvPicPr>
            <a:picLocks noChangeAspect="1"/>
          </p:cNvPicPr>
          <p:nvPr/>
        </p:nvPicPr>
        <p:blipFill>
          <a:blip r:embed="rId3"/>
          <a:stretch>
            <a:fillRect/>
          </a:stretch>
        </p:blipFill>
        <p:spPr>
          <a:xfrm>
            <a:off x="7618781" y="3961181"/>
            <a:ext cx="261518" cy="261518"/>
          </a:xfrm>
          <a:prstGeom prst="rect">
            <a:avLst/>
          </a:prstGeom>
        </p:spPr>
      </p:pic>
      <p:sp>
        <p:nvSpPr>
          <p:cNvPr id="42" name="text-594"/>
          <p:cNvSpPr txBox="1"/>
          <p:nvPr/>
        </p:nvSpPr>
        <p:spPr>
          <a:xfrm>
            <a:off x="8183880" y="3822192"/>
            <a:ext cx="3456432" cy="914400"/>
          </a:xfrm>
          <a:prstGeom prst="rect">
            <a:avLst/>
          </a:prstGeom>
          <a:noFill/>
          <a:ln/>
        </p:spPr>
        <p:txBody>
          <a:bodyPr wrap="square" lIns="0" tIns="0" rIns="0" bIns="0" rtlCol="0" anchor="t"/>
          <a:lstStyle/>
          <a:p>
            <a:pPr algn="l" indent="0" marL="0">
              <a:buNone/>
            </a:pPr>
            <a:r>
              <a:rPr lang="en-US" sz="1350" dirty="0">
                <a:solidFill>
                  <a:schemeClr val="tx1"/>
                </a:solidFill>
              </a:rPr>
              <a:t>Redis: dispatch offers and locks, rate limits, OTP codes, location cache, chat fan-out and presence</a:t>
            </a:r>
            <a:endParaRPr lang="en-US" sz="1350" dirty="0"/>
          </a:p>
        </p:txBody>
      </p:sp>
      <p:sp>
        <p:nvSpPr>
          <p:cNvPr id="43" name="icon-bg-layers-595"/>
          <p:cNvSpPr/>
          <p:nvPr/>
        </p:nvSpPr>
        <p:spPr>
          <a:xfrm>
            <a:off x="7498080" y="4937760"/>
            <a:ext cx="502920" cy="502920"/>
          </a:xfrm>
          <a:prstGeom prst="ellipse">
            <a:avLst/>
          </a:prstGeom>
          <a:solidFill>
            <a:schemeClr val="accent5"/>
          </a:solidFill>
          <a:ln/>
        </p:spPr>
        <p:txBody>
          <a:bodyPr/>
          <a:p/>
        </p:txBody>
      </p:sp>
      <p:pic>
        <p:nvPicPr>
          <p:cNvPr id="44" name="icon-layers-596" descr="layers">    </p:cNvPr>
          <p:cNvPicPr>
            <a:picLocks noChangeAspect="1"/>
          </p:cNvPicPr>
          <p:nvPr/>
        </p:nvPicPr>
        <p:blipFill>
          <a:blip r:embed="rId4"/>
          <a:stretch>
            <a:fillRect/>
          </a:stretch>
        </p:blipFill>
        <p:spPr>
          <a:xfrm>
            <a:off x="7618781" y="5058461"/>
            <a:ext cx="261518" cy="261518"/>
          </a:xfrm>
          <a:prstGeom prst="rect">
            <a:avLst/>
          </a:prstGeom>
        </p:spPr>
      </p:pic>
      <p:sp>
        <p:nvSpPr>
          <p:cNvPr id="45" name="text-597"/>
          <p:cNvSpPr txBox="1"/>
          <p:nvPr/>
        </p:nvSpPr>
        <p:spPr>
          <a:xfrm>
            <a:off x="8183880" y="4919472"/>
            <a:ext cx="3456432" cy="914400"/>
          </a:xfrm>
          <a:prstGeom prst="rect">
            <a:avLst/>
          </a:prstGeom>
          <a:noFill/>
          <a:ln/>
        </p:spPr>
        <p:txBody>
          <a:bodyPr wrap="square" lIns="0" tIns="0" rIns="0" bIns="0" rtlCol="0" anchor="t"/>
          <a:lstStyle/>
          <a:p>
            <a:pPr algn="l" indent="0" marL="0">
              <a:buNone/>
            </a:pPr>
            <a:r>
              <a:rPr lang="en-US" sz="1350" dirty="0">
                <a:solidFill>
                  <a:schemeClr val="tx1"/>
                </a:solidFill>
              </a:rPr>
              <a:t>config.app_config rows hold platform settings; environment variables still win</a:t>
            </a:r>
            <a:endParaRPr lang="en-US" sz="13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731520" y="2697480"/>
            <a:ext cx="10515600" cy="1005840"/>
          </a:xfrm>
          <a:prstGeom prst="rect">
            <a:avLst/>
          </a:prstGeom>
          <a:noFill/>
          <a:ln/>
        </p:spPr>
        <p:txBody>
          <a:bodyPr wrap="square" lIns="0" tIns="0" rIns="0" bIns="0" rtlCol="0" anchor="t"/>
          <a:lstStyle/>
          <a:p>
            <a:pPr algn="l" indent="0" marL="0">
              <a:buNone/>
            </a:pPr>
            <a:r>
              <a:rPr lang="en-US" sz="4400" b="1" dirty="0">
                <a:solidFill>
                  <a:schemeClr val="bg1"/>
                </a:solidFill>
              </a:rPr>
              <a:t>Delivery and status</a:t>
            </a:r>
            <a:endParaRPr lang="en-US" sz="4400" dirty="0"/>
          </a:p>
        </p:txBody>
      </p:sp>
      <p:sp>
        <p:nvSpPr>
          <p:cNvPr id="3" name="Text 0"/>
          <p:cNvSpPr/>
          <p:nvPr>
            <p:ph idx="102" type="body" hasCustomPrompt="1"/>
          </p:nvPr>
        </p:nvSpPr>
        <p:spPr>
          <a:xfrm>
            <a:off x="731520" y="3749040"/>
            <a:ext cx="10515600" cy="640080"/>
          </a:xfrm>
          <a:prstGeom prst="rect">
            <a:avLst/>
          </a:prstGeom>
          <a:noFill/>
          <a:ln/>
        </p:spPr>
        <p:txBody>
          <a:bodyPr wrap="square" lIns="0" tIns="0" rIns="0" bIns="0" rtlCol="0" anchor="t"/>
          <a:lstStyle/>
          <a:p>
            <a:pPr indent="0" marL="0">
              <a:buNone/>
            </a:pPr>
            <a:r>
              <a:rPr lang="en-US" sz="2000" dirty="0">
                <a:solidFill>
                  <a:schemeClr val="bg2"/>
                </a:solidFill>
              </a:rPr>
              <a:t>Where it runs, how it ships, and what is still open</a:t>
            </a:r>
            <a:endParaRPr lang="en-US" sz="2000" dirty="0"/>
          </a:p>
        </p:txBody>
      </p:sp>
      <p:sp>
        <p:nvSpPr>
          <p:cNvPr id="4" name="Text 0"/>
          <p:cNvSpPr/>
          <p:nvPr>
            <p:ph idx="100" type="body" hasCustomPrompt="1"/>
          </p:nvPr>
        </p:nvSpPr>
        <p:spPr>
          <a:xfrm>
            <a:off x="731520" y="2011680"/>
            <a:ext cx="3657600" cy="640080"/>
          </a:xfrm>
          <a:prstGeom prst="rect">
            <a:avLst/>
          </a:prstGeom>
          <a:noFill/>
          <a:ln/>
        </p:spPr>
        <p:txBody>
          <a:bodyPr wrap="square" lIns="0" tIns="0" rIns="0" bIns="0" rtlCol="0" anchor="b"/>
          <a:lstStyle/>
          <a:p>
            <a:pPr indent="0" marL="0">
              <a:buNone/>
            </a:pPr>
            <a:r>
              <a:rPr lang="en-US" sz="2800" b="1" dirty="0">
                <a:solidFill>
                  <a:schemeClr val="bg2"/>
                </a:solidFill>
              </a:rPr>
              <a:t>04</a:t>
            </a: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Three ways to run the same five images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Docker Compose for development, Railway for the live environment, Terraform and Helm for AWS</a:t>
            </a:r>
            <a:endParaRPr lang="en-US" sz="1500" dirty="0"/>
          </a:p>
        </p:txBody>
      </p:sp>
      <p:sp>
        <p:nvSpPr>
          <p:cNvPr id="4" name="panel-598"/>
          <p:cNvSpPr txBox="1"/>
          <p:nvPr/>
        </p:nvSpPr>
        <p:spPr>
          <a:xfrm>
            <a:off x="548640" y="1600200"/>
            <a:ext cx="3538728" cy="4617720"/>
          </a:xfrm>
          <a:prstGeom prst="roundRect">
            <a:avLst>
              <a:gd name="adj" fmla="val 2584"/>
            </a:avLst>
          </a:prstGeom>
          <a:solidFill>
            <a:schemeClr val="accent3">
              <a:alpha val="9000"/>
            </a:schemeClr>
          </a:solidFill>
          <a:ln/>
        </p:spPr>
        <p:txBody>
          <a:bodyPr wrap="square" lIns="76200" tIns="38100" rIns="76200" bIns="38100" rtlCol="0" anchor="ctr"/>
          <a:lstStyle/>
          <a:p>
            <a:pPr algn="ctr" indent="0" marL="0">
              <a:buNone/>
            </a:pPr>
            <a:endParaRPr lang="en-US" sz="1200" dirty="0"/>
          </a:p>
        </p:txBody>
      </p:sp>
      <p:sp>
        <p:nvSpPr>
          <p:cNvPr id="5" name="icon-bg-monitor-599"/>
          <p:cNvSpPr/>
          <p:nvPr/>
        </p:nvSpPr>
        <p:spPr>
          <a:xfrm>
            <a:off x="731520" y="1755648"/>
            <a:ext cx="548640" cy="548640"/>
          </a:xfrm>
          <a:prstGeom prst="ellipse">
            <a:avLst/>
          </a:prstGeom>
          <a:solidFill>
            <a:schemeClr val="accent3"/>
          </a:solidFill>
          <a:ln/>
        </p:spPr>
        <p:txBody>
          <a:bodyPr/>
          <a:p/>
        </p:txBody>
      </p:sp>
      <p:pic>
        <p:nvPicPr>
          <p:cNvPr id="6" name="icon-monitor-600" descr="monitor">    </p:cNvPr>
          <p:cNvPicPr>
            <a:picLocks noChangeAspect="1"/>
          </p:cNvPicPr>
          <p:nvPr/>
        </p:nvPicPr>
        <p:blipFill>
          <a:blip r:embed="rId1"/>
          <a:stretch>
            <a:fillRect/>
          </a:stretch>
        </p:blipFill>
        <p:spPr>
          <a:xfrm>
            <a:off x="863194" y="1887322"/>
            <a:ext cx="285293" cy="285293"/>
          </a:xfrm>
          <a:prstGeom prst="rect">
            <a:avLst/>
          </a:prstGeom>
        </p:spPr>
      </p:pic>
      <p:sp>
        <p:nvSpPr>
          <p:cNvPr id="7" name="text-601"/>
          <p:cNvSpPr txBox="1"/>
          <p:nvPr/>
        </p:nvSpPr>
        <p:spPr>
          <a:xfrm>
            <a:off x="1417320" y="1737360"/>
            <a:ext cx="2560320" cy="320040"/>
          </a:xfrm>
          <a:prstGeom prst="rect">
            <a:avLst/>
          </a:prstGeom>
          <a:noFill/>
          <a:ln/>
        </p:spPr>
        <p:txBody>
          <a:bodyPr wrap="square" lIns="0" tIns="0" rIns="0" bIns="0" rtlCol="0" anchor="t"/>
          <a:lstStyle/>
          <a:p>
            <a:pPr algn="l" indent="0" marL="0">
              <a:buNone/>
            </a:pPr>
            <a:r>
              <a:rPr lang="en-US" sz="1600" b="1" dirty="0">
                <a:solidFill>
                  <a:schemeClr val="accent3"/>
                </a:solidFill>
              </a:rPr>
              <a:t>Local</a:t>
            </a:r>
            <a:endParaRPr lang="en-US" sz="1600" dirty="0"/>
          </a:p>
        </p:txBody>
      </p:sp>
      <p:sp>
        <p:nvSpPr>
          <p:cNvPr id="8" name="text-602"/>
          <p:cNvSpPr txBox="1"/>
          <p:nvPr/>
        </p:nvSpPr>
        <p:spPr>
          <a:xfrm>
            <a:off x="1417320" y="2057400"/>
            <a:ext cx="2560320" cy="274320"/>
          </a:xfrm>
          <a:prstGeom prst="rect">
            <a:avLst/>
          </a:prstGeom>
          <a:noFill/>
          <a:ln/>
        </p:spPr>
        <p:txBody>
          <a:bodyPr wrap="square" lIns="0" tIns="0" rIns="0" bIns="0" rtlCol="0" anchor="t"/>
          <a:lstStyle/>
          <a:p>
            <a:pPr algn="l" indent="0" marL="0">
              <a:buNone/>
            </a:pPr>
            <a:r>
              <a:rPr lang="en-US" sz="1200" dirty="0">
                <a:solidFill>
                  <a:schemeClr val="accent6"/>
                </a:solidFill>
              </a:rPr>
              <a:t>Docker Compose on a developer machine</a:t>
            </a:r>
            <a:endParaRPr lang="en-US" sz="1200" dirty="0"/>
          </a:p>
        </p:txBody>
      </p:sp>
      <p:sp>
        <p:nvSpPr>
          <p:cNvPr id="9" name="box-603"/>
          <p:cNvSpPr txBox="1"/>
          <p:nvPr/>
        </p:nvSpPr>
        <p:spPr>
          <a:xfrm>
            <a:off x="731520" y="2560320"/>
            <a:ext cx="3172968" cy="685800"/>
          </a:xfrm>
          <a:prstGeom prst="roundRect">
            <a:avLst>
              <a:gd name="adj" fmla="val 10667"/>
            </a:avLst>
          </a:prstGeom>
          <a:solidFill>
            <a:schemeClr val="bg1"/>
          </a:solidFill>
          <a:ln w="12700">
            <a:solidFill>
              <a:schemeClr val="accent3">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3 nginx web apps  :5173–5175</a:t>
            </a:r>
            <a:endParaRPr lang="en-US" sz="1250" dirty="0"/>
          </a:p>
        </p:txBody>
      </p:sp>
      <p:sp>
        <p:nvSpPr>
          <p:cNvPr id="10" name="arrow-604"/>
          <p:cNvSpPr/>
          <p:nvPr/>
        </p:nvSpPr>
        <p:spPr>
          <a:xfrm>
            <a:off x="2318004" y="3246120"/>
            <a:ext cx="0" cy="228600"/>
          </a:xfrm>
          <a:prstGeom prst="line">
            <a:avLst/>
          </a:prstGeom>
          <a:noFill/>
          <a:ln w="19050">
            <a:solidFill>
              <a:schemeClr val="accent3"/>
            </a:solidFill>
            <a:prstDash val="solid"/>
          </a:ln>
        </p:spPr>
        <p:txBody>
          <a:bodyPr/>
          <a:p/>
        </p:txBody>
      </p:sp>
      <p:sp>
        <p:nvSpPr>
          <p:cNvPr id="11" name="box-605"/>
          <p:cNvSpPr txBox="1"/>
          <p:nvPr/>
        </p:nvSpPr>
        <p:spPr>
          <a:xfrm>
            <a:off x="731520" y="3474720"/>
            <a:ext cx="3172968" cy="685800"/>
          </a:xfrm>
          <a:prstGeom prst="roundRect">
            <a:avLst>
              <a:gd name="adj" fmla="val 10667"/>
            </a:avLst>
          </a:prstGeom>
          <a:solidFill>
            <a:schemeClr val="bg1"/>
          </a:solidFill>
          <a:ln w="12700">
            <a:solidFill>
              <a:schemeClr val="accent3">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5 Java containers, 20 services</a:t>
            </a:r>
            <a:endParaRPr lang="en-US" sz="1250" dirty="0"/>
          </a:p>
        </p:txBody>
      </p:sp>
      <p:sp>
        <p:nvSpPr>
          <p:cNvPr id="12" name="arrow-606"/>
          <p:cNvSpPr/>
          <p:nvPr/>
        </p:nvSpPr>
        <p:spPr>
          <a:xfrm>
            <a:off x="2318004" y="4160520"/>
            <a:ext cx="0" cy="228600"/>
          </a:xfrm>
          <a:prstGeom prst="line">
            <a:avLst/>
          </a:prstGeom>
          <a:noFill/>
          <a:ln w="19050">
            <a:solidFill>
              <a:schemeClr val="accent3"/>
            </a:solidFill>
            <a:prstDash val="solid"/>
          </a:ln>
        </p:spPr>
        <p:txBody>
          <a:bodyPr/>
          <a:p/>
        </p:txBody>
      </p:sp>
      <p:sp>
        <p:nvSpPr>
          <p:cNvPr id="13" name="box-607"/>
          <p:cNvSpPr txBox="1"/>
          <p:nvPr/>
        </p:nvSpPr>
        <p:spPr>
          <a:xfrm>
            <a:off x="731520" y="4389120"/>
            <a:ext cx="3172968" cy="685800"/>
          </a:xfrm>
          <a:prstGeom prst="roundRect">
            <a:avLst>
              <a:gd name="adj" fmla="val 10667"/>
            </a:avLst>
          </a:prstGeom>
          <a:solidFill>
            <a:schemeClr val="bg1"/>
          </a:solidFill>
          <a:ln w="12700">
            <a:solidFill>
              <a:schemeClr val="accent3">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Host PostgreSQL 18, Kafka 4.1, Redis</a:t>
            </a:r>
            <a:endParaRPr lang="en-US" sz="1250" dirty="0"/>
          </a:p>
        </p:txBody>
      </p:sp>
      <p:sp>
        <p:nvSpPr>
          <p:cNvPr id="14" name="arrow-608"/>
          <p:cNvSpPr/>
          <p:nvPr/>
        </p:nvSpPr>
        <p:spPr>
          <a:xfrm>
            <a:off x="2318004" y="5074920"/>
            <a:ext cx="0" cy="228600"/>
          </a:xfrm>
          <a:prstGeom prst="line">
            <a:avLst/>
          </a:prstGeom>
          <a:noFill/>
          <a:ln w="19050">
            <a:solidFill>
              <a:schemeClr val="accent3"/>
            </a:solidFill>
            <a:prstDash val="solid"/>
          </a:ln>
        </p:spPr>
        <p:txBody>
          <a:bodyPr/>
          <a:p/>
        </p:txBody>
      </p:sp>
      <p:sp>
        <p:nvSpPr>
          <p:cNvPr id="15" name="box-609"/>
          <p:cNvSpPr txBox="1"/>
          <p:nvPr/>
        </p:nvSpPr>
        <p:spPr>
          <a:xfrm>
            <a:off x="731520" y="5303520"/>
            <a:ext cx="3172968" cy="685800"/>
          </a:xfrm>
          <a:prstGeom prst="roundRect">
            <a:avLst>
              <a:gd name="adj" fmla="val 10667"/>
            </a:avLst>
          </a:prstGeom>
          <a:solidFill>
            <a:schemeClr val="bg1"/>
          </a:solidFill>
          <a:ln w="12700">
            <a:solidFill>
              <a:schemeClr val="accent3">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Dev mail log or Mailpit; photos on disk or S3</a:t>
            </a:r>
            <a:endParaRPr lang="en-US" sz="1250" dirty="0"/>
          </a:p>
        </p:txBody>
      </p:sp>
      <p:sp>
        <p:nvSpPr>
          <p:cNvPr id="16" name="panel-610"/>
          <p:cNvSpPr txBox="1"/>
          <p:nvPr/>
        </p:nvSpPr>
        <p:spPr>
          <a:xfrm>
            <a:off x="4325112" y="1600200"/>
            <a:ext cx="3538728" cy="4617720"/>
          </a:xfrm>
          <a:prstGeom prst="roundRect">
            <a:avLst>
              <a:gd name="adj" fmla="val 2584"/>
            </a:avLst>
          </a:prstGeom>
          <a:solidFill>
            <a:schemeClr val="accent1">
              <a:alpha val="9000"/>
            </a:schemeClr>
          </a:solidFill>
          <a:ln/>
        </p:spPr>
        <p:txBody>
          <a:bodyPr wrap="square" lIns="76200" tIns="38100" rIns="76200" bIns="38100" rtlCol="0" anchor="ctr"/>
          <a:lstStyle/>
          <a:p>
            <a:pPr algn="ctr" indent="0" marL="0">
              <a:buNone/>
            </a:pPr>
            <a:endParaRPr lang="en-US" sz="1200" dirty="0"/>
          </a:p>
        </p:txBody>
      </p:sp>
      <p:sp>
        <p:nvSpPr>
          <p:cNvPr id="17" name="icon-bg-train-611"/>
          <p:cNvSpPr/>
          <p:nvPr/>
        </p:nvSpPr>
        <p:spPr>
          <a:xfrm>
            <a:off x="4507992" y="1755648"/>
            <a:ext cx="548640" cy="548640"/>
          </a:xfrm>
          <a:prstGeom prst="ellipse">
            <a:avLst/>
          </a:prstGeom>
          <a:solidFill>
            <a:schemeClr val="accent1"/>
          </a:solidFill>
          <a:ln/>
        </p:spPr>
        <p:txBody>
          <a:bodyPr/>
          <a:p/>
        </p:txBody>
      </p:sp>
      <p:pic>
        <p:nvPicPr>
          <p:cNvPr id="18" name="icon-train-612" descr="train">    </p:cNvPr>
          <p:cNvPicPr>
            <a:picLocks noChangeAspect="1"/>
          </p:cNvPicPr>
          <p:nvPr/>
        </p:nvPicPr>
        <p:blipFill>
          <a:blip r:embed="rId2"/>
          <a:stretch>
            <a:fillRect/>
          </a:stretch>
        </p:blipFill>
        <p:spPr>
          <a:xfrm>
            <a:off x="4639666" y="1887322"/>
            <a:ext cx="285293" cy="285293"/>
          </a:xfrm>
          <a:prstGeom prst="rect">
            <a:avLst/>
          </a:prstGeom>
        </p:spPr>
      </p:pic>
      <p:sp>
        <p:nvSpPr>
          <p:cNvPr id="19" name="text-613"/>
          <p:cNvSpPr txBox="1"/>
          <p:nvPr/>
        </p:nvSpPr>
        <p:spPr>
          <a:xfrm>
            <a:off x="5193792" y="1737360"/>
            <a:ext cx="2560320" cy="320040"/>
          </a:xfrm>
          <a:prstGeom prst="rect">
            <a:avLst/>
          </a:prstGeom>
          <a:noFill/>
          <a:ln/>
        </p:spPr>
        <p:txBody>
          <a:bodyPr wrap="square" lIns="0" tIns="0" rIns="0" bIns="0" rtlCol="0" anchor="t"/>
          <a:lstStyle/>
          <a:p>
            <a:pPr algn="l" indent="0" marL="0">
              <a:buNone/>
            </a:pPr>
            <a:r>
              <a:rPr lang="en-US" sz="1600" b="1" dirty="0">
                <a:solidFill>
                  <a:schemeClr val="accent1"/>
                </a:solidFill>
              </a:rPr>
              <a:t>Railway (live)</a:t>
            </a:r>
            <a:endParaRPr lang="en-US" sz="1600" dirty="0"/>
          </a:p>
        </p:txBody>
      </p:sp>
      <p:sp>
        <p:nvSpPr>
          <p:cNvPr id="20" name="text-614"/>
          <p:cNvSpPr txBox="1"/>
          <p:nvPr/>
        </p:nvSpPr>
        <p:spPr>
          <a:xfrm>
            <a:off x="5193792" y="2057400"/>
            <a:ext cx="2560320" cy="274320"/>
          </a:xfrm>
          <a:prstGeom prst="rect">
            <a:avLst/>
          </a:prstGeom>
          <a:noFill/>
          <a:ln/>
        </p:spPr>
        <p:txBody>
          <a:bodyPr wrap="square" lIns="0" tIns="0" rIns="0" bIns="0" rtlCol="0" anchor="t"/>
          <a:lstStyle/>
          <a:p>
            <a:pPr algn="l" indent="0" marL="0">
              <a:buNone/>
            </a:pPr>
            <a:r>
              <a:rPr lang="en-US" sz="1200" dirty="0">
                <a:solidFill>
                  <a:schemeClr val="accent6"/>
                </a:solidFill>
              </a:rPr>
              <a:t>Deployed from the main branch</a:t>
            </a:r>
            <a:endParaRPr lang="en-US" sz="1200" dirty="0"/>
          </a:p>
        </p:txBody>
      </p:sp>
      <p:sp>
        <p:nvSpPr>
          <p:cNvPr id="21" name="box-615"/>
          <p:cNvSpPr txBox="1"/>
          <p:nvPr/>
        </p:nvSpPr>
        <p:spPr>
          <a:xfrm>
            <a:off x="4507992" y="2560320"/>
            <a:ext cx="3172968" cy="685800"/>
          </a:xfrm>
          <a:prstGeom prst="roundRect">
            <a:avLst>
              <a:gd name="adj" fmla="val 10667"/>
            </a:avLst>
          </a:prstGeom>
          <a:solidFill>
            <a:schemeClr val="bg1"/>
          </a:solidFill>
          <a:ln w="12700">
            <a:solidFill>
              <a:schemeClr val="accent1">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3 web apps behind the edge, https enforced</a:t>
            </a:r>
            <a:endParaRPr lang="en-US" sz="1250" dirty="0"/>
          </a:p>
        </p:txBody>
      </p:sp>
      <p:sp>
        <p:nvSpPr>
          <p:cNvPr id="22" name="arrow-616"/>
          <p:cNvSpPr/>
          <p:nvPr/>
        </p:nvSpPr>
        <p:spPr>
          <a:xfrm>
            <a:off x="6094476" y="3246120"/>
            <a:ext cx="0" cy="228600"/>
          </a:xfrm>
          <a:prstGeom prst="line">
            <a:avLst/>
          </a:prstGeom>
          <a:noFill/>
          <a:ln w="19050">
            <a:solidFill>
              <a:schemeClr val="accent1"/>
            </a:solidFill>
            <a:prstDash val="solid"/>
          </a:ln>
        </p:spPr>
        <p:txBody>
          <a:bodyPr/>
          <a:p/>
        </p:txBody>
      </p:sp>
      <p:sp>
        <p:nvSpPr>
          <p:cNvPr id="23" name="box-617"/>
          <p:cNvSpPr txBox="1"/>
          <p:nvPr/>
        </p:nvSpPr>
        <p:spPr>
          <a:xfrm>
            <a:off x="4507992" y="3474720"/>
            <a:ext cx="3172968" cy="685800"/>
          </a:xfrm>
          <a:prstGeom prst="roundRect">
            <a:avLst>
              <a:gd name="adj" fmla="val 10667"/>
            </a:avLst>
          </a:prstGeom>
          <a:solidFill>
            <a:schemeClr val="bg1"/>
          </a:solidFill>
          <a:ln w="12700">
            <a:solidFill>
              <a:schemeClr val="accent1">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5 backend services from one Dockerfile (APP=…)</a:t>
            </a:r>
            <a:endParaRPr lang="en-US" sz="1250" dirty="0"/>
          </a:p>
        </p:txBody>
      </p:sp>
      <p:sp>
        <p:nvSpPr>
          <p:cNvPr id="24" name="arrow-618"/>
          <p:cNvSpPr/>
          <p:nvPr/>
        </p:nvSpPr>
        <p:spPr>
          <a:xfrm>
            <a:off x="6094476" y="4160520"/>
            <a:ext cx="0" cy="228600"/>
          </a:xfrm>
          <a:prstGeom prst="line">
            <a:avLst/>
          </a:prstGeom>
          <a:noFill/>
          <a:ln w="19050">
            <a:solidFill>
              <a:schemeClr val="accent1"/>
            </a:solidFill>
            <a:prstDash val="solid"/>
          </a:ln>
        </p:spPr>
        <p:txBody>
          <a:bodyPr/>
          <a:p/>
        </p:txBody>
      </p:sp>
      <p:sp>
        <p:nvSpPr>
          <p:cNvPr id="25" name="box-619"/>
          <p:cNvSpPr txBox="1"/>
          <p:nvPr/>
        </p:nvSpPr>
        <p:spPr>
          <a:xfrm>
            <a:off x="4507992" y="4389120"/>
            <a:ext cx="3172968" cy="685800"/>
          </a:xfrm>
          <a:prstGeom prst="roundRect">
            <a:avLst>
              <a:gd name="adj" fmla="val 10667"/>
            </a:avLst>
          </a:prstGeom>
          <a:solidFill>
            <a:schemeClr val="bg1"/>
          </a:solidFill>
          <a:ln w="12700">
            <a:solidFill>
              <a:schemeClr val="accent1">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Postgres, Redis and Kafka services</a:t>
            </a:r>
            <a:endParaRPr lang="en-US" sz="1250" dirty="0"/>
          </a:p>
        </p:txBody>
      </p:sp>
      <p:sp>
        <p:nvSpPr>
          <p:cNvPr id="26" name="arrow-620"/>
          <p:cNvSpPr/>
          <p:nvPr/>
        </p:nvSpPr>
        <p:spPr>
          <a:xfrm>
            <a:off x="6094476" y="5074920"/>
            <a:ext cx="0" cy="228600"/>
          </a:xfrm>
          <a:prstGeom prst="line">
            <a:avLst/>
          </a:prstGeom>
          <a:noFill/>
          <a:ln w="19050">
            <a:solidFill>
              <a:schemeClr val="accent1"/>
            </a:solidFill>
            <a:prstDash val="solid"/>
          </a:ln>
        </p:spPr>
        <p:txBody>
          <a:bodyPr/>
          <a:p/>
        </p:txBody>
      </p:sp>
      <p:sp>
        <p:nvSpPr>
          <p:cNvPr id="27" name="box-621"/>
          <p:cNvSpPr txBox="1"/>
          <p:nvPr/>
        </p:nvSpPr>
        <p:spPr>
          <a:xfrm>
            <a:off x="4507992" y="5303520"/>
            <a:ext cx="3172968" cy="685800"/>
          </a:xfrm>
          <a:prstGeom prst="roundRect">
            <a:avLst>
              <a:gd name="adj" fmla="val 10667"/>
            </a:avLst>
          </a:prstGeom>
          <a:solidFill>
            <a:schemeClr val="bg1"/>
          </a:solidFill>
          <a:ln w="12700">
            <a:solidFill>
              <a:schemeClr val="accent1">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SMTP and S3 settings as variables</a:t>
            </a:r>
            <a:endParaRPr lang="en-US" sz="1250" dirty="0"/>
          </a:p>
        </p:txBody>
      </p:sp>
      <p:sp>
        <p:nvSpPr>
          <p:cNvPr id="28" name="panel-622"/>
          <p:cNvSpPr txBox="1"/>
          <p:nvPr/>
        </p:nvSpPr>
        <p:spPr>
          <a:xfrm>
            <a:off x="8101584" y="1600200"/>
            <a:ext cx="3538728" cy="4617720"/>
          </a:xfrm>
          <a:prstGeom prst="roundRect">
            <a:avLst>
              <a:gd name="adj" fmla="val 2584"/>
            </a:avLst>
          </a:prstGeom>
          <a:solidFill>
            <a:schemeClr val="accent5">
              <a:alpha val="9000"/>
            </a:schemeClr>
          </a:solidFill>
          <a:ln/>
        </p:spPr>
        <p:txBody>
          <a:bodyPr wrap="square" lIns="76200" tIns="38100" rIns="76200" bIns="38100" rtlCol="0" anchor="ctr"/>
          <a:lstStyle/>
          <a:p>
            <a:pPr algn="ctr" indent="0" marL="0">
              <a:buNone/>
            </a:pPr>
            <a:endParaRPr lang="en-US" sz="1200" dirty="0"/>
          </a:p>
        </p:txBody>
      </p:sp>
      <p:sp>
        <p:nvSpPr>
          <p:cNvPr id="29" name="icon-bg-cloud-623"/>
          <p:cNvSpPr/>
          <p:nvPr/>
        </p:nvSpPr>
        <p:spPr>
          <a:xfrm>
            <a:off x="8284464" y="1755648"/>
            <a:ext cx="548640" cy="548640"/>
          </a:xfrm>
          <a:prstGeom prst="ellipse">
            <a:avLst/>
          </a:prstGeom>
          <a:solidFill>
            <a:schemeClr val="accent5"/>
          </a:solidFill>
          <a:ln/>
        </p:spPr>
        <p:txBody>
          <a:bodyPr/>
          <a:p/>
        </p:txBody>
      </p:sp>
      <p:pic>
        <p:nvPicPr>
          <p:cNvPr id="30" name="icon-cloud-624" descr="cloud">    </p:cNvPr>
          <p:cNvPicPr>
            <a:picLocks noChangeAspect="1"/>
          </p:cNvPicPr>
          <p:nvPr/>
        </p:nvPicPr>
        <p:blipFill>
          <a:blip r:embed="rId3"/>
          <a:stretch>
            <a:fillRect/>
          </a:stretch>
        </p:blipFill>
        <p:spPr>
          <a:xfrm>
            <a:off x="8416138" y="1887322"/>
            <a:ext cx="285293" cy="285293"/>
          </a:xfrm>
          <a:prstGeom prst="rect">
            <a:avLst/>
          </a:prstGeom>
        </p:spPr>
      </p:pic>
      <p:sp>
        <p:nvSpPr>
          <p:cNvPr id="31" name="text-625"/>
          <p:cNvSpPr txBox="1"/>
          <p:nvPr/>
        </p:nvSpPr>
        <p:spPr>
          <a:xfrm>
            <a:off x="8970264" y="1737360"/>
            <a:ext cx="2560320" cy="320040"/>
          </a:xfrm>
          <a:prstGeom prst="rect">
            <a:avLst/>
          </a:prstGeom>
          <a:noFill/>
          <a:ln/>
        </p:spPr>
        <p:txBody>
          <a:bodyPr wrap="square" lIns="0" tIns="0" rIns="0" bIns="0" rtlCol="0" anchor="t"/>
          <a:lstStyle/>
          <a:p>
            <a:pPr algn="l" indent="0" marL="0">
              <a:buNone/>
            </a:pPr>
            <a:r>
              <a:rPr lang="en-US" sz="1600" b="1" dirty="0">
                <a:solidFill>
                  <a:schemeClr val="accent5"/>
                </a:solidFill>
              </a:rPr>
              <a:t>AWS target</a:t>
            </a:r>
            <a:endParaRPr lang="en-US" sz="1600" dirty="0"/>
          </a:p>
        </p:txBody>
      </p:sp>
      <p:sp>
        <p:nvSpPr>
          <p:cNvPr id="32" name="text-626"/>
          <p:cNvSpPr txBox="1"/>
          <p:nvPr/>
        </p:nvSpPr>
        <p:spPr>
          <a:xfrm>
            <a:off x="8970264" y="2057400"/>
            <a:ext cx="2560320" cy="274320"/>
          </a:xfrm>
          <a:prstGeom prst="rect">
            <a:avLst/>
          </a:prstGeom>
          <a:noFill/>
          <a:ln/>
        </p:spPr>
        <p:txBody>
          <a:bodyPr wrap="square" lIns="0" tIns="0" rIns="0" bIns="0" rtlCol="0" anchor="t"/>
          <a:lstStyle/>
          <a:p>
            <a:pPr algn="l" indent="0" marL="0">
              <a:buNone/>
            </a:pPr>
            <a:r>
              <a:rPr lang="en-US" sz="1200" dirty="0">
                <a:solidFill>
                  <a:schemeClr val="accent6"/>
                </a:solidFill>
              </a:rPr>
              <a:t>Terraform + one Helm chart</a:t>
            </a:r>
            <a:endParaRPr lang="en-US" sz="1200" dirty="0"/>
          </a:p>
        </p:txBody>
      </p:sp>
      <p:sp>
        <p:nvSpPr>
          <p:cNvPr id="33" name="box-627"/>
          <p:cNvSpPr txBox="1"/>
          <p:nvPr/>
        </p:nvSpPr>
        <p:spPr>
          <a:xfrm>
            <a:off x="8284464" y="2560320"/>
            <a:ext cx="3172968" cy="685800"/>
          </a:xfrm>
          <a:prstGeom prst="roundRect">
            <a:avLst>
              <a:gd name="adj" fmla="val 10667"/>
            </a:avLst>
          </a:prstGeom>
          <a:solidFill>
            <a:schemeClr val="bg1"/>
          </a:solidFill>
          <a:ln w="12700">
            <a:solidFill>
              <a:schemeClr val="accent5">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CloudFront and WAF → API Gateway → ingress</a:t>
            </a:r>
            <a:endParaRPr lang="en-US" sz="1250" dirty="0"/>
          </a:p>
        </p:txBody>
      </p:sp>
      <p:sp>
        <p:nvSpPr>
          <p:cNvPr id="34" name="arrow-628"/>
          <p:cNvSpPr/>
          <p:nvPr/>
        </p:nvSpPr>
        <p:spPr>
          <a:xfrm>
            <a:off x="9870948" y="3246120"/>
            <a:ext cx="0" cy="228600"/>
          </a:xfrm>
          <a:prstGeom prst="line">
            <a:avLst/>
          </a:prstGeom>
          <a:noFill/>
          <a:ln w="19050">
            <a:solidFill>
              <a:schemeClr val="accent5"/>
            </a:solidFill>
            <a:prstDash val="solid"/>
          </a:ln>
        </p:spPr>
        <p:txBody>
          <a:bodyPr/>
          <a:p/>
        </p:txBody>
      </p:sp>
      <p:sp>
        <p:nvSpPr>
          <p:cNvPr id="35" name="box-629"/>
          <p:cNvSpPr txBox="1"/>
          <p:nvPr/>
        </p:nvSpPr>
        <p:spPr>
          <a:xfrm>
            <a:off x="8284464" y="3474720"/>
            <a:ext cx="3172968" cy="685800"/>
          </a:xfrm>
          <a:prstGeom prst="roundRect">
            <a:avLst>
              <a:gd name="adj" fmla="val 10667"/>
            </a:avLst>
          </a:prstGeom>
          <a:solidFill>
            <a:schemeClr val="bg1"/>
          </a:solidFill>
          <a:ln w="12700">
            <a:solidFill>
              <a:schemeClr val="accent5">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EKS: 5 Helm releases of one chart</a:t>
            </a:r>
            <a:endParaRPr lang="en-US" sz="1250" dirty="0"/>
          </a:p>
        </p:txBody>
      </p:sp>
      <p:sp>
        <p:nvSpPr>
          <p:cNvPr id="36" name="arrow-630"/>
          <p:cNvSpPr/>
          <p:nvPr/>
        </p:nvSpPr>
        <p:spPr>
          <a:xfrm>
            <a:off x="9870948" y="4160520"/>
            <a:ext cx="0" cy="228600"/>
          </a:xfrm>
          <a:prstGeom prst="line">
            <a:avLst/>
          </a:prstGeom>
          <a:noFill/>
          <a:ln w="19050">
            <a:solidFill>
              <a:schemeClr val="accent5"/>
            </a:solidFill>
            <a:prstDash val="solid"/>
          </a:ln>
        </p:spPr>
        <p:txBody>
          <a:bodyPr/>
          <a:p/>
        </p:txBody>
      </p:sp>
      <p:sp>
        <p:nvSpPr>
          <p:cNvPr id="37" name="box-631"/>
          <p:cNvSpPr txBox="1"/>
          <p:nvPr/>
        </p:nvSpPr>
        <p:spPr>
          <a:xfrm>
            <a:off x="8284464" y="4389120"/>
            <a:ext cx="3172968" cy="685800"/>
          </a:xfrm>
          <a:prstGeom prst="roundRect">
            <a:avLst>
              <a:gd name="adj" fmla="val 10667"/>
            </a:avLst>
          </a:prstGeom>
          <a:solidFill>
            <a:schemeClr val="bg1"/>
          </a:solidFill>
          <a:ln w="12700">
            <a:solidFill>
              <a:schemeClr val="accent5">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RDS Multi-AZ, MSK (TLS + SCRAM), ElastiCache</a:t>
            </a:r>
            <a:endParaRPr lang="en-US" sz="1250" dirty="0"/>
          </a:p>
        </p:txBody>
      </p:sp>
      <p:sp>
        <p:nvSpPr>
          <p:cNvPr id="38" name="arrow-632"/>
          <p:cNvSpPr/>
          <p:nvPr/>
        </p:nvSpPr>
        <p:spPr>
          <a:xfrm>
            <a:off x="9870948" y="5074920"/>
            <a:ext cx="0" cy="228600"/>
          </a:xfrm>
          <a:prstGeom prst="line">
            <a:avLst/>
          </a:prstGeom>
          <a:noFill/>
          <a:ln w="19050">
            <a:solidFill>
              <a:schemeClr val="accent5"/>
            </a:solidFill>
            <a:prstDash val="solid"/>
          </a:ln>
        </p:spPr>
        <p:txBody>
          <a:bodyPr/>
          <a:p/>
        </p:txBody>
      </p:sp>
      <p:sp>
        <p:nvSpPr>
          <p:cNvPr id="39" name="box-633"/>
          <p:cNvSpPr txBox="1"/>
          <p:nvPr/>
        </p:nvSpPr>
        <p:spPr>
          <a:xfrm>
            <a:off x="8284464" y="5303520"/>
            <a:ext cx="3172968" cy="685800"/>
          </a:xfrm>
          <a:prstGeom prst="roundRect">
            <a:avLst>
              <a:gd name="adj" fmla="val 10667"/>
            </a:avLst>
          </a:prstGeom>
          <a:solidFill>
            <a:schemeClr val="bg1"/>
          </a:solidFill>
          <a:ln w="12700">
            <a:solidFill>
              <a:schemeClr val="accent5">
                <a:alpha val="45000"/>
              </a:schemeClr>
            </a:solidFill>
            <a:prstDash val="solid"/>
          </a:ln>
        </p:spPr>
        <p:txBody>
          <a:bodyPr wrap="square" lIns="76200" tIns="38100" rIns="76200" bIns="38100" rtlCol="0" anchor="ctr"/>
          <a:lstStyle/>
          <a:p>
            <a:pPr algn="ctr" indent="0" marL="0">
              <a:buNone/>
            </a:pPr>
            <a:r>
              <a:rPr lang="en-US" sz="1250" dirty="0">
                <a:solidFill>
                  <a:schemeClr val="tx1"/>
                </a:solidFill>
              </a:rPr>
              <a:t>S3 job photos, SES email, Secrets Manager</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Delivery pipeline</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Nine GitHub Actions workflows: checks on every pull request, images and staging on every push to main</a:t>
            </a:r>
            <a:endParaRPr lang="en-US" sz="1500" dirty="0"/>
          </a:p>
        </p:txBody>
      </p:sp>
      <p:sp>
        <p:nvSpPr>
          <p:cNvPr id="4" name="panel-634"/>
          <p:cNvSpPr txBox="1"/>
          <p:nvPr/>
        </p:nvSpPr>
        <p:spPr>
          <a:xfrm>
            <a:off x="548640" y="1600200"/>
            <a:ext cx="11091672" cy="914400"/>
          </a:xfrm>
          <a:prstGeom prst="roundRect">
            <a:avLst>
              <a:gd name="adj" fmla="val 10000"/>
            </a:avLst>
          </a:prstGeom>
          <a:solidFill>
            <a:schemeClr val="accent3">
              <a:alpha val="7000"/>
            </a:schemeClr>
          </a:solidFill>
          <a:ln/>
        </p:spPr>
        <p:txBody>
          <a:bodyPr wrap="square" lIns="76200" tIns="38100" rIns="76200" bIns="38100" rtlCol="0" anchor="ctr"/>
          <a:lstStyle/>
          <a:p>
            <a:pPr algn="ctr" indent="0" marL="0">
              <a:buNone/>
            </a:pPr>
            <a:endParaRPr lang="en-US" sz="1200" dirty="0"/>
          </a:p>
        </p:txBody>
      </p:sp>
      <p:sp>
        <p:nvSpPr>
          <p:cNvPr id="5" name="text-635"/>
          <p:cNvSpPr txBox="1"/>
          <p:nvPr/>
        </p:nvSpPr>
        <p:spPr>
          <a:xfrm>
            <a:off x="731520" y="1600200"/>
            <a:ext cx="1463040" cy="914400"/>
          </a:xfrm>
          <a:prstGeom prst="rect">
            <a:avLst/>
          </a:prstGeom>
          <a:noFill/>
          <a:ln/>
        </p:spPr>
        <p:txBody>
          <a:bodyPr wrap="square" lIns="0" tIns="0" rIns="0" bIns="0" rtlCol="0" anchor="ctr"/>
          <a:lstStyle/>
          <a:p>
            <a:pPr algn="l" indent="0" marL="0">
              <a:buNone/>
            </a:pPr>
            <a:r>
              <a:rPr lang="en-US" sz="1400" b="1" dirty="0">
                <a:solidFill>
                  <a:schemeClr val="accent3"/>
                </a:solidFill>
              </a:rPr>
              <a:t>Pull request</a:t>
            </a:r>
            <a:endParaRPr lang="en-US" sz="1400" dirty="0"/>
          </a:p>
        </p:txBody>
      </p:sp>
      <p:sp>
        <p:nvSpPr>
          <p:cNvPr id="6" name="panel-636"/>
          <p:cNvSpPr txBox="1"/>
          <p:nvPr/>
        </p:nvSpPr>
        <p:spPr>
          <a:xfrm>
            <a:off x="548640" y="2697480"/>
            <a:ext cx="11091672" cy="2103120"/>
          </a:xfrm>
          <a:prstGeom prst="roundRect">
            <a:avLst>
              <a:gd name="adj" fmla="val 4348"/>
            </a:avLst>
          </a:prstGeom>
          <a:solidFill>
            <a:schemeClr val="accent1">
              <a:alpha val="7000"/>
            </a:schemeClr>
          </a:solidFill>
          <a:ln/>
        </p:spPr>
        <p:txBody>
          <a:bodyPr wrap="square" lIns="76200" tIns="38100" rIns="76200" bIns="38100" rtlCol="0" anchor="ctr"/>
          <a:lstStyle/>
          <a:p>
            <a:pPr algn="ctr" indent="0" marL="0">
              <a:buNone/>
            </a:pPr>
            <a:endParaRPr lang="en-US" sz="1200" dirty="0"/>
          </a:p>
        </p:txBody>
      </p:sp>
      <p:sp>
        <p:nvSpPr>
          <p:cNvPr id="7" name="text-637"/>
          <p:cNvSpPr txBox="1"/>
          <p:nvPr/>
        </p:nvSpPr>
        <p:spPr>
          <a:xfrm>
            <a:off x="731520" y="2697480"/>
            <a:ext cx="1463040" cy="2103120"/>
          </a:xfrm>
          <a:prstGeom prst="rect">
            <a:avLst/>
          </a:prstGeom>
          <a:noFill/>
          <a:ln/>
        </p:spPr>
        <p:txBody>
          <a:bodyPr wrap="square" lIns="0" tIns="0" rIns="0" bIns="0" rtlCol="0" anchor="ctr"/>
          <a:lstStyle/>
          <a:p>
            <a:pPr algn="l" indent="0" marL="0">
              <a:buNone/>
            </a:pPr>
            <a:r>
              <a:rPr lang="en-US" sz="1400" b="1" dirty="0">
                <a:solidFill>
                  <a:schemeClr val="accent1"/>
                </a:solidFill>
              </a:rPr>
              <a:t>Push to main</a:t>
            </a:r>
            <a:endParaRPr lang="en-US" sz="1400" dirty="0"/>
          </a:p>
        </p:txBody>
      </p:sp>
      <p:sp>
        <p:nvSpPr>
          <p:cNvPr id="8" name="panel-638"/>
          <p:cNvSpPr txBox="1"/>
          <p:nvPr/>
        </p:nvSpPr>
        <p:spPr>
          <a:xfrm>
            <a:off x="548640" y="4983480"/>
            <a:ext cx="11091672" cy="1188720"/>
          </a:xfrm>
          <a:prstGeom prst="roundRect">
            <a:avLst>
              <a:gd name="adj" fmla="val 7692"/>
            </a:avLst>
          </a:prstGeom>
          <a:solidFill>
            <a:schemeClr val="accent2">
              <a:alpha val="7000"/>
            </a:schemeClr>
          </a:solidFill>
          <a:ln/>
        </p:spPr>
        <p:txBody>
          <a:bodyPr wrap="square" lIns="76200" tIns="38100" rIns="76200" bIns="38100" rtlCol="0" anchor="ctr"/>
          <a:lstStyle/>
          <a:p>
            <a:pPr algn="ctr" indent="0" marL="0">
              <a:buNone/>
            </a:pPr>
            <a:endParaRPr lang="en-US" sz="1200" dirty="0"/>
          </a:p>
        </p:txBody>
      </p:sp>
      <p:sp>
        <p:nvSpPr>
          <p:cNvPr id="9" name="text-639"/>
          <p:cNvSpPr txBox="1"/>
          <p:nvPr/>
        </p:nvSpPr>
        <p:spPr>
          <a:xfrm>
            <a:off x="731520" y="4983480"/>
            <a:ext cx="1463040" cy="1188720"/>
          </a:xfrm>
          <a:prstGeom prst="rect">
            <a:avLst/>
          </a:prstGeom>
          <a:noFill/>
          <a:ln/>
        </p:spPr>
        <p:txBody>
          <a:bodyPr wrap="square" lIns="0" tIns="0" rIns="0" bIns="0" rtlCol="0" anchor="ctr"/>
          <a:lstStyle/>
          <a:p>
            <a:pPr algn="l" indent="0" marL="0">
              <a:buNone/>
            </a:pPr>
            <a:r>
              <a:rPr lang="en-US" sz="1400" b="1" dirty="0">
                <a:solidFill>
                  <a:schemeClr val="accent2"/>
                </a:solidFill>
              </a:rPr>
              <a:t>Manual</a:t>
            </a:r>
            <a:endParaRPr lang="en-US" sz="1400" dirty="0"/>
          </a:p>
        </p:txBody>
      </p:sp>
      <p:sp>
        <p:nvSpPr>
          <p:cNvPr id="10" name="box-640"/>
          <p:cNvSpPr txBox="1"/>
          <p:nvPr/>
        </p:nvSpPr>
        <p:spPr>
          <a:xfrm>
            <a:off x="2377440" y="1719072"/>
            <a:ext cx="4846320" cy="685800"/>
          </a:xfrm>
          <a:prstGeom prst="roundRect">
            <a:avLst>
              <a:gd name="adj" fmla="val 10667"/>
            </a:avLst>
          </a:prstGeom>
          <a:solidFill>
            <a:schemeClr val="bg1"/>
          </a:solidFill>
          <a:ln w="12700">
            <a:solidFill>
              <a:schemeClr val="accent3">
                <a:alpha val="60000"/>
              </a:schemeClr>
            </a:solidFill>
            <a:prstDash val="solid"/>
          </a:ln>
        </p:spPr>
        <p:txBody>
          <a:bodyPr wrap="square" lIns="101600" tIns="38100" rIns="101600" bIns="38100" rtlCol="0" anchor="ctr"/>
          <a:lstStyle/>
          <a:p>
            <a:pPr algn="l" indent="0" marL="0">
              <a:buNone/>
            </a:pPr>
            <a:r>
              <a:rPr lang="en-US" sz="1300" b="1" dirty="0">
                <a:solidFill>
                  <a:schemeClr val="tx1"/>
                </a:solidFill>
              </a:rPr>
              <a:t>PR checks</a:t>
            </a:r>
            <a:endParaRPr lang="en-US" sz="1200" dirty="0"/>
          </a:p>
          <a:p>
            <a:pPr algn="l" indent="0" marL="0">
              <a:buNone/>
            </a:pPr>
            <a:r>
              <a:rPr lang="en-US" sz="1100" dirty="0">
                <a:solidFill>
                  <a:schemeClr val="accent6"/>
                </a:solidFill>
              </a:rPr>
              <a:t>lint, test, coverage, image build</a:t>
            </a:r>
            <a:endParaRPr lang="en-US" sz="1200" dirty="0"/>
          </a:p>
        </p:txBody>
      </p:sp>
      <p:sp>
        <p:nvSpPr>
          <p:cNvPr id="11" name="box-641"/>
          <p:cNvSpPr txBox="1"/>
          <p:nvPr/>
        </p:nvSpPr>
        <p:spPr>
          <a:xfrm>
            <a:off x="2377440" y="2834640"/>
            <a:ext cx="2743200" cy="777240"/>
          </a:xfrm>
          <a:prstGeom prst="roundRect">
            <a:avLst>
              <a:gd name="adj" fmla="val 9412"/>
            </a:avLst>
          </a:prstGeom>
          <a:solidFill>
            <a:schemeClr val="bg1"/>
          </a:solidFill>
          <a:ln w="12700">
            <a:solidFill>
              <a:schemeClr val="accent1">
                <a:alpha val="60000"/>
              </a:schemeClr>
            </a:solidFill>
            <a:prstDash val="solid"/>
          </a:ln>
        </p:spPr>
        <p:txBody>
          <a:bodyPr wrap="square" lIns="101600" tIns="38100" rIns="101600" bIns="38100" rtlCol="0" anchor="ctr"/>
          <a:lstStyle/>
          <a:p>
            <a:pPr algn="l" indent="0" marL="0">
              <a:buNone/>
            </a:pPr>
            <a:r>
              <a:rPr lang="en-US" sz="1300" b="1" dirty="0">
                <a:solidFill>
                  <a:schemeClr val="tx1"/>
                </a:solidFill>
              </a:rPr>
              <a:t>CI</a:t>
            </a:r>
            <a:endParaRPr lang="en-US" sz="1200" dirty="0"/>
          </a:p>
          <a:p>
            <a:pPr algn="l" indent="0" marL="0">
              <a:buNone/>
            </a:pPr>
            <a:r>
              <a:rPr lang="en-US" sz="1100" dirty="0">
                <a:solidFill>
                  <a:schemeClr val="accent6"/>
                </a:solidFill>
              </a:rPr>
              <a:t>build, test, image, deploy to staging</a:t>
            </a:r>
            <a:endParaRPr lang="en-US" sz="1200" dirty="0"/>
          </a:p>
        </p:txBody>
      </p:sp>
      <p:sp>
        <p:nvSpPr>
          <p:cNvPr id="12" name="arrow-642"/>
          <p:cNvSpPr/>
          <p:nvPr/>
        </p:nvSpPr>
        <p:spPr>
          <a:xfrm>
            <a:off x="5120640" y="3223260"/>
            <a:ext cx="365760" cy="0"/>
          </a:xfrm>
          <a:prstGeom prst="line">
            <a:avLst/>
          </a:prstGeom>
          <a:noFill/>
          <a:ln w="19050">
            <a:solidFill>
              <a:schemeClr val="accent6"/>
            </a:solidFill>
            <a:prstDash val="solid"/>
            <a:tailEnd type="triangle"/>
          </a:ln>
        </p:spPr>
        <p:txBody>
          <a:bodyPr/>
          <a:p/>
        </p:txBody>
      </p:sp>
      <p:sp>
        <p:nvSpPr>
          <p:cNvPr id="13" name="chip-643"/>
          <p:cNvSpPr txBox="1"/>
          <p:nvPr/>
        </p:nvSpPr>
        <p:spPr>
          <a:xfrm>
            <a:off x="5486400" y="2880360"/>
            <a:ext cx="1947672" cy="685800"/>
          </a:xfrm>
          <a:prstGeom prst="roundRect">
            <a:avLst>
              <a:gd name="adj" fmla="val 10667"/>
            </a:avLst>
          </a:prstGeom>
          <a:solidFill>
            <a:schemeClr val="accent1"/>
          </a:solidFill>
          <a:ln/>
        </p:spPr>
        <p:txBody>
          <a:bodyPr wrap="square" lIns="76200" tIns="38100" rIns="76200" bIns="38100" rtlCol="0" anchor="ctr"/>
          <a:lstStyle/>
          <a:p>
            <a:pPr algn="ctr" indent="0" marL="0">
              <a:buNone/>
            </a:pPr>
            <a:r>
              <a:rPr lang="en-US" sz="1100" b="1" dirty="0">
                <a:solidFill>
                  <a:schemeClr val="bg1"/>
                </a:solidFill>
              </a:rPr>
              <a:t>Build services</a:t>
            </a:r>
            <a:endParaRPr lang="en-US" sz="1100" dirty="0"/>
          </a:p>
          <a:p>
            <a:pPr algn="ctr" indent="0" marL="0">
              <a:buNone/>
            </a:pPr>
            <a:r>
              <a:rPr lang="en-US" sz="1100" b="1" dirty="0">
                <a:solidFill>
                  <a:schemeClr val="bg1"/>
                </a:solidFill>
              </a:rPr>
              <a:t>reusable</a:t>
            </a:r>
            <a:endParaRPr lang="en-US" sz="1100" dirty="0"/>
          </a:p>
        </p:txBody>
      </p:sp>
      <p:sp>
        <p:nvSpPr>
          <p:cNvPr id="14" name="chip-644"/>
          <p:cNvSpPr txBox="1"/>
          <p:nvPr/>
        </p:nvSpPr>
        <p:spPr>
          <a:xfrm>
            <a:off x="7562088" y="2880360"/>
            <a:ext cx="1947672" cy="685800"/>
          </a:xfrm>
          <a:prstGeom prst="roundRect">
            <a:avLst>
              <a:gd name="adj" fmla="val 10667"/>
            </a:avLst>
          </a:prstGeom>
          <a:solidFill>
            <a:schemeClr val="accent1"/>
          </a:solidFill>
          <a:ln/>
        </p:spPr>
        <p:txBody>
          <a:bodyPr wrap="square" lIns="76200" tIns="38100" rIns="76200" bIns="38100" rtlCol="0" anchor="ctr"/>
          <a:lstStyle/>
          <a:p>
            <a:pPr algn="ctr" indent="0" marL="0">
              <a:buNone/>
            </a:pPr>
            <a:r>
              <a:rPr lang="en-US" sz="1100" b="1" dirty="0">
                <a:solidFill>
                  <a:schemeClr val="bg1"/>
                </a:solidFill>
              </a:rPr>
              <a:t>Lint delivery</a:t>
            </a:r>
            <a:endParaRPr lang="en-US" sz="1100" dirty="0"/>
          </a:p>
          <a:p>
            <a:pPr algn="ctr" indent="0" marL="0">
              <a:buNone/>
            </a:pPr>
            <a:r>
              <a:rPr lang="en-US" sz="1100" b="1" dirty="0">
                <a:solidFill>
                  <a:schemeClr val="bg1"/>
                </a:solidFill>
              </a:rPr>
              <a:t>workflows, chart, ports</a:t>
            </a:r>
            <a:endParaRPr lang="en-US" sz="1100" dirty="0"/>
          </a:p>
        </p:txBody>
      </p:sp>
      <p:sp>
        <p:nvSpPr>
          <p:cNvPr id="15" name="chip-645"/>
          <p:cNvSpPr txBox="1"/>
          <p:nvPr/>
        </p:nvSpPr>
        <p:spPr>
          <a:xfrm>
            <a:off x="9637776" y="2880360"/>
            <a:ext cx="1947672" cy="685800"/>
          </a:xfrm>
          <a:prstGeom prst="roundRect">
            <a:avLst>
              <a:gd name="adj" fmla="val 10667"/>
            </a:avLst>
          </a:prstGeom>
          <a:solidFill>
            <a:schemeClr val="accent1"/>
          </a:solidFill>
          <a:ln/>
        </p:spPr>
        <p:txBody>
          <a:bodyPr wrap="square" lIns="76200" tIns="38100" rIns="76200" bIns="38100" rtlCol="0" anchor="ctr"/>
          <a:lstStyle/>
          <a:p>
            <a:pPr algn="ctr" indent="0" marL="0">
              <a:buNone/>
            </a:pPr>
            <a:r>
              <a:rPr lang="en-US" sz="1100" b="1" dirty="0">
                <a:solidFill>
                  <a:schemeClr val="bg1"/>
                </a:solidFill>
              </a:rPr>
              <a:t>Deploy services</a:t>
            </a:r>
            <a:endParaRPr lang="en-US" sz="1100" dirty="0"/>
          </a:p>
          <a:p>
            <a:pPr algn="ctr" indent="0" marL="0">
              <a:buNone/>
            </a:pPr>
            <a:r>
              <a:rPr lang="en-US" sz="1100" b="1" dirty="0">
                <a:solidFill>
                  <a:schemeClr val="bg1"/>
                </a:solidFill>
              </a:rPr>
              <a:t>Helm, reusable</a:t>
            </a:r>
            <a:endParaRPr lang="en-US" sz="1100" dirty="0"/>
          </a:p>
        </p:txBody>
      </p:sp>
      <p:sp>
        <p:nvSpPr>
          <p:cNvPr id="16" name="box-646"/>
          <p:cNvSpPr txBox="1"/>
          <p:nvPr/>
        </p:nvSpPr>
        <p:spPr>
          <a:xfrm>
            <a:off x="2377440" y="3840480"/>
            <a:ext cx="3017520" cy="777240"/>
          </a:xfrm>
          <a:prstGeom prst="roundRect">
            <a:avLst>
              <a:gd name="adj" fmla="val 9412"/>
            </a:avLst>
          </a:prstGeom>
          <a:solidFill>
            <a:schemeClr val="bg1"/>
          </a:solidFill>
          <a:ln w="12700">
            <a:solidFill>
              <a:schemeClr val="accent1">
                <a:alpha val="60000"/>
              </a:schemeClr>
            </a:solidFill>
            <a:prstDash val="solid"/>
          </a:ln>
        </p:spPr>
        <p:txBody>
          <a:bodyPr wrap="square" lIns="101600" tIns="38100" rIns="101600" bIns="38100" rtlCol="0" anchor="ctr"/>
          <a:lstStyle/>
          <a:p>
            <a:pPr algn="l" indent="0" marL="0">
              <a:buNone/>
            </a:pPr>
            <a:r>
              <a:rPr lang="en-US" sz="1300" b="1" dirty="0">
                <a:solidFill>
                  <a:schemeClr val="tx1"/>
                </a:solidFill>
              </a:rPr>
              <a:t>Frontend CI</a:t>
            </a:r>
            <a:endParaRPr lang="en-US" sz="1200" dirty="0"/>
          </a:p>
          <a:p>
            <a:pPr algn="l" indent="0" marL="0">
              <a:buNone/>
            </a:pPr>
            <a:r>
              <a:rPr lang="en-US" sz="1100" dirty="0">
                <a:solidFill>
                  <a:schemeClr val="accent6"/>
                </a:solidFill>
              </a:rPr>
              <a:t>format, lint, type-check, build, image</a:t>
            </a:r>
            <a:endParaRPr lang="en-US" sz="1200" dirty="0"/>
          </a:p>
        </p:txBody>
      </p:sp>
      <p:sp>
        <p:nvSpPr>
          <p:cNvPr id="17" name="box-647"/>
          <p:cNvSpPr txBox="1"/>
          <p:nvPr/>
        </p:nvSpPr>
        <p:spPr>
          <a:xfrm>
            <a:off x="5577840" y="3840480"/>
            <a:ext cx="3017520" cy="777240"/>
          </a:xfrm>
          <a:prstGeom prst="roundRect">
            <a:avLst>
              <a:gd name="adj" fmla="val 9412"/>
            </a:avLst>
          </a:prstGeom>
          <a:solidFill>
            <a:schemeClr val="bg1"/>
          </a:solidFill>
          <a:ln w="12700">
            <a:solidFill>
              <a:schemeClr val="accent1">
                <a:alpha val="60000"/>
              </a:schemeClr>
            </a:solidFill>
            <a:prstDash val="solid"/>
          </a:ln>
        </p:spPr>
        <p:txBody>
          <a:bodyPr wrap="square" lIns="101600" tIns="38100" rIns="101600" bIns="38100" rtlCol="0" anchor="ctr"/>
          <a:lstStyle/>
          <a:p>
            <a:pPr algn="l" indent="0" marL="0">
              <a:buNone/>
            </a:pPr>
            <a:r>
              <a:rPr lang="en-US" sz="1300" b="1" dirty="0">
                <a:solidFill>
                  <a:schemeClr val="tx1"/>
                </a:solidFill>
              </a:rPr>
              <a:t>Booking flow</a:t>
            </a:r>
            <a:endParaRPr lang="en-US" sz="1200" dirty="0"/>
          </a:p>
          <a:p>
            <a:pPr algn="l" indent="0" marL="0">
              <a:buNone/>
            </a:pPr>
            <a:r>
              <a:rPr lang="en-US" sz="1100" dirty="0">
                <a:solidFill>
                  <a:schemeClr val="accent6"/>
                </a:solidFill>
              </a:rPr>
              <a:t>full booking through the Railway layout</a:t>
            </a:r>
            <a:endParaRPr lang="en-US" sz="1200" dirty="0"/>
          </a:p>
        </p:txBody>
      </p:sp>
      <p:sp>
        <p:nvSpPr>
          <p:cNvPr id="18" name="box-648"/>
          <p:cNvSpPr txBox="1"/>
          <p:nvPr/>
        </p:nvSpPr>
        <p:spPr>
          <a:xfrm>
            <a:off x="8778240" y="3840480"/>
            <a:ext cx="2697480" cy="777240"/>
          </a:xfrm>
          <a:prstGeom prst="roundRect">
            <a:avLst>
              <a:gd name="adj" fmla="val 9412"/>
            </a:avLst>
          </a:prstGeom>
          <a:solidFill>
            <a:schemeClr val="bg1"/>
          </a:solidFill>
          <a:ln w="12700">
            <a:solidFill>
              <a:schemeClr val="accent1">
                <a:alpha val="60000"/>
              </a:schemeClr>
            </a:solidFill>
            <a:prstDash val="solid"/>
          </a:ln>
        </p:spPr>
        <p:txBody>
          <a:bodyPr wrap="square" lIns="101600" tIns="38100" rIns="101600" bIns="38100" rtlCol="0" anchor="ctr"/>
          <a:lstStyle/>
          <a:p>
            <a:pPr algn="l" indent="0" marL="0">
              <a:buNone/>
            </a:pPr>
            <a:r>
              <a:rPr lang="en-US" sz="1300" b="1" dirty="0">
                <a:solidFill>
                  <a:schemeClr val="tx1"/>
                </a:solidFill>
              </a:rPr>
              <a:t>Railway smoke</a:t>
            </a:r>
            <a:endParaRPr lang="en-US" sz="1200" dirty="0"/>
          </a:p>
          <a:p>
            <a:pPr algn="l" indent="0" marL="0">
              <a:buNone/>
            </a:pPr>
            <a:r>
              <a:rPr lang="en-US" sz="1100" dirty="0">
                <a:solidFill>
                  <a:schemeClr val="accent6"/>
                </a:solidFill>
              </a:rPr>
              <a:t>auth and gateway unit tests</a:t>
            </a:r>
            <a:endParaRPr lang="en-US" sz="1200" dirty="0"/>
          </a:p>
        </p:txBody>
      </p:sp>
      <p:sp>
        <p:nvSpPr>
          <p:cNvPr id="19" name="box-649"/>
          <p:cNvSpPr txBox="1"/>
          <p:nvPr/>
        </p:nvSpPr>
        <p:spPr>
          <a:xfrm>
            <a:off x="2377440" y="5193792"/>
            <a:ext cx="2743200" cy="777240"/>
          </a:xfrm>
          <a:prstGeom prst="roundRect">
            <a:avLst>
              <a:gd name="adj" fmla="val 9412"/>
            </a:avLst>
          </a:prstGeom>
          <a:solidFill>
            <a:schemeClr val="bg1"/>
          </a:solidFill>
          <a:ln w="12700">
            <a:solidFill>
              <a:schemeClr val="accent2">
                <a:alpha val="60000"/>
              </a:schemeClr>
            </a:solidFill>
            <a:prstDash val="solid"/>
          </a:ln>
        </p:spPr>
        <p:txBody>
          <a:bodyPr wrap="square" lIns="101600" tIns="38100" rIns="101600" bIns="38100" rtlCol="0" anchor="ctr"/>
          <a:lstStyle/>
          <a:p>
            <a:pPr algn="l" indent="0" marL="0">
              <a:buNone/>
            </a:pPr>
            <a:r>
              <a:rPr lang="en-US" sz="1300" b="1" dirty="0">
                <a:solidFill>
                  <a:schemeClr val="tx1"/>
                </a:solidFill>
              </a:rPr>
              <a:t>CD production</a:t>
            </a:r>
            <a:endParaRPr lang="en-US" sz="1200" dirty="0"/>
          </a:p>
          <a:p>
            <a:pPr algn="l" indent="0" marL="0">
              <a:buNone/>
            </a:pPr>
            <a:r>
              <a:rPr lang="en-US" sz="1100" dirty="0">
                <a:solidFill>
                  <a:schemeClr val="accent6"/>
                </a:solidFill>
              </a:rPr>
              <a:t>promote CI images by commit SHA</a:t>
            </a:r>
            <a:endParaRPr lang="en-US" sz="1200" dirty="0"/>
          </a:p>
        </p:txBody>
      </p:sp>
      <p:sp>
        <p:nvSpPr>
          <p:cNvPr id="20" name="arrow-650"/>
          <p:cNvSpPr/>
          <p:nvPr/>
        </p:nvSpPr>
        <p:spPr>
          <a:xfrm>
            <a:off x="5120640" y="5582412"/>
            <a:ext cx="365760" cy="0"/>
          </a:xfrm>
          <a:prstGeom prst="line">
            <a:avLst/>
          </a:prstGeom>
          <a:noFill/>
          <a:ln w="19050">
            <a:solidFill>
              <a:schemeClr val="accent6"/>
            </a:solidFill>
            <a:prstDash val="solid"/>
            <a:tailEnd type="triangle"/>
          </a:ln>
        </p:spPr>
        <p:txBody>
          <a:bodyPr/>
          <a:p/>
        </p:txBody>
      </p:sp>
      <p:sp>
        <p:nvSpPr>
          <p:cNvPr id="21" name="chip-651"/>
          <p:cNvSpPr txBox="1"/>
          <p:nvPr/>
        </p:nvSpPr>
        <p:spPr>
          <a:xfrm>
            <a:off x="5486400" y="5239512"/>
            <a:ext cx="3291840" cy="685800"/>
          </a:xfrm>
          <a:prstGeom prst="roundRect">
            <a:avLst>
              <a:gd name="adj" fmla="val 10667"/>
            </a:avLst>
          </a:prstGeom>
          <a:solidFill>
            <a:schemeClr val="accent2"/>
          </a:solidFill>
          <a:ln/>
        </p:spPr>
        <p:txBody>
          <a:bodyPr wrap="square" lIns="76200" tIns="38100" rIns="76200" bIns="38100" rtlCol="0" anchor="ctr"/>
          <a:lstStyle/>
          <a:p>
            <a:pPr algn="ctr" indent="0" marL="0">
              <a:buNone/>
            </a:pPr>
            <a:r>
              <a:rPr lang="en-US" sz="1200" b="1" dirty="0">
                <a:solidFill>
                  <a:schemeClr val="bg1"/>
                </a:solidFill>
              </a:rPr>
              <a:t>Deploy services → EKS via Helm</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Observability and resilience</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One correlation ID follows a request everywhere; outbound calls are bounded and retried</a:t>
            </a:r>
            <a:endParaRPr lang="en-US" sz="1500" dirty="0"/>
          </a:p>
        </p:txBody>
      </p:sp>
      <p:sp>
        <p:nvSpPr>
          <p:cNvPr id="4" name="text-652"/>
          <p:cNvSpPr txBox="1"/>
          <p:nvPr/>
        </p:nvSpPr>
        <p:spPr>
          <a:xfrm>
            <a:off x="548640" y="1600200"/>
            <a:ext cx="5303520" cy="320040"/>
          </a:xfrm>
          <a:prstGeom prst="rect">
            <a:avLst/>
          </a:prstGeom>
          <a:noFill/>
          <a:ln/>
        </p:spPr>
        <p:txBody>
          <a:bodyPr wrap="square" lIns="0" tIns="0" rIns="0" bIns="0" rtlCol="0" anchor="t"/>
          <a:lstStyle/>
          <a:p>
            <a:pPr algn="l" indent="0" marL="0">
              <a:buNone/>
            </a:pPr>
            <a:r>
              <a:rPr lang="en-US" sz="1500" b="1" dirty="0">
                <a:solidFill>
                  <a:schemeClr val="tx1"/>
                </a:solidFill>
              </a:rPr>
              <a:t>Tracing a request</a:t>
            </a:r>
            <a:endParaRPr lang="en-US" sz="1500" dirty="0"/>
          </a:p>
        </p:txBody>
      </p:sp>
      <p:sp>
        <p:nvSpPr>
          <p:cNvPr id="5" name="chip-653"/>
          <p:cNvSpPr txBox="1"/>
          <p:nvPr/>
        </p:nvSpPr>
        <p:spPr>
          <a:xfrm>
            <a:off x="548640" y="2103120"/>
            <a:ext cx="2103120" cy="777240"/>
          </a:xfrm>
          <a:prstGeom prst="roundRect">
            <a:avLst>
              <a:gd name="adj" fmla="val 9412"/>
            </a:avLst>
          </a:prstGeom>
          <a:solidFill>
            <a:schemeClr val="tx1"/>
          </a:solidFill>
          <a:ln/>
        </p:spPr>
        <p:txBody>
          <a:bodyPr wrap="square" lIns="76200" tIns="38100" rIns="76200" bIns="38100" rtlCol="0" anchor="ctr"/>
          <a:lstStyle/>
          <a:p>
            <a:pPr algn="ctr" indent="0" marL="0">
              <a:buNone/>
            </a:pPr>
            <a:r>
              <a:rPr lang="en-US" sz="1150" b="1" dirty="0">
                <a:solidFill>
                  <a:schemeClr val="bg1"/>
                </a:solidFill>
              </a:rPr>
              <a:t>Gateway mints or reuses the correlation ID</a:t>
            </a:r>
            <a:endParaRPr lang="en-US" sz="1150" dirty="0"/>
          </a:p>
        </p:txBody>
      </p:sp>
      <p:sp>
        <p:nvSpPr>
          <p:cNvPr id="6" name="arrow-654"/>
          <p:cNvSpPr/>
          <p:nvPr/>
        </p:nvSpPr>
        <p:spPr>
          <a:xfrm>
            <a:off x="2651760" y="2491740"/>
            <a:ext cx="365760" cy="0"/>
          </a:xfrm>
          <a:prstGeom prst="line">
            <a:avLst/>
          </a:prstGeom>
          <a:noFill/>
          <a:ln w="19050">
            <a:solidFill>
              <a:schemeClr val="accent6"/>
            </a:solidFill>
            <a:prstDash val="solid"/>
            <a:tailEnd type="triangle"/>
          </a:ln>
        </p:spPr>
        <p:txBody>
          <a:bodyPr/>
          <a:p/>
        </p:txBody>
      </p:sp>
      <p:sp>
        <p:nvSpPr>
          <p:cNvPr id="7" name="chip-655"/>
          <p:cNvSpPr txBox="1"/>
          <p:nvPr/>
        </p:nvSpPr>
        <p:spPr>
          <a:xfrm>
            <a:off x="3017520" y="2103120"/>
            <a:ext cx="1463040" cy="777240"/>
          </a:xfrm>
          <a:prstGeom prst="roundRect">
            <a:avLst>
              <a:gd name="adj" fmla="val 9412"/>
            </a:avLst>
          </a:prstGeom>
          <a:solidFill>
            <a:schemeClr val="accent1"/>
          </a:solidFill>
          <a:ln/>
        </p:spPr>
        <p:txBody>
          <a:bodyPr wrap="square" lIns="76200" tIns="38100" rIns="76200" bIns="38100" rtlCol="0" anchor="ctr"/>
          <a:lstStyle/>
          <a:p>
            <a:pPr algn="ctr" indent="0" marL="0">
              <a:buNone/>
            </a:pPr>
            <a:r>
              <a:rPr lang="en-US" sz="1200" b="1" dirty="0">
                <a:solidFill>
                  <a:schemeClr val="bg1"/>
                </a:solidFill>
              </a:rPr>
              <a:t>Service MDC</a:t>
            </a:r>
            <a:endParaRPr lang="en-US" sz="1200" dirty="0"/>
          </a:p>
        </p:txBody>
      </p:sp>
      <p:sp>
        <p:nvSpPr>
          <p:cNvPr id="8" name="arrow-656"/>
          <p:cNvSpPr/>
          <p:nvPr/>
        </p:nvSpPr>
        <p:spPr>
          <a:xfrm flipV="1">
            <a:off x="4480560" y="2011680"/>
            <a:ext cx="320040" cy="320040"/>
          </a:xfrm>
          <a:prstGeom prst="line">
            <a:avLst/>
          </a:prstGeom>
          <a:noFill/>
          <a:ln w="19050">
            <a:solidFill>
              <a:schemeClr val="accent6"/>
            </a:solidFill>
            <a:prstDash val="solid"/>
            <a:tailEnd type="triangle"/>
          </a:ln>
        </p:spPr>
        <p:txBody>
          <a:bodyPr/>
          <a:p/>
        </p:txBody>
      </p:sp>
      <p:sp>
        <p:nvSpPr>
          <p:cNvPr id="9" name="arrow-657"/>
          <p:cNvSpPr/>
          <p:nvPr/>
        </p:nvSpPr>
        <p:spPr>
          <a:xfrm>
            <a:off x="4480560" y="2651760"/>
            <a:ext cx="320040" cy="320040"/>
          </a:xfrm>
          <a:prstGeom prst="line">
            <a:avLst/>
          </a:prstGeom>
          <a:noFill/>
          <a:ln w="19050">
            <a:solidFill>
              <a:schemeClr val="accent6"/>
            </a:solidFill>
            <a:prstDash val="solid"/>
            <a:tailEnd type="triangle"/>
          </a:ln>
        </p:spPr>
        <p:txBody>
          <a:bodyPr/>
          <a:p/>
        </p:txBody>
      </p:sp>
      <p:sp>
        <p:nvSpPr>
          <p:cNvPr id="10" name="chip-658"/>
          <p:cNvSpPr txBox="1"/>
          <p:nvPr/>
        </p:nvSpPr>
        <p:spPr>
          <a:xfrm>
            <a:off x="4800600" y="1783080"/>
            <a:ext cx="1234440" cy="548640"/>
          </a:xfrm>
          <a:prstGeom prst="roundRect">
            <a:avLst>
              <a:gd name="adj" fmla="val 13333"/>
            </a:avLst>
          </a:prstGeom>
          <a:solidFill>
            <a:schemeClr val="accent5"/>
          </a:solidFill>
          <a:ln/>
        </p:spPr>
        <p:txBody>
          <a:bodyPr wrap="square" lIns="76200" tIns="38100" rIns="76200" bIns="38100" rtlCol="0" anchor="ctr"/>
          <a:lstStyle/>
          <a:p>
            <a:pPr algn="ctr" indent="0" marL="0">
              <a:buNone/>
            </a:pPr>
            <a:r>
              <a:rPr lang="en-US" sz="1050" b="1" dirty="0">
                <a:solidFill>
                  <a:schemeClr val="bg1"/>
                </a:solidFill>
              </a:rPr>
              <a:t>JSON logs, PII masked</a:t>
            </a:r>
            <a:endParaRPr lang="en-US" sz="1050" dirty="0"/>
          </a:p>
        </p:txBody>
      </p:sp>
      <p:sp>
        <p:nvSpPr>
          <p:cNvPr id="11" name="chip-659"/>
          <p:cNvSpPr txBox="1"/>
          <p:nvPr/>
        </p:nvSpPr>
        <p:spPr>
          <a:xfrm>
            <a:off x="4800600" y="2697480"/>
            <a:ext cx="1234440" cy="548640"/>
          </a:xfrm>
          <a:prstGeom prst="roundRect">
            <a:avLst>
              <a:gd name="adj" fmla="val 13333"/>
            </a:avLst>
          </a:prstGeom>
          <a:solidFill>
            <a:schemeClr val="accent5"/>
          </a:solidFill>
          <a:ln/>
        </p:spPr>
        <p:txBody>
          <a:bodyPr wrap="square" lIns="76200" tIns="38100" rIns="76200" bIns="38100" rtlCol="0" anchor="ctr"/>
          <a:lstStyle/>
          <a:p>
            <a:pPr algn="ctr" indent="0" marL="0">
              <a:buNone/>
            </a:pPr>
            <a:r>
              <a:rPr lang="en-US" sz="1050" b="1" dirty="0">
                <a:solidFill>
                  <a:schemeClr val="bg1"/>
                </a:solidFill>
              </a:rPr>
              <a:t>OpenTelemetry attributes</a:t>
            </a:r>
            <a:endParaRPr lang="en-US" sz="1050" dirty="0"/>
          </a:p>
        </p:txBody>
      </p:sp>
      <p:sp>
        <p:nvSpPr>
          <p:cNvPr id="12" name="text-660"/>
          <p:cNvSpPr txBox="1"/>
          <p:nvPr/>
        </p:nvSpPr>
        <p:spPr>
          <a:xfrm>
            <a:off x="548640" y="3429000"/>
            <a:ext cx="5394960" cy="320040"/>
          </a:xfrm>
          <a:prstGeom prst="rect">
            <a:avLst/>
          </a:prstGeom>
          <a:noFill/>
          <a:ln/>
        </p:spPr>
        <p:txBody>
          <a:bodyPr wrap="square" lIns="0" tIns="0" rIns="0" bIns="0" rtlCol="0" anchor="t"/>
          <a:lstStyle/>
          <a:p>
            <a:pPr algn="l" indent="0" marL="0">
              <a:buNone/>
            </a:pPr>
            <a:r>
              <a:rPr lang="en-US" sz="1300" dirty="0">
                <a:solidFill>
                  <a:schemeClr val="tx1"/>
                </a:solidFill>
              </a:rPr>
              <a:t>Health on every service's own port, probed by Compose and Helm</a:t>
            </a:r>
            <a:endParaRPr lang="en-US" sz="1300" dirty="0"/>
          </a:p>
        </p:txBody>
      </p:sp>
      <p:sp>
        <p:nvSpPr>
          <p:cNvPr id="13" name="chip-661"/>
          <p:cNvSpPr txBox="1"/>
          <p:nvPr/>
        </p:nvSpPr>
        <p:spPr>
          <a:xfrm>
            <a:off x="548640" y="3886200"/>
            <a:ext cx="2560320" cy="457200"/>
          </a:xfrm>
          <a:prstGeom prst="roundRect">
            <a:avLst>
              <a:gd name="adj" fmla="val 16000"/>
            </a:avLst>
          </a:prstGeom>
          <a:solidFill>
            <a:schemeClr val="accent6"/>
          </a:solidFill>
          <a:ln/>
        </p:spPr>
        <p:txBody>
          <a:bodyPr wrap="square" lIns="76200" tIns="38100" rIns="76200" bIns="38100" rtlCol="0" anchor="ctr"/>
          <a:lstStyle/>
          <a:p>
            <a:pPr algn="ctr" indent="0" marL="0">
              <a:buNone/>
            </a:pPr>
            <a:r>
              <a:rPr lang="en-US" sz="1200" dirty="0">
                <a:solidFill>
                  <a:schemeClr val="bg1"/>
                </a:solidFill>
              </a:rPr>
              <a:t>/health/liveness</a:t>
            </a:r>
            <a:endParaRPr lang="en-US" sz="1200" dirty="0"/>
          </a:p>
        </p:txBody>
      </p:sp>
      <p:sp>
        <p:nvSpPr>
          <p:cNvPr id="14" name="chip-662"/>
          <p:cNvSpPr txBox="1"/>
          <p:nvPr/>
        </p:nvSpPr>
        <p:spPr>
          <a:xfrm>
            <a:off x="3246120" y="3886200"/>
            <a:ext cx="2560320" cy="457200"/>
          </a:xfrm>
          <a:prstGeom prst="roundRect">
            <a:avLst>
              <a:gd name="adj" fmla="val 16000"/>
            </a:avLst>
          </a:prstGeom>
          <a:solidFill>
            <a:schemeClr val="accent6"/>
          </a:solidFill>
          <a:ln/>
        </p:spPr>
        <p:txBody>
          <a:bodyPr wrap="square" lIns="76200" tIns="38100" rIns="76200" bIns="38100" rtlCol="0" anchor="ctr"/>
          <a:lstStyle/>
          <a:p>
            <a:pPr algn="ctr" indent="0" marL="0">
              <a:buNone/>
            </a:pPr>
            <a:r>
              <a:rPr lang="en-US" sz="1200" dirty="0">
                <a:solidFill>
                  <a:schemeClr val="bg1"/>
                </a:solidFill>
              </a:rPr>
              <a:t>/health/readiness</a:t>
            </a:r>
            <a:endParaRPr lang="en-US" sz="1200" dirty="0"/>
          </a:p>
        </p:txBody>
      </p:sp>
      <p:sp>
        <p:nvSpPr>
          <p:cNvPr id="15" name="chip-663"/>
          <p:cNvSpPr txBox="1"/>
          <p:nvPr/>
        </p:nvSpPr>
        <p:spPr>
          <a:xfrm>
            <a:off x="548640" y="4453128"/>
            <a:ext cx="2560320" cy="457200"/>
          </a:xfrm>
          <a:prstGeom prst="roundRect">
            <a:avLst>
              <a:gd name="adj" fmla="val 16000"/>
            </a:avLst>
          </a:prstGeom>
          <a:solidFill>
            <a:schemeClr val="accent6"/>
          </a:solidFill>
          <a:ln/>
        </p:spPr>
        <p:txBody>
          <a:bodyPr wrap="square" lIns="76200" tIns="38100" rIns="76200" bIns="38100" rtlCol="0" anchor="ctr"/>
          <a:lstStyle/>
          <a:p>
            <a:pPr algn="ctr" indent="0" marL="0">
              <a:buNone/>
            </a:pPr>
            <a:r>
              <a:rPr lang="en-US" sz="1200" dirty="0">
                <a:solidFill>
                  <a:schemeClr val="bg1"/>
                </a:solidFill>
              </a:rPr>
              <a:t>/prometheus</a:t>
            </a:r>
            <a:endParaRPr lang="en-US" sz="1200" dirty="0"/>
          </a:p>
        </p:txBody>
      </p:sp>
      <p:sp>
        <p:nvSpPr>
          <p:cNvPr id="16" name="chip-664"/>
          <p:cNvSpPr txBox="1"/>
          <p:nvPr/>
        </p:nvSpPr>
        <p:spPr>
          <a:xfrm>
            <a:off x="3246120" y="4453128"/>
            <a:ext cx="2560320" cy="457200"/>
          </a:xfrm>
          <a:prstGeom prst="roundRect">
            <a:avLst>
              <a:gd name="adj" fmla="val 16000"/>
            </a:avLst>
          </a:prstGeom>
          <a:solidFill>
            <a:schemeClr val="accent6"/>
          </a:solidFill>
          <a:ln/>
        </p:spPr>
        <p:txBody>
          <a:bodyPr wrap="square" lIns="76200" tIns="38100" rIns="76200" bIns="38100" rtlCol="0" anchor="ctr"/>
          <a:lstStyle/>
          <a:p>
            <a:pPr algn="ctr" indent="0" marL="0">
              <a:buNone/>
            </a:pPr>
            <a:r>
              <a:rPr lang="en-US" sz="1200" dirty="0">
                <a:solidFill>
                  <a:schemeClr val="bg1"/>
                </a:solidFill>
              </a:rPr>
              <a:t>/metrics</a:t>
            </a:r>
            <a:endParaRPr lang="en-US" sz="1200" dirty="0"/>
          </a:p>
        </p:txBody>
      </p:sp>
      <p:sp>
        <p:nvSpPr>
          <p:cNvPr id="17" name="text-665"/>
          <p:cNvSpPr txBox="1"/>
          <p:nvPr/>
        </p:nvSpPr>
        <p:spPr>
          <a:xfrm>
            <a:off x="6492240" y="1600200"/>
            <a:ext cx="5120640" cy="320040"/>
          </a:xfrm>
          <a:prstGeom prst="rect">
            <a:avLst/>
          </a:prstGeom>
          <a:noFill/>
          <a:ln/>
        </p:spPr>
        <p:txBody>
          <a:bodyPr wrap="square" lIns="0" tIns="0" rIns="0" bIns="0" rtlCol="0" anchor="t"/>
          <a:lstStyle/>
          <a:p>
            <a:pPr algn="l" indent="0" marL="0">
              <a:buNone/>
            </a:pPr>
            <a:r>
              <a:rPr lang="en-US" sz="1500" b="1" dirty="0">
                <a:solidFill>
                  <a:schemeClr val="tx1"/>
                </a:solidFill>
              </a:rPr>
              <a:t>ResilientCall on synchronous calls</a:t>
            </a:r>
            <a:endParaRPr lang="en-US" sz="1500" dirty="0"/>
          </a:p>
        </p:txBody>
      </p:sp>
      <p:sp>
        <p:nvSpPr>
          <p:cNvPr id="18" name="panel-666"/>
          <p:cNvSpPr txBox="1"/>
          <p:nvPr/>
        </p:nvSpPr>
        <p:spPr>
          <a:xfrm>
            <a:off x="6492240" y="2103120"/>
            <a:ext cx="5148072" cy="777240"/>
          </a:xfrm>
          <a:prstGeom prst="roundRect">
            <a:avLst>
              <a:gd name="adj" fmla="val 11765"/>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19" name="card-text-667"/>
          <p:cNvSpPr txBox="1"/>
          <p:nvPr/>
        </p:nvSpPr>
        <p:spPr>
          <a:xfrm>
            <a:off x="6638544" y="2231136"/>
            <a:ext cx="4855464" cy="55778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Timeout</a:t>
            </a:r>
            <a:endParaRPr lang="en-US" sz="1350" dirty="0"/>
          </a:p>
          <a:p>
            <a:pPr indent="0" marL="0">
              <a:spcAft>
                <a:spcPts val="200"/>
              </a:spcAft>
              <a:buNone/>
            </a:pPr>
            <a:r>
              <a:rPr lang="en-US" sz="1200" dirty="0">
                <a:solidFill>
                  <a:schemeClr val="tx1"/>
                </a:solidFill>
              </a:rPr>
              <a:t>bounded per call</a:t>
            </a:r>
            <a:endParaRPr lang="en-US" sz="1350" dirty="0"/>
          </a:p>
        </p:txBody>
      </p:sp>
      <p:sp>
        <p:nvSpPr>
          <p:cNvPr id="20" name="icon-bg-timer-668"/>
          <p:cNvSpPr/>
          <p:nvPr/>
        </p:nvSpPr>
        <p:spPr>
          <a:xfrm>
            <a:off x="11064240" y="2258568"/>
            <a:ext cx="457200" cy="457200"/>
          </a:xfrm>
          <a:prstGeom prst="ellipse">
            <a:avLst/>
          </a:prstGeom>
          <a:solidFill>
            <a:schemeClr val="accent3"/>
          </a:solidFill>
          <a:ln/>
        </p:spPr>
        <p:txBody>
          <a:bodyPr/>
          <a:p/>
        </p:txBody>
      </p:sp>
      <p:pic>
        <p:nvPicPr>
          <p:cNvPr id="21" name="icon-timer-669" descr="timer">    </p:cNvPr>
          <p:cNvPicPr>
            <a:picLocks noChangeAspect="1"/>
          </p:cNvPicPr>
          <p:nvPr/>
        </p:nvPicPr>
        <p:blipFill>
          <a:blip r:embed="rId1"/>
          <a:stretch>
            <a:fillRect/>
          </a:stretch>
        </p:blipFill>
        <p:spPr>
          <a:xfrm>
            <a:off x="11173968" y="2368296"/>
            <a:ext cx="237744" cy="237744"/>
          </a:xfrm>
          <a:prstGeom prst="rect">
            <a:avLst/>
          </a:prstGeom>
        </p:spPr>
      </p:pic>
      <p:sp>
        <p:nvSpPr>
          <p:cNvPr id="22" name="arrow-670"/>
          <p:cNvSpPr/>
          <p:nvPr/>
        </p:nvSpPr>
        <p:spPr>
          <a:xfrm>
            <a:off x="9052560" y="2880360"/>
            <a:ext cx="0" cy="182880"/>
          </a:xfrm>
          <a:prstGeom prst="line">
            <a:avLst/>
          </a:prstGeom>
          <a:noFill/>
          <a:ln w="19050">
            <a:solidFill>
              <a:schemeClr val="accent6"/>
            </a:solidFill>
            <a:prstDash val="solid"/>
            <a:tailEnd type="triangle"/>
          </a:ln>
        </p:spPr>
        <p:txBody>
          <a:bodyPr/>
          <a:p/>
        </p:txBody>
      </p:sp>
      <p:sp>
        <p:nvSpPr>
          <p:cNvPr id="23" name="panel-671"/>
          <p:cNvSpPr txBox="1"/>
          <p:nvPr/>
        </p:nvSpPr>
        <p:spPr>
          <a:xfrm>
            <a:off x="6492240" y="3063240"/>
            <a:ext cx="5148072" cy="777240"/>
          </a:xfrm>
          <a:prstGeom prst="roundRect">
            <a:avLst>
              <a:gd name="adj" fmla="val 11765"/>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24" name="card-text-672"/>
          <p:cNvSpPr txBox="1"/>
          <p:nvPr/>
        </p:nvSpPr>
        <p:spPr>
          <a:xfrm>
            <a:off x="6638544" y="3191256"/>
            <a:ext cx="4855464" cy="55778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Retry × 3</a:t>
            </a:r>
            <a:endParaRPr lang="en-US" sz="1350" dirty="0"/>
          </a:p>
          <a:p>
            <a:pPr indent="0" marL="0">
              <a:spcAft>
                <a:spcPts val="200"/>
              </a:spcAft>
              <a:buNone/>
            </a:pPr>
            <a:r>
              <a:rPr lang="en-US" sz="1200" dirty="0">
                <a:solidFill>
                  <a:schemeClr val="tx1"/>
                </a:solidFill>
              </a:rPr>
              <a:t>exponential backoff</a:t>
            </a:r>
            <a:endParaRPr lang="en-US" sz="1350" dirty="0"/>
          </a:p>
        </p:txBody>
      </p:sp>
      <p:sp>
        <p:nvSpPr>
          <p:cNvPr id="25" name="icon-bg-refresh-673"/>
          <p:cNvSpPr/>
          <p:nvPr/>
        </p:nvSpPr>
        <p:spPr>
          <a:xfrm>
            <a:off x="11064240" y="3218688"/>
            <a:ext cx="457200" cy="457200"/>
          </a:xfrm>
          <a:prstGeom prst="ellipse">
            <a:avLst/>
          </a:prstGeom>
          <a:solidFill>
            <a:schemeClr val="accent3"/>
          </a:solidFill>
          <a:ln/>
        </p:spPr>
        <p:txBody>
          <a:bodyPr/>
          <a:p/>
        </p:txBody>
      </p:sp>
      <p:pic>
        <p:nvPicPr>
          <p:cNvPr id="26" name="icon-refresh-674" descr="refresh">    </p:cNvPr>
          <p:cNvPicPr>
            <a:picLocks noChangeAspect="1"/>
          </p:cNvPicPr>
          <p:nvPr/>
        </p:nvPicPr>
        <p:blipFill>
          <a:blip r:embed="rId2"/>
          <a:stretch>
            <a:fillRect/>
          </a:stretch>
        </p:blipFill>
        <p:spPr>
          <a:xfrm>
            <a:off x="11173968" y="3328416"/>
            <a:ext cx="237744" cy="237744"/>
          </a:xfrm>
          <a:prstGeom prst="rect">
            <a:avLst/>
          </a:prstGeom>
        </p:spPr>
      </p:pic>
      <p:sp>
        <p:nvSpPr>
          <p:cNvPr id="27" name="arrow-675"/>
          <p:cNvSpPr/>
          <p:nvPr/>
        </p:nvSpPr>
        <p:spPr>
          <a:xfrm>
            <a:off x="9052560" y="3840480"/>
            <a:ext cx="0" cy="182880"/>
          </a:xfrm>
          <a:prstGeom prst="line">
            <a:avLst/>
          </a:prstGeom>
          <a:noFill/>
          <a:ln w="19050">
            <a:solidFill>
              <a:schemeClr val="accent6"/>
            </a:solidFill>
            <a:prstDash val="solid"/>
            <a:tailEnd type="triangle"/>
          </a:ln>
        </p:spPr>
        <p:txBody>
          <a:bodyPr/>
          <a:p/>
        </p:txBody>
      </p:sp>
      <p:sp>
        <p:nvSpPr>
          <p:cNvPr id="28" name="panel-676"/>
          <p:cNvSpPr txBox="1"/>
          <p:nvPr/>
        </p:nvSpPr>
        <p:spPr>
          <a:xfrm>
            <a:off x="6492240" y="4023360"/>
            <a:ext cx="5148072" cy="777240"/>
          </a:xfrm>
          <a:prstGeom prst="roundRect">
            <a:avLst>
              <a:gd name="adj" fmla="val 11765"/>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29" name="card-text-677"/>
          <p:cNvSpPr txBox="1"/>
          <p:nvPr/>
        </p:nvSpPr>
        <p:spPr>
          <a:xfrm>
            <a:off x="6638544" y="4151376"/>
            <a:ext cx="4855464" cy="55778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Circuit breaker</a:t>
            </a:r>
            <a:endParaRPr lang="en-US" sz="1350" dirty="0"/>
          </a:p>
          <a:p>
            <a:pPr indent="0" marL="0">
              <a:spcAft>
                <a:spcPts val="200"/>
              </a:spcAft>
              <a:buNone/>
            </a:pPr>
            <a:r>
              <a:rPr lang="en-US" sz="1200" dirty="0">
                <a:solidFill>
                  <a:schemeClr val="tx1"/>
                </a:solidFill>
              </a:rPr>
              <a:t>opens at 50 % failures over 10 calls, for 30 s</a:t>
            </a:r>
            <a:endParaRPr lang="en-US" sz="1350" dirty="0"/>
          </a:p>
        </p:txBody>
      </p:sp>
      <p:sp>
        <p:nvSpPr>
          <p:cNvPr id="30" name="icon-bg-gauge-678"/>
          <p:cNvSpPr/>
          <p:nvPr/>
        </p:nvSpPr>
        <p:spPr>
          <a:xfrm>
            <a:off x="11064240" y="4178808"/>
            <a:ext cx="457200" cy="457200"/>
          </a:xfrm>
          <a:prstGeom prst="ellipse">
            <a:avLst/>
          </a:prstGeom>
          <a:solidFill>
            <a:schemeClr val="accent3"/>
          </a:solidFill>
          <a:ln/>
        </p:spPr>
        <p:txBody>
          <a:bodyPr/>
          <a:p/>
        </p:txBody>
      </p:sp>
      <p:pic>
        <p:nvPicPr>
          <p:cNvPr id="31" name="icon-gauge-679" descr="gauge">    </p:cNvPr>
          <p:cNvPicPr>
            <a:picLocks noChangeAspect="1"/>
          </p:cNvPicPr>
          <p:nvPr/>
        </p:nvPicPr>
        <p:blipFill>
          <a:blip r:embed="rId3"/>
          <a:stretch>
            <a:fillRect/>
          </a:stretch>
        </p:blipFill>
        <p:spPr>
          <a:xfrm>
            <a:off x="11173968" y="4288536"/>
            <a:ext cx="237744" cy="237744"/>
          </a:xfrm>
          <a:prstGeom prst="rect">
            <a:avLst/>
          </a:prstGeom>
        </p:spPr>
      </p:pic>
      <p:sp>
        <p:nvSpPr>
          <p:cNvPr id="32" name="text-680"/>
          <p:cNvSpPr txBox="1"/>
          <p:nvPr/>
        </p:nvSpPr>
        <p:spPr>
          <a:xfrm>
            <a:off x="6492240" y="5074920"/>
            <a:ext cx="5148072" cy="914400"/>
          </a:xfrm>
          <a:prstGeom prst="rect">
            <a:avLst/>
          </a:prstGeom>
          <a:noFill/>
          <a:ln/>
        </p:spPr>
        <p:txBody>
          <a:bodyPr wrap="square" lIns="0" tIns="0" rIns="0" bIns="0" rtlCol="0" anchor="t"/>
          <a:lstStyle/>
          <a:p>
            <a:pPr algn="l" indent="0" marL="0">
              <a:buNone/>
            </a:pPr>
            <a:r>
              <a:rPr lang="en-US" sz="1250" dirty="0">
                <a:solidFill>
                  <a:schemeClr val="accent6"/>
                </a:solidFill>
              </a:rPr>
              <a:t>Used by booking, dispatch, payment and provider clients. This review added a 3 s timeout to customer-service's call to booking-service, the one client without one.</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What is real and what is still a stand-in</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Integrations checked in source during this review</a:t>
            </a:r>
            <a:endParaRPr lang="en-US" sz="1500" dirty="0"/>
          </a:p>
        </p:txBody>
      </p:sp>
      <p:sp>
        <p:nvSpPr>
          <p:cNvPr id="4" name="text-681"/>
          <p:cNvSpPr txBox="1"/>
          <p:nvPr/>
        </p:nvSpPr>
        <p:spPr>
          <a:xfrm>
            <a:off x="548640" y="1600200"/>
            <a:ext cx="5394960" cy="365760"/>
          </a:xfrm>
          <a:prstGeom prst="rect">
            <a:avLst/>
          </a:prstGeom>
          <a:noFill/>
          <a:ln/>
        </p:spPr>
        <p:txBody>
          <a:bodyPr wrap="square" lIns="0" tIns="0" rIns="0" bIns="0" rtlCol="0" anchor="t"/>
          <a:lstStyle/>
          <a:p>
            <a:pPr algn="l" indent="0" marL="0">
              <a:buNone/>
            </a:pPr>
            <a:r>
              <a:rPr lang="en-US" sz="1600" b="1" dirty="0">
                <a:solidFill>
                  <a:schemeClr val="accent1"/>
                </a:solidFill>
              </a:rPr>
              <a:t>Real integrations</a:t>
            </a:r>
            <a:endParaRPr lang="en-US" sz="1600" dirty="0"/>
          </a:p>
        </p:txBody>
      </p:sp>
      <p:sp>
        <p:nvSpPr>
          <p:cNvPr id="5" name="text-682"/>
          <p:cNvSpPr txBox="1"/>
          <p:nvPr/>
        </p:nvSpPr>
        <p:spPr>
          <a:xfrm>
            <a:off x="6245352" y="1600200"/>
            <a:ext cx="5394960" cy="365760"/>
          </a:xfrm>
          <a:prstGeom prst="rect">
            <a:avLst/>
          </a:prstGeom>
          <a:noFill/>
          <a:ln/>
        </p:spPr>
        <p:txBody>
          <a:bodyPr wrap="square" lIns="0" tIns="0" rIns="0" bIns="0" rtlCol="0" anchor="t"/>
          <a:lstStyle/>
          <a:p>
            <a:pPr algn="l" indent="0" marL="0">
              <a:buNone/>
            </a:pPr>
            <a:r>
              <a:rPr lang="en-US" sz="1600" b="1" dirty="0">
                <a:solidFill>
                  <a:schemeClr val="accent4"/>
                </a:solidFill>
              </a:rPr>
              <a:t>Stand-ins</a:t>
            </a:r>
            <a:endParaRPr lang="en-US" sz="1600" dirty="0"/>
          </a:p>
        </p:txBody>
      </p:sp>
      <p:sp>
        <p:nvSpPr>
          <p:cNvPr id="6" name="icon-bg-check-683"/>
          <p:cNvSpPr/>
          <p:nvPr/>
        </p:nvSpPr>
        <p:spPr>
          <a:xfrm>
            <a:off x="548640" y="2139696"/>
            <a:ext cx="420624" cy="420624"/>
          </a:xfrm>
          <a:prstGeom prst="ellipse">
            <a:avLst/>
          </a:prstGeom>
          <a:solidFill>
            <a:schemeClr val="accent1"/>
          </a:solidFill>
          <a:ln/>
        </p:spPr>
        <p:txBody>
          <a:bodyPr/>
          <a:p/>
        </p:txBody>
      </p:sp>
      <p:pic>
        <p:nvPicPr>
          <p:cNvPr id="7" name="icon-check-684" descr="check">    </p:cNvPr>
          <p:cNvPicPr>
            <a:picLocks noChangeAspect="1"/>
          </p:cNvPicPr>
          <p:nvPr/>
        </p:nvPicPr>
        <p:blipFill>
          <a:blip r:embed="rId1"/>
          <a:stretch>
            <a:fillRect/>
          </a:stretch>
        </p:blipFill>
        <p:spPr>
          <a:xfrm>
            <a:off x="649590" y="2240646"/>
            <a:ext cx="218724" cy="218724"/>
          </a:xfrm>
          <a:prstGeom prst="rect">
            <a:avLst/>
          </a:prstGeom>
        </p:spPr>
      </p:pic>
      <p:sp>
        <p:nvSpPr>
          <p:cNvPr id="8" name="text-685"/>
          <p:cNvSpPr txBox="1"/>
          <p:nvPr/>
        </p:nvSpPr>
        <p:spPr>
          <a:xfrm>
            <a:off x="1115568" y="21031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Google and Apple sign-in</a:t>
            </a:r>
            <a:endParaRPr lang="en-US" sz="1400" dirty="0"/>
          </a:p>
          <a:p>
            <a:pPr algn="l" indent="0" marL="0">
              <a:buNone/>
            </a:pPr>
            <a:r>
              <a:rPr lang="en-US" sz="1200" dirty="0">
                <a:solidFill>
                  <a:schemeClr val="accent6"/>
                </a:solidFill>
              </a:rPr>
              <a:t>ID tokens validated against the client id</a:t>
            </a:r>
            <a:endParaRPr lang="en-US" sz="1400" dirty="0"/>
          </a:p>
        </p:txBody>
      </p:sp>
      <p:sp>
        <p:nvSpPr>
          <p:cNvPr id="9" name="icon-bg-check-686"/>
          <p:cNvSpPr/>
          <p:nvPr/>
        </p:nvSpPr>
        <p:spPr>
          <a:xfrm>
            <a:off x="548640" y="2825496"/>
            <a:ext cx="420624" cy="420624"/>
          </a:xfrm>
          <a:prstGeom prst="ellipse">
            <a:avLst/>
          </a:prstGeom>
          <a:solidFill>
            <a:schemeClr val="accent1"/>
          </a:solidFill>
          <a:ln/>
        </p:spPr>
        <p:txBody>
          <a:bodyPr/>
          <a:p/>
        </p:txBody>
      </p:sp>
      <p:pic>
        <p:nvPicPr>
          <p:cNvPr id="10" name="icon-check-687" descr="check">    </p:cNvPr>
          <p:cNvPicPr>
            <a:picLocks noChangeAspect="1"/>
          </p:cNvPicPr>
          <p:nvPr/>
        </p:nvPicPr>
        <p:blipFill>
          <a:blip r:embed="rId2"/>
          <a:stretch>
            <a:fillRect/>
          </a:stretch>
        </p:blipFill>
        <p:spPr>
          <a:xfrm>
            <a:off x="649590" y="2926446"/>
            <a:ext cx="218724" cy="218724"/>
          </a:xfrm>
          <a:prstGeom prst="rect">
            <a:avLst/>
          </a:prstGeom>
        </p:spPr>
      </p:pic>
      <p:sp>
        <p:nvSpPr>
          <p:cNvPr id="11" name="text-688"/>
          <p:cNvSpPr txBox="1"/>
          <p:nvPr/>
        </p:nvSpPr>
        <p:spPr>
          <a:xfrm>
            <a:off x="1115568" y="27889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Razorpay, the only gateway</a:t>
            </a:r>
            <a:endParaRPr lang="en-US" sz="1400" dirty="0"/>
          </a:p>
          <a:p>
            <a:pPr algn="l" indent="0" marL="0">
              <a:buNone/>
            </a:pPr>
            <a:r>
              <a:rPr lang="en-US" sz="1200" dirty="0">
                <a:solidFill>
                  <a:schemeClr val="accent6"/>
                </a:solidFill>
              </a:rPr>
              <a:t>orders, Checkout, verify, webhook, refunds</a:t>
            </a:r>
            <a:endParaRPr lang="en-US" sz="1400" dirty="0"/>
          </a:p>
        </p:txBody>
      </p:sp>
      <p:sp>
        <p:nvSpPr>
          <p:cNvPr id="12" name="icon-bg-check-689"/>
          <p:cNvSpPr/>
          <p:nvPr/>
        </p:nvSpPr>
        <p:spPr>
          <a:xfrm>
            <a:off x="548640" y="3511296"/>
            <a:ext cx="420624" cy="420624"/>
          </a:xfrm>
          <a:prstGeom prst="ellipse">
            <a:avLst/>
          </a:prstGeom>
          <a:solidFill>
            <a:schemeClr val="accent1"/>
          </a:solidFill>
          <a:ln/>
        </p:spPr>
        <p:txBody>
          <a:bodyPr/>
          <a:p/>
        </p:txBody>
      </p:sp>
      <p:pic>
        <p:nvPicPr>
          <p:cNvPr id="13" name="icon-check-690" descr="check">    </p:cNvPr>
          <p:cNvPicPr>
            <a:picLocks noChangeAspect="1"/>
          </p:cNvPicPr>
          <p:nvPr/>
        </p:nvPicPr>
        <p:blipFill>
          <a:blip r:embed="rId3"/>
          <a:stretch>
            <a:fillRect/>
          </a:stretch>
        </p:blipFill>
        <p:spPr>
          <a:xfrm>
            <a:off x="649590" y="3612246"/>
            <a:ext cx="218724" cy="218724"/>
          </a:xfrm>
          <a:prstGeom prst="rect">
            <a:avLst/>
          </a:prstGeom>
        </p:spPr>
      </p:pic>
      <p:sp>
        <p:nvSpPr>
          <p:cNvPr id="14" name="text-691"/>
          <p:cNvSpPr txBox="1"/>
          <p:nvPr/>
        </p:nvSpPr>
        <p:spPr>
          <a:xfrm>
            <a:off x="1115568" y="34747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MSG91 SMS</a:t>
            </a:r>
            <a:endParaRPr lang="en-US" sz="1400" dirty="0"/>
          </a:p>
          <a:p>
            <a:pPr algn="l" indent="0" marL="0">
              <a:buNone/>
            </a:pPr>
            <a:r>
              <a:rPr lang="en-US" sz="1200" dirty="0">
                <a:solidFill>
                  <a:schemeClr val="accent6"/>
                </a:solidFill>
              </a:rPr>
              <a:t>sign-in OTPs; OTP_FIXED_CODE is a test mode</a:t>
            </a:r>
            <a:endParaRPr lang="en-US" sz="1400" dirty="0"/>
          </a:p>
        </p:txBody>
      </p:sp>
      <p:sp>
        <p:nvSpPr>
          <p:cNvPr id="15" name="icon-bg-check-692"/>
          <p:cNvSpPr/>
          <p:nvPr/>
        </p:nvSpPr>
        <p:spPr>
          <a:xfrm>
            <a:off x="548640" y="4197096"/>
            <a:ext cx="420624" cy="420624"/>
          </a:xfrm>
          <a:prstGeom prst="ellipse">
            <a:avLst/>
          </a:prstGeom>
          <a:solidFill>
            <a:schemeClr val="accent1"/>
          </a:solidFill>
          <a:ln/>
        </p:spPr>
        <p:txBody>
          <a:bodyPr/>
          <a:p/>
        </p:txBody>
      </p:sp>
      <p:pic>
        <p:nvPicPr>
          <p:cNvPr id="16" name="icon-check-693" descr="check">    </p:cNvPr>
          <p:cNvPicPr>
            <a:picLocks noChangeAspect="1"/>
          </p:cNvPicPr>
          <p:nvPr/>
        </p:nvPicPr>
        <p:blipFill>
          <a:blip r:embed="rId4"/>
          <a:stretch>
            <a:fillRect/>
          </a:stretch>
        </p:blipFill>
        <p:spPr>
          <a:xfrm>
            <a:off x="649590" y="4298046"/>
            <a:ext cx="218724" cy="218724"/>
          </a:xfrm>
          <a:prstGeom prst="rect">
            <a:avLst/>
          </a:prstGeom>
        </p:spPr>
      </p:pic>
      <p:sp>
        <p:nvSpPr>
          <p:cNvPr id="17" name="text-694"/>
          <p:cNvSpPr txBox="1"/>
          <p:nvPr/>
        </p:nvSpPr>
        <p:spPr>
          <a:xfrm>
            <a:off x="1115568" y="41605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Email over SMTP</a:t>
            </a:r>
            <a:endParaRPr lang="en-US" sz="1400" dirty="0"/>
          </a:p>
          <a:p>
            <a:pPr algn="l" indent="0" marL="0">
              <a:buNone/>
            </a:pPr>
            <a:r>
              <a:rPr lang="en-US" sz="1200" dirty="0">
                <a:solidFill>
                  <a:schemeClr val="accent6"/>
                </a:solidFill>
              </a:rPr>
              <a:t>Amazon SES in AWS, Mailpit locally</a:t>
            </a:r>
            <a:endParaRPr lang="en-US" sz="1400" dirty="0"/>
          </a:p>
        </p:txBody>
      </p:sp>
      <p:sp>
        <p:nvSpPr>
          <p:cNvPr id="18" name="icon-bg-check-695"/>
          <p:cNvSpPr/>
          <p:nvPr/>
        </p:nvSpPr>
        <p:spPr>
          <a:xfrm>
            <a:off x="548640" y="4882896"/>
            <a:ext cx="420624" cy="420624"/>
          </a:xfrm>
          <a:prstGeom prst="ellipse">
            <a:avLst/>
          </a:prstGeom>
          <a:solidFill>
            <a:schemeClr val="accent1"/>
          </a:solidFill>
          <a:ln/>
        </p:spPr>
        <p:txBody>
          <a:bodyPr/>
          <a:p/>
        </p:txBody>
      </p:sp>
      <p:pic>
        <p:nvPicPr>
          <p:cNvPr id="19" name="icon-check-696" descr="check">    </p:cNvPr>
          <p:cNvPicPr>
            <a:picLocks noChangeAspect="1"/>
          </p:cNvPicPr>
          <p:nvPr/>
        </p:nvPicPr>
        <p:blipFill>
          <a:blip r:embed="rId5"/>
          <a:stretch>
            <a:fillRect/>
          </a:stretch>
        </p:blipFill>
        <p:spPr>
          <a:xfrm>
            <a:off x="649590" y="4983846"/>
            <a:ext cx="218724" cy="218724"/>
          </a:xfrm>
          <a:prstGeom prst="rect">
            <a:avLst/>
          </a:prstGeom>
        </p:spPr>
      </p:pic>
      <p:sp>
        <p:nvSpPr>
          <p:cNvPr id="20" name="text-697"/>
          <p:cNvSpPr txBox="1"/>
          <p:nvPr/>
        </p:nvSpPr>
        <p:spPr>
          <a:xfrm>
            <a:off x="1115568" y="48463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S3 photos and KYC documents</a:t>
            </a:r>
            <a:endParaRPr lang="en-US" sz="1400" dirty="0"/>
          </a:p>
          <a:p>
            <a:pPr algn="l" indent="0" marL="0">
              <a:buNone/>
            </a:pPr>
            <a:r>
              <a:rPr lang="en-US" sz="1200" dirty="0">
                <a:solidFill>
                  <a:schemeClr val="accent6"/>
                </a:solidFill>
              </a:rPr>
              <a:t>when a bucket is set and reachable; disk otherwise</a:t>
            </a:r>
            <a:endParaRPr lang="en-US" sz="1400" dirty="0"/>
          </a:p>
        </p:txBody>
      </p:sp>
      <p:sp>
        <p:nvSpPr>
          <p:cNvPr id="21" name="icon-bg-check-698"/>
          <p:cNvSpPr/>
          <p:nvPr/>
        </p:nvSpPr>
        <p:spPr>
          <a:xfrm>
            <a:off x="548640" y="5568696"/>
            <a:ext cx="420624" cy="420624"/>
          </a:xfrm>
          <a:prstGeom prst="ellipse">
            <a:avLst/>
          </a:prstGeom>
          <a:solidFill>
            <a:schemeClr val="accent1"/>
          </a:solidFill>
          <a:ln/>
        </p:spPr>
        <p:txBody>
          <a:bodyPr/>
          <a:p/>
        </p:txBody>
      </p:sp>
      <p:pic>
        <p:nvPicPr>
          <p:cNvPr id="22" name="icon-check-699" descr="check">    </p:cNvPr>
          <p:cNvPicPr>
            <a:picLocks noChangeAspect="1"/>
          </p:cNvPicPr>
          <p:nvPr/>
        </p:nvPicPr>
        <p:blipFill>
          <a:blip r:embed="rId6"/>
          <a:stretch>
            <a:fillRect/>
          </a:stretch>
        </p:blipFill>
        <p:spPr>
          <a:xfrm>
            <a:off x="649590" y="5669646"/>
            <a:ext cx="218724" cy="218724"/>
          </a:xfrm>
          <a:prstGeom prst="rect">
            <a:avLst/>
          </a:prstGeom>
        </p:spPr>
      </p:pic>
      <p:sp>
        <p:nvSpPr>
          <p:cNvPr id="23" name="text-700"/>
          <p:cNvSpPr txBox="1"/>
          <p:nvPr/>
        </p:nvSpPr>
        <p:spPr>
          <a:xfrm>
            <a:off x="1115568" y="55321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Refunds and ratings</a:t>
            </a:r>
            <a:endParaRPr lang="en-US" sz="1400" dirty="0"/>
          </a:p>
          <a:p>
            <a:pPr algn="l" indent="0" marL="0">
              <a:buNone/>
            </a:pPr>
            <a:r>
              <a:rPr lang="en-US" sz="1200" dirty="0">
                <a:solidFill>
                  <a:schemeClr val="accent6"/>
                </a:solidFill>
              </a:rPr>
              <a:t>complaint refunds via payment-service; reviews set ratings</a:t>
            </a:r>
            <a:endParaRPr lang="en-US" sz="1400" dirty="0"/>
          </a:p>
        </p:txBody>
      </p:sp>
      <p:sp>
        <p:nvSpPr>
          <p:cNvPr id="24" name="icon-bg-x-701"/>
          <p:cNvSpPr/>
          <p:nvPr/>
        </p:nvSpPr>
        <p:spPr>
          <a:xfrm>
            <a:off x="6245352" y="2139696"/>
            <a:ext cx="420624" cy="420624"/>
          </a:xfrm>
          <a:prstGeom prst="ellipse">
            <a:avLst/>
          </a:prstGeom>
          <a:solidFill>
            <a:schemeClr val="accent4"/>
          </a:solidFill>
          <a:ln/>
        </p:spPr>
        <p:txBody>
          <a:bodyPr/>
          <a:p/>
        </p:txBody>
      </p:sp>
      <p:pic>
        <p:nvPicPr>
          <p:cNvPr id="25" name="icon-x-702" descr="x">    </p:cNvPr>
          <p:cNvPicPr>
            <a:picLocks noChangeAspect="1"/>
          </p:cNvPicPr>
          <p:nvPr/>
        </p:nvPicPr>
        <p:blipFill>
          <a:blip r:embed="rId7"/>
          <a:stretch>
            <a:fillRect/>
          </a:stretch>
        </p:blipFill>
        <p:spPr>
          <a:xfrm>
            <a:off x="6346302" y="2240646"/>
            <a:ext cx="218724" cy="218724"/>
          </a:xfrm>
          <a:prstGeom prst="rect">
            <a:avLst/>
          </a:prstGeom>
        </p:spPr>
      </p:pic>
      <p:sp>
        <p:nvSpPr>
          <p:cNvPr id="26" name="text-703"/>
          <p:cNvSpPr txBox="1"/>
          <p:nvPr/>
        </p:nvSpPr>
        <p:spPr>
          <a:xfrm>
            <a:off x="6812280" y="21031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Push notifications</a:t>
            </a:r>
            <a:endParaRPr lang="en-US" sz="1400" dirty="0"/>
          </a:p>
          <a:p>
            <a:pPr algn="l" indent="0" marL="0">
              <a:buNone/>
            </a:pPr>
            <a:r>
              <a:rPr lang="en-US" sz="1200" dirty="0">
                <a:solidFill>
                  <a:schemeClr val="accent6"/>
                </a:solidFill>
              </a:rPr>
              <a:t>no device tokens are stored</a:t>
            </a:r>
            <a:endParaRPr lang="en-US" sz="1400" dirty="0"/>
          </a:p>
        </p:txBody>
      </p:sp>
      <p:sp>
        <p:nvSpPr>
          <p:cNvPr id="27" name="icon-bg-x-704"/>
          <p:cNvSpPr/>
          <p:nvPr/>
        </p:nvSpPr>
        <p:spPr>
          <a:xfrm>
            <a:off x="6245352" y="2825496"/>
            <a:ext cx="420624" cy="420624"/>
          </a:xfrm>
          <a:prstGeom prst="ellipse">
            <a:avLst/>
          </a:prstGeom>
          <a:solidFill>
            <a:schemeClr val="accent4"/>
          </a:solidFill>
          <a:ln/>
        </p:spPr>
        <p:txBody>
          <a:bodyPr/>
          <a:p/>
        </p:txBody>
      </p:sp>
      <p:pic>
        <p:nvPicPr>
          <p:cNvPr id="28" name="icon-x-705" descr="x">    </p:cNvPr>
          <p:cNvPicPr>
            <a:picLocks noChangeAspect="1"/>
          </p:cNvPicPr>
          <p:nvPr/>
        </p:nvPicPr>
        <p:blipFill>
          <a:blip r:embed="rId8"/>
          <a:stretch>
            <a:fillRect/>
          </a:stretch>
        </p:blipFill>
        <p:spPr>
          <a:xfrm>
            <a:off x="6346302" y="2926446"/>
            <a:ext cx="218724" cy="218724"/>
          </a:xfrm>
          <a:prstGeom prst="rect">
            <a:avLst/>
          </a:prstGeom>
        </p:spPr>
      </p:pic>
      <p:sp>
        <p:nvSpPr>
          <p:cNvPr id="29" name="text-706"/>
          <p:cNvSpPr txBox="1"/>
          <p:nvPr/>
        </p:nvSpPr>
        <p:spPr>
          <a:xfrm>
            <a:off x="6812280" y="27889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Background checks</a:t>
            </a:r>
            <a:endParaRPr lang="en-US" sz="1400" dirty="0"/>
          </a:p>
          <a:p>
            <a:pPr algn="l" indent="0" marL="0">
              <a:buNone/>
            </a:pPr>
            <a:r>
              <a:rPr lang="en-US" sz="1200" dirty="0">
                <a:solidFill>
                  <a:schemeClr val="accent6"/>
                </a:solidFill>
              </a:rPr>
              <a:t>an admin records the result</a:t>
            </a:r>
            <a:endParaRPr lang="en-US" sz="1400" dirty="0"/>
          </a:p>
        </p:txBody>
      </p:sp>
      <p:sp>
        <p:nvSpPr>
          <p:cNvPr id="30" name="icon-bg-x-707"/>
          <p:cNvSpPr/>
          <p:nvPr/>
        </p:nvSpPr>
        <p:spPr>
          <a:xfrm>
            <a:off x="6245352" y="3511296"/>
            <a:ext cx="420624" cy="420624"/>
          </a:xfrm>
          <a:prstGeom prst="ellipse">
            <a:avLst/>
          </a:prstGeom>
          <a:solidFill>
            <a:schemeClr val="accent4"/>
          </a:solidFill>
          <a:ln/>
        </p:spPr>
        <p:txBody>
          <a:bodyPr/>
          <a:p/>
        </p:txBody>
      </p:sp>
      <p:pic>
        <p:nvPicPr>
          <p:cNvPr id="31" name="icon-x-708" descr="x">    </p:cNvPr>
          <p:cNvPicPr>
            <a:picLocks noChangeAspect="1"/>
          </p:cNvPicPr>
          <p:nvPr/>
        </p:nvPicPr>
        <p:blipFill>
          <a:blip r:embed="rId9"/>
          <a:stretch>
            <a:fillRect/>
          </a:stretch>
        </p:blipFill>
        <p:spPr>
          <a:xfrm>
            <a:off x="6346302" y="3612246"/>
            <a:ext cx="218724" cy="218724"/>
          </a:xfrm>
          <a:prstGeom prst="rect">
            <a:avLst/>
          </a:prstGeom>
        </p:spPr>
      </p:pic>
      <p:sp>
        <p:nvSpPr>
          <p:cNvPr id="32" name="text-709"/>
          <p:cNvSpPr txBox="1"/>
          <p:nvPr/>
        </p:nvSpPr>
        <p:spPr>
          <a:xfrm>
            <a:off x="6812280" y="34747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Invoice PDF storage</a:t>
            </a:r>
            <a:endParaRPr lang="en-US" sz="1400" dirty="0"/>
          </a:p>
          <a:p>
            <a:pPr algn="l" indent="0" marL="0">
              <a:buNone/>
            </a:pPr>
            <a:r>
              <a:rPr lang="en-US" sz="1200" dirty="0">
                <a:solidFill>
                  <a:schemeClr val="accent6"/>
                </a:solidFill>
              </a:rPr>
              <a:t>kept in memory; re-rendered from the row on download</a:t>
            </a:r>
            <a:endParaRPr lang="en-US" sz="1400" dirty="0"/>
          </a:p>
        </p:txBody>
      </p:sp>
      <p:sp>
        <p:nvSpPr>
          <p:cNvPr id="33" name="icon-bg-x-710"/>
          <p:cNvSpPr/>
          <p:nvPr/>
        </p:nvSpPr>
        <p:spPr>
          <a:xfrm>
            <a:off x="6245352" y="4197096"/>
            <a:ext cx="420624" cy="420624"/>
          </a:xfrm>
          <a:prstGeom prst="ellipse">
            <a:avLst/>
          </a:prstGeom>
          <a:solidFill>
            <a:schemeClr val="accent4"/>
          </a:solidFill>
          <a:ln/>
        </p:spPr>
        <p:txBody>
          <a:bodyPr/>
          <a:p/>
        </p:txBody>
      </p:sp>
      <p:pic>
        <p:nvPicPr>
          <p:cNvPr id="34" name="icon-x-711" descr="x">    </p:cNvPr>
          <p:cNvPicPr>
            <a:picLocks noChangeAspect="1"/>
          </p:cNvPicPr>
          <p:nvPr/>
        </p:nvPicPr>
        <p:blipFill>
          <a:blip r:embed="rId10"/>
          <a:stretch>
            <a:fillRect/>
          </a:stretch>
        </p:blipFill>
        <p:spPr>
          <a:xfrm>
            <a:off x="6346302" y="4298046"/>
            <a:ext cx="218724" cy="218724"/>
          </a:xfrm>
          <a:prstGeom prst="rect">
            <a:avLst/>
          </a:prstGeom>
        </p:spPr>
      </p:pic>
      <p:sp>
        <p:nvSpPr>
          <p:cNvPr id="35" name="text-712"/>
          <p:cNvSpPr txBox="1"/>
          <p:nvPr/>
        </p:nvSpPr>
        <p:spPr>
          <a:xfrm>
            <a:off x="6812280" y="41605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Admin dashboard metrics</a:t>
            </a:r>
            <a:endParaRPr lang="en-US" sz="1400" dirty="0"/>
          </a:p>
          <a:p>
            <a:pPr algn="l" indent="0" marL="0">
              <a:buNone/>
            </a:pPr>
            <a:r>
              <a:rPr lang="en-US" sz="1200" dirty="0">
                <a:solidFill>
                  <a:schemeClr val="accent6"/>
                </a:solidFill>
              </a:rPr>
              <a:t>a stub source reports zeros</a:t>
            </a:r>
            <a:endParaRPr lang="en-US" sz="1400" dirty="0"/>
          </a:p>
        </p:txBody>
      </p:sp>
      <p:sp>
        <p:nvSpPr>
          <p:cNvPr id="36" name="icon-bg-x-713"/>
          <p:cNvSpPr/>
          <p:nvPr/>
        </p:nvSpPr>
        <p:spPr>
          <a:xfrm>
            <a:off x="6245352" y="4882896"/>
            <a:ext cx="420624" cy="420624"/>
          </a:xfrm>
          <a:prstGeom prst="ellipse">
            <a:avLst/>
          </a:prstGeom>
          <a:solidFill>
            <a:schemeClr val="accent4"/>
          </a:solidFill>
          <a:ln/>
        </p:spPr>
        <p:txBody>
          <a:bodyPr/>
          <a:p/>
        </p:txBody>
      </p:sp>
      <p:pic>
        <p:nvPicPr>
          <p:cNvPr id="37" name="icon-x-714" descr="x">    </p:cNvPr>
          <p:cNvPicPr>
            <a:picLocks noChangeAspect="1"/>
          </p:cNvPicPr>
          <p:nvPr/>
        </p:nvPicPr>
        <p:blipFill>
          <a:blip r:embed="rId11"/>
          <a:stretch>
            <a:fillRect/>
          </a:stretch>
        </p:blipFill>
        <p:spPr>
          <a:xfrm>
            <a:off x="6346302" y="4983846"/>
            <a:ext cx="218724" cy="218724"/>
          </a:xfrm>
          <a:prstGeom prst="rect">
            <a:avLst/>
          </a:prstGeom>
        </p:spPr>
      </p:pic>
      <p:sp>
        <p:nvSpPr>
          <p:cNvPr id="38" name="text-715"/>
          <p:cNvSpPr txBox="1"/>
          <p:nvPr/>
        </p:nvSpPr>
        <p:spPr>
          <a:xfrm>
            <a:off x="6812280" y="4846320"/>
            <a:ext cx="4754880" cy="566928"/>
          </a:xfrm>
          <a:prstGeom prst="rect">
            <a:avLst/>
          </a:prstGeom>
          <a:noFill/>
          <a:ln/>
        </p:spPr>
        <p:txBody>
          <a:bodyPr wrap="square" lIns="0" tIns="0" rIns="0" bIns="0" rtlCol="0" anchor="t"/>
          <a:lstStyle/>
          <a:p>
            <a:pPr algn="l" indent="0" marL="0">
              <a:buNone/>
            </a:pPr>
            <a:r>
              <a:rPr lang="en-US" sz="1350" b="1" dirty="0">
                <a:solidFill>
                  <a:schemeClr val="tx1"/>
                </a:solidFill>
              </a:rPr>
              <a:t>Provider payouts</a:t>
            </a:r>
            <a:endParaRPr lang="en-US" sz="1400" dirty="0"/>
          </a:p>
          <a:p>
            <a:pPr algn="l" indent="0" marL="0">
              <a:buNone/>
            </a:pPr>
            <a:r>
              <a:rPr lang="en-US" sz="1200" dirty="0">
                <a:solidFill>
                  <a:schemeClr val="accent6"/>
                </a:solidFill>
              </a:rPr>
              <a:t>settlements are simulated (no RazorpayX)</a:t>
            </a:r>
            <a:endParaRPr lang="en-US" sz="14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Review status: what this review fixed</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Every earlier finding re-checked, the live chat defect repaired, and all eight open items implemented</a:t>
            </a:r>
            <a:endParaRPr lang="en-US" sz="1500" dirty="0"/>
          </a:p>
        </p:txBody>
      </p:sp>
      <p:sp>
        <p:nvSpPr>
          <p:cNvPr id="4" name="panel-716"/>
          <p:cNvSpPr txBox="1"/>
          <p:nvPr/>
        </p:nvSpPr>
        <p:spPr>
          <a:xfrm>
            <a:off x="548640" y="1600200"/>
            <a:ext cx="3383280" cy="2148840"/>
          </a:xfrm>
          <a:prstGeom prst="roundRect">
            <a:avLst>
              <a:gd name="adj" fmla="val 4255"/>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5" name="text-717"/>
          <p:cNvSpPr txBox="1"/>
          <p:nvPr/>
        </p:nvSpPr>
        <p:spPr>
          <a:xfrm>
            <a:off x="777240" y="1783080"/>
            <a:ext cx="3017520" cy="822960"/>
          </a:xfrm>
          <a:prstGeom prst="rect">
            <a:avLst/>
          </a:prstGeom>
          <a:noFill/>
          <a:ln/>
        </p:spPr>
        <p:txBody>
          <a:bodyPr wrap="square" lIns="0" tIns="0" rIns="0" bIns="0" rtlCol="0" anchor="t"/>
          <a:lstStyle/>
          <a:p>
            <a:pPr algn="l" indent="0" marL="0">
              <a:buNone/>
            </a:pPr>
            <a:r>
              <a:rPr lang="en-US" sz="4600" b="1" dirty="0">
                <a:solidFill>
                  <a:schemeClr val="accent1"/>
                </a:solidFill>
              </a:rPr>
              <a:t>20 / 20</a:t>
            </a:r>
            <a:endParaRPr lang="en-US" sz="4600" dirty="0"/>
          </a:p>
        </p:txBody>
      </p:sp>
      <p:sp>
        <p:nvSpPr>
          <p:cNvPr id="6" name="text-718"/>
          <p:cNvSpPr txBox="1"/>
          <p:nvPr/>
        </p:nvSpPr>
        <p:spPr>
          <a:xfrm>
            <a:off x="777240" y="2606040"/>
            <a:ext cx="2971800" cy="1051560"/>
          </a:xfrm>
          <a:prstGeom prst="rect">
            <a:avLst/>
          </a:prstGeom>
          <a:noFill/>
          <a:ln/>
        </p:spPr>
        <p:txBody>
          <a:bodyPr wrap="square" lIns="0" tIns="0" rIns="0" bIns="0" rtlCol="0" anchor="t"/>
          <a:lstStyle/>
          <a:p>
            <a:pPr algn="l" indent="0" marL="0">
              <a:buNone/>
            </a:pPr>
            <a:r>
              <a:rPr lang="en-US" sz="1250" dirty="0">
                <a:solidFill>
                  <a:schemeClr val="tx1"/>
                </a:solidFill>
              </a:rPr>
              <a:t>findings from the 3 October review verified fixed in today's source</a:t>
            </a:r>
            <a:endParaRPr lang="en-US" sz="1250" dirty="0"/>
          </a:p>
        </p:txBody>
      </p:sp>
      <p:sp>
        <p:nvSpPr>
          <p:cNvPr id="7" name="panel-719"/>
          <p:cNvSpPr txBox="1"/>
          <p:nvPr/>
        </p:nvSpPr>
        <p:spPr>
          <a:xfrm>
            <a:off x="548640" y="3931920"/>
            <a:ext cx="3383280" cy="2148840"/>
          </a:xfrm>
          <a:prstGeom prst="roundRect">
            <a:avLst>
              <a:gd name="adj" fmla="val 4255"/>
            </a:avLst>
          </a:prstGeom>
          <a:solidFill>
            <a:schemeClr val="accent5">
              <a:alpha val="10000"/>
            </a:schemeClr>
          </a:solidFill>
          <a:ln/>
        </p:spPr>
        <p:txBody>
          <a:bodyPr wrap="square" lIns="76200" tIns="38100" rIns="76200" bIns="38100" rtlCol="0" anchor="ctr"/>
          <a:lstStyle/>
          <a:p>
            <a:pPr algn="ctr" indent="0" marL="0">
              <a:buNone/>
            </a:pPr>
            <a:endParaRPr lang="en-US" sz="1200" dirty="0"/>
          </a:p>
        </p:txBody>
      </p:sp>
      <p:sp>
        <p:nvSpPr>
          <p:cNvPr id="8" name="text-720"/>
          <p:cNvSpPr txBox="1"/>
          <p:nvPr/>
        </p:nvSpPr>
        <p:spPr>
          <a:xfrm>
            <a:off x="777240" y="4114800"/>
            <a:ext cx="3017520" cy="822960"/>
          </a:xfrm>
          <a:prstGeom prst="rect">
            <a:avLst/>
          </a:prstGeom>
          <a:noFill/>
          <a:ln/>
        </p:spPr>
        <p:txBody>
          <a:bodyPr wrap="square" lIns="0" tIns="0" rIns="0" bIns="0" rtlCol="0" anchor="t"/>
          <a:lstStyle/>
          <a:p>
            <a:pPr algn="l" indent="0" marL="0">
              <a:buNone/>
            </a:pPr>
            <a:r>
              <a:rPr lang="en-US" sz="4600" b="1" dirty="0">
                <a:solidFill>
                  <a:schemeClr val="accent5"/>
                </a:solidFill>
              </a:rPr>
              <a:t>8 / 8</a:t>
            </a:r>
            <a:endParaRPr lang="en-US" sz="4600" dirty="0"/>
          </a:p>
        </p:txBody>
      </p:sp>
      <p:sp>
        <p:nvSpPr>
          <p:cNvPr id="9" name="text-721"/>
          <p:cNvSpPr txBox="1"/>
          <p:nvPr/>
        </p:nvSpPr>
        <p:spPr>
          <a:xfrm>
            <a:off x="777240" y="4937760"/>
            <a:ext cx="2971800" cy="1051560"/>
          </a:xfrm>
          <a:prstGeom prst="rect">
            <a:avLst/>
          </a:prstGeom>
          <a:noFill/>
          <a:ln/>
        </p:spPr>
        <p:txBody>
          <a:bodyPr wrap="square" lIns="0" tIns="0" rIns="0" bIns="0" rtlCol="0" anchor="t"/>
          <a:lstStyle/>
          <a:p>
            <a:pPr algn="l" indent="0" marL="0">
              <a:buNone/>
            </a:pPr>
            <a:r>
              <a:rPr lang="en-US" sz="1250" dirty="0">
                <a:solidFill>
                  <a:schemeClr val="tx1"/>
                </a:solidFill>
              </a:rPr>
              <a:t>open items implemented on 18 October, each unit-tested and started against PostgreSQL</a:t>
            </a:r>
            <a:endParaRPr lang="en-US" sz="1250" dirty="0"/>
          </a:p>
        </p:txBody>
      </p:sp>
      <p:sp>
        <p:nvSpPr>
          <p:cNvPr id="10" name="text-722"/>
          <p:cNvSpPr txBox="1"/>
          <p:nvPr/>
        </p:nvSpPr>
        <p:spPr>
          <a:xfrm>
            <a:off x="4297680" y="1600200"/>
            <a:ext cx="7315200" cy="365760"/>
          </a:xfrm>
          <a:prstGeom prst="rect">
            <a:avLst/>
          </a:prstGeom>
          <a:noFill/>
          <a:ln/>
        </p:spPr>
        <p:txBody>
          <a:bodyPr wrap="square" lIns="0" tIns="0" rIns="0" bIns="0" rtlCol="0" anchor="t"/>
          <a:lstStyle/>
          <a:p>
            <a:pPr algn="l" indent="0" marL="0">
              <a:buNone/>
            </a:pPr>
            <a:r>
              <a:rPr lang="en-US" sz="1600" b="1" dirty="0">
                <a:solidFill>
                  <a:schemeClr val="tx1"/>
                </a:solidFill>
              </a:rPr>
              <a:t>Fixed in this review</a:t>
            </a:r>
            <a:endParaRPr lang="en-US" sz="1600" dirty="0"/>
          </a:p>
        </p:txBody>
      </p:sp>
      <p:sp>
        <p:nvSpPr>
          <p:cNvPr id="11" name="icon-bg-check-723"/>
          <p:cNvSpPr/>
          <p:nvPr/>
        </p:nvSpPr>
        <p:spPr>
          <a:xfrm>
            <a:off x="4297680" y="2103120"/>
            <a:ext cx="329184" cy="329184"/>
          </a:xfrm>
          <a:prstGeom prst="ellipse">
            <a:avLst/>
          </a:prstGeom>
          <a:solidFill>
            <a:schemeClr val="accent1"/>
          </a:solidFill>
          <a:ln/>
        </p:spPr>
        <p:txBody>
          <a:bodyPr/>
          <a:p/>
        </p:txBody>
      </p:sp>
      <p:pic>
        <p:nvPicPr>
          <p:cNvPr id="12" name="icon-check-724" descr="check">    </p:cNvPr>
          <p:cNvPicPr>
            <a:picLocks noChangeAspect="1"/>
          </p:cNvPicPr>
          <p:nvPr/>
        </p:nvPicPr>
        <p:blipFill>
          <a:blip r:embed="rId1"/>
          <a:stretch>
            <a:fillRect/>
          </a:stretch>
        </p:blipFill>
        <p:spPr>
          <a:xfrm>
            <a:off x="4376684" y="2182124"/>
            <a:ext cx="171176" cy="171176"/>
          </a:xfrm>
          <a:prstGeom prst="rect">
            <a:avLst/>
          </a:prstGeom>
        </p:spPr>
      </p:pic>
      <p:sp>
        <p:nvSpPr>
          <p:cNvPr id="13" name="text-725"/>
          <p:cNvSpPr txBox="1"/>
          <p:nvPr/>
        </p:nvSpPr>
        <p:spPr>
          <a:xfrm>
            <a:off x="4754880" y="20574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Chat works end to end  </a:t>
            </a:r>
            <a:pPr algn="l" indent="0" marL="0">
              <a:buNone/>
            </a:pPr>
            <a:r>
              <a:rPr lang="en-US" sz="1200" dirty="0">
                <a:solidFill>
                  <a:schemeClr val="accent6"/>
                </a:solidFill>
              </a:rPr>
              <a:t>channel lookup, WebSocket, STOMP bypass closed, provider chat screen</a:t>
            </a:r>
            <a:endParaRPr lang="en-US" sz="1400" dirty="0"/>
          </a:p>
        </p:txBody>
      </p:sp>
      <p:sp>
        <p:nvSpPr>
          <p:cNvPr id="14" name="icon-bg-check-726"/>
          <p:cNvSpPr/>
          <p:nvPr/>
        </p:nvSpPr>
        <p:spPr>
          <a:xfrm>
            <a:off x="4297680" y="2560320"/>
            <a:ext cx="329184" cy="329184"/>
          </a:xfrm>
          <a:prstGeom prst="ellipse">
            <a:avLst/>
          </a:prstGeom>
          <a:solidFill>
            <a:schemeClr val="accent1"/>
          </a:solidFill>
          <a:ln/>
        </p:spPr>
        <p:txBody>
          <a:bodyPr/>
          <a:p/>
        </p:txBody>
      </p:sp>
      <p:pic>
        <p:nvPicPr>
          <p:cNvPr id="15" name="icon-check-727" descr="check">    </p:cNvPr>
          <p:cNvPicPr>
            <a:picLocks noChangeAspect="1"/>
          </p:cNvPicPr>
          <p:nvPr/>
        </p:nvPicPr>
        <p:blipFill>
          <a:blip r:embed="rId2"/>
          <a:stretch>
            <a:fillRect/>
          </a:stretch>
        </p:blipFill>
        <p:spPr>
          <a:xfrm>
            <a:off x="4376684" y="2639324"/>
            <a:ext cx="171176" cy="171176"/>
          </a:xfrm>
          <a:prstGeom prst="rect">
            <a:avLst/>
          </a:prstGeom>
        </p:spPr>
      </p:pic>
      <p:sp>
        <p:nvSpPr>
          <p:cNvPr id="16" name="text-728"/>
          <p:cNvSpPr txBox="1"/>
          <p:nvPr/>
        </p:nvSpPr>
        <p:spPr>
          <a:xfrm>
            <a:off x="4754880" y="25146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Chat across instances  </a:t>
            </a:r>
            <a:pPr algn="l" indent="0" marL="0">
              <a:buNone/>
            </a:pPr>
            <a:r>
              <a:rPr lang="en-US" sz="1200" dirty="0">
                <a:solidFill>
                  <a:schemeClr val="accent6"/>
                </a:solidFill>
              </a:rPr>
              <a:t>Redis pub/sub fan-out; presence in Redis with a 10 s TTL</a:t>
            </a:r>
            <a:endParaRPr lang="en-US" sz="1400" dirty="0"/>
          </a:p>
        </p:txBody>
      </p:sp>
      <p:sp>
        <p:nvSpPr>
          <p:cNvPr id="17" name="icon-bg-check-729"/>
          <p:cNvSpPr/>
          <p:nvPr/>
        </p:nvSpPr>
        <p:spPr>
          <a:xfrm>
            <a:off x="4297680" y="3017520"/>
            <a:ext cx="329184" cy="329184"/>
          </a:xfrm>
          <a:prstGeom prst="ellipse">
            <a:avLst/>
          </a:prstGeom>
          <a:solidFill>
            <a:schemeClr val="accent1"/>
          </a:solidFill>
          <a:ln/>
        </p:spPr>
        <p:txBody>
          <a:bodyPr/>
          <a:p/>
        </p:txBody>
      </p:sp>
      <p:pic>
        <p:nvPicPr>
          <p:cNvPr id="18" name="icon-check-730" descr="check">    </p:cNvPr>
          <p:cNvPicPr>
            <a:picLocks noChangeAspect="1"/>
          </p:cNvPicPr>
          <p:nvPr/>
        </p:nvPicPr>
        <p:blipFill>
          <a:blip r:embed="rId3"/>
          <a:stretch>
            <a:fillRect/>
          </a:stretch>
        </p:blipFill>
        <p:spPr>
          <a:xfrm>
            <a:off x="4376684" y="3096524"/>
            <a:ext cx="171176" cy="171176"/>
          </a:xfrm>
          <a:prstGeom prst="rect">
            <a:avLst/>
          </a:prstGeom>
        </p:spPr>
      </p:pic>
      <p:sp>
        <p:nvSpPr>
          <p:cNvPr id="19" name="text-731"/>
          <p:cNvSpPr txBox="1"/>
          <p:nvPr/>
        </p:nvSpPr>
        <p:spPr>
          <a:xfrm>
            <a:off x="4754880" y="29718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Dispatch settings in the database  </a:t>
            </a:r>
            <a:pPr algn="l" indent="0" marL="0">
              <a:buNone/>
            </a:pPr>
            <a:r>
              <a:rPr lang="en-US" sz="1200" dirty="0">
                <a:solidFill>
                  <a:schemeClr val="accent6"/>
                </a:solidFill>
              </a:rPr>
              <a:t>five weights and six tunables; every replica within 10 s</a:t>
            </a:r>
            <a:endParaRPr lang="en-US" sz="1400" dirty="0"/>
          </a:p>
        </p:txBody>
      </p:sp>
      <p:sp>
        <p:nvSpPr>
          <p:cNvPr id="20" name="icon-bg-check-732"/>
          <p:cNvSpPr/>
          <p:nvPr/>
        </p:nvSpPr>
        <p:spPr>
          <a:xfrm>
            <a:off x="4297680" y="3474720"/>
            <a:ext cx="329184" cy="329184"/>
          </a:xfrm>
          <a:prstGeom prst="ellipse">
            <a:avLst/>
          </a:prstGeom>
          <a:solidFill>
            <a:schemeClr val="accent1"/>
          </a:solidFill>
          <a:ln/>
        </p:spPr>
        <p:txBody>
          <a:bodyPr/>
          <a:p/>
        </p:txBody>
      </p:sp>
      <p:pic>
        <p:nvPicPr>
          <p:cNvPr id="21" name="icon-check-733" descr="check">    </p:cNvPr>
          <p:cNvPicPr>
            <a:picLocks noChangeAspect="1"/>
          </p:cNvPicPr>
          <p:nvPr/>
        </p:nvPicPr>
        <p:blipFill>
          <a:blip r:embed="rId4"/>
          <a:stretch>
            <a:fillRect/>
          </a:stretch>
        </p:blipFill>
        <p:spPr>
          <a:xfrm>
            <a:off x="4376684" y="3553724"/>
            <a:ext cx="171176" cy="171176"/>
          </a:xfrm>
          <a:prstGeom prst="rect">
            <a:avLst/>
          </a:prstGeom>
        </p:spPr>
      </p:pic>
      <p:sp>
        <p:nvSpPr>
          <p:cNvPr id="22" name="text-734"/>
          <p:cNvSpPr txBox="1"/>
          <p:nvPr/>
        </p:nvSpPr>
        <p:spPr>
          <a:xfrm>
            <a:off x="4754880" y="34290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Complaint refunds move money  </a:t>
            </a:r>
            <a:pPr algn="l" indent="0" marL="0">
              <a:buNone/>
            </a:pPr>
            <a:r>
              <a:rPr lang="en-US" sz="1200" dirty="0">
                <a:solidFill>
                  <a:schemeClr val="accent6"/>
                </a:solidFill>
              </a:rPr>
              <a:t>through payment-service and Razorpay, idempotent</a:t>
            </a:r>
            <a:endParaRPr lang="en-US" sz="1400" dirty="0"/>
          </a:p>
        </p:txBody>
      </p:sp>
      <p:sp>
        <p:nvSpPr>
          <p:cNvPr id="23" name="icon-bg-check-735"/>
          <p:cNvSpPr/>
          <p:nvPr/>
        </p:nvSpPr>
        <p:spPr>
          <a:xfrm>
            <a:off x="4297680" y="3931920"/>
            <a:ext cx="329184" cy="329184"/>
          </a:xfrm>
          <a:prstGeom prst="ellipse">
            <a:avLst/>
          </a:prstGeom>
          <a:solidFill>
            <a:schemeClr val="accent1"/>
          </a:solidFill>
          <a:ln/>
        </p:spPr>
        <p:txBody>
          <a:bodyPr/>
          <a:p/>
        </p:txBody>
      </p:sp>
      <p:pic>
        <p:nvPicPr>
          <p:cNvPr id="24" name="icon-check-736" descr="check">    </p:cNvPr>
          <p:cNvPicPr>
            <a:picLocks noChangeAspect="1"/>
          </p:cNvPicPr>
          <p:nvPr/>
        </p:nvPicPr>
        <p:blipFill>
          <a:blip r:embed="rId5"/>
          <a:stretch>
            <a:fillRect/>
          </a:stretch>
        </p:blipFill>
        <p:spPr>
          <a:xfrm>
            <a:off x="4376684" y="4010924"/>
            <a:ext cx="171176" cy="171176"/>
          </a:xfrm>
          <a:prstGeom prst="rect">
            <a:avLst/>
          </a:prstGeom>
        </p:spPr>
      </p:pic>
      <p:sp>
        <p:nvSpPr>
          <p:cNvPr id="25" name="text-737"/>
          <p:cNvSpPr txBox="1"/>
          <p:nvPr/>
        </p:nvSpPr>
        <p:spPr>
          <a:xfrm>
            <a:off x="4754880" y="38862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Reviews set provider ratings  </a:t>
            </a:r>
            <a:pPr algn="l" indent="0" marL="0">
              <a:buNone/>
            </a:pPr>
            <a:r>
              <a:rPr lang="en-US" sz="1200" dirty="0">
                <a:solidFill>
                  <a:schemeClr val="accent6"/>
                </a:solidFill>
              </a:rPr>
              <a:t>pushed after each change, retried until applied</a:t>
            </a:r>
            <a:endParaRPr lang="en-US" sz="1400" dirty="0"/>
          </a:p>
        </p:txBody>
      </p:sp>
      <p:sp>
        <p:nvSpPr>
          <p:cNvPr id="26" name="icon-bg-check-738"/>
          <p:cNvSpPr/>
          <p:nvPr/>
        </p:nvSpPr>
        <p:spPr>
          <a:xfrm>
            <a:off x="4297680" y="4389120"/>
            <a:ext cx="329184" cy="329184"/>
          </a:xfrm>
          <a:prstGeom prst="ellipse">
            <a:avLst/>
          </a:prstGeom>
          <a:solidFill>
            <a:schemeClr val="accent1"/>
          </a:solidFill>
          <a:ln/>
        </p:spPr>
        <p:txBody>
          <a:bodyPr/>
          <a:p/>
        </p:txBody>
      </p:sp>
      <p:pic>
        <p:nvPicPr>
          <p:cNvPr id="27" name="icon-check-739" descr="check">    </p:cNvPr>
          <p:cNvPicPr>
            <a:picLocks noChangeAspect="1"/>
          </p:cNvPicPr>
          <p:nvPr/>
        </p:nvPicPr>
        <p:blipFill>
          <a:blip r:embed="rId6"/>
          <a:stretch>
            <a:fillRect/>
          </a:stretch>
        </p:blipFill>
        <p:spPr>
          <a:xfrm>
            <a:off x="4376684" y="4468124"/>
            <a:ext cx="171176" cy="171176"/>
          </a:xfrm>
          <a:prstGeom prst="rect">
            <a:avLst/>
          </a:prstGeom>
        </p:spPr>
      </p:pic>
      <p:sp>
        <p:nvSpPr>
          <p:cNvPr id="28" name="text-740"/>
          <p:cNvSpPr txBox="1"/>
          <p:nvPr/>
        </p:nvSpPr>
        <p:spPr>
          <a:xfrm>
            <a:off x="4754880" y="43434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Email over SMTP  </a:t>
            </a:r>
            <a:pPr algn="l" indent="0" marL="0">
              <a:buNone/>
            </a:pPr>
            <a:r>
              <a:rPr lang="en-US" sz="1200" dirty="0">
                <a:solidFill>
                  <a:schemeClr val="accent6"/>
                </a:solidFill>
              </a:rPr>
              <a:t>Amazon SES in AWS, Mailpit locally; codes kept out of logs</a:t>
            </a:r>
            <a:endParaRPr lang="en-US" sz="1400" dirty="0"/>
          </a:p>
        </p:txBody>
      </p:sp>
      <p:sp>
        <p:nvSpPr>
          <p:cNvPr id="29" name="icon-bg-check-741"/>
          <p:cNvSpPr/>
          <p:nvPr/>
        </p:nvSpPr>
        <p:spPr>
          <a:xfrm>
            <a:off x="4297680" y="4846320"/>
            <a:ext cx="329184" cy="329184"/>
          </a:xfrm>
          <a:prstGeom prst="ellipse">
            <a:avLst/>
          </a:prstGeom>
          <a:solidFill>
            <a:schemeClr val="accent1"/>
          </a:solidFill>
          <a:ln/>
        </p:spPr>
        <p:txBody>
          <a:bodyPr/>
          <a:p/>
        </p:txBody>
      </p:sp>
      <p:pic>
        <p:nvPicPr>
          <p:cNvPr id="30" name="icon-check-742" descr="check">    </p:cNvPr>
          <p:cNvPicPr>
            <a:picLocks noChangeAspect="1"/>
          </p:cNvPicPr>
          <p:nvPr/>
        </p:nvPicPr>
        <p:blipFill>
          <a:blip r:embed="rId7"/>
          <a:stretch>
            <a:fillRect/>
          </a:stretch>
        </p:blipFill>
        <p:spPr>
          <a:xfrm>
            <a:off x="4376684" y="4925324"/>
            <a:ext cx="171176" cy="171176"/>
          </a:xfrm>
          <a:prstGeom prst="rect">
            <a:avLst/>
          </a:prstGeom>
        </p:spPr>
      </p:pic>
      <p:sp>
        <p:nvSpPr>
          <p:cNvPr id="31" name="text-743"/>
          <p:cNvSpPr txBox="1"/>
          <p:nvPr/>
        </p:nvSpPr>
        <p:spPr>
          <a:xfrm>
            <a:off x="4754880" y="48006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Job photos to S3  </a:t>
            </a:r>
            <a:pPr algn="l" indent="0" marL="0">
              <a:buNone/>
            </a:pPr>
            <a:r>
              <a:rPr lang="en-US" sz="1200" dirty="0">
                <a:solidFill>
                  <a:schemeClr val="accent6"/>
                </a:solidFill>
              </a:rPr>
              <a:t>when configured and reachable; local disk otherwise</a:t>
            </a:r>
            <a:endParaRPr lang="en-US" sz="1400" dirty="0"/>
          </a:p>
        </p:txBody>
      </p:sp>
      <p:sp>
        <p:nvSpPr>
          <p:cNvPr id="32" name="icon-bg-check-744"/>
          <p:cNvSpPr/>
          <p:nvPr/>
        </p:nvSpPr>
        <p:spPr>
          <a:xfrm>
            <a:off x="4297680" y="5303520"/>
            <a:ext cx="329184" cy="329184"/>
          </a:xfrm>
          <a:prstGeom prst="ellipse">
            <a:avLst/>
          </a:prstGeom>
          <a:solidFill>
            <a:schemeClr val="accent1"/>
          </a:solidFill>
          <a:ln/>
        </p:spPr>
        <p:txBody>
          <a:bodyPr/>
          <a:p/>
        </p:txBody>
      </p:sp>
      <p:pic>
        <p:nvPicPr>
          <p:cNvPr id="33" name="icon-check-745" descr="check">    </p:cNvPr>
          <p:cNvPicPr>
            <a:picLocks noChangeAspect="1"/>
          </p:cNvPicPr>
          <p:nvPr/>
        </p:nvPicPr>
        <p:blipFill>
          <a:blip r:embed="rId8"/>
          <a:stretch>
            <a:fillRect/>
          </a:stretch>
        </p:blipFill>
        <p:spPr>
          <a:xfrm>
            <a:off x="4376684" y="5382524"/>
            <a:ext cx="171176" cy="171176"/>
          </a:xfrm>
          <a:prstGeom prst="rect">
            <a:avLst/>
          </a:prstGeom>
        </p:spPr>
      </p:pic>
      <p:sp>
        <p:nvSpPr>
          <p:cNvPr id="34" name="text-746"/>
          <p:cNvSpPr txBox="1"/>
          <p:nvPr/>
        </p:nvSpPr>
        <p:spPr>
          <a:xfrm>
            <a:off x="4754880" y="52578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One Kubernetes namespace  </a:t>
            </a:r>
            <a:pPr algn="l" indent="0" marL="0">
              <a:buNone/>
            </a:pPr>
            <a:r>
              <a:rPr lang="en-US" sz="1200" dirty="0">
                <a:solidFill>
                  <a:schemeClr val="accent6"/>
                </a:solidFill>
              </a:rPr>
              <a:t>IRSA per deployable, KEDA in the chart, label-based monitoring</a:t>
            </a:r>
            <a:endParaRPr lang="en-US" sz="1400" dirty="0"/>
          </a:p>
        </p:txBody>
      </p:sp>
      <p:sp>
        <p:nvSpPr>
          <p:cNvPr id="35" name="icon-bg-check-747"/>
          <p:cNvSpPr/>
          <p:nvPr/>
        </p:nvSpPr>
        <p:spPr>
          <a:xfrm>
            <a:off x="4297680" y="5760720"/>
            <a:ext cx="329184" cy="329184"/>
          </a:xfrm>
          <a:prstGeom prst="ellipse">
            <a:avLst/>
          </a:prstGeom>
          <a:solidFill>
            <a:schemeClr val="accent1"/>
          </a:solidFill>
          <a:ln/>
        </p:spPr>
        <p:txBody>
          <a:bodyPr/>
          <a:p/>
        </p:txBody>
      </p:sp>
      <p:pic>
        <p:nvPicPr>
          <p:cNvPr id="36" name="icon-check-748" descr="check">    </p:cNvPr>
          <p:cNvPicPr>
            <a:picLocks noChangeAspect="1"/>
          </p:cNvPicPr>
          <p:nvPr/>
        </p:nvPicPr>
        <p:blipFill>
          <a:blip r:embed="rId9"/>
          <a:stretch>
            <a:fillRect/>
          </a:stretch>
        </p:blipFill>
        <p:spPr>
          <a:xfrm>
            <a:off x="4376684" y="5839724"/>
            <a:ext cx="171176" cy="171176"/>
          </a:xfrm>
          <a:prstGeom prst="rect">
            <a:avLst/>
          </a:prstGeom>
        </p:spPr>
      </p:pic>
      <p:sp>
        <p:nvSpPr>
          <p:cNvPr id="37" name="text-749"/>
          <p:cNvSpPr txBox="1"/>
          <p:nvPr/>
        </p:nvSpPr>
        <p:spPr>
          <a:xfrm>
            <a:off x="4754880" y="5715000"/>
            <a:ext cx="6885432" cy="420624"/>
          </a:xfrm>
          <a:prstGeom prst="rect">
            <a:avLst/>
          </a:prstGeom>
          <a:noFill/>
          <a:ln/>
        </p:spPr>
        <p:txBody>
          <a:bodyPr wrap="square" lIns="0" tIns="0" rIns="0" bIns="0" rtlCol="0" anchor="ctr"/>
          <a:lstStyle/>
          <a:p>
            <a:pPr algn="l" indent="0" marL="0">
              <a:buNone/>
            </a:pPr>
            <a:r>
              <a:rPr lang="en-US" sz="1300" b="1" dirty="0">
                <a:solidFill>
                  <a:schemeClr val="tx1"/>
                </a:solidFill>
              </a:rPr>
              <a:t>Stripe removed  </a:t>
            </a:r>
            <a:pPr algn="l" indent="0" marL="0">
              <a:buNone/>
            </a:pPr>
            <a:r>
              <a:rPr lang="en-US" sz="1200" dirty="0">
                <a:solidFill>
                  <a:schemeClr val="accent6"/>
                </a:solidFill>
              </a:rPr>
              <a:t>Razorpay is the gateway; no Stripe secret needed</a:t>
            </a:r>
            <a:endParaRPr lang="en-US" sz="14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731520" y="2697480"/>
            <a:ext cx="10515600" cy="1005840"/>
          </a:xfrm>
          <a:prstGeom prst="rect">
            <a:avLst/>
          </a:prstGeom>
          <a:noFill/>
          <a:ln/>
        </p:spPr>
        <p:txBody>
          <a:bodyPr wrap="square" lIns="0" tIns="0" rIns="0" bIns="0" rtlCol="0" anchor="t"/>
          <a:lstStyle/>
          <a:p>
            <a:pPr algn="l" indent="0" marL="0">
              <a:buNone/>
            </a:pPr>
            <a:r>
              <a:rPr lang="en-US" sz="4400" b="1" dirty="0">
                <a:solidFill>
                  <a:schemeClr val="bg1"/>
                </a:solidFill>
              </a:rPr>
              <a:t>What changed on 18 October</a:t>
            </a:r>
            <a:endParaRPr lang="en-US" sz="4400" dirty="0"/>
          </a:p>
        </p:txBody>
      </p:sp>
      <p:sp>
        <p:nvSpPr>
          <p:cNvPr id="3" name="Text 0"/>
          <p:cNvSpPr/>
          <p:nvPr>
            <p:ph idx="102" type="body" hasCustomPrompt="1"/>
          </p:nvPr>
        </p:nvSpPr>
        <p:spPr>
          <a:xfrm>
            <a:off x="731520" y="3749040"/>
            <a:ext cx="10515600" cy="640080"/>
          </a:xfrm>
          <a:prstGeom prst="rect">
            <a:avLst/>
          </a:prstGeom>
          <a:noFill/>
          <a:ln/>
        </p:spPr>
        <p:txBody>
          <a:bodyPr wrap="square" lIns="0" tIns="0" rIns="0" bIns="0" rtlCol="0" anchor="t"/>
          <a:lstStyle/>
          <a:p>
            <a:pPr indent="0" marL="0">
              <a:buNone/>
            </a:pPr>
            <a:r>
              <a:rPr lang="en-US" sz="2000" dirty="0">
                <a:solidFill>
                  <a:schemeClr val="bg2"/>
                </a:solidFill>
              </a:rPr>
              <a:t>The eight open items implemented, and the files removed along the way</a:t>
            </a:r>
            <a:endParaRPr lang="en-US" sz="2000" dirty="0"/>
          </a:p>
        </p:txBody>
      </p:sp>
      <p:sp>
        <p:nvSpPr>
          <p:cNvPr id="4" name="Text 0"/>
          <p:cNvSpPr/>
          <p:nvPr>
            <p:ph idx="100" type="body" hasCustomPrompt="1"/>
          </p:nvPr>
        </p:nvSpPr>
        <p:spPr>
          <a:xfrm>
            <a:off x="731520" y="2011680"/>
            <a:ext cx="3657600" cy="640080"/>
          </a:xfrm>
          <a:prstGeom prst="rect">
            <a:avLst/>
          </a:prstGeom>
          <a:noFill/>
          <a:ln/>
        </p:spPr>
        <p:txBody>
          <a:bodyPr wrap="square" lIns="0" tIns="0" rIns="0" bIns="0" rtlCol="0" anchor="b"/>
          <a:lstStyle/>
          <a:p>
            <a:pPr indent="0" marL="0">
              <a:buNone/>
            </a:pPr>
            <a:r>
              <a:rPr lang="en-US" sz="2800" b="1" dirty="0">
                <a:solidFill>
                  <a:schemeClr val="bg2"/>
                </a:solidFill>
              </a:rPr>
              <a:t>05</a:t>
            </a: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What was removed, and why</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Every deletion replaced something dead, misleading or unused; each can be restored with git restore</a:t>
            </a:r>
            <a:endParaRPr 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697480"/>
                <a:gridCol w="4937760"/>
                <a:gridCol w="3456432"/>
              </a:tblGrid>
              <a:tr h="0">
                <a:tc>
                  <a:txBody>
                    <a:bodyPr/>
                    <a:lstStyle/>
                    <a:p>
                      <a:pPr indent="0" marL="0">
                        <a:buNone/>
                      </a:pPr>
                      <a:r>
                        <a:rPr lang="en-US" sz="1150" b="1" dirty="0">
                          <a:solidFill>
                            <a:srgbClr val="FFFFFF"/>
                          </a:solidFill>
                        </a:rPr>
                        <a:t>Removed</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150" b="1" dirty="0">
                          <a:solidFill>
                            <a:srgbClr val="FFFFFF"/>
                          </a:solidFill>
                        </a:rPr>
                        <a:t>Why</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150" b="1" dirty="0">
                          <a:solidFill>
                            <a:srgbClr val="FFFFFF"/>
                          </a:solidFill>
                        </a:rPr>
                        <a:t>Replaced by</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0">
                <a:tc>
                  <a:txBody>
                    <a:bodyPr/>
                    <a:lstStyle/>
                    <a:p>
                      <a:pPr indent="0" marL="0">
                        <a:buNone/>
                      </a:pPr>
                      <a:r>
                        <a:rPr lang="en-US" sz="1150" b="1" dirty="0">
                          <a:solidFill>
                            <a:srgbClr val="0F172A"/>
                          </a:solidFill>
                        </a:rPr>
                        <a:t>infra/k8s/observability/hpa/  (8 HPA files: auth, booking, customer, dispatch, invoice, location, payment, provider)</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0F172A"/>
                          </a:solidFill>
                        </a:rPr>
                        <a:t>Each scaled a per-service Deployment (auth-service, booking-service, …) in one of six per-domain namespaces. The platform deploys 5 deployables into one namespace, so they pointed at nothing; a second HPA on a real Deployment would fight the chart's.</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0F172A"/>
                          </a:solidFill>
                        </a:rPr>
                        <a:t>The chart's HPA, one per deployable, in the release namespace (helm/jihajoor-service/templates/hpa.yaml)</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50" b="1" dirty="0">
                          <a:solidFill>
                            <a:srgbClr val="0F172A"/>
                          </a:solidFill>
                        </a:rPr>
                        <a:t>infra/k8s/observability/keda-scaledobjects.yaml</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rPr>
                        <a:t>Same dead targets and namespaces. Watched topics and groups the code never uses (booking.events, dispatch-engine; real: BookingCreated, dispatch-engine.booking-created). Hard-coded MSK hosts and a committed Secret with PLACEHOLDER credentials (review: High).</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rPr>
                        <a:t>Chart template keda-scaledobject.yaml with the real consumer groups (keda.enabled), plus keda-kafka-trigger-auth.yaml applied into the namespace</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0F172A"/>
                          </a:solidFill>
                        </a:rPr>
                        <a:t>payment-service StripeGatewayAdapter.java</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0F172A"/>
                          </a:solidFill>
                        </a:rPr>
                        <a:t>Razorpay is the gateway. The adapter only simulated charges, yet clients could choose it, and payment-service would not start without STRIPE_WEBHOOK_SECRET.</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50" dirty="0">
                          <a:solidFill>
                            <a:srgbClr val="0F172A"/>
                          </a:solidFill>
                        </a:rPr>
                        <a:t>Nothing: Razorpay only. The secret left Compose, Helm, CI and .env.example; tests use a test-only second gateway</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0">
                <a:tc>
                  <a:txBody>
                    <a:bodyPr/>
                    <a:lstStyle/>
                    <a:p>
                      <a:pPr indent="0" marL="0">
                        <a:buNone/>
                      </a:pPr>
                      <a:r>
                        <a:rPr lang="en-US" sz="1150" b="1" dirty="0">
                          <a:solidFill>
                            <a:srgbClr val="0F172A"/>
                          </a:solidFill>
                        </a:rPr>
                        <a:t>dispatch-engine MatchingWeightsStore.java (and its test)</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rPr>
                        <a:t>Kept the matching weights in memory: an admin change was lost on restart and differed on every replica.</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50" dirty="0">
                          <a:solidFill>
                            <a:srgbClr val="0F172A"/>
                          </a:solidFill>
                        </a:rPr>
                        <a:t>JpaDispatchSettingsStore over the dispatch.dispatch_settings table (V3)</a:t>
                      </a:r>
                      <a:endParaRPr lang="en-US" sz="1150" dirty="0"/>
                    </a:p>
                  </a:txBody>
                  <a:tcPr marL="76200" marR="762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5" name="text-750"/>
          <p:cNvSpPr txBox="1"/>
          <p:nvPr/>
        </p:nvSpPr>
        <p:spPr>
          <a:xfrm>
            <a:off x="548640" y="4846320"/>
            <a:ext cx="11091672" cy="320040"/>
          </a:xfrm>
          <a:prstGeom prst="rect">
            <a:avLst/>
          </a:prstGeom>
          <a:noFill/>
          <a:ln/>
        </p:spPr>
        <p:txBody>
          <a:bodyPr wrap="square" lIns="0" tIns="0" rIns="0" bIns="0" rtlCol="0" anchor="t"/>
          <a:lstStyle/>
          <a:p>
            <a:pPr algn="l" indent="0" marL="0">
              <a:buNone/>
            </a:pPr>
            <a:r>
              <a:rPr lang="en-US" sz="1200" i="1" dirty="0">
                <a:solidFill>
                  <a:schemeClr val="accent6"/>
                </a:solidFill>
              </a:rPr>
              <a:t>They show as staged deletions because they were removed with git rm. To bring one back: git restore --staged &lt;file&gt; &amp;&amp; git restore &lt;file&gt;</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Kubernetes: six namespaces became one</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The manifests now match what the pipeline actually deploys: five releases into K8S_NAMESPACE</a:t>
            </a:r>
            <a:endParaRPr lang="en-US" sz="1500" dirty="0"/>
          </a:p>
        </p:txBody>
      </p:sp>
      <p:sp>
        <p:nvSpPr>
          <p:cNvPr id="4" name="panel-751"/>
          <p:cNvSpPr txBox="1"/>
          <p:nvPr/>
        </p:nvSpPr>
        <p:spPr>
          <a:xfrm>
            <a:off x="548640" y="1554480"/>
            <a:ext cx="5166360" cy="4023360"/>
          </a:xfrm>
          <a:prstGeom prst="roundRect">
            <a:avLst>
              <a:gd name="adj" fmla="val 2273"/>
            </a:avLst>
          </a:prstGeom>
          <a:solidFill>
            <a:schemeClr val="accent4">
              <a:alpha val="8000"/>
            </a:schemeClr>
          </a:solidFill>
          <a:ln/>
        </p:spPr>
        <p:txBody>
          <a:bodyPr wrap="square" lIns="76200" tIns="38100" rIns="76200" bIns="38100" rtlCol="0" anchor="ctr"/>
          <a:lstStyle/>
          <a:p>
            <a:pPr algn="ctr" indent="0" marL="0">
              <a:buNone/>
            </a:pPr>
            <a:endParaRPr lang="en-US" sz="1200" dirty="0"/>
          </a:p>
        </p:txBody>
      </p:sp>
      <p:sp>
        <p:nvSpPr>
          <p:cNvPr id="5" name="text-752"/>
          <p:cNvSpPr txBox="1"/>
          <p:nvPr/>
        </p:nvSpPr>
        <p:spPr>
          <a:xfrm>
            <a:off x="731520" y="1627632"/>
            <a:ext cx="2743200" cy="320040"/>
          </a:xfrm>
          <a:prstGeom prst="rect">
            <a:avLst/>
          </a:prstGeom>
          <a:noFill/>
          <a:ln/>
        </p:spPr>
        <p:txBody>
          <a:bodyPr wrap="square" lIns="0" tIns="0" rIns="0" bIns="0" rtlCol="0" anchor="t"/>
          <a:lstStyle/>
          <a:p>
            <a:pPr algn="l" indent="0" marL="0">
              <a:buNone/>
            </a:pPr>
            <a:r>
              <a:rPr lang="en-US" sz="1500" b="1" dirty="0">
                <a:solidFill>
                  <a:schemeClr val="accent4"/>
                </a:solidFill>
              </a:rPr>
              <a:t>Before</a:t>
            </a:r>
            <a:endParaRPr lang="en-US" sz="1500" dirty="0"/>
          </a:p>
        </p:txBody>
      </p:sp>
      <p:sp>
        <p:nvSpPr>
          <p:cNvPr id="6" name="box-753"/>
          <p:cNvSpPr txBox="1"/>
          <p:nvPr/>
        </p:nvSpPr>
        <p:spPr>
          <a:xfrm>
            <a:off x="731520" y="2057400"/>
            <a:ext cx="2331720" cy="804672"/>
          </a:xfrm>
          <a:prstGeom prst="roundRect">
            <a:avLst>
              <a:gd name="adj" fmla="val 9091"/>
            </a:avLst>
          </a:prstGeom>
          <a:solidFill>
            <a:schemeClr val="bg1"/>
          </a:solidFill>
          <a:ln w="12700">
            <a:solidFill>
              <a:schemeClr val="accent4">
                <a:alpha val="45000"/>
              </a:schemeClr>
            </a:solidFill>
            <a:prstDash val="solid"/>
          </a:ln>
        </p:spPr>
        <p:txBody>
          <a:bodyPr wrap="square" lIns="76200" tIns="50800" rIns="76200" bIns="50800" rtlCol="0" anchor="t"/>
          <a:lstStyle/>
          <a:p>
            <a:pPr algn="l" indent="0" marL="0">
              <a:buNone/>
            </a:pPr>
            <a:r>
              <a:rPr lang="en-US" sz="1050" b="1" dirty="0">
                <a:solidFill>
                  <a:schemeClr val="tx1"/>
                </a:solidFill>
              </a:rPr>
              <a:t>auth-customer-provider</a:t>
            </a:r>
            <a:endParaRPr lang="en-US" sz="1200" dirty="0"/>
          </a:p>
          <a:p>
            <a:pPr algn="l" indent="0" marL="0">
              <a:buNone/>
            </a:pPr>
            <a:r>
              <a:rPr lang="en-US" sz="1000" dirty="0">
                <a:solidFill>
                  <a:schemeClr val="accent6"/>
                </a:solidFill>
              </a:rPr>
              <a:t>HPA: auth, customer, provider</a:t>
            </a:r>
            <a:endParaRPr lang="en-US" sz="1200" dirty="0"/>
          </a:p>
        </p:txBody>
      </p:sp>
      <p:sp>
        <p:nvSpPr>
          <p:cNvPr id="7" name="box-754"/>
          <p:cNvSpPr txBox="1"/>
          <p:nvPr/>
        </p:nvSpPr>
        <p:spPr>
          <a:xfrm>
            <a:off x="3182112" y="2057400"/>
            <a:ext cx="2331720" cy="804672"/>
          </a:xfrm>
          <a:prstGeom prst="roundRect">
            <a:avLst>
              <a:gd name="adj" fmla="val 9091"/>
            </a:avLst>
          </a:prstGeom>
          <a:solidFill>
            <a:schemeClr val="bg1"/>
          </a:solidFill>
          <a:ln w="12700">
            <a:solidFill>
              <a:schemeClr val="accent4">
                <a:alpha val="45000"/>
              </a:schemeClr>
            </a:solidFill>
            <a:prstDash val="solid"/>
          </a:ln>
        </p:spPr>
        <p:txBody>
          <a:bodyPr wrap="square" lIns="76200" tIns="50800" rIns="76200" bIns="50800" rtlCol="0" anchor="t"/>
          <a:lstStyle/>
          <a:p>
            <a:pPr algn="l" indent="0" marL="0">
              <a:buNone/>
            </a:pPr>
            <a:r>
              <a:rPr lang="en-US" sz="1050" b="1" dirty="0">
                <a:solidFill>
                  <a:schemeClr val="tx1"/>
                </a:solidFill>
              </a:rPr>
              <a:t>booking-dispatch-location</a:t>
            </a:r>
            <a:endParaRPr lang="en-US" sz="1200" dirty="0"/>
          </a:p>
          <a:p>
            <a:pPr algn="l" indent="0" marL="0">
              <a:buNone/>
            </a:pPr>
            <a:r>
              <a:rPr lang="en-US" sz="1000" dirty="0">
                <a:solidFill>
                  <a:schemeClr val="accent6"/>
                </a:solidFill>
              </a:rPr>
              <a:t>HPA: booking, dispatch, location; KEDA</a:t>
            </a:r>
            <a:endParaRPr lang="en-US" sz="1200" dirty="0"/>
          </a:p>
        </p:txBody>
      </p:sp>
      <p:sp>
        <p:nvSpPr>
          <p:cNvPr id="8" name="box-755"/>
          <p:cNvSpPr txBox="1"/>
          <p:nvPr/>
        </p:nvSpPr>
        <p:spPr>
          <a:xfrm>
            <a:off x="731520" y="2971800"/>
            <a:ext cx="2331720" cy="804672"/>
          </a:xfrm>
          <a:prstGeom prst="roundRect">
            <a:avLst>
              <a:gd name="adj" fmla="val 9091"/>
            </a:avLst>
          </a:prstGeom>
          <a:solidFill>
            <a:schemeClr val="bg1"/>
          </a:solidFill>
          <a:ln w="12700">
            <a:solidFill>
              <a:schemeClr val="accent4">
                <a:alpha val="45000"/>
              </a:schemeClr>
            </a:solidFill>
            <a:prstDash val="solid"/>
          </a:ln>
        </p:spPr>
        <p:txBody>
          <a:bodyPr wrap="square" lIns="76200" tIns="50800" rIns="76200" bIns="50800" rtlCol="0" anchor="t"/>
          <a:lstStyle/>
          <a:p>
            <a:pPr algn="l" indent="0" marL="0">
              <a:buNone/>
            </a:pPr>
            <a:r>
              <a:rPr lang="en-US" sz="1050" b="1" dirty="0">
                <a:solidFill>
                  <a:schemeClr val="tx1"/>
                </a:solidFill>
              </a:rPr>
              <a:t>payment-invoice-rating</a:t>
            </a:r>
            <a:endParaRPr lang="en-US" sz="1200" dirty="0"/>
          </a:p>
          <a:p>
            <a:pPr algn="l" indent="0" marL="0">
              <a:buNone/>
            </a:pPr>
            <a:r>
              <a:rPr lang="en-US" sz="1000" dirty="0">
                <a:solidFill>
                  <a:schemeClr val="accent6"/>
                </a:solidFill>
              </a:rPr>
              <a:t>HPA: payment, invoice; KEDA</a:t>
            </a:r>
            <a:endParaRPr lang="en-US" sz="1200" dirty="0"/>
          </a:p>
        </p:txBody>
      </p:sp>
      <p:sp>
        <p:nvSpPr>
          <p:cNvPr id="9" name="box-756"/>
          <p:cNvSpPr txBox="1"/>
          <p:nvPr/>
        </p:nvSpPr>
        <p:spPr>
          <a:xfrm>
            <a:off x="3182112" y="2971800"/>
            <a:ext cx="2331720" cy="804672"/>
          </a:xfrm>
          <a:prstGeom prst="roundRect">
            <a:avLst>
              <a:gd name="adj" fmla="val 9091"/>
            </a:avLst>
          </a:prstGeom>
          <a:solidFill>
            <a:schemeClr val="bg1"/>
          </a:solidFill>
          <a:ln w="12700">
            <a:solidFill>
              <a:schemeClr val="accent4">
                <a:alpha val="45000"/>
              </a:schemeClr>
            </a:solidFill>
            <a:prstDash val="solid"/>
          </a:ln>
        </p:spPr>
        <p:txBody>
          <a:bodyPr wrap="square" lIns="76200" tIns="50800" rIns="76200" bIns="50800" rtlCol="0" anchor="t"/>
          <a:lstStyle/>
          <a:p>
            <a:pPr algn="l" indent="0" marL="0">
              <a:buNone/>
            </a:pPr>
            <a:r>
              <a:rPr lang="en-US" sz="1050" b="1" dirty="0">
                <a:solidFill>
                  <a:schemeClr val="tx1"/>
                </a:solidFill>
              </a:rPr>
              <a:t>notification-chat-complaint</a:t>
            </a:r>
            <a:endParaRPr lang="en-US" sz="1200" dirty="0"/>
          </a:p>
          <a:p>
            <a:pPr algn="l" indent="0" marL="0">
              <a:buNone/>
            </a:pPr>
            <a:r>
              <a:rPr lang="en-US" sz="1000" dirty="0">
                <a:solidFill>
                  <a:schemeClr val="accent6"/>
                </a:solidFill>
              </a:rPr>
              <a:t>KEDA: notification, chat</a:t>
            </a:r>
            <a:endParaRPr lang="en-US" sz="1200" dirty="0"/>
          </a:p>
        </p:txBody>
      </p:sp>
      <p:sp>
        <p:nvSpPr>
          <p:cNvPr id="10" name="box-757"/>
          <p:cNvSpPr txBox="1"/>
          <p:nvPr/>
        </p:nvSpPr>
        <p:spPr>
          <a:xfrm>
            <a:off x="731520" y="3886200"/>
            <a:ext cx="2331720" cy="804672"/>
          </a:xfrm>
          <a:prstGeom prst="roundRect">
            <a:avLst>
              <a:gd name="adj" fmla="val 9091"/>
            </a:avLst>
          </a:prstGeom>
          <a:solidFill>
            <a:schemeClr val="bg1"/>
          </a:solidFill>
          <a:ln w="12700">
            <a:solidFill>
              <a:schemeClr val="accent4">
                <a:alpha val="45000"/>
              </a:schemeClr>
            </a:solidFill>
            <a:prstDash val="solid"/>
          </a:ln>
        </p:spPr>
        <p:txBody>
          <a:bodyPr wrap="square" lIns="76200" tIns="50800" rIns="76200" bIns="50800" rtlCol="0" anchor="t"/>
          <a:lstStyle/>
          <a:p>
            <a:pPr algn="l" indent="0" marL="0">
              <a:buNone/>
            </a:pPr>
            <a:r>
              <a:rPr lang="en-US" sz="1050" b="1" dirty="0">
                <a:solidFill>
                  <a:schemeClr val="tx1"/>
                </a:solidFill>
              </a:rPr>
              <a:t>admin-reporting-promotion</a:t>
            </a:r>
            <a:endParaRPr lang="en-US" sz="1200" dirty="0"/>
          </a:p>
          <a:p>
            <a:pPr algn="l" indent="0" marL="0">
              <a:buNone/>
            </a:pPr>
            <a:r>
              <a:rPr lang="en-US" sz="1000" dirty="0">
                <a:solidFill>
                  <a:schemeClr val="accent6"/>
                </a:solidFill>
              </a:rPr>
              <a:t>nothing deployed here</a:t>
            </a:r>
            <a:endParaRPr lang="en-US" sz="1200" dirty="0"/>
          </a:p>
        </p:txBody>
      </p:sp>
      <p:sp>
        <p:nvSpPr>
          <p:cNvPr id="11" name="box-758"/>
          <p:cNvSpPr txBox="1"/>
          <p:nvPr/>
        </p:nvSpPr>
        <p:spPr>
          <a:xfrm>
            <a:off x="3182112" y="3886200"/>
            <a:ext cx="2331720" cy="804672"/>
          </a:xfrm>
          <a:prstGeom prst="roundRect">
            <a:avLst>
              <a:gd name="adj" fmla="val 9091"/>
            </a:avLst>
          </a:prstGeom>
          <a:solidFill>
            <a:schemeClr val="bg1"/>
          </a:solidFill>
          <a:ln w="12700">
            <a:solidFill>
              <a:schemeClr val="accent4">
                <a:alpha val="45000"/>
              </a:schemeClr>
            </a:solidFill>
            <a:prstDash val="solid"/>
          </a:ln>
        </p:spPr>
        <p:txBody>
          <a:bodyPr wrap="square" lIns="76200" tIns="50800" rIns="76200" bIns="50800" rtlCol="0" anchor="t"/>
          <a:lstStyle/>
          <a:p>
            <a:pPr algn="l" indent="0" marL="0">
              <a:buNone/>
            </a:pPr>
            <a:r>
              <a:rPr lang="en-US" sz="1050" b="1" dirty="0">
                <a:solidFill>
                  <a:schemeClr val="tx1"/>
                </a:solidFill>
              </a:rPr>
              <a:t>catalog-pricing-verification</a:t>
            </a:r>
            <a:endParaRPr lang="en-US" sz="1200" dirty="0"/>
          </a:p>
          <a:p>
            <a:pPr algn="l" indent="0" marL="0">
              <a:buNone/>
            </a:pPr>
            <a:r>
              <a:rPr lang="en-US" sz="1000" dirty="0">
                <a:solidFill>
                  <a:schemeClr val="accent6"/>
                </a:solidFill>
              </a:rPr>
              <a:t>nothing deployed here</a:t>
            </a:r>
            <a:endParaRPr lang="en-US" sz="1200" dirty="0"/>
          </a:p>
        </p:txBody>
      </p:sp>
      <p:sp>
        <p:nvSpPr>
          <p:cNvPr id="12" name="text-759"/>
          <p:cNvSpPr txBox="1"/>
          <p:nvPr/>
        </p:nvSpPr>
        <p:spPr>
          <a:xfrm>
            <a:off x="731520" y="4846320"/>
            <a:ext cx="4846320" cy="640080"/>
          </a:xfrm>
          <a:prstGeom prst="rect">
            <a:avLst/>
          </a:prstGeom>
          <a:noFill/>
          <a:ln/>
        </p:spPr>
        <p:txBody>
          <a:bodyPr wrap="square" lIns="0" tIns="0" rIns="0" bIns="0" rtlCol="0" anchor="t"/>
          <a:lstStyle/>
          <a:p>
            <a:pPr algn="l" indent="0" marL="0">
              <a:buNone/>
            </a:pPr>
            <a:r>
              <a:rPr lang="en-US" sz="1150" dirty="0">
                <a:solidFill>
                  <a:schemeClr val="tx1"/>
                </a:solidFill>
              </a:rPr>
              <a:t>Targets named per service (auth-service, …) never exist; IRSA roles trusted service accounts nothing runs as</a:t>
            </a:r>
            <a:endParaRPr lang="en-US" sz="1150" dirty="0"/>
          </a:p>
        </p:txBody>
      </p:sp>
      <p:sp>
        <p:nvSpPr>
          <p:cNvPr id="13" name="arrow-760"/>
          <p:cNvSpPr/>
          <p:nvPr/>
        </p:nvSpPr>
        <p:spPr>
          <a:xfrm>
            <a:off x="5806440" y="3566160"/>
            <a:ext cx="548640" cy="0"/>
          </a:xfrm>
          <a:prstGeom prst="line">
            <a:avLst/>
          </a:prstGeom>
          <a:noFill/>
          <a:ln w="31750">
            <a:solidFill>
              <a:schemeClr val="tx1"/>
            </a:solidFill>
            <a:prstDash val="solid"/>
            <a:tailEnd type="triangle"/>
          </a:ln>
        </p:spPr>
        <p:txBody>
          <a:bodyPr/>
          <a:p/>
        </p:txBody>
      </p:sp>
      <p:sp>
        <p:nvSpPr>
          <p:cNvPr id="14" name="panel-761"/>
          <p:cNvSpPr txBox="1"/>
          <p:nvPr/>
        </p:nvSpPr>
        <p:spPr>
          <a:xfrm>
            <a:off x="6446520" y="1554480"/>
            <a:ext cx="5193792" cy="4023360"/>
          </a:xfrm>
          <a:prstGeom prst="roundRect">
            <a:avLst>
              <a:gd name="adj" fmla="val 2273"/>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5" name="text-762"/>
          <p:cNvSpPr txBox="1"/>
          <p:nvPr/>
        </p:nvSpPr>
        <p:spPr>
          <a:xfrm>
            <a:off x="6629400" y="1627632"/>
            <a:ext cx="2743200" cy="320040"/>
          </a:xfrm>
          <a:prstGeom prst="rect">
            <a:avLst/>
          </a:prstGeom>
          <a:noFill/>
          <a:ln/>
        </p:spPr>
        <p:txBody>
          <a:bodyPr wrap="square" lIns="0" tIns="0" rIns="0" bIns="0" rtlCol="0" anchor="t"/>
          <a:lstStyle/>
          <a:p>
            <a:pPr algn="l" indent="0" marL="0">
              <a:buNone/>
            </a:pPr>
            <a:r>
              <a:rPr lang="en-US" sz="1500" b="1" dirty="0">
                <a:solidFill>
                  <a:schemeClr val="accent1"/>
                </a:solidFill>
              </a:rPr>
              <a:t>After</a:t>
            </a:r>
            <a:endParaRPr lang="en-US" sz="1500" dirty="0"/>
          </a:p>
        </p:txBody>
      </p:sp>
      <p:sp>
        <p:nvSpPr>
          <p:cNvPr id="16" name="box-763"/>
          <p:cNvSpPr txBox="1"/>
          <p:nvPr/>
        </p:nvSpPr>
        <p:spPr>
          <a:xfrm>
            <a:off x="6629400" y="2011680"/>
            <a:ext cx="4828032" cy="365760"/>
          </a:xfrm>
          <a:prstGeom prst="roundRect">
            <a:avLst>
              <a:gd name="adj" fmla="val 20000"/>
            </a:avLst>
          </a:prstGeom>
          <a:solidFill>
            <a:schemeClr val="accent1"/>
          </a:solidFill>
          <a:ln/>
        </p:spPr>
        <p:txBody>
          <a:bodyPr wrap="square" lIns="76200" tIns="38100" rIns="76200" bIns="38100" rtlCol="0" anchor="ctr"/>
          <a:lstStyle/>
          <a:p>
            <a:pPr algn="ctr" indent="0" marL="0">
              <a:buNone/>
            </a:pPr>
            <a:r>
              <a:rPr lang="en-US" sz="1200" b="1" dirty="0">
                <a:solidFill>
                  <a:schemeClr val="bg1"/>
                </a:solidFill>
              </a:rPr>
              <a:t>namespace jihajoor  =  the pipeline's K8S_NAMESPACE</a:t>
            </a:r>
            <a:endParaRPr lang="en-US" sz="1200" dirty="0"/>
          </a:p>
        </p:txBody>
      </p:sp>
      <p:sp>
        <p:nvSpPr>
          <p:cNvPr id="17" name="box-764"/>
          <p:cNvSpPr txBox="1"/>
          <p:nvPr/>
        </p:nvSpPr>
        <p:spPr>
          <a:xfrm>
            <a:off x="6629400" y="2514600"/>
            <a:ext cx="1783080" cy="457200"/>
          </a:xfrm>
          <a:prstGeom prst="roundRect">
            <a:avLst>
              <a:gd name="adj" fmla="val 16000"/>
            </a:avLst>
          </a:prstGeom>
          <a:solidFill>
            <a:schemeClr val="bg1"/>
          </a:solidFill>
          <a:ln w="12700">
            <a:solidFill>
              <a:schemeClr val="accent1">
                <a:alpha val="50000"/>
              </a:schemeClr>
            </a:solidFill>
            <a:prstDash val="solid"/>
          </a:ln>
        </p:spPr>
        <p:txBody>
          <a:bodyPr wrap="square" lIns="76200" tIns="38100" rIns="76200" bIns="38100" rtlCol="0" anchor="ctr"/>
          <a:lstStyle/>
          <a:p>
            <a:pPr algn="ctr" indent="0" marL="0">
              <a:buNone/>
            </a:pPr>
            <a:r>
              <a:rPr lang="en-US" sz="1200" b="1" dirty="0">
                <a:solidFill>
                  <a:schemeClr val="tx1"/>
                </a:solidFill>
              </a:rPr>
              <a:t>api-gateway</a:t>
            </a:r>
            <a:endParaRPr lang="en-US" sz="1200" dirty="0"/>
          </a:p>
        </p:txBody>
      </p:sp>
      <p:sp>
        <p:nvSpPr>
          <p:cNvPr id="18" name="chip-765"/>
          <p:cNvSpPr txBox="1"/>
          <p:nvPr/>
        </p:nvSpPr>
        <p:spPr>
          <a:xfrm>
            <a:off x="8503920" y="2578608"/>
            <a:ext cx="1325880" cy="329184"/>
          </a:xfrm>
          <a:prstGeom prst="roundRect">
            <a:avLst>
              <a:gd name="adj" fmla="val 22222"/>
            </a:avLst>
          </a:prstGeom>
          <a:solidFill>
            <a:schemeClr val="accent5"/>
          </a:solidFill>
          <a:ln/>
        </p:spPr>
        <p:txBody>
          <a:bodyPr wrap="square" lIns="76200" tIns="38100" rIns="76200" bIns="38100" rtlCol="0" anchor="ctr"/>
          <a:lstStyle/>
          <a:p>
            <a:pPr algn="ctr" indent="0" marL="0">
              <a:buNone/>
            </a:pPr>
            <a:r>
              <a:rPr lang="en-US" sz="1000" dirty="0">
                <a:solidFill>
                  <a:schemeClr val="bg1"/>
                </a:solidFill>
              </a:rPr>
              <a:t>HPA</a:t>
            </a:r>
            <a:endParaRPr lang="en-US" sz="1000" dirty="0"/>
          </a:p>
        </p:txBody>
      </p:sp>
      <p:sp>
        <p:nvSpPr>
          <p:cNvPr id="19" name="chip-766"/>
          <p:cNvSpPr txBox="1"/>
          <p:nvPr/>
        </p:nvSpPr>
        <p:spPr>
          <a:xfrm>
            <a:off x="9921240" y="2578608"/>
            <a:ext cx="1536192" cy="329184"/>
          </a:xfrm>
          <a:prstGeom prst="roundRect">
            <a:avLst>
              <a:gd name="adj" fmla="val 22222"/>
            </a:avLst>
          </a:prstGeom>
          <a:solidFill>
            <a:schemeClr val="accent3"/>
          </a:solidFill>
          <a:ln/>
        </p:spPr>
        <p:txBody>
          <a:bodyPr wrap="square" lIns="76200" tIns="38100" rIns="76200" bIns="38100" rtlCol="0" anchor="ctr"/>
          <a:lstStyle/>
          <a:p>
            <a:pPr algn="ctr" indent="0" marL="0">
              <a:buNone/>
            </a:pPr>
            <a:r>
              <a:rPr lang="en-US" sz="1000" dirty="0">
                <a:solidFill>
                  <a:schemeClr val="bg1"/>
                </a:solidFill>
              </a:rPr>
              <a:t>IRSA</a:t>
            </a:r>
            <a:endParaRPr lang="en-US" sz="1000" dirty="0"/>
          </a:p>
        </p:txBody>
      </p:sp>
      <p:sp>
        <p:nvSpPr>
          <p:cNvPr id="20" name="box-767"/>
          <p:cNvSpPr txBox="1"/>
          <p:nvPr/>
        </p:nvSpPr>
        <p:spPr>
          <a:xfrm>
            <a:off x="6629400" y="3081528"/>
            <a:ext cx="1783080" cy="457200"/>
          </a:xfrm>
          <a:prstGeom prst="roundRect">
            <a:avLst>
              <a:gd name="adj" fmla="val 16000"/>
            </a:avLst>
          </a:prstGeom>
          <a:solidFill>
            <a:schemeClr val="bg1"/>
          </a:solidFill>
          <a:ln w="12700">
            <a:solidFill>
              <a:schemeClr val="accent1">
                <a:alpha val="50000"/>
              </a:schemeClr>
            </a:solidFill>
            <a:prstDash val="solid"/>
          </a:ln>
        </p:spPr>
        <p:txBody>
          <a:bodyPr wrap="square" lIns="76200" tIns="38100" rIns="76200" bIns="38100" rtlCol="0" anchor="ctr"/>
          <a:lstStyle/>
          <a:p>
            <a:pPr algn="ctr" indent="0" marL="0">
              <a:buNone/>
            </a:pPr>
            <a:r>
              <a:rPr lang="en-US" sz="1200" b="1" dirty="0">
                <a:solidFill>
                  <a:schemeClr val="tx1"/>
                </a:solidFill>
              </a:rPr>
              <a:t>identity-app</a:t>
            </a:r>
            <a:endParaRPr lang="en-US" sz="1200" dirty="0"/>
          </a:p>
        </p:txBody>
      </p:sp>
      <p:sp>
        <p:nvSpPr>
          <p:cNvPr id="21" name="chip-768"/>
          <p:cNvSpPr txBox="1"/>
          <p:nvPr/>
        </p:nvSpPr>
        <p:spPr>
          <a:xfrm>
            <a:off x="8503920" y="3145536"/>
            <a:ext cx="1325880" cy="329184"/>
          </a:xfrm>
          <a:prstGeom prst="roundRect">
            <a:avLst>
              <a:gd name="adj" fmla="val 22222"/>
            </a:avLst>
          </a:prstGeom>
          <a:solidFill>
            <a:schemeClr val="accent5"/>
          </a:solidFill>
          <a:ln/>
        </p:spPr>
        <p:txBody>
          <a:bodyPr wrap="square" lIns="76200" tIns="38100" rIns="76200" bIns="38100" rtlCol="0" anchor="ctr"/>
          <a:lstStyle/>
          <a:p>
            <a:pPr algn="ctr" indent="0" marL="0">
              <a:buNone/>
            </a:pPr>
            <a:r>
              <a:rPr lang="en-US" sz="1000" dirty="0">
                <a:solidFill>
                  <a:schemeClr val="bg1"/>
                </a:solidFill>
              </a:rPr>
              <a:t>HPA</a:t>
            </a:r>
            <a:endParaRPr lang="en-US" sz="1000" dirty="0"/>
          </a:p>
        </p:txBody>
      </p:sp>
      <p:sp>
        <p:nvSpPr>
          <p:cNvPr id="22" name="chip-769"/>
          <p:cNvSpPr txBox="1"/>
          <p:nvPr/>
        </p:nvSpPr>
        <p:spPr>
          <a:xfrm>
            <a:off x="9921240" y="3145536"/>
            <a:ext cx="1536192" cy="329184"/>
          </a:xfrm>
          <a:prstGeom prst="roundRect">
            <a:avLst>
              <a:gd name="adj" fmla="val 22222"/>
            </a:avLst>
          </a:prstGeom>
          <a:solidFill>
            <a:schemeClr val="accent3"/>
          </a:solidFill>
          <a:ln/>
        </p:spPr>
        <p:txBody>
          <a:bodyPr wrap="square" lIns="76200" tIns="38100" rIns="76200" bIns="38100" rtlCol="0" anchor="ctr"/>
          <a:lstStyle/>
          <a:p>
            <a:pPr algn="ctr" indent="0" marL="0">
              <a:buNone/>
            </a:pPr>
            <a:r>
              <a:rPr lang="en-US" sz="1000" dirty="0">
                <a:solidFill>
                  <a:schemeClr val="bg1"/>
                </a:solidFill>
              </a:rPr>
              <a:t>IRSA: S3, PII KMS</a:t>
            </a:r>
            <a:endParaRPr lang="en-US" sz="1000" dirty="0"/>
          </a:p>
        </p:txBody>
      </p:sp>
      <p:sp>
        <p:nvSpPr>
          <p:cNvPr id="23" name="box-770"/>
          <p:cNvSpPr txBox="1"/>
          <p:nvPr/>
        </p:nvSpPr>
        <p:spPr>
          <a:xfrm>
            <a:off x="6629400" y="3648456"/>
            <a:ext cx="1783080" cy="457200"/>
          </a:xfrm>
          <a:prstGeom prst="roundRect">
            <a:avLst>
              <a:gd name="adj" fmla="val 16000"/>
            </a:avLst>
          </a:prstGeom>
          <a:solidFill>
            <a:schemeClr val="bg1"/>
          </a:solidFill>
          <a:ln w="12700">
            <a:solidFill>
              <a:schemeClr val="accent1">
                <a:alpha val="50000"/>
              </a:schemeClr>
            </a:solidFill>
            <a:prstDash val="solid"/>
          </a:ln>
        </p:spPr>
        <p:txBody>
          <a:bodyPr wrap="square" lIns="76200" tIns="38100" rIns="76200" bIns="38100" rtlCol="0" anchor="ctr"/>
          <a:lstStyle/>
          <a:p>
            <a:pPr algn="ctr" indent="0" marL="0">
              <a:buNone/>
            </a:pPr>
            <a:r>
              <a:rPr lang="en-US" sz="1200" b="1" dirty="0">
                <a:solidFill>
                  <a:schemeClr val="tx1"/>
                </a:solidFill>
              </a:rPr>
              <a:t>jobs-app</a:t>
            </a:r>
            <a:endParaRPr lang="en-US" sz="1200" dirty="0"/>
          </a:p>
        </p:txBody>
      </p:sp>
      <p:sp>
        <p:nvSpPr>
          <p:cNvPr id="24" name="chip-771"/>
          <p:cNvSpPr txBox="1"/>
          <p:nvPr/>
        </p:nvSpPr>
        <p:spPr>
          <a:xfrm>
            <a:off x="8503920" y="3712464"/>
            <a:ext cx="1325880" cy="329184"/>
          </a:xfrm>
          <a:prstGeom prst="roundRect">
            <a:avLst>
              <a:gd name="adj" fmla="val 22222"/>
            </a:avLst>
          </a:prstGeom>
          <a:solidFill>
            <a:schemeClr val="accent5"/>
          </a:solidFill>
          <a:ln/>
        </p:spPr>
        <p:txBody>
          <a:bodyPr wrap="square" lIns="76200" tIns="38100" rIns="76200" bIns="38100" rtlCol="0" anchor="ctr"/>
          <a:lstStyle/>
          <a:p>
            <a:pPr algn="ctr" indent="0" marL="0">
              <a:buNone/>
            </a:pPr>
            <a:r>
              <a:rPr lang="en-US" sz="1000" dirty="0">
                <a:solidFill>
                  <a:schemeClr val="bg1"/>
                </a:solidFill>
              </a:rPr>
              <a:t>KEDA lag / HPA</a:t>
            </a:r>
            <a:endParaRPr lang="en-US" sz="1000" dirty="0"/>
          </a:p>
        </p:txBody>
      </p:sp>
      <p:sp>
        <p:nvSpPr>
          <p:cNvPr id="25" name="chip-772"/>
          <p:cNvSpPr txBox="1"/>
          <p:nvPr/>
        </p:nvSpPr>
        <p:spPr>
          <a:xfrm>
            <a:off x="9921240" y="3712464"/>
            <a:ext cx="1536192" cy="329184"/>
          </a:xfrm>
          <a:prstGeom prst="roundRect">
            <a:avLst>
              <a:gd name="adj" fmla="val 22222"/>
            </a:avLst>
          </a:prstGeom>
          <a:solidFill>
            <a:schemeClr val="accent3"/>
          </a:solidFill>
          <a:ln/>
        </p:spPr>
        <p:txBody>
          <a:bodyPr wrap="square" lIns="76200" tIns="38100" rIns="76200" bIns="38100" rtlCol="0" anchor="ctr"/>
          <a:lstStyle/>
          <a:p>
            <a:pPr algn="ctr" indent="0" marL="0">
              <a:buNone/>
            </a:pPr>
            <a:r>
              <a:rPr lang="en-US" sz="1000" dirty="0">
                <a:solidFill>
                  <a:schemeClr val="bg1"/>
                </a:solidFill>
              </a:rPr>
              <a:t>IRSA: S3</a:t>
            </a:r>
            <a:endParaRPr lang="en-US" sz="1000" dirty="0"/>
          </a:p>
        </p:txBody>
      </p:sp>
      <p:sp>
        <p:nvSpPr>
          <p:cNvPr id="26" name="box-773"/>
          <p:cNvSpPr txBox="1"/>
          <p:nvPr/>
        </p:nvSpPr>
        <p:spPr>
          <a:xfrm>
            <a:off x="6629400" y="4215384"/>
            <a:ext cx="1783080" cy="457200"/>
          </a:xfrm>
          <a:prstGeom prst="roundRect">
            <a:avLst>
              <a:gd name="adj" fmla="val 16000"/>
            </a:avLst>
          </a:prstGeom>
          <a:solidFill>
            <a:schemeClr val="bg1"/>
          </a:solidFill>
          <a:ln w="12700">
            <a:solidFill>
              <a:schemeClr val="accent1">
                <a:alpha val="50000"/>
              </a:schemeClr>
            </a:solidFill>
            <a:prstDash val="solid"/>
          </a:ln>
        </p:spPr>
        <p:txBody>
          <a:bodyPr wrap="square" lIns="76200" tIns="38100" rIns="76200" bIns="38100" rtlCol="0" anchor="ctr"/>
          <a:lstStyle/>
          <a:p>
            <a:pPr algn="ctr" indent="0" marL="0">
              <a:buNone/>
            </a:pPr>
            <a:r>
              <a:rPr lang="en-US" sz="1200" b="1" dirty="0">
                <a:solidFill>
                  <a:schemeClr val="tx1"/>
                </a:solidFill>
              </a:rPr>
              <a:t>money-app</a:t>
            </a:r>
            <a:endParaRPr lang="en-US" sz="1200" dirty="0"/>
          </a:p>
        </p:txBody>
      </p:sp>
      <p:sp>
        <p:nvSpPr>
          <p:cNvPr id="27" name="chip-774"/>
          <p:cNvSpPr txBox="1"/>
          <p:nvPr/>
        </p:nvSpPr>
        <p:spPr>
          <a:xfrm>
            <a:off x="8503920" y="4279392"/>
            <a:ext cx="1325880" cy="329184"/>
          </a:xfrm>
          <a:prstGeom prst="roundRect">
            <a:avLst>
              <a:gd name="adj" fmla="val 22222"/>
            </a:avLst>
          </a:prstGeom>
          <a:solidFill>
            <a:schemeClr val="accent5"/>
          </a:solidFill>
          <a:ln/>
        </p:spPr>
        <p:txBody>
          <a:bodyPr wrap="square" lIns="76200" tIns="38100" rIns="76200" bIns="38100" rtlCol="0" anchor="ctr"/>
          <a:lstStyle/>
          <a:p>
            <a:pPr algn="ctr" indent="0" marL="0">
              <a:buNone/>
            </a:pPr>
            <a:r>
              <a:rPr lang="en-US" sz="1000" dirty="0">
                <a:solidFill>
                  <a:schemeClr val="bg1"/>
                </a:solidFill>
              </a:rPr>
              <a:t>KEDA lag / HPA</a:t>
            </a:r>
            <a:endParaRPr lang="en-US" sz="1000" dirty="0"/>
          </a:p>
        </p:txBody>
      </p:sp>
      <p:sp>
        <p:nvSpPr>
          <p:cNvPr id="28" name="chip-775"/>
          <p:cNvSpPr txBox="1"/>
          <p:nvPr/>
        </p:nvSpPr>
        <p:spPr>
          <a:xfrm>
            <a:off x="9921240" y="4279392"/>
            <a:ext cx="1536192" cy="329184"/>
          </a:xfrm>
          <a:prstGeom prst="roundRect">
            <a:avLst>
              <a:gd name="adj" fmla="val 22222"/>
            </a:avLst>
          </a:prstGeom>
          <a:solidFill>
            <a:schemeClr val="accent3"/>
          </a:solidFill>
          <a:ln/>
        </p:spPr>
        <p:txBody>
          <a:bodyPr wrap="square" lIns="76200" tIns="38100" rIns="76200" bIns="38100" rtlCol="0" anchor="ctr"/>
          <a:lstStyle/>
          <a:p>
            <a:pPr algn="ctr" indent="0" marL="0">
              <a:buNone/>
            </a:pPr>
            <a:r>
              <a:rPr lang="en-US" sz="1000" dirty="0">
                <a:solidFill>
                  <a:schemeClr val="bg1"/>
                </a:solidFill>
              </a:rPr>
              <a:t>IRSA: S3, PII KMS</a:t>
            </a:r>
            <a:endParaRPr lang="en-US" sz="1000" dirty="0"/>
          </a:p>
        </p:txBody>
      </p:sp>
      <p:sp>
        <p:nvSpPr>
          <p:cNvPr id="29" name="box-776"/>
          <p:cNvSpPr txBox="1"/>
          <p:nvPr/>
        </p:nvSpPr>
        <p:spPr>
          <a:xfrm>
            <a:off x="6629400" y="4782312"/>
            <a:ext cx="1783080" cy="457200"/>
          </a:xfrm>
          <a:prstGeom prst="roundRect">
            <a:avLst>
              <a:gd name="adj" fmla="val 16000"/>
            </a:avLst>
          </a:prstGeom>
          <a:solidFill>
            <a:schemeClr val="bg1"/>
          </a:solidFill>
          <a:ln w="12700">
            <a:solidFill>
              <a:schemeClr val="accent1">
                <a:alpha val="50000"/>
              </a:schemeClr>
            </a:solidFill>
            <a:prstDash val="solid"/>
          </a:ln>
        </p:spPr>
        <p:txBody>
          <a:bodyPr wrap="square" lIns="76200" tIns="38100" rIns="76200" bIns="38100" rtlCol="0" anchor="ctr"/>
          <a:lstStyle/>
          <a:p>
            <a:pPr algn="ctr" indent="0" marL="0">
              <a:buNone/>
            </a:pPr>
            <a:r>
              <a:rPr lang="en-US" sz="1200" b="1" dirty="0">
                <a:solidFill>
                  <a:schemeClr val="tx1"/>
                </a:solidFill>
              </a:rPr>
              <a:t>engagement-app</a:t>
            </a:r>
            <a:endParaRPr lang="en-US" sz="1200" dirty="0"/>
          </a:p>
        </p:txBody>
      </p:sp>
      <p:sp>
        <p:nvSpPr>
          <p:cNvPr id="30" name="chip-777"/>
          <p:cNvSpPr txBox="1"/>
          <p:nvPr/>
        </p:nvSpPr>
        <p:spPr>
          <a:xfrm>
            <a:off x="8503920" y="4846320"/>
            <a:ext cx="1325880" cy="329184"/>
          </a:xfrm>
          <a:prstGeom prst="roundRect">
            <a:avLst>
              <a:gd name="adj" fmla="val 22222"/>
            </a:avLst>
          </a:prstGeom>
          <a:solidFill>
            <a:schemeClr val="accent5"/>
          </a:solidFill>
          <a:ln/>
        </p:spPr>
        <p:txBody>
          <a:bodyPr wrap="square" lIns="76200" tIns="38100" rIns="76200" bIns="38100" rtlCol="0" anchor="ctr"/>
          <a:lstStyle/>
          <a:p>
            <a:pPr algn="ctr" indent="0" marL="0">
              <a:buNone/>
            </a:pPr>
            <a:r>
              <a:rPr lang="en-US" sz="1000" dirty="0">
                <a:solidFill>
                  <a:schemeClr val="bg1"/>
                </a:solidFill>
              </a:rPr>
              <a:t>KEDA lag / HPA</a:t>
            </a:r>
            <a:endParaRPr lang="en-US" sz="1000" dirty="0"/>
          </a:p>
        </p:txBody>
      </p:sp>
      <p:sp>
        <p:nvSpPr>
          <p:cNvPr id="31" name="chip-778"/>
          <p:cNvSpPr txBox="1"/>
          <p:nvPr/>
        </p:nvSpPr>
        <p:spPr>
          <a:xfrm>
            <a:off x="9921240" y="4846320"/>
            <a:ext cx="1536192" cy="329184"/>
          </a:xfrm>
          <a:prstGeom prst="roundRect">
            <a:avLst>
              <a:gd name="adj" fmla="val 22222"/>
            </a:avLst>
          </a:prstGeom>
          <a:solidFill>
            <a:schemeClr val="accent3"/>
          </a:solidFill>
          <a:ln/>
        </p:spPr>
        <p:txBody>
          <a:bodyPr wrap="square" lIns="76200" tIns="38100" rIns="76200" bIns="38100" rtlCol="0" anchor="ctr"/>
          <a:lstStyle/>
          <a:p>
            <a:pPr algn="ctr" indent="0" marL="0">
              <a:buNone/>
            </a:pPr>
            <a:r>
              <a:rPr lang="en-US" sz="1000" dirty="0">
                <a:solidFill>
                  <a:schemeClr val="bg1"/>
                </a:solidFill>
              </a:rPr>
              <a:t>IRSA: S3</a:t>
            </a:r>
            <a:endParaRPr lang="en-US" sz="1000" dirty="0"/>
          </a:p>
        </p:txBody>
      </p:sp>
      <p:sp>
        <p:nvSpPr>
          <p:cNvPr id="32" name="icon-bg-activity-779"/>
          <p:cNvSpPr/>
          <p:nvPr/>
        </p:nvSpPr>
        <p:spPr>
          <a:xfrm>
            <a:off x="548640" y="5760720"/>
            <a:ext cx="438912" cy="438912"/>
          </a:xfrm>
          <a:prstGeom prst="ellipse">
            <a:avLst/>
          </a:prstGeom>
          <a:solidFill>
            <a:schemeClr val="tx1"/>
          </a:solidFill>
          <a:ln/>
        </p:spPr>
        <p:txBody>
          <a:bodyPr/>
          <a:p/>
        </p:txBody>
      </p:sp>
      <p:pic>
        <p:nvPicPr>
          <p:cNvPr id="33" name="icon-activity-780" descr="activity">    </p:cNvPr>
          <p:cNvPicPr>
            <a:picLocks noChangeAspect="1"/>
          </p:cNvPicPr>
          <p:nvPr/>
        </p:nvPicPr>
        <p:blipFill>
          <a:blip r:embed="rId1"/>
          <a:stretch>
            <a:fillRect/>
          </a:stretch>
        </p:blipFill>
        <p:spPr>
          <a:xfrm>
            <a:off x="653979" y="5866059"/>
            <a:ext cx="228234" cy="228234"/>
          </a:xfrm>
          <a:prstGeom prst="rect">
            <a:avLst/>
          </a:prstGeom>
        </p:spPr>
      </p:pic>
      <p:sp>
        <p:nvSpPr>
          <p:cNvPr id="34" name="text-781"/>
          <p:cNvSpPr txBox="1"/>
          <p:nvPr/>
        </p:nvSpPr>
        <p:spPr>
          <a:xfrm>
            <a:off x="1097280" y="5733288"/>
            <a:ext cx="3108960" cy="548640"/>
          </a:xfrm>
          <a:prstGeom prst="rect">
            <a:avLst/>
          </a:prstGeom>
          <a:noFill/>
          <a:ln/>
        </p:spPr>
        <p:txBody>
          <a:bodyPr wrap="square" lIns="0" tIns="0" rIns="0" bIns="0" rtlCol="0" anchor="t"/>
          <a:lstStyle/>
          <a:p>
            <a:pPr algn="l" indent="0" marL="0">
              <a:buNone/>
            </a:pPr>
            <a:r>
              <a:rPr lang="en-US" sz="1200" dirty="0">
                <a:solidFill>
                  <a:schemeClr val="tx1"/>
                </a:solidFill>
              </a:rPr>
              <a:t>Prometheus scrapes every hosted service's port, by label</a:t>
            </a:r>
            <a:endParaRPr lang="en-US" sz="1200" dirty="0"/>
          </a:p>
        </p:txBody>
      </p:sp>
      <p:sp>
        <p:nvSpPr>
          <p:cNvPr id="35" name="icon-bg-file-782"/>
          <p:cNvSpPr/>
          <p:nvPr/>
        </p:nvSpPr>
        <p:spPr>
          <a:xfrm>
            <a:off x="4306824" y="5760720"/>
            <a:ext cx="438912" cy="438912"/>
          </a:xfrm>
          <a:prstGeom prst="ellipse">
            <a:avLst/>
          </a:prstGeom>
          <a:solidFill>
            <a:schemeClr val="tx1"/>
          </a:solidFill>
          <a:ln/>
        </p:spPr>
        <p:txBody>
          <a:bodyPr/>
          <a:p/>
        </p:txBody>
      </p:sp>
      <p:pic>
        <p:nvPicPr>
          <p:cNvPr id="36" name="icon-file-783" descr="file">    </p:cNvPr>
          <p:cNvPicPr>
            <a:picLocks noChangeAspect="1"/>
          </p:cNvPicPr>
          <p:nvPr/>
        </p:nvPicPr>
        <p:blipFill>
          <a:blip r:embed="rId2"/>
          <a:stretch>
            <a:fillRect/>
          </a:stretch>
        </p:blipFill>
        <p:spPr>
          <a:xfrm>
            <a:off x="4412163" y="5866059"/>
            <a:ext cx="228234" cy="228234"/>
          </a:xfrm>
          <a:prstGeom prst="rect">
            <a:avLst/>
          </a:prstGeom>
        </p:spPr>
      </p:pic>
      <p:sp>
        <p:nvSpPr>
          <p:cNvPr id="37" name="text-784"/>
          <p:cNvSpPr txBox="1"/>
          <p:nvPr/>
        </p:nvSpPr>
        <p:spPr>
          <a:xfrm>
            <a:off x="4855464" y="5733288"/>
            <a:ext cx="3108960" cy="548640"/>
          </a:xfrm>
          <a:prstGeom prst="rect">
            <a:avLst/>
          </a:prstGeom>
          <a:noFill/>
          <a:ln/>
        </p:spPr>
        <p:txBody>
          <a:bodyPr wrap="square" lIns="0" tIns="0" rIns="0" bIns="0" rtlCol="0" anchor="t"/>
          <a:lstStyle/>
          <a:p>
            <a:pPr algn="l" indent="0" marL="0">
              <a:buNone/>
            </a:pPr>
            <a:r>
              <a:rPr lang="en-US" sz="1200" dirty="0">
                <a:solidFill>
                  <a:schemeClr val="tx1"/>
                </a:solidFill>
              </a:rPr>
              <a:t>Fluent Bit: one CloudWatch log group per deployable</a:t>
            </a:r>
            <a:endParaRPr lang="en-US" sz="1200" dirty="0"/>
          </a:p>
        </p:txBody>
      </p:sp>
      <p:sp>
        <p:nvSpPr>
          <p:cNvPr id="38" name="icon-bg-layers-785"/>
          <p:cNvSpPr/>
          <p:nvPr/>
        </p:nvSpPr>
        <p:spPr>
          <a:xfrm>
            <a:off x="8065008" y="5760720"/>
            <a:ext cx="438912" cy="438912"/>
          </a:xfrm>
          <a:prstGeom prst="ellipse">
            <a:avLst/>
          </a:prstGeom>
          <a:solidFill>
            <a:schemeClr val="tx1"/>
          </a:solidFill>
          <a:ln/>
        </p:spPr>
        <p:txBody>
          <a:bodyPr/>
          <a:p/>
        </p:txBody>
      </p:sp>
      <p:pic>
        <p:nvPicPr>
          <p:cNvPr id="39" name="icon-layers-786" descr="layers">    </p:cNvPr>
          <p:cNvPicPr>
            <a:picLocks noChangeAspect="1"/>
          </p:cNvPicPr>
          <p:nvPr/>
        </p:nvPicPr>
        <p:blipFill>
          <a:blip r:embed="rId3"/>
          <a:stretch>
            <a:fillRect/>
          </a:stretch>
        </p:blipFill>
        <p:spPr>
          <a:xfrm>
            <a:off x="8170347" y="5866059"/>
            <a:ext cx="228234" cy="228234"/>
          </a:xfrm>
          <a:prstGeom prst="rect">
            <a:avLst/>
          </a:prstGeom>
        </p:spPr>
      </p:pic>
      <p:sp>
        <p:nvSpPr>
          <p:cNvPr id="40" name="text-787"/>
          <p:cNvSpPr txBox="1"/>
          <p:nvPr/>
        </p:nvSpPr>
        <p:spPr>
          <a:xfrm>
            <a:off x="8613648" y="5733288"/>
            <a:ext cx="3108960" cy="548640"/>
          </a:xfrm>
          <a:prstGeom prst="rect">
            <a:avLst/>
          </a:prstGeom>
          <a:noFill/>
          <a:ln/>
        </p:spPr>
        <p:txBody>
          <a:bodyPr wrap="square" lIns="0" tIns="0" rIns="0" bIns="0" rtlCol="0" anchor="t"/>
          <a:lstStyle/>
          <a:p>
            <a:pPr algn="l" indent="0" marL="0">
              <a:buNone/>
            </a:pPr>
            <a:r>
              <a:rPr lang="en-US" sz="1200" dirty="0">
                <a:solidFill>
                  <a:schemeClr val="tx1"/>
                </a:solidFill>
              </a:rPr>
              <a:t>Terraform: k8s_namespace, one IRSA role per deployable</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Dispatch settings live in the database</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One row holds the five weights and the six tunables; every replica reads it</a:t>
            </a:r>
            <a:endParaRPr lang="en-US" sz="1500" dirty="0"/>
          </a:p>
        </p:txBody>
      </p:sp>
      <p:sp>
        <p:nvSpPr>
          <p:cNvPr id="4" name="box-788"/>
          <p:cNvSpPr txBox="1"/>
          <p:nvPr/>
        </p:nvSpPr>
        <p:spPr>
          <a:xfrm>
            <a:off x="548640" y="1783080"/>
            <a:ext cx="2011680" cy="868680"/>
          </a:xfrm>
          <a:prstGeom prst="roundRect">
            <a:avLst>
              <a:gd name="adj" fmla="val 8421"/>
            </a:avLst>
          </a:prstGeom>
          <a:solidFill>
            <a:schemeClr val="accent3">
              <a:alpha val="15000"/>
            </a:schemeClr>
          </a:solidFill>
          <a:ln/>
        </p:spPr>
        <p:txBody>
          <a:bodyPr wrap="square" lIns="76200" tIns="38100" rIns="76200" bIns="38100" rtlCol="0" anchor="ctr"/>
          <a:lstStyle/>
          <a:p>
            <a:pPr algn="ctr" indent="0" marL="0">
              <a:buNone/>
            </a:pPr>
            <a:r>
              <a:rPr lang="en-US" sz="1300" b="1" dirty="0">
                <a:solidFill>
                  <a:schemeClr val="tx1"/>
                </a:solidFill>
              </a:rPr>
              <a:t>Admin Portal</a:t>
            </a:r>
            <a:endParaRPr lang="en-US" sz="1200" dirty="0"/>
          </a:p>
          <a:p>
            <a:pPr algn="ctr" indent="0" marL="0">
              <a:buNone/>
            </a:pPr>
            <a:r>
              <a:rPr lang="en-US" sz="1050" dirty="0">
                <a:solidFill>
                  <a:schemeClr val="tx1"/>
                </a:solidFill>
              </a:rPr>
              <a:t>PUT /admin/dispatch/config</a:t>
            </a:r>
            <a:endParaRPr lang="en-US" sz="1200" dirty="0"/>
          </a:p>
        </p:txBody>
      </p:sp>
      <p:sp>
        <p:nvSpPr>
          <p:cNvPr id="5" name="arrow-789"/>
          <p:cNvSpPr/>
          <p:nvPr/>
        </p:nvSpPr>
        <p:spPr>
          <a:xfrm>
            <a:off x="2560320" y="2212848"/>
            <a:ext cx="411480" cy="0"/>
          </a:xfrm>
          <a:prstGeom prst="line">
            <a:avLst/>
          </a:prstGeom>
          <a:noFill/>
          <a:ln w="19050">
            <a:solidFill>
              <a:schemeClr val="accent6"/>
            </a:solidFill>
            <a:prstDash val="solid"/>
            <a:tailEnd type="triangle"/>
          </a:ln>
        </p:spPr>
        <p:txBody>
          <a:bodyPr/>
          <a:p/>
        </p:txBody>
      </p:sp>
      <p:sp>
        <p:nvSpPr>
          <p:cNvPr id="6" name="box-790"/>
          <p:cNvSpPr txBox="1"/>
          <p:nvPr/>
        </p:nvSpPr>
        <p:spPr>
          <a:xfrm>
            <a:off x="2971800" y="1783080"/>
            <a:ext cx="2514600" cy="868680"/>
          </a:xfrm>
          <a:prstGeom prst="roundRect">
            <a:avLst>
              <a:gd name="adj" fmla="val 8421"/>
            </a:avLst>
          </a:prstGeom>
          <a:solidFill>
            <a:schemeClr val="accent1">
              <a:alpha val="15000"/>
            </a:schemeClr>
          </a:solidFill>
          <a:ln/>
        </p:spPr>
        <p:txBody>
          <a:bodyPr wrap="square" lIns="76200" tIns="38100" rIns="76200" bIns="38100" rtlCol="0" anchor="ctr"/>
          <a:lstStyle/>
          <a:p>
            <a:pPr algn="ctr" indent="0" marL="0">
              <a:buNone/>
            </a:pPr>
            <a:r>
              <a:rPr lang="en-US" sz="1300" b="1" dirty="0">
                <a:solidFill>
                  <a:schemeClr val="tx1"/>
                </a:solidFill>
              </a:rPr>
              <a:t>dispatch replica A</a:t>
            </a:r>
            <a:endParaRPr lang="en-US" sz="1200" dirty="0"/>
          </a:p>
          <a:p>
            <a:pPr algn="ctr" indent="0" marL="0">
              <a:buNone/>
            </a:pPr>
            <a:r>
              <a:rPr lang="en-US" sz="1050" dirty="0">
                <a:solidFill>
                  <a:schemeClr val="tx1"/>
                </a:solidFill>
              </a:rPr>
              <a:t>validate, lock the row, save</a:t>
            </a:r>
            <a:endParaRPr lang="en-US" sz="1200" dirty="0"/>
          </a:p>
        </p:txBody>
      </p:sp>
      <p:sp>
        <p:nvSpPr>
          <p:cNvPr id="7" name="arrow-791"/>
          <p:cNvSpPr/>
          <p:nvPr/>
        </p:nvSpPr>
        <p:spPr>
          <a:xfrm>
            <a:off x="5486400" y="2212848"/>
            <a:ext cx="411480" cy="0"/>
          </a:xfrm>
          <a:prstGeom prst="line">
            <a:avLst/>
          </a:prstGeom>
          <a:noFill/>
          <a:ln w="19050">
            <a:solidFill>
              <a:schemeClr val="accent6"/>
            </a:solidFill>
            <a:prstDash val="solid"/>
            <a:tailEnd type="triangle"/>
          </a:ln>
        </p:spPr>
        <p:txBody>
          <a:bodyPr/>
          <a:p/>
        </p:txBody>
      </p:sp>
      <p:sp>
        <p:nvSpPr>
          <p:cNvPr id="8" name="box-792"/>
          <p:cNvSpPr txBox="1"/>
          <p:nvPr/>
        </p:nvSpPr>
        <p:spPr>
          <a:xfrm>
            <a:off x="5897880" y="1645920"/>
            <a:ext cx="2697480" cy="1143000"/>
          </a:xfrm>
          <a:prstGeom prst="roundRect">
            <a:avLst>
              <a:gd name="adj" fmla="val 6400"/>
            </a:avLst>
          </a:prstGeom>
          <a:solidFill>
            <a:schemeClr val="accent5"/>
          </a:solidFill>
          <a:ln/>
        </p:spPr>
        <p:txBody>
          <a:bodyPr wrap="square" lIns="76200" tIns="38100" rIns="76200" bIns="38100" rtlCol="0" anchor="ctr"/>
          <a:lstStyle/>
          <a:p>
            <a:pPr algn="ctr" indent="0" marL="0">
              <a:buNone/>
            </a:pPr>
            <a:r>
              <a:rPr lang="en-US" sz="1250" b="1" dirty="0">
                <a:solidFill>
                  <a:schemeClr val="bg1"/>
                </a:solidFill>
              </a:rPr>
              <a:t>dispatch.dispatch_settings</a:t>
            </a:r>
            <a:endParaRPr lang="en-US" sz="1200" dirty="0"/>
          </a:p>
          <a:p>
            <a:pPr algn="ctr" indent="0" marL="0">
              <a:buNone/>
            </a:pPr>
            <a:r>
              <a:rPr lang="en-US" sz="1050" dirty="0">
                <a:solidFill>
                  <a:schemeClr val="bg1"/>
                </a:solidFill>
              </a:rPr>
              <a:t>one row: weights, tunables, version, updated_by, updated_at</a:t>
            </a:r>
            <a:endParaRPr lang="en-US" sz="1200" dirty="0"/>
          </a:p>
        </p:txBody>
      </p:sp>
      <p:sp>
        <p:nvSpPr>
          <p:cNvPr id="9" name="box-793"/>
          <p:cNvSpPr txBox="1"/>
          <p:nvPr/>
        </p:nvSpPr>
        <p:spPr>
          <a:xfrm>
            <a:off x="2971800" y="3429000"/>
            <a:ext cx="2514600" cy="731520"/>
          </a:xfrm>
          <a:prstGeom prst="roundRect">
            <a:avLst>
              <a:gd name="adj" fmla="val 10000"/>
            </a:avLst>
          </a:prstGeom>
          <a:solidFill>
            <a:schemeClr val="accent1">
              <a:alpha val="15000"/>
            </a:schemeClr>
          </a:solidFill>
          <a:ln/>
        </p:spPr>
        <p:txBody>
          <a:bodyPr wrap="square" lIns="76200" tIns="38100" rIns="76200" bIns="38100" rtlCol="0" anchor="ctr"/>
          <a:lstStyle/>
          <a:p>
            <a:pPr algn="ctr" indent="0" marL="0">
              <a:buNone/>
            </a:pPr>
            <a:r>
              <a:rPr lang="en-US" sz="1300" b="1" dirty="0">
                <a:solidFill>
                  <a:schemeClr val="tx1"/>
                </a:solidFill>
              </a:rPr>
              <a:t>dispatch replica B</a:t>
            </a:r>
            <a:endParaRPr lang="en-US" sz="1200" dirty="0"/>
          </a:p>
          <a:p>
            <a:pPr algn="ctr" indent="0" marL="0">
              <a:buNone/>
            </a:pPr>
            <a:r>
              <a:rPr lang="en-US" sz="1050" dirty="0">
                <a:solidFill>
                  <a:schemeClr val="tx1"/>
                </a:solidFill>
              </a:rPr>
              <a:t>one snapshot per search</a:t>
            </a:r>
            <a:endParaRPr lang="en-US" sz="1200" dirty="0"/>
          </a:p>
        </p:txBody>
      </p:sp>
      <p:sp>
        <p:nvSpPr>
          <p:cNvPr id="10" name="arrow-794"/>
          <p:cNvSpPr/>
          <p:nvPr/>
        </p:nvSpPr>
        <p:spPr>
          <a:xfrm flipH="1">
            <a:off x="5486400" y="2788920"/>
            <a:ext cx="548640" cy="1005840"/>
          </a:xfrm>
          <a:prstGeom prst="line">
            <a:avLst/>
          </a:prstGeom>
          <a:noFill/>
          <a:ln w="19050">
            <a:solidFill>
              <a:schemeClr val="accent6"/>
            </a:solidFill>
            <a:prstDash val="solid"/>
            <a:tailEnd type="triangle"/>
          </a:ln>
        </p:spPr>
        <p:txBody>
          <a:bodyPr/>
          <a:p/>
        </p:txBody>
      </p:sp>
      <p:sp>
        <p:nvSpPr>
          <p:cNvPr id="11" name="box-795"/>
          <p:cNvSpPr txBox="1"/>
          <p:nvPr/>
        </p:nvSpPr>
        <p:spPr>
          <a:xfrm>
            <a:off x="2971800" y="4434840"/>
            <a:ext cx="2514600" cy="731520"/>
          </a:xfrm>
          <a:prstGeom prst="roundRect">
            <a:avLst>
              <a:gd name="adj" fmla="val 10000"/>
            </a:avLst>
          </a:prstGeom>
          <a:solidFill>
            <a:schemeClr val="accent1">
              <a:alpha val="15000"/>
            </a:schemeClr>
          </a:solidFill>
          <a:ln/>
        </p:spPr>
        <p:txBody>
          <a:bodyPr wrap="square" lIns="76200" tIns="38100" rIns="76200" bIns="38100" rtlCol="0" anchor="ctr"/>
          <a:lstStyle/>
          <a:p>
            <a:pPr algn="ctr" indent="0" marL="0">
              <a:buNone/>
            </a:pPr>
            <a:r>
              <a:rPr lang="en-US" sz="1300" b="1" dirty="0">
                <a:solidFill>
                  <a:schemeClr val="tx1"/>
                </a:solidFill>
              </a:rPr>
              <a:t>dispatch replica C</a:t>
            </a:r>
            <a:endParaRPr lang="en-US" sz="1200" dirty="0"/>
          </a:p>
          <a:p>
            <a:pPr algn="ctr" indent="0" marL="0">
              <a:buNone/>
            </a:pPr>
            <a:r>
              <a:rPr lang="en-US" sz="1050" dirty="0">
                <a:solidFill>
                  <a:schemeClr val="tx1"/>
                </a:solidFill>
              </a:rPr>
              <a:t>one snapshot per search</a:t>
            </a:r>
            <a:endParaRPr lang="en-US" sz="1200" dirty="0"/>
          </a:p>
        </p:txBody>
      </p:sp>
      <p:sp>
        <p:nvSpPr>
          <p:cNvPr id="12" name="arrow-796"/>
          <p:cNvSpPr/>
          <p:nvPr/>
        </p:nvSpPr>
        <p:spPr>
          <a:xfrm flipH="1">
            <a:off x="5486400" y="2788920"/>
            <a:ext cx="548640" cy="2011680"/>
          </a:xfrm>
          <a:prstGeom prst="line">
            <a:avLst/>
          </a:prstGeom>
          <a:noFill/>
          <a:ln w="19050">
            <a:solidFill>
              <a:schemeClr val="accent6"/>
            </a:solidFill>
            <a:prstDash val="solid"/>
            <a:tailEnd type="triangle"/>
          </a:ln>
        </p:spPr>
        <p:txBody>
          <a:bodyPr/>
          <a:p/>
        </p:txBody>
      </p:sp>
      <p:sp>
        <p:nvSpPr>
          <p:cNvPr id="13" name="text-797"/>
          <p:cNvSpPr txBox="1"/>
          <p:nvPr/>
        </p:nvSpPr>
        <p:spPr>
          <a:xfrm>
            <a:off x="6172200" y="3246120"/>
            <a:ext cx="2377440" cy="548640"/>
          </a:xfrm>
          <a:prstGeom prst="rect">
            <a:avLst/>
          </a:prstGeom>
          <a:noFill/>
          <a:ln/>
        </p:spPr>
        <p:txBody>
          <a:bodyPr wrap="square" lIns="0" tIns="0" rIns="0" bIns="0" rtlCol="0" anchor="t"/>
          <a:lstStyle/>
          <a:p>
            <a:pPr algn="l" indent="0" marL="0">
              <a:buNone/>
            </a:pPr>
            <a:r>
              <a:rPr lang="en-US" sz="1100" dirty="0">
                <a:solidFill>
                  <a:schemeClr val="accent6"/>
                </a:solidFill>
              </a:rPr>
              <a:t>each re-reads the row once its copy is 10 s old</a:t>
            </a:r>
            <a:endParaRPr lang="en-US" sz="1100" dirty="0"/>
          </a:p>
        </p:txBody>
      </p:sp>
      <p:sp>
        <p:nvSpPr>
          <p:cNvPr id="14" name="panel-798"/>
          <p:cNvSpPr txBox="1"/>
          <p:nvPr/>
        </p:nvSpPr>
        <p:spPr>
          <a:xfrm>
            <a:off x="8915400" y="1600200"/>
            <a:ext cx="2724912" cy="841248"/>
          </a:xfrm>
          <a:prstGeom prst="roundRect">
            <a:avLst>
              <a:gd name="adj" fmla="val 10870"/>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5" name="card-text-799"/>
          <p:cNvSpPr txBox="1"/>
          <p:nvPr/>
        </p:nvSpPr>
        <p:spPr>
          <a:xfrm>
            <a:off x="9061704" y="1728216"/>
            <a:ext cx="2432304" cy="621792"/>
          </a:xfrm>
          <a:prstGeom prst="rect">
            <a:avLst/>
          </a:prstGeom>
          <a:noFill/>
          <a:ln/>
        </p:spPr>
        <p:txBody>
          <a:bodyPr wrap="square" lIns="0" tIns="0" rIns="0" bIns="0" rtlCol="0" anchor="t"/>
          <a:lstStyle/>
          <a:p>
            <a:pPr indent="0" marL="0">
              <a:spcAft>
                <a:spcPts val="200"/>
              </a:spcAft>
              <a:buNone/>
            </a:pPr>
            <a:r>
              <a:rPr lang="en-US" sz="1250" b="1" dirty="0">
                <a:solidFill>
                  <a:schemeClr val="tx1"/>
                </a:solidFill>
              </a:rPr>
              <a:t>Until the first save</a:t>
            </a:r>
            <a:endParaRPr lang="en-US" sz="1250" dirty="0"/>
          </a:p>
          <a:p>
            <a:pPr indent="0" marL="0">
              <a:spcAft>
                <a:spcPts val="200"/>
              </a:spcAft>
              <a:buNone/>
            </a:pPr>
            <a:r>
              <a:rPr lang="en-US" sz="1050" dirty="0">
                <a:solidFill>
                  <a:schemeClr val="tx1"/>
                </a:solidFill>
              </a:rPr>
              <a:t>no row: the DISPATCH_* defaults apply</a:t>
            </a:r>
            <a:endParaRPr lang="en-US" sz="1250" dirty="0"/>
          </a:p>
        </p:txBody>
      </p:sp>
      <p:sp>
        <p:nvSpPr>
          <p:cNvPr id="16" name="panel-800"/>
          <p:cNvSpPr txBox="1"/>
          <p:nvPr/>
        </p:nvSpPr>
        <p:spPr>
          <a:xfrm>
            <a:off x="8915400" y="2560320"/>
            <a:ext cx="2724912" cy="841248"/>
          </a:xfrm>
          <a:prstGeom prst="roundRect">
            <a:avLst>
              <a:gd name="adj" fmla="val 10870"/>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7" name="card-text-801"/>
          <p:cNvSpPr txBox="1"/>
          <p:nvPr/>
        </p:nvSpPr>
        <p:spPr>
          <a:xfrm>
            <a:off x="9061704" y="2688336"/>
            <a:ext cx="2432304" cy="621792"/>
          </a:xfrm>
          <a:prstGeom prst="rect">
            <a:avLst/>
          </a:prstGeom>
          <a:noFill/>
          <a:ln/>
        </p:spPr>
        <p:txBody>
          <a:bodyPr wrap="square" lIns="0" tIns="0" rIns="0" bIns="0" rtlCol="0" anchor="t"/>
          <a:lstStyle/>
          <a:p>
            <a:pPr indent="0" marL="0">
              <a:spcAft>
                <a:spcPts val="200"/>
              </a:spcAft>
              <a:buNone/>
            </a:pPr>
            <a:r>
              <a:rPr lang="en-US" sz="1250" b="1" dirty="0">
                <a:solidFill>
                  <a:schemeClr val="tx1"/>
                </a:solidFill>
              </a:rPr>
              <a:t>Concurrent saves</a:t>
            </a:r>
            <a:endParaRPr lang="en-US" sz="1250" dirty="0"/>
          </a:p>
          <a:p>
            <a:pPr indent="0" marL="0">
              <a:spcAft>
                <a:spcPts val="200"/>
              </a:spcAft>
              <a:buNone/>
            </a:pPr>
            <a:r>
              <a:rPr lang="en-US" sz="1050" dirty="0">
                <a:solidFill>
                  <a:schemeClr val="tx1"/>
                </a:solidFill>
              </a:rPr>
              <a:t>last write wins under a row lock; a partial PUT never undoes another</a:t>
            </a:r>
            <a:endParaRPr lang="en-US" sz="1250" dirty="0"/>
          </a:p>
        </p:txBody>
      </p:sp>
      <p:sp>
        <p:nvSpPr>
          <p:cNvPr id="18" name="panel-802"/>
          <p:cNvSpPr txBox="1"/>
          <p:nvPr/>
        </p:nvSpPr>
        <p:spPr>
          <a:xfrm>
            <a:off x="8915400" y="3520440"/>
            <a:ext cx="2724912" cy="841248"/>
          </a:xfrm>
          <a:prstGeom prst="roundRect">
            <a:avLst>
              <a:gd name="adj" fmla="val 10870"/>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9" name="card-text-803"/>
          <p:cNvSpPr txBox="1"/>
          <p:nvPr/>
        </p:nvSpPr>
        <p:spPr>
          <a:xfrm>
            <a:off x="9061704" y="3648456"/>
            <a:ext cx="2432304" cy="621792"/>
          </a:xfrm>
          <a:prstGeom prst="rect">
            <a:avLst/>
          </a:prstGeom>
          <a:noFill/>
          <a:ln/>
        </p:spPr>
        <p:txBody>
          <a:bodyPr wrap="square" lIns="0" tIns="0" rIns="0" bIns="0" rtlCol="0" anchor="t"/>
          <a:lstStyle/>
          <a:p>
            <a:pPr indent="0" marL="0">
              <a:spcAft>
                <a:spcPts val="200"/>
              </a:spcAft>
              <a:buNone/>
            </a:pPr>
            <a:r>
              <a:rPr lang="en-US" sz="1250" b="1" dirty="0">
                <a:solidFill>
                  <a:schemeClr val="tx1"/>
                </a:solidFill>
              </a:rPr>
              <a:t>Database rules</a:t>
            </a:r>
            <a:endParaRPr lang="en-US" sz="1250" dirty="0"/>
          </a:p>
          <a:p>
            <a:pPr indent="0" marL="0">
              <a:spcAft>
                <a:spcPts val="200"/>
              </a:spcAft>
              <a:buNone/>
            </a:pPr>
            <a:r>
              <a:rPr lang="en-US" sz="1050" dirty="0">
                <a:solidFill>
                  <a:schemeClr val="tx1"/>
                </a:solidFill>
              </a:rPr>
              <a:t>CHECK: each weight 0–1 and the five sum to 1</a:t>
            </a:r>
            <a:endParaRPr lang="en-US" sz="1250" dirty="0"/>
          </a:p>
        </p:txBody>
      </p:sp>
      <p:sp>
        <p:nvSpPr>
          <p:cNvPr id="20" name="panel-804"/>
          <p:cNvSpPr txBox="1"/>
          <p:nvPr/>
        </p:nvSpPr>
        <p:spPr>
          <a:xfrm>
            <a:off x="8915400" y="4480560"/>
            <a:ext cx="2724912" cy="841248"/>
          </a:xfrm>
          <a:prstGeom prst="roundRect">
            <a:avLst>
              <a:gd name="adj" fmla="val 10870"/>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1" name="card-text-805"/>
          <p:cNvSpPr txBox="1"/>
          <p:nvPr/>
        </p:nvSpPr>
        <p:spPr>
          <a:xfrm>
            <a:off x="9061704" y="4608576"/>
            <a:ext cx="2432304" cy="621792"/>
          </a:xfrm>
          <a:prstGeom prst="rect">
            <a:avLst/>
          </a:prstGeom>
          <a:noFill/>
          <a:ln/>
        </p:spPr>
        <p:txBody>
          <a:bodyPr wrap="square" lIns="0" tIns="0" rIns="0" bIns="0" rtlCol="0" anchor="t"/>
          <a:lstStyle/>
          <a:p>
            <a:pPr indent="0" marL="0">
              <a:spcAft>
                <a:spcPts val="200"/>
              </a:spcAft>
              <a:buNone/>
            </a:pPr>
            <a:r>
              <a:rPr lang="en-US" sz="1250" b="1" dirty="0">
                <a:solidFill>
                  <a:schemeClr val="tx1"/>
                </a:solidFill>
              </a:rPr>
              <a:t>If the DB is down</a:t>
            </a:r>
            <a:endParaRPr lang="en-US" sz="1250" dirty="0"/>
          </a:p>
          <a:p>
            <a:pPr indent="0" marL="0">
              <a:spcAft>
                <a:spcPts val="200"/>
              </a:spcAft>
              <a:buNone/>
            </a:pPr>
            <a:r>
              <a:rPr lang="en-US" sz="1050" dirty="0">
                <a:solidFill>
                  <a:schemeClr val="tx1"/>
                </a:solidFill>
              </a:rPr>
              <a:t>replicas keep their last-read settings</a:t>
            </a:r>
            <a:endParaRPr lang="en-US" sz="1250" dirty="0"/>
          </a:p>
        </p:txBody>
      </p:sp>
      <p:sp>
        <p:nvSpPr>
          <p:cNvPr id="22" name="text-806"/>
          <p:cNvSpPr txBox="1"/>
          <p:nvPr/>
        </p:nvSpPr>
        <p:spPr>
          <a:xfrm>
            <a:off x="548640" y="5440680"/>
            <a:ext cx="2743200" cy="274320"/>
          </a:xfrm>
          <a:prstGeom prst="rect">
            <a:avLst/>
          </a:prstGeom>
          <a:noFill/>
          <a:ln/>
        </p:spPr>
        <p:txBody>
          <a:bodyPr wrap="square" lIns="0" tIns="0" rIns="0" bIns="0" rtlCol="0" anchor="t"/>
          <a:lstStyle/>
          <a:p>
            <a:pPr algn="l" indent="0" marL="0">
              <a:buNone/>
            </a:pPr>
            <a:r>
              <a:rPr lang="en-US" sz="1200" b="1" dirty="0">
                <a:solidFill>
                  <a:schemeClr val="tx1"/>
                </a:solidFill>
              </a:rPr>
              <a:t>Default weights</a:t>
            </a:r>
            <a:endParaRPr lang="en-US" sz="1200" dirty="0"/>
          </a:p>
        </p:txBody>
      </p:sp>
      <p:sp>
        <p:nvSpPr>
          <p:cNvPr id="23" name="chip-807"/>
          <p:cNvSpPr txBox="1"/>
          <p:nvPr/>
        </p:nvSpPr>
        <p:spPr>
          <a:xfrm>
            <a:off x="548640" y="5760720"/>
            <a:ext cx="1554480"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dirty="0">
                <a:solidFill>
                  <a:schemeClr val="bg1"/>
                </a:solidFill>
              </a:rPr>
              <a:t>distance  0.30</a:t>
            </a:r>
            <a:endParaRPr lang="en-US" sz="1150" dirty="0"/>
          </a:p>
        </p:txBody>
      </p:sp>
      <p:sp>
        <p:nvSpPr>
          <p:cNvPr id="24" name="chip-808"/>
          <p:cNvSpPr txBox="1"/>
          <p:nvPr/>
        </p:nvSpPr>
        <p:spPr>
          <a:xfrm>
            <a:off x="2212848" y="5760720"/>
            <a:ext cx="1554480"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dirty="0">
                <a:solidFill>
                  <a:schemeClr val="bg1"/>
                </a:solidFill>
              </a:rPr>
              <a:t>availability  0.25</a:t>
            </a:r>
            <a:endParaRPr lang="en-US" sz="1150" dirty="0"/>
          </a:p>
        </p:txBody>
      </p:sp>
      <p:sp>
        <p:nvSpPr>
          <p:cNvPr id="25" name="chip-809"/>
          <p:cNvSpPr txBox="1"/>
          <p:nvPr/>
        </p:nvSpPr>
        <p:spPr>
          <a:xfrm>
            <a:off x="3877056" y="5760720"/>
            <a:ext cx="1554480"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dirty="0">
                <a:solidFill>
                  <a:schemeClr val="bg1"/>
                </a:solidFill>
              </a:rPr>
              <a:t>rating  0.20</a:t>
            </a:r>
            <a:endParaRPr lang="en-US" sz="1150" dirty="0"/>
          </a:p>
        </p:txBody>
      </p:sp>
      <p:sp>
        <p:nvSpPr>
          <p:cNvPr id="26" name="chip-810"/>
          <p:cNvSpPr txBox="1"/>
          <p:nvPr/>
        </p:nvSpPr>
        <p:spPr>
          <a:xfrm>
            <a:off x="5541264" y="5760720"/>
            <a:ext cx="1554480"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dirty="0">
                <a:solidFill>
                  <a:schemeClr val="bg1"/>
                </a:solidFill>
              </a:rPr>
              <a:t>skill  0.15</a:t>
            </a:r>
            <a:endParaRPr lang="en-US" sz="1150" dirty="0"/>
          </a:p>
        </p:txBody>
      </p:sp>
      <p:sp>
        <p:nvSpPr>
          <p:cNvPr id="27" name="chip-811"/>
          <p:cNvSpPr txBox="1"/>
          <p:nvPr/>
        </p:nvSpPr>
        <p:spPr>
          <a:xfrm>
            <a:off x="7205472" y="5760720"/>
            <a:ext cx="1554480"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dirty="0">
                <a:solidFill>
                  <a:schemeClr val="bg1"/>
                </a:solidFill>
              </a:rPr>
              <a:t>performance  0.10</a:t>
            </a:r>
            <a:endParaRPr lang="en-US" sz="11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Complaint refunds now move money</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complaint-service asks payment-service, which refunds through Razorpay; a retry can never refund twice</a:t>
            </a:r>
            <a:endParaRPr lang="en-US" sz="1500" dirty="0"/>
          </a:p>
        </p:txBody>
      </p:sp>
      <p:sp>
        <p:nvSpPr>
          <p:cNvPr id="4" name="panel-812"/>
          <p:cNvSpPr txBox="1"/>
          <p:nvPr/>
        </p:nvSpPr>
        <p:spPr>
          <a:xfrm>
            <a:off x="548640" y="1600200"/>
            <a:ext cx="2514600" cy="1417320"/>
          </a:xfrm>
          <a:prstGeom prst="roundRect">
            <a:avLst>
              <a:gd name="adj" fmla="val 6452"/>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5" name="icon-bg-headset-813"/>
          <p:cNvSpPr/>
          <p:nvPr/>
        </p:nvSpPr>
        <p:spPr>
          <a:xfrm>
            <a:off x="694944" y="1746504"/>
            <a:ext cx="411480" cy="411480"/>
          </a:xfrm>
          <a:prstGeom prst="ellipse">
            <a:avLst/>
          </a:prstGeom>
          <a:solidFill>
            <a:schemeClr val="accent4"/>
          </a:solidFill>
          <a:ln/>
        </p:spPr>
        <p:txBody>
          <a:bodyPr/>
          <a:p/>
        </p:txBody>
      </p:sp>
      <p:pic>
        <p:nvPicPr>
          <p:cNvPr id="6" name="icon-headset-814" descr="headset">    </p:cNvPr>
          <p:cNvPicPr>
            <a:picLocks noChangeAspect="1"/>
          </p:cNvPicPr>
          <p:nvPr/>
        </p:nvPicPr>
        <p:blipFill>
          <a:blip r:embed="rId1"/>
          <a:stretch>
            <a:fillRect/>
          </a:stretch>
        </p:blipFill>
        <p:spPr>
          <a:xfrm>
            <a:off x="793699" y="1845259"/>
            <a:ext cx="213970" cy="213970"/>
          </a:xfrm>
          <a:prstGeom prst="rect">
            <a:avLst/>
          </a:prstGeom>
        </p:spPr>
      </p:pic>
      <p:sp>
        <p:nvSpPr>
          <p:cNvPr id="7" name="card-text-815"/>
          <p:cNvSpPr txBox="1"/>
          <p:nvPr/>
        </p:nvSpPr>
        <p:spPr>
          <a:xfrm>
            <a:off x="694944" y="2249424"/>
            <a:ext cx="222199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Support agent</a:t>
            </a:r>
            <a:endParaRPr lang="en-US" sz="1350" dirty="0"/>
          </a:p>
          <a:p>
            <a:pPr indent="0" marL="0">
              <a:spcAft>
                <a:spcPts val="200"/>
              </a:spcAft>
              <a:buNone/>
            </a:pPr>
            <a:r>
              <a:rPr lang="en-US" sz="1100" dirty="0">
                <a:solidFill>
                  <a:schemeClr val="tx1"/>
                </a:solidFill>
              </a:rPr>
              <a:t>POST /complaints/{id}/refund</a:t>
            </a:r>
            <a:endParaRPr lang="en-US" sz="1350" dirty="0"/>
          </a:p>
        </p:txBody>
      </p:sp>
      <p:sp>
        <p:nvSpPr>
          <p:cNvPr id="8" name="arrow-816"/>
          <p:cNvSpPr/>
          <p:nvPr/>
        </p:nvSpPr>
        <p:spPr>
          <a:xfrm>
            <a:off x="3063240" y="2304288"/>
            <a:ext cx="338328" cy="0"/>
          </a:xfrm>
          <a:prstGeom prst="line">
            <a:avLst/>
          </a:prstGeom>
          <a:noFill/>
          <a:ln w="19050">
            <a:solidFill>
              <a:schemeClr val="accent6"/>
            </a:solidFill>
            <a:prstDash val="solid"/>
            <a:tailEnd type="triangle"/>
          </a:ln>
        </p:spPr>
        <p:txBody>
          <a:bodyPr/>
          <a:p/>
        </p:txBody>
      </p:sp>
      <p:sp>
        <p:nvSpPr>
          <p:cNvPr id="9" name="panel-817"/>
          <p:cNvSpPr txBox="1"/>
          <p:nvPr/>
        </p:nvSpPr>
        <p:spPr>
          <a:xfrm>
            <a:off x="3401568" y="1600200"/>
            <a:ext cx="2514600" cy="1417320"/>
          </a:xfrm>
          <a:prstGeom prst="roundRect">
            <a:avLst>
              <a:gd name="adj" fmla="val 6452"/>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10" name="icon-bg-clipboard-818"/>
          <p:cNvSpPr/>
          <p:nvPr/>
        </p:nvSpPr>
        <p:spPr>
          <a:xfrm>
            <a:off x="3547872" y="1746504"/>
            <a:ext cx="411480" cy="411480"/>
          </a:xfrm>
          <a:prstGeom prst="ellipse">
            <a:avLst/>
          </a:prstGeom>
          <a:solidFill>
            <a:schemeClr val="accent4"/>
          </a:solidFill>
          <a:ln/>
        </p:spPr>
        <p:txBody>
          <a:bodyPr/>
          <a:p/>
        </p:txBody>
      </p:sp>
      <p:pic>
        <p:nvPicPr>
          <p:cNvPr id="11" name="icon-clipboard-819" descr="clipboard">    </p:cNvPr>
          <p:cNvPicPr>
            <a:picLocks noChangeAspect="1"/>
          </p:cNvPicPr>
          <p:nvPr/>
        </p:nvPicPr>
        <p:blipFill>
          <a:blip r:embed="rId2"/>
          <a:stretch>
            <a:fillRect/>
          </a:stretch>
        </p:blipFill>
        <p:spPr>
          <a:xfrm>
            <a:off x="3646627" y="1845259"/>
            <a:ext cx="213970" cy="213970"/>
          </a:xfrm>
          <a:prstGeom prst="rect">
            <a:avLst/>
          </a:prstGeom>
        </p:spPr>
      </p:pic>
      <p:sp>
        <p:nvSpPr>
          <p:cNvPr id="12" name="card-text-820"/>
          <p:cNvSpPr txBox="1"/>
          <p:nvPr/>
        </p:nvSpPr>
        <p:spPr>
          <a:xfrm>
            <a:off x="3547872" y="2249424"/>
            <a:ext cx="222199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complaint-service</a:t>
            </a:r>
            <a:endParaRPr lang="en-US" sz="1350" dirty="0"/>
          </a:p>
          <a:p>
            <a:pPr indent="0" marL="0">
              <a:spcAft>
                <a:spcPts val="200"/>
              </a:spcAft>
              <a:buNone/>
            </a:pPr>
            <a:r>
              <a:rPr lang="en-US" sz="1100" dirty="0">
                <a:solidFill>
                  <a:schemeClr val="tx1"/>
                </a:solidFill>
              </a:rPr>
              <a:t>records the refund PENDING and commits first</a:t>
            </a:r>
            <a:endParaRPr lang="en-US" sz="1350" dirty="0"/>
          </a:p>
        </p:txBody>
      </p:sp>
      <p:sp>
        <p:nvSpPr>
          <p:cNvPr id="13" name="arrow-821"/>
          <p:cNvSpPr/>
          <p:nvPr/>
        </p:nvSpPr>
        <p:spPr>
          <a:xfrm>
            <a:off x="5916168" y="2304288"/>
            <a:ext cx="338328" cy="0"/>
          </a:xfrm>
          <a:prstGeom prst="line">
            <a:avLst/>
          </a:prstGeom>
          <a:noFill/>
          <a:ln w="19050">
            <a:solidFill>
              <a:schemeClr val="accent6"/>
            </a:solidFill>
            <a:prstDash val="solid"/>
            <a:tailEnd type="triangle"/>
          </a:ln>
        </p:spPr>
        <p:txBody>
          <a:bodyPr/>
          <a:p/>
        </p:txBody>
      </p:sp>
      <p:sp>
        <p:nvSpPr>
          <p:cNvPr id="14" name="panel-822"/>
          <p:cNvSpPr txBox="1"/>
          <p:nvPr/>
        </p:nvSpPr>
        <p:spPr>
          <a:xfrm>
            <a:off x="6254496" y="1600200"/>
            <a:ext cx="2514600" cy="1417320"/>
          </a:xfrm>
          <a:prstGeom prst="roundRect">
            <a:avLst>
              <a:gd name="adj" fmla="val 6452"/>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15" name="icon-bg-card-823"/>
          <p:cNvSpPr/>
          <p:nvPr/>
        </p:nvSpPr>
        <p:spPr>
          <a:xfrm>
            <a:off x="6400800" y="1746504"/>
            <a:ext cx="411480" cy="411480"/>
          </a:xfrm>
          <a:prstGeom prst="ellipse">
            <a:avLst/>
          </a:prstGeom>
          <a:solidFill>
            <a:schemeClr val="accent2"/>
          </a:solidFill>
          <a:ln/>
        </p:spPr>
        <p:txBody>
          <a:bodyPr/>
          <a:p/>
        </p:txBody>
      </p:sp>
      <p:pic>
        <p:nvPicPr>
          <p:cNvPr id="16" name="icon-card-824" descr="card">    </p:cNvPr>
          <p:cNvPicPr>
            <a:picLocks noChangeAspect="1"/>
          </p:cNvPicPr>
          <p:nvPr/>
        </p:nvPicPr>
        <p:blipFill>
          <a:blip r:embed="rId3"/>
          <a:stretch>
            <a:fillRect/>
          </a:stretch>
        </p:blipFill>
        <p:spPr>
          <a:xfrm>
            <a:off x="6499555" y="1845259"/>
            <a:ext cx="213970" cy="213970"/>
          </a:xfrm>
          <a:prstGeom prst="rect">
            <a:avLst/>
          </a:prstGeom>
        </p:spPr>
      </p:pic>
      <p:sp>
        <p:nvSpPr>
          <p:cNvPr id="17" name="card-text-825"/>
          <p:cNvSpPr txBox="1"/>
          <p:nvPr/>
        </p:nvSpPr>
        <p:spPr>
          <a:xfrm>
            <a:off x="6400800" y="2249424"/>
            <a:ext cx="222199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payment-service</a:t>
            </a:r>
            <a:endParaRPr lang="en-US" sz="1350" dirty="0"/>
          </a:p>
          <a:p>
            <a:pPr indent="0" marL="0">
              <a:spcAft>
                <a:spcPts val="200"/>
              </a:spcAft>
              <a:buNone/>
            </a:pPr>
            <a:r>
              <a:rPr lang="en-US" sz="1100" dirty="0">
                <a:solidFill>
                  <a:schemeClr val="tx1"/>
                </a:solidFill>
              </a:rPr>
              <a:t>POST /internal/payments/refunds, key complaint-refund:{id}</a:t>
            </a:r>
            <a:endParaRPr lang="en-US" sz="1350" dirty="0"/>
          </a:p>
        </p:txBody>
      </p:sp>
      <p:sp>
        <p:nvSpPr>
          <p:cNvPr id="18" name="arrow-826"/>
          <p:cNvSpPr/>
          <p:nvPr/>
        </p:nvSpPr>
        <p:spPr>
          <a:xfrm>
            <a:off x="8769096" y="2304288"/>
            <a:ext cx="338328" cy="0"/>
          </a:xfrm>
          <a:prstGeom prst="line">
            <a:avLst/>
          </a:prstGeom>
          <a:noFill/>
          <a:ln w="19050">
            <a:solidFill>
              <a:schemeClr val="accent6"/>
            </a:solidFill>
            <a:prstDash val="solid"/>
            <a:tailEnd type="triangle"/>
          </a:ln>
        </p:spPr>
        <p:txBody>
          <a:bodyPr/>
          <a:p/>
        </p:txBody>
      </p:sp>
      <p:sp>
        <p:nvSpPr>
          <p:cNvPr id="19" name="panel-827"/>
          <p:cNvSpPr txBox="1"/>
          <p:nvPr/>
        </p:nvSpPr>
        <p:spPr>
          <a:xfrm>
            <a:off x="9107424" y="1600200"/>
            <a:ext cx="2514600" cy="1417320"/>
          </a:xfrm>
          <a:prstGeom prst="roundRect">
            <a:avLst>
              <a:gd name="adj" fmla="val 6452"/>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20" name="icon-bg-refresh-828"/>
          <p:cNvSpPr/>
          <p:nvPr/>
        </p:nvSpPr>
        <p:spPr>
          <a:xfrm>
            <a:off x="9253728" y="1746504"/>
            <a:ext cx="411480" cy="411480"/>
          </a:xfrm>
          <a:prstGeom prst="ellipse">
            <a:avLst/>
          </a:prstGeom>
          <a:solidFill>
            <a:schemeClr val="accent2"/>
          </a:solidFill>
          <a:ln/>
        </p:spPr>
        <p:txBody>
          <a:bodyPr/>
          <a:p/>
        </p:txBody>
      </p:sp>
      <p:pic>
        <p:nvPicPr>
          <p:cNvPr id="21" name="icon-refresh-829" descr="refresh">    </p:cNvPr>
          <p:cNvPicPr>
            <a:picLocks noChangeAspect="1"/>
          </p:cNvPicPr>
          <p:nvPr/>
        </p:nvPicPr>
        <p:blipFill>
          <a:blip r:embed="rId4"/>
          <a:stretch>
            <a:fillRect/>
          </a:stretch>
        </p:blipFill>
        <p:spPr>
          <a:xfrm>
            <a:off x="9352483" y="1845259"/>
            <a:ext cx="213970" cy="213970"/>
          </a:xfrm>
          <a:prstGeom prst="rect">
            <a:avLst/>
          </a:prstGeom>
        </p:spPr>
      </p:pic>
      <p:sp>
        <p:nvSpPr>
          <p:cNvPr id="22" name="card-text-830"/>
          <p:cNvSpPr txBox="1"/>
          <p:nvPr/>
        </p:nvSpPr>
        <p:spPr>
          <a:xfrm>
            <a:off x="9253728" y="2249424"/>
            <a:ext cx="2221992" cy="676656"/>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Razorpay</a:t>
            </a:r>
            <a:endParaRPr lang="en-US" sz="1350" dirty="0"/>
          </a:p>
          <a:p>
            <a:pPr indent="0" marL="0">
              <a:spcAft>
                <a:spcPts val="200"/>
              </a:spcAft>
              <a:buNone/>
            </a:pPr>
            <a:r>
              <a:rPr lang="en-US" sz="1100" dirty="0">
                <a:solidFill>
                  <a:schemeClr val="tx1"/>
                </a:solidFill>
              </a:rPr>
              <a:t>refunds the captured payment</a:t>
            </a:r>
            <a:endParaRPr lang="en-US" sz="1350" dirty="0"/>
          </a:p>
        </p:txBody>
      </p:sp>
      <p:sp>
        <p:nvSpPr>
          <p:cNvPr id="23" name="arrow-831"/>
          <p:cNvSpPr/>
          <p:nvPr/>
        </p:nvSpPr>
        <p:spPr>
          <a:xfrm flipH="1">
            <a:off x="2331720" y="3017520"/>
            <a:ext cx="4617720" cy="640080"/>
          </a:xfrm>
          <a:prstGeom prst="line">
            <a:avLst/>
          </a:prstGeom>
          <a:noFill/>
          <a:ln w="15875">
            <a:solidFill>
              <a:schemeClr val="accent6"/>
            </a:solidFill>
            <a:prstDash val="solid"/>
            <a:tailEnd type="triangle"/>
          </a:ln>
        </p:spPr>
        <p:txBody>
          <a:bodyPr/>
          <a:p/>
        </p:txBody>
      </p:sp>
      <p:sp>
        <p:nvSpPr>
          <p:cNvPr id="24" name="panel-832"/>
          <p:cNvSpPr txBox="1"/>
          <p:nvPr/>
        </p:nvSpPr>
        <p:spPr>
          <a:xfrm>
            <a:off x="548640" y="3657600"/>
            <a:ext cx="3566160" cy="1325880"/>
          </a:xfrm>
          <a:prstGeom prst="roundRect">
            <a:avLst>
              <a:gd name="adj" fmla="val 6897"/>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5" name="card-text-833"/>
          <p:cNvSpPr txBox="1"/>
          <p:nvPr/>
        </p:nvSpPr>
        <p:spPr>
          <a:xfrm>
            <a:off x="694944" y="3785616"/>
            <a:ext cx="3273552" cy="110642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SUCCEEDED</a:t>
            </a:r>
            <a:endParaRPr lang="en-US" sz="1350" dirty="0"/>
          </a:p>
          <a:p>
            <a:pPr indent="0" marL="0">
              <a:spcAft>
                <a:spcPts val="200"/>
              </a:spcAft>
              <a:buNone/>
            </a:pPr>
            <a:r>
              <a:rPr lang="en-US" sz="1150" dirty="0">
                <a:solidFill>
                  <a:schemeClr val="tx1"/>
                </a:solidFill>
              </a:rPr>
              <a:t>complaint refund SUCCEEDED; the payment refund id is stored</a:t>
            </a:r>
            <a:endParaRPr lang="en-US" sz="1350" dirty="0"/>
          </a:p>
        </p:txBody>
      </p:sp>
      <p:sp>
        <p:nvSpPr>
          <p:cNvPr id="26" name="arrow-834"/>
          <p:cNvSpPr/>
          <p:nvPr/>
        </p:nvSpPr>
        <p:spPr>
          <a:xfrm flipH="1">
            <a:off x="6089904" y="3017520"/>
            <a:ext cx="859536" cy="640080"/>
          </a:xfrm>
          <a:prstGeom prst="line">
            <a:avLst/>
          </a:prstGeom>
          <a:noFill/>
          <a:ln w="15875">
            <a:solidFill>
              <a:schemeClr val="accent6"/>
            </a:solidFill>
            <a:prstDash val="solid"/>
            <a:tailEnd type="triangle"/>
          </a:ln>
        </p:spPr>
        <p:txBody>
          <a:bodyPr/>
          <a:p/>
        </p:txBody>
      </p:sp>
      <p:sp>
        <p:nvSpPr>
          <p:cNvPr id="27" name="panel-835"/>
          <p:cNvSpPr txBox="1"/>
          <p:nvPr/>
        </p:nvSpPr>
        <p:spPr>
          <a:xfrm>
            <a:off x="4306824" y="3657600"/>
            <a:ext cx="3566160" cy="1325880"/>
          </a:xfrm>
          <a:prstGeom prst="roundRect">
            <a:avLst>
              <a:gd name="adj" fmla="val 6897"/>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28" name="card-text-836"/>
          <p:cNvSpPr txBox="1"/>
          <p:nvPr/>
        </p:nvSpPr>
        <p:spPr>
          <a:xfrm>
            <a:off x="4453128" y="3785616"/>
            <a:ext cx="3273552" cy="110642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Refused (4xx)</a:t>
            </a:r>
            <a:endParaRPr lang="en-US" sz="1350" dirty="0"/>
          </a:p>
          <a:p>
            <a:pPr indent="0" marL="0">
              <a:spcAft>
                <a:spcPts val="200"/>
              </a:spcAft>
              <a:buNone/>
            </a:pPr>
            <a:r>
              <a:rPr lang="en-US" sz="1150" dirty="0">
                <a:solidFill>
                  <a:schemeClr val="tx1"/>
                </a:solidFill>
              </a:rPr>
              <a:t>not refundable, already refunded, too large, declined: REFUND_FAILED, customer told, Finance alerted</a:t>
            </a:r>
            <a:endParaRPr lang="en-US" sz="1350" dirty="0"/>
          </a:p>
        </p:txBody>
      </p:sp>
      <p:sp>
        <p:nvSpPr>
          <p:cNvPr id="29" name="arrow-837"/>
          <p:cNvSpPr/>
          <p:nvPr/>
        </p:nvSpPr>
        <p:spPr>
          <a:xfrm>
            <a:off x="6949440" y="3017520"/>
            <a:ext cx="2898648" cy="640080"/>
          </a:xfrm>
          <a:prstGeom prst="line">
            <a:avLst/>
          </a:prstGeom>
          <a:noFill/>
          <a:ln w="15875">
            <a:solidFill>
              <a:schemeClr val="accent6"/>
            </a:solidFill>
            <a:prstDash val="solid"/>
            <a:tailEnd type="triangle"/>
          </a:ln>
        </p:spPr>
        <p:txBody>
          <a:bodyPr/>
          <a:p/>
        </p:txBody>
      </p:sp>
      <p:sp>
        <p:nvSpPr>
          <p:cNvPr id="30" name="panel-838"/>
          <p:cNvSpPr txBox="1"/>
          <p:nvPr/>
        </p:nvSpPr>
        <p:spPr>
          <a:xfrm>
            <a:off x="8065008" y="3657600"/>
            <a:ext cx="3566160" cy="1325880"/>
          </a:xfrm>
          <a:prstGeom prst="roundRect">
            <a:avLst>
              <a:gd name="adj" fmla="val 6897"/>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31" name="card-text-839"/>
          <p:cNvSpPr txBox="1"/>
          <p:nvPr/>
        </p:nvSpPr>
        <p:spPr>
          <a:xfrm>
            <a:off x="8211312" y="3785616"/>
            <a:ext cx="3273552" cy="1106424"/>
          </a:xfrm>
          <a:prstGeom prst="rect">
            <a:avLst/>
          </a:prstGeom>
          <a:noFill/>
          <a:ln/>
        </p:spPr>
        <p:txBody>
          <a:bodyPr wrap="square" lIns="0" tIns="0" rIns="0" bIns="0" rtlCol="0" anchor="t"/>
          <a:lstStyle/>
          <a:p>
            <a:pPr indent="0" marL="0">
              <a:spcAft>
                <a:spcPts val="200"/>
              </a:spcAft>
              <a:buNone/>
            </a:pPr>
            <a:r>
              <a:rPr lang="en-US" sz="1350" b="1" dirty="0">
                <a:solidFill>
                  <a:schemeClr val="tx1"/>
                </a:solidFill>
              </a:rPr>
              <a:t>Outcome unknown</a:t>
            </a:r>
            <a:endParaRPr lang="en-US" sz="1350" dirty="0"/>
          </a:p>
          <a:p>
            <a:pPr indent="0" marL="0">
              <a:spcAft>
                <a:spcPts val="200"/>
              </a:spcAft>
              <a:buNone/>
            </a:pPr>
            <a:r>
              <a:rPr lang="en-US" sz="1150" dirty="0">
                <a:solidFill>
                  <a:schemeClr val="tx1"/>
                </a:solidFill>
              </a:rPr>
              <a:t>timeout or 5xx: stays PENDING, Finance alerted; a same-key retry re-sends under the same key</a:t>
            </a:r>
            <a:endParaRPr lang="en-US" sz="1350" dirty="0"/>
          </a:p>
        </p:txBody>
      </p:sp>
      <p:sp>
        <p:nvSpPr>
          <p:cNvPr id="32" name="text-840"/>
          <p:cNvSpPr txBox="1"/>
          <p:nvPr/>
        </p:nvSpPr>
        <p:spPr>
          <a:xfrm>
            <a:off x="548640" y="5303520"/>
            <a:ext cx="11091672" cy="548640"/>
          </a:xfrm>
          <a:prstGeom prst="rect">
            <a:avLst/>
          </a:prstGeom>
          <a:noFill/>
          <a:ln/>
        </p:spPr>
        <p:txBody>
          <a:bodyPr wrap="square" lIns="0" tIns="0" rIns="0" bIns="0" rtlCol="0" anchor="t"/>
          <a:lstStyle/>
          <a:p>
            <a:pPr algn="l" indent="0" marL="0">
              <a:buNone/>
            </a:pPr>
            <a:r>
              <a:rPr lang="en-US" sz="1200" dirty="0">
                <a:solidFill>
                  <a:schemeClr val="accent6"/>
                </a:solidFill>
              </a:rPr>
              <a:t>A retry while an attempt is still in flight (under 5 min) gets 409 REFUND_IN_PROGRESS. COMPLAINT_PAYMENT_CLIENT=logging keeps the old stub for local use only.</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Reviews now set provider ratings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rating-review-service owns reviews and pushes each provider's aggregate; the push is an idempotent set</a:t>
            </a:r>
            <a:endParaRPr lang="en-US" sz="1500" dirty="0"/>
          </a:p>
        </p:txBody>
      </p:sp>
      <p:sp>
        <p:nvSpPr>
          <p:cNvPr id="4" name="panel-841"/>
          <p:cNvSpPr txBox="1"/>
          <p:nvPr/>
        </p:nvSpPr>
        <p:spPr>
          <a:xfrm>
            <a:off x="548640" y="1600200"/>
            <a:ext cx="2011680" cy="1600200"/>
          </a:xfrm>
          <a:prstGeom prst="roundRect">
            <a:avLst>
              <a:gd name="adj" fmla="val 5714"/>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5" name="icon-bg-star-842"/>
          <p:cNvSpPr/>
          <p:nvPr/>
        </p:nvSpPr>
        <p:spPr>
          <a:xfrm>
            <a:off x="694944" y="1746504"/>
            <a:ext cx="411480" cy="411480"/>
          </a:xfrm>
          <a:prstGeom prst="ellipse">
            <a:avLst/>
          </a:prstGeom>
          <a:solidFill>
            <a:schemeClr val="accent4"/>
          </a:solidFill>
          <a:ln/>
        </p:spPr>
        <p:txBody>
          <a:bodyPr/>
          <a:p/>
        </p:txBody>
      </p:sp>
      <p:pic>
        <p:nvPicPr>
          <p:cNvPr id="6" name="icon-star-843" descr="star">    </p:cNvPr>
          <p:cNvPicPr>
            <a:picLocks noChangeAspect="1"/>
          </p:cNvPicPr>
          <p:nvPr/>
        </p:nvPicPr>
        <p:blipFill>
          <a:blip r:embed="rId1"/>
          <a:stretch>
            <a:fillRect/>
          </a:stretch>
        </p:blipFill>
        <p:spPr>
          <a:xfrm>
            <a:off x="793699" y="1845259"/>
            <a:ext cx="213970" cy="213970"/>
          </a:xfrm>
          <a:prstGeom prst="rect">
            <a:avLst/>
          </a:prstGeom>
        </p:spPr>
      </p:pic>
      <p:sp>
        <p:nvSpPr>
          <p:cNvPr id="7" name="card-text-844"/>
          <p:cNvSpPr txBox="1"/>
          <p:nvPr/>
        </p:nvSpPr>
        <p:spPr>
          <a:xfrm>
            <a:off x="694944" y="2249424"/>
            <a:ext cx="1719072" cy="85953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Review changes</a:t>
            </a:r>
            <a:endParaRPr lang="en-US" sz="1300" dirty="0"/>
          </a:p>
          <a:p>
            <a:pPr indent="0" marL="0">
              <a:spcAft>
                <a:spcPts val="200"/>
              </a:spcAft>
              <a:buNone/>
            </a:pPr>
            <a:r>
              <a:rPr lang="en-US" sz="1100" dirty="0">
                <a:solidFill>
                  <a:schemeClr val="tx1"/>
                </a:solidFill>
              </a:rPr>
              <a:t>submitted, approved or removed</a:t>
            </a:r>
            <a:endParaRPr lang="en-US" sz="1300" dirty="0"/>
          </a:p>
        </p:txBody>
      </p:sp>
      <p:sp>
        <p:nvSpPr>
          <p:cNvPr id="8" name="arrow-845"/>
          <p:cNvSpPr/>
          <p:nvPr/>
        </p:nvSpPr>
        <p:spPr>
          <a:xfrm>
            <a:off x="2560320" y="2395728"/>
            <a:ext cx="258318" cy="0"/>
          </a:xfrm>
          <a:prstGeom prst="line">
            <a:avLst/>
          </a:prstGeom>
          <a:noFill/>
          <a:ln w="19050">
            <a:solidFill>
              <a:schemeClr val="accent6"/>
            </a:solidFill>
            <a:prstDash val="solid"/>
            <a:tailEnd type="triangle"/>
          </a:ln>
        </p:spPr>
        <p:txBody>
          <a:bodyPr/>
          <a:p/>
        </p:txBody>
      </p:sp>
      <p:sp>
        <p:nvSpPr>
          <p:cNvPr id="9" name="panel-846"/>
          <p:cNvSpPr txBox="1"/>
          <p:nvPr/>
        </p:nvSpPr>
        <p:spPr>
          <a:xfrm>
            <a:off x="2818638" y="1600200"/>
            <a:ext cx="2011680" cy="1600200"/>
          </a:xfrm>
          <a:prstGeom prst="roundRect">
            <a:avLst>
              <a:gd name="adj" fmla="val 5714"/>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10" name="icon-bg-db-847"/>
          <p:cNvSpPr/>
          <p:nvPr/>
        </p:nvSpPr>
        <p:spPr>
          <a:xfrm>
            <a:off x="2964942" y="1746504"/>
            <a:ext cx="411480" cy="411480"/>
          </a:xfrm>
          <a:prstGeom prst="ellipse">
            <a:avLst/>
          </a:prstGeom>
          <a:solidFill>
            <a:schemeClr val="accent4"/>
          </a:solidFill>
          <a:ln/>
        </p:spPr>
        <p:txBody>
          <a:bodyPr/>
          <a:p/>
        </p:txBody>
      </p:sp>
      <p:pic>
        <p:nvPicPr>
          <p:cNvPr id="11" name="icon-db-848" descr="db">    </p:cNvPr>
          <p:cNvPicPr>
            <a:picLocks noChangeAspect="1"/>
          </p:cNvPicPr>
          <p:nvPr/>
        </p:nvPicPr>
        <p:blipFill>
          <a:blip r:embed="rId2"/>
          <a:stretch>
            <a:fillRect/>
          </a:stretch>
        </p:blipFill>
        <p:spPr>
          <a:xfrm>
            <a:off x="3063697" y="1845259"/>
            <a:ext cx="213970" cy="213970"/>
          </a:xfrm>
          <a:prstGeom prst="rect">
            <a:avLst/>
          </a:prstGeom>
        </p:spPr>
      </p:pic>
      <p:sp>
        <p:nvSpPr>
          <p:cNvPr id="12" name="card-text-849"/>
          <p:cNvSpPr txBox="1"/>
          <p:nvPr/>
        </p:nvSpPr>
        <p:spPr>
          <a:xfrm>
            <a:off x="2964942" y="2249424"/>
            <a:ext cx="1719072" cy="85953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Same transaction</a:t>
            </a:r>
            <a:endParaRPr lang="en-US" sz="1300" dirty="0"/>
          </a:p>
          <a:p>
            <a:pPr indent="0" marL="0">
              <a:spcAft>
                <a:spcPts val="200"/>
              </a:spcAft>
              <a:buNone/>
            </a:pPr>
            <a:r>
              <a:rPr lang="en-US" sz="1100" dirty="0">
                <a:solidFill>
                  <a:schemeClr val="tx1"/>
                </a:solidFill>
              </a:rPr>
              <a:t>review saved and the provider's change counter bumped</a:t>
            </a:r>
            <a:endParaRPr lang="en-US" sz="1300" dirty="0"/>
          </a:p>
        </p:txBody>
      </p:sp>
      <p:sp>
        <p:nvSpPr>
          <p:cNvPr id="13" name="arrow-850"/>
          <p:cNvSpPr/>
          <p:nvPr/>
        </p:nvSpPr>
        <p:spPr>
          <a:xfrm>
            <a:off x="4830318" y="2395728"/>
            <a:ext cx="258318" cy="0"/>
          </a:xfrm>
          <a:prstGeom prst="line">
            <a:avLst/>
          </a:prstGeom>
          <a:noFill/>
          <a:ln w="19050">
            <a:solidFill>
              <a:schemeClr val="accent6"/>
            </a:solidFill>
            <a:prstDash val="solid"/>
            <a:tailEnd type="triangle"/>
          </a:ln>
        </p:spPr>
        <p:txBody>
          <a:bodyPr/>
          <a:p/>
        </p:txBody>
      </p:sp>
      <p:sp>
        <p:nvSpPr>
          <p:cNvPr id="14" name="panel-851"/>
          <p:cNvSpPr txBox="1"/>
          <p:nvPr/>
        </p:nvSpPr>
        <p:spPr>
          <a:xfrm>
            <a:off x="5088636" y="1600200"/>
            <a:ext cx="2011680" cy="1600200"/>
          </a:xfrm>
          <a:prstGeom prst="roundRect">
            <a:avLst>
              <a:gd name="adj" fmla="val 5714"/>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15" name="icon-bg-gauge-852"/>
          <p:cNvSpPr/>
          <p:nvPr/>
        </p:nvSpPr>
        <p:spPr>
          <a:xfrm>
            <a:off x="5234940" y="1746504"/>
            <a:ext cx="411480" cy="411480"/>
          </a:xfrm>
          <a:prstGeom prst="ellipse">
            <a:avLst/>
          </a:prstGeom>
          <a:solidFill>
            <a:schemeClr val="accent4"/>
          </a:solidFill>
          <a:ln/>
        </p:spPr>
        <p:txBody>
          <a:bodyPr/>
          <a:p/>
        </p:txBody>
      </p:sp>
      <p:pic>
        <p:nvPicPr>
          <p:cNvPr id="16" name="icon-gauge-853" descr="gauge">    </p:cNvPr>
          <p:cNvPicPr>
            <a:picLocks noChangeAspect="1"/>
          </p:cNvPicPr>
          <p:nvPr/>
        </p:nvPicPr>
        <p:blipFill>
          <a:blip r:embed="rId3"/>
          <a:stretch>
            <a:fillRect/>
          </a:stretch>
        </p:blipFill>
        <p:spPr>
          <a:xfrm>
            <a:off x="5333695" y="1845259"/>
            <a:ext cx="213970" cy="213970"/>
          </a:xfrm>
          <a:prstGeom prst="rect">
            <a:avLst/>
          </a:prstGeom>
        </p:spPr>
      </p:pic>
      <p:sp>
        <p:nvSpPr>
          <p:cNvPr id="17" name="card-text-854"/>
          <p:cNvSpPr txBox="1"/>
          <p:nvPr/>
        </p:nvSpPr>
        <p:spPr>
          <a:xfrm>
            <a:off x="5234940" y="2249424"/>
            <a:ext cx="1719072" cy="85953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After commit</a:t>
            </a:r>
            <a:endParaRPr lang="en-US" sz="1300" dirty="0"/>
          </a:p>
          <a:p>
            <a:pPr indent="0" marL="0">
              <a:spcAft>
                <a:spcPts val="200"/>
              </a:spcAft>
              <a:buNone/>
            </a:pPr>
            <a:r>
              <a:rPr lang="en-US" sz="1100" dirty="0">
                <a:solidFill>
                  <a:schemeClr val="tx1"/>
                </a:solidFill>
              </a:rPr>
              <a:t>aggregate of customer reviews (recent ones weigh 1.5×)</a:t>
            </a:r>
            <a:endParaRPr lang="en-US" sz="1300" dirty="0"/>
          </a:p>
        </p:txBody>
      </p:sp>
      <p:sp>
        <p:nvSpPr>
          <p:cNvPr id="18" name="arrow-855"/>
          <p:cNvSpPr/>
          <p:nvPr/>
        </p:nvSpPr>
        <p:spPr>
          <a:xfrm>
            <a:off x="7100316" y="2395728"/>
            <a:ext cx="258318" cy="0"/>
          </a:xfrm>
          <a:prstGeom prst="line">
            <a:avLst/>
          </a:prstGeom>
          <a:noFill/>
          <a:ln w="19050">
            <a:solidFill>
              <a:schemeClr val="accent6"/>
            </a:solidFill>
            <a:prstDash val="solid"/>
            <a:tailEnd type="triangle"/>
          </a:ln>
        </p:spPr>
        <p:txBody>
          <a:bodyPr/>
          <a:p/>
        </p:txBody>
      </p:sp>
      <p:sp>
        <p:nvSpPr>
          <p:cNvPr id="19" name="panel-856"/>
          <p:cNvSpPr txBox="1"/>
          <p:nvPr/>
        </p:nvSpPr>
        <p:spPr>
          <a:xfrm>
            <a:off x="7358634" y="1600200"/>
            <a:ext cx="2011680" cy="1600200"/>
          </a:xfrm>
          <a:prstGeom prst="roundRect">
            <a:avLst>
              <a:gd name="adj" fmla="val 5714"/>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20" name="icon-bg-send-857"/>
          <p:cNvSpPr/>
          <p:nvPr/>
        </p:nvSpPr>
        <p:spPr>
          <a:xfrm>
            <a:off x="7504938" y="1746504"/>
            <a:ext cx="411480" cy="411480"/>
          </a:xfrm>
          <a:prstGeom prst="ellipse">
            <a:avLst/>
          </a:prstGeom>
          <a:solidFill>
            <a:schemeClr val="accent3"/>
          </a:solidFill>
          <a:ln/>
        </p:spPr>
        <p:txBody>
          <a:bodyPr/>
          <a:p/>
        </p:txBody>
      </p:sp>
      <p:pic>
        <p:nvPicPr>
          <p:cNvPr id="21" name="icon-send-858" descr="send">    </p:cNvPr>
          <p:cNvPicPr>
            <a:picLocks noChangeAspect="1"/>
          </p:cNvPicPr>
          <p:nvPr/>
        </p:nvPicPr>
        <p:blipFill>
          <a:blip r:embed="rId4"/>
          <a:stretch>
            <a:fillRect/>
          </a:stretch>
        </p:blipFill>
        <p:spPr>
          <a:xfrm>
            <a:off x="7603693" y="1845259"/>
            <a:ext cx="213970" cy="213970"/>
          </a:xfrm>
          <a:prstGeom prst="rect">
            <a:avLst/>
          </a:prstGeom>
        </p:spPr>
      </p:pic>
      <p:sp>
        <p:nvSpPr>
          <p:cNvPr id="22" name="card-text-859"/>
          <p:cNvSpPr txBox="1"/>
          <p:nvPr/>
        </p:nvSpPr>
        <p:spPr>
          <a:xfrm>
            <a:off x="7504938" y="2249424"/>
            <a:ext cx="1719072" cy="85953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PUT /internal/…/rating</a:t>
            </a:r>
            <a:endParaRPr lang="en-US" sz="1300" dirty="0"/>
          </a:p>
          <a:p>
            <a:pPr indent="0" marL="0">
              <a:spcAft>
                <a:spcPts val="200"/>
              </a:spcAft>
              <a:buNone/>
            </a:pPr>
            <a:r>
              <a:rPr lang="en-US" sz="1100" dirty="0">
                <a:solidFill>
                  <a:schemeClr val="tx1"/>
                </a:solidFill>
              </a:rPr>
              <a:t>{average, count, sequence}</a:t>
            </a:r>
            <a:endParaRPr lang="en-US" sz="1300" dirty="0"/>
          </a:p>
        </p:txBody>
      </p:sp>
      <p:sp>
        <p:nvSpPr>
          <p:cNvPr id="23" name="arrow-860"/>
          <p:cNvSpPr/>
          <p:nvPr/>
        </p:nvSpPr>
        <p:spPr>
          <a:xfrm>
            <a:off x="9370314" y="2395728"/>
            <a:ext cx="258318" cy="0"/>
          </a:xfrm>
          <a:prstGeom prst="line">
            <a:avLst/>
          </a:prstGeom>
          <a:noFill/>
          <a:ln w="19050">
            <a:solidFill>
              <a:schemeClr val="accent6"/>
            </a:solidFill>
            <a:prstDash val="solid"/>
            <a:tailEnd type="triangle"/>
          </a:ln>
        </p:spPr>
        <p:txBody>
          <a:bodyPr/>
          <a:p/>
        </p:txBody>
      </p:sp>
      <p:sp>
        <p:nvSpPr>
          <p:cNvPr id="24" name="panel-861"/>
          <p:cNvSpPr txBox="1"/>
          <p:nvPr/>
        </p:nvSpPr>
        <p:spPr>
          <a:xfrm>
            <a:off x="9628632" y="1600200"/>
            <a:ext cx="2011680" cy="1600200"/>
          </a:xfrm>
          <a:prstGeom prst="roundRect">
            <a:avLst>
              <a:gd name="adj" fmla="val 5714"/>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25" name="icon-bg-user-862"/>
          <p:cNvSpPr/>
          <p:nvPr/>
        </p:nvSpPr>
        <p:spPr>
          <a:xfrm>
            <a:off x="9774936" y="1746504"/>
            <a:ext cx="411480" cy="411480"/>
          </a:xfrm>
          <a:prstGeom prst="ellipse">
            <a:avLst/>
          </a:prstGeom>
          <a:solidFill>
            <a:schemeClr val="accent3"/>
          </a:solidFill>
          <a:ln/>
        </p:spPr>
        <p:txBody>
          <a:bodyPr/>
          <a:p/>
        </p:txBody>
      </p:sp>
      <p:pic>
        <p:nvPicPr>
          <p:cNvPr id="26" name="icon-user-863" descr="user">    </p:cNvPr>
          <p:cNvPicPr>
            <a:picLocks noChangeAspect="1"/>
          </p:cNvPicPr>
          <p:nvPr/>
        </p:nvPicPr>
        <p:blipFill>
          <a:blip r:embed="rId5"/>
          <a:stretch>
            <a:fillRect/>
          </a:stretch>
        </p:blipFill>
        <p:spPr>
          <a:xfrm>
            <a:off x="9873691" y="1845259"/>
            <a:ext cx="213970" cy="213970"/>
          </a:xfrm>
          <a:prstGeom prst="rect">
            <a:avLst/>
          </a:prstGeom>
        </p:spPr>
      </p:pic>
      <p:sp>
        <p:nvSpPr>
          <p:cNvPr id="27" name="card-text-864"/>
          <p:cNvSpPr txBox="1"/>
          <p:nvPr/>
        </p:nvSpPr>
        <p:spPr>
          <a:xfrm>
            <a:off x="9774936" y="2249424"/>
            <a:ext cx="1719072" cy="859536"/>
          </a:xfrm>
          <a:prstGeom prst="rect">
            <a:avLst/>
          </a:prstGeom>
          <a:noFill/>
          <a:ln/>
        </p:spPr>
        <p:txBody>
          <a:bodyPr wrap="square" lIns="0" tIns="0" rIns="0" bIns="0" rtlCol="0" anchor="t"/>
          <a:lstStyle/>
          <a:p>
            <a:pPr indent="0" marL="0">
              <a:spcAft>
                <a:spcPts val="200"/>
              </a:spcAft>
              <a:buNone/>
            </a:pPr>
            <a:r>
              <a:rPr lang="en-US" sz="1300" b="1" dirty="0">
                <a:solidFill>
                  <a:schemeClr val="tx1"/>
                </a:solidFill>
              </a:rPr>
              <a:t>provider profile</a:t>
            </a:r>
            <a:endParaRPr lang="en-US" sz="1300" dirty="0"/>
          </a:p>
          <a:p>
            <a:pPr indent="0" marL="0">
              <a:spcAft>
                <a:spcPts val="200"/>
              </a:spcAft>
              <a:buNone/>
            </a:pPr>
            <a:r>
              <a:rPr lang="en-US" sz="1100" dirty="0">
                <a:solidFill>
                  <a:schemeClr val="tx1"/>
                </a:solidFill>
              </a:rPr>
              <a:t>rating and count; flagged for review below the threshold</a:t>
            </a:r>
            <a:endParaRPr lang="en-US" sz="1300" dirty="0"/>
          </a:p>
        </p:txBody>
      </p:sp>
      <p:sp>
        <p:nvSpPr>
          <p:cNvPr id="28" name="arrow-865"/>
          <p:cNvSpPr/>
          <p:nvPr/>
        </p:nvSpPr>
        <p:spPr>
          <a:xfrm>
            <a:off x="8364474" y="3200400"/>
            <a:ext cx="0" cy="841248"/>
          </a:xfrm>
          <a:prstGeom prst="line">
            <a:avLst/>
          </a:prstGeom>
          <a:noFill/>
          <a:ln w="19050">
            <a:solidFill>
              <a:schemeClr val="accent6"/>
            </a:solidFill>
            <a:prstDash val="dash"/>
          </a:ln>
        </p:spPr>
        <p:txBody>
          <a:bodyPr/>
          <a:p/>
        </p:txBody>
      </p:sp>
      <p:sp>
        <p:nvSpPr>
          <p:cNvPr id="29" name="arrow-866"/>
          <p:cNvSpPr/>
          <p:nvPr/>
        </p:nvSpPr>
        <p:spPr>
          <a:xfrm flipH="1">
            <a:off x="6583680" y="4041648"/>
            <a:ext cx="1780794" cy="0"/>
          </a:xfrm>
          <a:prstGeom prst="line">
            <a:avLst/>
          </a:prstGeom>
          <a:noFill/>
          <a:ln w="19050">
            <a:solidFill>
              <a:schemeClr val="accent6"/>
            </a:solidFill>
            <a:prstDash val="dash"/>
            <a:tailEnd type="triangle"/>
          </a:ln>
        </p:spPr>
        <p:txBody>
          <a:bodyPr/>
          <a:p/>
        </p:txBody>
      </p:sp>
      <p:sp>
        <p:nvSpPr>
          <p:cNvPr id="30" name="box-867"/>
          <p:cNvSpPr txBox="1"/>
          <p:nvPr/>
        </p:nvSpPr>
        <p:spPr>
          <a:xfrm>
            <a:off x="2743200" y="3611880"/>
            <a:ext cx="3840480" cy="868680"/>
          </a:xfrm>
          <a:prstGeom prst="roundRect">
            <a:avLst>
              <a:gd name="adj" fmla="val 8421"/>
            </a:avLst>
          </a:prstGeom>
          <a:solidFill>
            <a:schemeClr val="accent2">
              <a:alpha val="14000"/>
            </a:schemeClr>
          </a:solidFill>
          <a:ln/>
        </p:spPr>
        <p:txBody>
          <a:bodyPr wrap="square" lIns="127000" tIns="50800" rIns="127000" bIns="50800" rtlCol="0" anchor="ctr"/>
          <a:lstStyle/>
          <a:p>
            <a:pPr algn="l" indent="0" marL="0">
              <a:buNone/>
            </a:pPr>
            <a:r>
              <a:rPr lang="en-US" sz="1250" b="1" dirty="0">
                <a:solidFill>
                  <a:schemeClr val="tx1"/>
                </a:solidFill>
              </a:rPr>
              <a:t>Push failed?  </a:t>
            </a:r>
            <a:pPr algn="l" indent="0" marL="0">
              <a:buNone/>
            </a:pPr>
            <a:r>
              <a:rPr lang="en-US" sz="1150" dirty="0">
                <a:solidFill>
                  <a:schemeClr val="tx1"/>
                </a:solidFill>
              </a:rPr>
              <a:t>it stays owed in rating.provider_rating_sync; a sweeper re-sends every minute</a:t>
            </a:r>
            <a:endParaRPr lang="en-US" sz="1200" dirty="0"/>
          </a:p>
        </p:txBody>
      </p:sp>
      <p:sp>
        <p:nvSpPr>
          <p:cNvPr id="31" name="box-868"/>
          <p:cNvSpPr txBox="1"/>
          <p:nvPr/>
        </p:nvSpPr>
        <p:spPr>
          <a:xfrm>
            <a:off x="8732520" y="3611880"/>
            <a:ext cx="2907792" cy="868680"/>
          </a:xfrm>
          <a:prstGeom prst="roundRect">
            <a:avLst>
              <a:gd name="adj" fmla="val 8421"/>
            </a:avLst>
          </a:prstGeom>
          <a:solidFill>
            <a:schemeClr val="accent1">
              <a:alpha val="14000"/>
            </a:schemeClr>
          </a:solidFill>
          <a:ln/>
        </p:spPr>
        <p:txBody>
          <a:bodyPr wrap="square" lIns="127000" tIns="50800" rIns="127000" bIns="50800" rtlCol="0" anchor="ctr"/>
          <a:lstStyle/>
          <a:p>
            <a:pPr algn="l" indent="0" marL="0">
              <a:buNone/>
            </a:pPr>
            <a:r>
              <a:rPr lang="en-US" sz="1250" b="1" dirty="0">
                <a:solidFill>
                  <a:schemeClr val="tx1"/>
                </a:solidFill>
              </a:rPr>
              <a:t>Used by  </a:t>
            </a:r>
            <a:pPr algn="l" indent="0" marL="0">
              <a:buNone/>
            </a:pPr>
            <a:r>
              <a:rPr lang="en-US" sz="1150" dirty="0">
                <a:solidFill>
                  <a:schemeClr val="tx1"/>
                </a:solidFill>
              </a:rPr>
              <a:t>dispatch's rating score and the apps' provider cards</a:t>
            </a:r>
            <a:endParaRPr lang="en-US" sz="1200" dirty="0"/>
          </a:p>
        </p:txBody>
      </p:sp>
      <p:sp>
        <p:nvSpPr>
          <p:cNvPr id="32" name="text-869"/>
          <p:cNvSpPr txBox="1"/>
          <p:nvPr/>
        </p:nvSpPr>
        <p:spPr>
          <a:xfrm>
            <a:off x="548640" y="4846320"/>
            <a:ext cx="11091672" cy="640080"/>
          </a:xfrm>
          <a:prstGeom prst="rect">
            <a:avLst/>
          </a:prstGeom>
          <a:noFill/>
          <a:ln/>
        </p:spPr>
        <p:txBody>
          <a:bodyPr wrap="square" lIns="0" tIns="0" rIns="0" bIns="0" rtlCol="0" anchor="t"/>
          <a:lstStyle/>
          <a:p>
            <a:pPr algn="l" indent="0" marL="0">
              <a:buNone/>
            </a:pPr>
            <a:r>
              <a:rPr lang="en-US" sz="1250" dirty="0">
                <a:solidFill>
                  <a:schemeClr val="accent6"/>
                </a:solidFill>
              </a:rPr>
              <a:t>A push with an older sequence is ignored, so a late retry can never roll a rating back. Provider-to-customer reviews never count. Existing reviews are back-filled on the first sweep after deploy.</a:t>
            </a:r>
            <a:endParaRPr lang="en-US" sz="125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Email over SMTP</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Modelled on your shiprock notification service: Spring Mail, Amazon SES in AWS, Mailpit locally</a:t>
            </a:r>
            <a:endParaRPr lang="en-US" sz="1500" dirty="0"/>
          </a:p>
        </p:txBody>
      </p:sp>
      <p:sp>
        <p:nvSpPr>
          <p:cNvPr id="4" name="box-870"/>
          <p:cNvSpPr txBox="1"/>
          <p:nvPr/>
        </p:nvSpPr>
        <p:spPr>
          <a:xfrm>
            <a:off x="548640" y="1737360"/>
            <a:ext cx="2377440" cy="1143000"/>
          </a:xfrm>
          <a:prstGeom prst="roundRect">
            <a:avLst>
              <a:gd name="adj" fmla="val 6400"/>
            </a:avLst>
          </a:prstGeom>
          <a:solidFill>
            <a:schemeClr val="accent3">
              <a:alpha val="14000"/>
            </a:schemeClr>
          </a:solidFill>
          <a:ln/>
        </p:spPr>
        <p:txBody>
          <a:bodyPr wrap="square" lIns="101600" tIns="50800" rIns="101600" bIns="50800" rtlCol="0" anchor="ctr"/>
          <a:lstStyle/>
          <a:p>
            <a:pPr algn="l" indent="0" marL="0">
              <a:buNone/>
            </a:pPr>
            <a:r>
              <a:rPr lang="en-US" sz="1300" b="1" dirty="0">
                <a:solidFill>
                  <a:schemeClr val="tx1"/>
                </a:solidFill>
              </a:rPr>
              <a:t>auth-service</a:t>
            </a:r>
            <a:endParaRPr lang="en-US" sz="1200" dirty="0"/>
          </a:p>
          <a:p>
            <a:pPr algn="l" indent="0" marL="0">
              <a:buNone/>
            </a:pPr>
            <a:r>
              <a:rPr lang="en-US" sz="1050" dirty="0">
                <a:solidFill>
                  <a:schemeClr val="tx1"/>
                </a:solidFill>
              </a:rPr>
              <a:t>sign-up and reset codes, invitations, agency decisions</a:t>
            </a:r>
            <a:endParaRPr lang="en-US" sz="1200" dirty="0"/>
          </a:p>
        </p:txBody>
      </p:sp>
      <p:sp>
        <p:nvSpPr>
          <p:cNvPr id="5" name="box-871"/>
          <p:cNvSpPr txBox="1"/>
          <p:nvPr/>
        </p:nvSpPr>
        <p:spPr>
          <a:xfrm>
            <a:off x="548640" y="3246120"/>
            <a:ext cx="2377440" cy="1143000"/>
          </a:xfrm>
          <a:prstGeom prst="roundRect">
            <a:avLst>
              <a:gd name="adj" fmla="val 6400"/>
            </a:avLst>
          </a:prstGeom>
          <a:solidFill>
            <a:schemeClr val="accent4">
              <a:alpha val="14000"/>
            </a:schemeClr>
          </a:solidFill>
          <a:ln/>
        </p:spPr>
        <p:txBody>
          <a:bodyPr wrap="square" lIns="101600" tIns="50800" rIns="101600" bIns="50800" rtlCol="0" anchor="ctr"/>
          <a:lstStyle/>
          <a:p>
            <a:pPr algn="l" indent="0" marL="0">
              <a:buNone/>
            </a:pPr>
            <a:r>
              <a:rPr lang="en-US" sz="1300" b="1" dirty="0">
                <a:solidFill>
                  <a:schemeClr val="tx1"/>
                </a:solidFill>
              </a:rPr>
              <a:t>notification-service</a:t>
            </a:r>
            <a:endParaRPr lang="en-US" sz="1200" dirty="0"/>
          </a:p>
          <a:p>
            <a:pPr algn="l" indent="0" marL="0">
              <a:buNone/>
            </a:pPr>
            <a:r>
              <a:rPr lang="en-US" sz="1050" dirty="0">
                <a:solidFill>
                  <a:schemeClr val="tx1"/>
                </a:solidFill>
              </a:rPr>
              <a:t>booking, payment and complaint emails</a:t>
            </a:r>
            <a:endParaRPr lang="en-US" sz="1200" dirty="0"/>
          </a:p>
        </p:txBody>
      </p:sp>
      <p:sp>
        <p:nvSpPr>
          <p:cNvPr id="6" name="box-872"/>
          <p:cNvSpPr txBox="1"/>
          <p:nvPr/>
        </p:nvSpPr>
        <p:spPr>
          <a:xfrm>
            <a:off x="3429000" y="2514600"/>
            <a:ext cx="1920240" cy="1097280"/>
          </a:xfrm>
          <a:prstGeom prst="roundRect">
            <a:avLst>
              <a:gd name="adj" fmla="val 6667"/>
            </a:avLst>
          </a:prstGeom>
          <a:solidFill>
            <a:schemeClr val="tx1"/>
          </a:solidFill>
          <a:ln/>
        </p:spPr>
        <p:txBody>
          <a:bodyPr wrap="square" lIns="76200" tIns="38100" rIns="76200" bIns="38100" rtlCol="0" anchor="ctr"/>
          <a:lstStyle/>
          <a:p>
            <a:pPr algn="ctr" indent="0" marL="0">
              <a:buNone/>
            </a:pPr>
            <a:r>
              <a:rPr lang="en-US" sz="1300" b="1" dirty="0">
                <a:solidFill>
                  <a:schemeClr val="bg1"/>
                </a:solidFill>
              </a:rPr>
              <a:t>email port</a:t>
            </a:r>
            <a:endParaRPr lang="en-US" sz="1200" dirty="0"/>
          </a:p>
          <a:p>
            <a:pPr algn="ctr" indent="0" marL="0">
              <a:buNone/>
            </a:pPr>
            <a:r>
              <a:rPr lang="en-US" sz="1050" dirty="0">
                <a:solidFill>
                  <a:schemeClr val="bg1"/>
                </a:solidFill>
              </a:rPr>
              <a:t>EMAIL_PROVIDER</a:t>
            </a:r>
            <a:endParaRPr lang="en-US" sz="1200" dirty="0"/>
          </a:p>
        </p:txBody>
      </p:sp>
      <p:sp>
        <p:nvSpPr>
          <p:cNvPr id="7" name="arrow-873"/>
          <p:cNvSpPr/>
          <p:nvPr/>
        </p:nvSpPr>
        <p:spPr>
          <a:xfrm>
            <a:off x="2926080" y="2304288"/>
            <a:ext cx="502920" cy="576072"/>
          </a:xfrm>
          <a:prstGeom prst="line">
            <a:avLst/>
          </a:prstGeom>
          <a:noFill/>
          <a:ln w="19050">
            <a:solidFill>
              <a:schemeClr val="accent6"/>
            </a:solidFill>
            <a:prstDash val="solid"/>
            <a:tailEnd type="triangle"/>
          </a:ln>
        </p:spPr>
        <p:txBody>
          <a:bodyPr/>
          <a:p/>
        </p:txBody>
      </p:sp>
      <p:sp>
        <p:nvSpPr>
          <p:cNvPr id="8" name="arrow-874"/>
          <p:cNvSpPr/>
          <p:nvPr/>
        </p:nvSpPr>
        <p:spPr>
          <a:xfrm flipV="1">
            <a:off x="2926080" y="3246120"/>
            <a:ext cx="502920" cy="566928"/>
          </a:xfrm>
          <a:prstGeom prst="line">
            <a:avLst/>
          </a:prstGeom>
          <a:noFill/>
          <a:ln w="19050">
            <a:solidFill>
              <a:schemeClr val="accent6"/>
            </a:solidFill>
            <a:prstDash val="solid"/>
            <a:tailEnd type="triangle"/>
          </a:ln>
        </p:spPr>
        <p:txBody>
          <a:bodyPr/>
          <a:p/>
        </p:txBody>
      </p:sp>
      <p:sp>
        <p:nvSpPr>
          <p:cNvPr id="9" name="box-875"/>
          <p:cNvSpPr txBox="1"/>
          <p:nvPr/>
        </p:nvSpPr>
        <p:spPr>
          <a:xfrm>
            <a:off x="5852160" y="1600200"/>
            <a:ext cx="2834640" cy="822960"/>
          </a:xfrm>
          <a:prstGeom prst="roundRect">
            <a:avLst>
              <a:gd name="adj" fmla="val 8889"/>
            </a:avLst>
          </a:prstGeom>
          <a:solidFill>
            <a:schemeClr val="accent6">
              <a:alpha val="14000"/>
            </a:schemeClr>
          </a:solidFill>
          <a:ln/>
        </p:spPr>
        <p:txBody>
          <a:bodyPr wrap="square" lIns="101600" tIns="50800" rIns="101600" bIns="50800" rtlCol="0" anchor="ctr"/>
          <a:lstStyle/>
          <a:p>
            <a:pPr algn="l" indent="0" marL="0">
              <a:buNone/>
            </a:pPr>
            <a:r>
              <a:rPr lang="en-US" sz="1250" b="1" dirty="0">
                <a:solidFill>
                  <a:schemeClr val="tx1"/>
                </a:solidFill>
              </a:rPr>
              <a:t>file</a:t>
            </a:r>
            <a:endParaRPr lang="en-US" sz="1200" dirty="0"/>
          </a:p>
          <a:p>
            <a:pPr algn="l" indent="0" marL="0">
              <a:buNone/>
            </a:pPr>
            <a:r>
              <a:rPr lang="en-US" sz="1050" dirty="0">
                <a:solidFill>
                  <a:schemeClr val="tx1"/>
                </a:solidFill>
              </a:rPr>
              <a:t>docker/dev-mail/dev-mail.log  (Compose default)</a:t>
            </a:r>
            <a:endParaRPr lang="en-US" sz="1200" dirty="0"/>
          </a:p>
        </p:txBody>
      </p:sp>
      <p:sp>
        <p:nvSpPr>
          <p:cNvPr id="10" name="arrow-876"/>
          <p:cNvSpPr/>
          <p:nvPr/>
        </p:nvSpPr>
        <p:spPr>
          <a:xfrm flipV="1">
            <a:off x="5349240" y="2011680"/>
            <a:ext cx="502920" cy="1051560"/>
          </a:xfrm>
          <a:prstGeom prst="line">
            <a:avLst/>
          </a:prstGeom>
          <a:noFill/>
          <a:ln w="15875">
            <a:solidFill>
              <a:schemeClr val="accent6"/>
            </a:solidFill>
            <a:prstDash val="solid"/>
            <a:tailEnd type="triangle"/>
          </a:ln>
        </p:spPr>
        <p:txBody>
          <a:bodyPr/>
          <a:p/>
        </p:txBody>
      </p:sp>
      <p:sp>
        <p:nvSpPr>
          <p:cNvPr id="11" name="box-877"/>
          <p:cNvSpPr txBox="1"/>
          <p:nvPr/>
        </p:nvSpPr>
        <p:spPr>
          <a:xfrm>
            <a:off x="5852160" y="2587752"/>
            <a:ext cx="2834640" cy="822960"/>
          </a:xfrm>
          <a:prstGeom prst="roundRect">
            <a:avLst>
              <a:gd name="adj" fmla="val 8889"/>
            </a:avLst>
          </a:prstGeom>
          <a:solidFill>
            <a:schemeClr val="accent5">
              <a:alpha val="14000"/>
            </a:schemeClr>
          </a:solidFill>
          <a:ln/>
        </p:spPr>
        <p:txBody>
          <a:bodyPr wrap="square" lIns="101600" tIns="50800" rIns="101600" bIns="50800" rtlCol="0" anchor="ctr"/>
          <a:lstStyle/>
          <a:p>
            <a:pPr algn="l" indent="0" marL="0">
              <a:buNone/>
            </a:pPr>
            <a:r>
              <a:rPr lang="en-US" sz="1250" b="1" dirty="0">
                <a:solidFill>
                  <a:schemeClr val="tx1"/>
                </a:solidFill>
              </a:rPr>
              <a:t>smtp → Mailpit</a:t>
            </a:r>
            <a:endParaRPr lang="en-US" sz="1200" dirty="0"/>
          </a:p>
          <a:p>
            <a:pPr algn="l" indent="0" marL="0">
              <a:buNone/>
            </a:pPr>
            <a:r>
              <a:rPr lang="en-US" sz="1050" dirty="0">
                <a:solidFill>
                  <a:schemeClr val="tx1"/>
                </a:solidFill>
              </a:rPr>
              <a:t>local, docker compose --profile mail, inbox :8025</a:t>
            </a:r>
            <a:endParaRPr lang="en-US" sz="1200" dirty="0"/>
          </a:p>
        </p:txBody>
      </p:sp>
      <p:sp>
        <p:nvSpPr>
          <p:cNvPr id="12" name="arrow-878"/>
          <p:cNvSpPr/>
          <p:nvPr/>
        </p:nvSpPr>
        <p:spPr>
          <a:xfrm flipV="1">
            <a:off x="5349240" y="2999232"/>
            <a:ext cx="502920" cy="64008"/>
          </a:xfrm>
          <a:prstGeom prst="line">
            <a:avLst/>
          </a:prstGeom>
          <a:noFill/>
          <a:ln w="15875">
            <a:solidFill>
              <a:schemeClr val="accent6"/>
            </a:solidFill>
            <a:prstDash val="solid"/>
            <a:tailEnd type="triangle"/>
          </a:ln>
        </p:spPr>
        <p:txBody>
          <a:bodyPr/>
          <a:p/>
        </p:txBody>
      </p:sp>
      <p:sp>
        <p:nvSpPr>
          <p:cNvPr id="13" name="box-879"/>
          <p:cNvSpPr txBox="1"/>
          <p:nvPr/>
        </p:nvSpPr>
        <p:spPr>
          <a:xfrm>
            <a:off x="5852160" y="3575304"/>
            <a:ext cx="2834640" cy="822960"/>
          </a:xfrm>
          <a:prstGeom prst="roundRect">
            <a:avLst>
              <a:gd name="adj" fmla="val 8889"/>
            </a:avLst>
          </a:prstGeom>
          <a:solidFill>
            <a:schemeClr val="accent1">
              <a:alpha val="14000"/>
            </a:schemeClr>
          </a:solidFill>
          <a:ln/>
        </p:spPr>
        <p:txBody>
          <a:bodyPr wrap="square" lIns="101600" tIns="50800" rIns="101600" bIns="50800" rtlCol="0" anchor="ctr"/>
          <a:lstStyle/>
          <a:p>
            <a:pPr algn="l" indent="0" marL="0">
              <a:buNone/>
            </a:pPr>
            <a:r>
              <a:rPr lang="en-US" sz="1250" b="1" dirty="0">
                <a:solidFill>
                  <a:schemeClr val="tx1"/>
                </a:solidFill>
              </a:rPr>
              <a:t>smtp → Amazon SES</a:t>
            </a:r>
            <a:endParaRPr lang="en-US" sz="1200" dirty="0"/>
          </a:p>
          <a:p>
            <a:pPr algn="l" indent="0" marL="0">
              <a:buNone/>
            </a:pPr>
            <a:r>
              <a:rPr lang="en-US" sz="1050" dirty="0">
                <a:solidFill>
                  <a:schemeClr val="tx1"/>
                </a:solidFill>
              </a:rPr>
              <a:t>Helm: port 587, STARTTLS, verified sender</a:t>
            </a:r>
            <a:endParaRPr lang="en-US" sz="1200" dirty="0"/>
          </a:p>
        </p:txBody>
      </p:sp>
      <p:sp>
        <p:nvSpPr>
          <p:cNvPr id="14" name="arrow-880"/>
          <p:cNvSpPr/>
          <p:nvPr/>
        </p:nvSpPr>
        <p:spPr>
          <a:xfrm>
            <a:off x="5349240" y="3063240"/>
            <a:ext cx="502920" cy="923544"/>
          </a:xfrm>
          <a:prstGeom prst="line">
            <a:avLst/>
          </a:prstGeom>
          <a:noFill/>
          <a:ln w="15875">
            <a:solidFill>
              <a:schemeClr val="accent6"/>
            </a:solidFill>
            <a:prstDash val="solid"/>
            <a:tailEnd type="triangle"/>
          </a:ln>
        </p:spPr>
        <p:txBody>
          <a:bodyPr/>
          <a:p/>
        </p:txBody>
      </p:sp>
      <p:sp>
        <p:nvSpPr>
          <p:cNvPr id="15" name="box-881"/>
          <p:cNvSpPr txBox="1"/>
          <p:nvPr/>
        </p:nvSpPr>
        <p:spPr>
          <a:xfrm>
            <a:off x="5852160" y="4562856"/>
            <a:ext cx="2834640" cy="822960"/>
          </a:xfrm>
          <a:prstGeom prst="roundRect">
            <a:avLst>
              <a:gd name="adj" fmla="val 8889"/>
            </a:avLst>
          </a:prstGeom>
          <a:solidFill>
            <a:schemeClr val="accent6">
              <a:alpha val="14000"/>
            </a:schemeClr>
          </a:solidFill>
          <a:ln/>
        </p:spPr>
        <p:txBody>
          <a:bodyPr wrap="square" lIns="101600" tIns="50800" rIns="101600" bIns="50800" rtlCol="0" anchor="ctr"/>
          <a:lstStyle/>
          <a:p>
            <a:pPr algn="l" indent="0" marL="0">
              <a:buNone/>
            </a:pPr>
            <a:r>
              <a:rPr lang="en-US" sz="1250" b="1" dirty="0">
                <a:solidFill>
                  <a:schemeClr val="tx1"/>
                </a:solidFill>
              </a:rPr>
              <a:t>logging</a:t>
            </a:r>
            <a:endParaRPr lang="en-US" sz="1200" dirty="0"/>
          </a:p>
          <a:p>
            <a:pPr algn="l" indent="0" marL="0">
              <a:buNone/>
            </a:pPr>
            <a:r>
              <a:rPr lang="en-US" sz="1050" dirty="0">
                <a:solidFill>
                  <a:schemeClr val="tx1"/>
                </a:solidFill>
              </a:rPr>
              <a:t>subject only (CI)</a:t>
            </a:r>
            <a:endParaRPr lang="en-US" sz="1200" dirty="0"/>
          </a:p>
        </p:txBody>
      </p:sp>
      <p:sp>
        <p:nvSpPr>
          <p:cNvPr id="16" name="arrow-882"/>
          <p:cNvSpPr/>
          <p:nvPr/>
        </p:nvSpPr>
        <p:spPr>
          <a:xfrm>
            <a:off x="5349240" y="3063240"/>
            <a:ext cx="502920" cy="1911096"/>
          </a:xfrm>
          <a:prstGeom prst="line">
            <a:avLst/>
          </a:prstGeom>
          <a:noFill/>
          <a:ln w="15875">
            <a:solidFill>
              <a:schemeClr val="accent6"/>
            </a:solidFill>
            <a:prstDash val="solid"/>
            <a:tailEnd type="triangle"/>
          </a:ln>
        </p:spPr>
        <p:txBody>
          <a:bodyPr/>
          <a:p/>
        </p:txBody>
      </p:sp>
      <p:sp>
        <p:nvSpPr>
          <p:cNvPr id="17" name="panel-883"/>
          <p:cNvSpPr txBox="1"/>
          <p:nvPr/>
        </p:nvSpPr>
        <p:spPr>
          <a:xfrm>
            <a:off x="9006840" y="1600200"/>
            <a:ext cx="2633472" cy="841248"/>
          </a:xfrm>
          <a:prstGeom prst="roundRect">
            <a:avLst>
              <a:gd name="adj" fmla="val 10870"/>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8" name="card-text-884"/>
          <p:cNvSpPr txBox="1"/>
          <p:nvPr/>
        </p:nvSpPr>
        <p:spPr>
          <a:xfrm>
            <a:off x="9153144" y="1728216"/>
            <a:ext cx="2340864" cy="621792"/>
          </a:xfrm>
          <a:prstGeom prst="rect">
            <a:avLst/>
          </a:prstGeom>
          <a:noFill/>
          <a:ln/>
        </p:spPr>
        <p:txBody>
          <a:bodyPr wrap="square" lIns="0" tIns="0" rIns="0" bIns="0" rtlCol="0" anchor="t"/>
          <a:lstStyle/>
          <a:p>
            <a:pPr indent="0" marL="0">
              <a:spcAft>
                <a:spcPts val="200"/>
              </a:spcAft>
              <a:buNone/>
            </a:pPr>
            <a:r>
              <a:rPr lang="en-US" sz="1250" b="1" dirty="0">
                <a:solidFill>
                  <a:schemeClr val="tx1"/>
                </a:solidFill>
              </a:rPr>
              <a:t>SMTP 5xx: permanent</a:t>
            </a:r>
            <a:endParaRPr lang="en-US" sz="1250" dirty="0"/>
          </a:p>
          <a:p>
            <a:pPr indent="0" marL="0">
              <a:spcAft>
                <a:spcPts val="200"/>
              </a:spcAft>
              <a:buNone/>
            </a:pPr>
            <a:r>
              <a:rPr lang="en-US" sz="1050" dirty="0">
                <a:solidFill>
                  <a:schemeClr val="tx1"/>
                </a:solidFill>
              </a:rPr>
              <a:t>not retried (e.g. unknown recipient)</a:t>
            </a:r>
            <a:endParaRPr lang="en-US" sz="1250" dirty="0"/>
          </a:p>
        </p:txBody>
      </p:sp>
      <p:sp>
        <p:nvSpPr>
          <p:cNvPr id="19" name="panel-885"/>
          <p:cNvSpPr txBox="1"/>
          <p:nvPr/>
        </p:nvSpPr>
        <p:spPr>
          <a:xfrm>
            <a:off x="9006840" y="2587752"/>
            <a:ext cx="2633472" cy="841248"/>
          </a:xfrm>
          <a:prstGeom prst="roundRect">
            <a:avLst>
              <a:gd name="adj" fmla="val 10870"/>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0" name="card-text-886"/>
          <p:cNvSpPr txBox="1"/>
          <p:nvPr/>
        </p:nvSpPr>
        <p:spPr>
          <a:xfrm>
            <a:off x="9153144" y="2715768"/>
            <a:ext cx="2340864" cy="621792"/>
          </a:xfrm>
          <a:prstGeom prst="rect">
            <a:avLst/>
          </a:prstGeom>
          <a:noFill/>
          <a:ln/>
        </p:spPr>
        <p:txBody>
          <a:bodyPr wrap="square" lIns="0" tIns="0" rIns="0" bIns="0" rtlCol="0" anchor="t"/>
          <a:lstStyle/>
          <a:p>
            <a:pPr indent="0" marL="0">
              <a:spcAft>
                <a:spcPts val="200"/>
              </a:spcAft>
              <a:buNone/>
            </a:pPr>
            <a:r>
              <a:rPr lang="en-US" sz="1250" b="1" dirty="0">
                <a:solidFill>
                  <a:schemeClr val="tx1"/>
                </a:solidFill>
              </a:rPr>
              <a:t>4xx or no connection</a:t>
            </a:r>
            <a:endParaRPr lang="en-US" sz="1250" dirty="0"/>
          </a:p>
          <a:p>
            <a:pPr indent="0" marL="0">
              <a:spcAft>
                <a:spcPts val="200"/>
              </a:spcAft>
              <a:buNone/>
            </a:pPr>
            <a:r>
              <a:rPr lang="en-US" sz="1050" dirty="0">
                <a:solidFill>
                  <a:schemeClr val="tx1"/>
                </a:solidFill>
              </a:rPr>
              <a:t>retried</a:t>
            </a:r>
            <a:endParaRPr lang="en-US" sz="1250" dirty="0"/>
          </a:p>
        </p:txBody>
      </p:sp>
      <p:sp>
        <p:nvSpPr>
          <p:cNvPr id="21" name="panel-887"/>
          <p:cNvSpPr txBox="1"/>
          <p:nvPr/>
        </p:nvSpPr>
        <p:spPr>
          <a:xfrm>
            <a:off x="9006840" y="3575304"/>
            <a:ext cx="2633472" cy="841248"/>
          </a:xfrm>
          <a:prstGeom prst="roundRect">
            <a:avLst>
              <a:gd name="adj" fmla="val 10870"/>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2" name="card-text-888"/>
          <p:cNvSpPr txBox="1"/>
          <p:nvPr/>
        </p:nvSpPr>
        <p:spPr>
          <a:xfrm>
            <a:off x="9153144" y="3703320"/>
            <a:ext cx="2340864" cy="621792"/>
          </a:xfrm>
          <a:prstGeom prst="rect">
            <a:avLst/>
          </a:prstGeom>
          <a:noFill/>
          <a:ln/>
        </p:spPr>
        <p:txBody>
          <a:bodyPr wrap="square" lIns="0" tIns="0" rIns="0" bIns="0" rtlCol="0" anchor="t"/>
          <a:lstStyle/>
          <a:p>
            <a:pPr indent="0" marL="0">
              <a:spcAft>
                <a:spcPts val="200"/>
              </a:spcAft>
              <a:buNone/>
            </a:pPr>
            <a:r>
              <a:rPr lang="en-US" sz="1250" b="1" dirty="0">
                <a:solidFill>
                  <a:schemeClr val="tx1"/>
                </a:solidFill>
              </a:rPr>
              <a:t>Codes stay out of logs</a:t>
            </a:r>
            <a:endParaRPr lang="en-US" sz="1250" dirty="0"/>
          </a:p>
          <a:p>
            <a:pPr indent="0" marL="0">
              <a:spcAft>
                <a:spcPts val="200"/>
              </a:spcAft>
              <a:buNone/>
            </a:pPr>
            <a:r>
              <a:rPr lang="en-US" sz="1050" dirty="0">
                <a:solidFill>
                  <a:schemeClr val="tx1"/>
                </a:solidFill>
              </a:rPr>
              <a:t>only in the body; subjects are safe to log</a:t>
            </a:r>
            <a:endParaRPr lang="en-US" sz="1250" dirty="0"/>
          </a:p>
        </p:txBody>
      </p:sp>
      <p:sp>
        <p:nvSpPr>
          <p:cNvPr id="23" name="panel-889"/>
          <p:cNvSpPr txBox="1"/>
          <p:nvPr/>
        </p:nvSpPr>
        <p:spPr>
          <a:xfrm>
            <a:off x="9006840" y="4562856"/>
            <a:ext cx="2633472" cy="841248"/>
          </a:xfrm>
          <a:prstGeom prst="roundRect">
            <a:avLst>
              <a:gd name="adj" fmla="val 10870"/>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24" name="card-text-890"/>
          <p:cNvSpPr txBox="1"/>
          <p:nvPr/>
        </p:nvSpPr>
        <p:spPr>
          <a:xfrm>
            <a:off x="9153144" y="4690872"/>
            <a:ext cx="2340864" cy="621792"/>
          </a:xfrm>
          <a:prstGeom prst="rect">
            <a:avLst/>
          </a:prstGeom>
          <a:noFill/>
          <a:ln/>
        </p:spPr>
        <p:txBody>
          <a:bodyPr wrap="square" lIns="0" tIns="0" rIns="0" bIns="0" rtlCol="0" anchor="t"/>
          <a:lstStyle/>
          <a:p>
            <a:pPr indent="0" marL="0">
              <a:spcAft>
                <a:spcPts val="200"/>
              </a:spcAft>
              <a:buNone/>
            </a:pPr>
            <a:r>
              <a:rPr lang="en-US" sz="1250" b="1" dirty="0">
                <a:solidFill>
                  <a:schemeClr val="tx1"/>
                </a:solidFill>
              </a:rPr>
              <a:t>SMTP_* variables only</a:t>
            </a:r>
            <a:endParaRPr lang="en-US" sz="1250" dirty="0"/>
          </a:p>
          <a:p>
            <a:pPr indent="0" marL="0">
              <a:spcAft>
                <a:spcPts val="200"/>
              </a:spcAft>
              <a:buNone/>
            </a:pPr>
            <a:r>
              <a:rPr lang="en-US" sz="1050" dirty="0">
                <a:solidFill>
                  <a:schemeClr val="tx1"/>
                </a:solidFill>
              </a:rPr>
              <a:t>SPRING_MAIL_* would reach every service in the JVM</a:t>
            </a:r>
            <a:endParaRPr lang="en-US" sz="1250" dirty="0"/>
          </a:p>
        </p:txBody>
      </p:sp>
      <p:sp>
        <p:nvSpPr>
          <p:cNvPr id="25" name="text-891"/>
          <p:cNvSpPr txBox="1"/>
          <p:nvPr/>
        </p:nvSpPr>
        <p:spPr>
          <a:xfrm>
            <a:off x="548640" y="5715000"/>
            <a:ext cx="11091672" cy="365760"/>
          </a:xfrm>
          <a:prstGeom prst="rect">
            <a:avLst/>
          </a:prstGeom>
          <a:noFill/>
          <a:ln/>
        </p:spPr>
        <p:txBody>
          <a:bodyPr wrap="square" lIns="0" tIns="0" rIns="0" bIns="0" rtlCol="0" anchor="t"/>
          <a:lstStyle/>
          <a:p>
            <a:pPr algn="l" indent="0" marL="0">
              <a:buNone/>
            </a:pPr>
            <a:r>
              <a:rPr lang="en-US" sz="1200" dirty="0">
                <a:solidFill>
                  <a:schemeClr val="accent6"/>
                </a:solidFill>
              </a:rPr>
              <a:t>Resend now answers the same for every address, so it cannot reveal a pending sign-up.</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Job photos: S3 when available, local otherwise</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Chosen once at startup from MEDIA_STORAGE_PROVIDER; each photo records where it went</a:t>
            </a:r>
            <a:endParaRPr lang="en-US" sz="1500" dirty="0"/>
          </a:p>
        </p:txBody>
      </p:sp>
      <p:sp>
        <p:nvSpPr>
          <p:cNvPr id="4" name="text-892"/>
          <p:cNvSpPr txBox="1"/>
          <p:nvPr/>
        </p:nvSpPr>
        <p:spPr>
          <a:xfrm>
            <a:off x="548640" y="1600200"/>
            <a:ext cx="3657600" cy="320040"/>
          </a:xfrm>
          <a:prstGeom prst="rect">
            <a:avLst/>
          </a:prstGeom>
          <a:noFill/>
          <a:ln/>
        </p:spPr>
        <p:txBody>
          <a:bodyPr wrap="square" lIns="0" tIns="0" rIns="0" bIns="0" rtlCol="0" anchor="t"/>
          <a:lstStyle/>
          <a:p>
            <a:pPr algn="l" indent="0" marL="0">
              <a:buNone/>
            </a:pPr>
            <a:r>
              <a:rPr lang="en-US" sz="1500" b="1" dirty="0">
                <a:solidFill>
                  <a:schemeClr val="tx1"/>
                </a:solidFill>
              </a:rPr>
              <a:t>At startup</a:t>
            </a:r>
            <a:endParaRPr lang="en-US" sz="1500" dirty="0"/>
          </a:p>
        </p:txBody>
      </p:sp>
      <p:sp>
        <p:nvSpPr>
          <p:cNvPr id="5" name="chip-893"/>
          <p:cNvSpPr txBox="1"/>
          <p:nvPr/>
        </p:nvSpPr>
        <p:spPr>
          <a:xfrm>
            <a:off x="548640" y="2057400"/>
            <a:ext cx="1463040" cy="822960"/>
          </a:xfrm>
          <a:prstGeom prst="roundRect">
            <a:avLst>
              <a:gd name="adj" fmla="val 8889"/>
            </a:avLst>
          </a:prstGeom>
          <a:solidFill>
            <a:schemeClr val="tx1"/>
          </a:solidFill>
          <a:ln/>
        </p:spPr>
        <p:txBody>
          <a:bodyPr wrap="square" lIns="76200" tIns="38100" rIns="76200" bIns="38100" rtlCol="0" anchor="ctr"/>
          <a:lstStyle/>
          <a:p>
            <a:pPr algn="ctr" indent="0" marL="0">
              <a:buNone/>
            </a:pPr>
            <a:r>
              <a:rPr lang="en-US" sz="1200" b="1" dirty="0">
                <a:solidFill>
                  <a:schemeClr val="bg1"/>
                </a:solidFill>
              </a:rPr>
              <a:t>auto  (default)</a:t>
            </a:r>
            <a:endParaRPr lang="en-US" sz="1200" dirty="0"/>
          </a:p>
        </p:txBody>
      </p:sp>
      <p:sp>
        <p:nvSpPr>
          <p:cNvPr id="6" name="arrow-894"/>
          <p:cNvSpPr/>
          <p:nvPr/>
        </p:nvSpPr>
        <p:spPr>
          <a:xfrm>
            <a:off x="2011680" y="2468880"/>
            <a:ext cx="320040" cy="0"/>
          </a:xfrm>
          <a:prstGeom prst="line">
            <a:avLst/>
          </a:prstGeom>
          <a:noFill/>
          <a:ln w="19050">
            <a:solidFill>
              <a:schemeClr val="accent6"/>
            </a:solidFill>
            <a:prstDash val="solid"/>
            <a:tailEnd type="triangle"/>
          </a:ln>
        </p:spPr>
        <p:txBody>
          <a:bodyPr/>
          <a:p/>
        </p:txBody>
      </p:sp>
      <p:sp>
        <p:nvSpPr>
          <p:cNvPr id="7" name="box-895"/>
          <p:cNvSpPr txBox="1"/>
          <p:nvPr/>
        </p:nvSpPr>
        <p:spPr>
          <a:xfrm>
            <a:off x="2331720" y="2057400"/>
            <a:ext cx="1920240" cy="822960"/>
          </a:xfrm>
          <a:prstGeom prst="roundRect">
            <a:avLst>
              <a:gd name="adj" fmla="val 8889"/>
            </a:avLst>
          </a:prstGeom>
          <a:solidFill>
            <a:schemeClr val="bg2">
              <a:alpha val="70000"/>
            </a:schemeClr>
          </a:solidFill>
          <a:ln/>
        </p:spPr>
        <p:txBody>
          <a:bodyPr wrap="square" lIns="76200" tIns="38100" rIns="76200" bIns="38100" rtlCol="0" anchor="ctr"/>
          <a:lstStyle/>
          <a:p>
            <a:pPr algn="ctr" indent="0" marL="0">
              <a:buNone/>
            </a:pPr>
            <a:r>
              <a:rPr lang="en-US" sz="1050" dirty="0">
                <a:solidFill>
                  <a:schemeClr val="tx1"/>
                </a:solidFill>
              </a:rPr>
              <a:t>bucket set and HeadBucket succeeds</a:t>
            </a:r>
            <a:endParaRPr lang="en-US" sz="1050" dirty="0"/>
          </a:p>
        </p:txBody>
      </p:sp>
      <p:sp>
        <p:nvSpPr>
          <p:cNvPr id="8" name="arrow-896"/>
          <p:cNvSpPr/>
          <p:nvPr/>
        </p:nvSpPr>
        <p:spPr>
          <a:xfrm>
            <a:off x="4251960" y="2331720"/>
            <a:ext cx="320040" cy="0"/>
          </a:xfrm>
          <a:prstGeom prst="line">
            <a:avLst/>
          </a:prstGeom>
          <a:noFill/>
          <a:ln w="19050">
            <a:solidFill>
              <a:schemeClr val="accent6"/>
            </a:solidFill>
            <a:prstDash val="solid"/>
            <a:tailEnd type="triangle"/>
          </a:ln>
        </p:spPr>
        <p:txBody>
          <a:bodyPr/>
          <a:p/>
        </p:txBody>
      </p:sp>
      <p:sp>
        <p:nvSpPr>
          <p:cNvPr id="9" name="chip-897"/>
          <p:cNvSpPr txBox="1"/>
          <p:nvPr/>
        </p:nvSpPr>
        <p:spPr>
          <a:xfrm>
            <a:off x="4572000" y="2103120"/>
            <a:ext cx="1600200" cy="365760"/>
          </a:xfrm>
          <a:prstGeom prst="roundRect">
            <a:avLst>
              <a:gd name="adj" fmla="val 20000"/>
            </a:avLst>
          </a:prstGeom>
          <a:solidFill>
            <a:schemeClr val="accent5"/>
          </a:solidFill>
          <a:ln/>
        </p:spPr>
        <p:txBody>
          <a:bodyPr wrap="square" lIns="76200" tIns="38100" rIns="76200" bIns="38100" rtlCol="0" anchor="ctr"/>
          <a:lstStyle/>
          <a:p>
            <a:pPr algn="ctr" indent="0" marL="0">
              <a:buNone/>
            </a:pPr>
            <a:r>
              <a:rPr lang="en-US" sz="1100" b="1" dirty="0">
                <a:solidFill>
                  <a:schemeClr val="bg1"/>
                </a:solidFill>
              </a:rPr>
              <a:t>S3</a:t>
            </a:r>
            <a:endParaRPr lang="en-US" sz="1100" dirty="0"/>
          </a:p>
        </p:txBody>
      </p:sp>
      <p:sp>
        <p:nvSpPr>
          <p:cNvPr id="10" name="arrow-898"/>
          <p:cNvSpPr/>
          <p:nvPr/>
        </p:nvSpPr>
        <p:spPr>
          <a:xfrm>
            <a:off x="4251960" y="2679192"/>
            <a:ext cx="320040" cy="0"/>
          </a:xfrm>
          <a:prstGeom prst="line">
            <a:avLst/>
          </a:prstGeom>
          <a:noFill/>
          <a:ln w="19050">
            <a:solidFill>
              <a:schemeClr val="accent6"/>
            </a:solidFill>
            <a:prstDash val="solid"/>
            <a:tailEnd type="triangle"/>
          </a:ln>
        </p:spPr>
        <p:txBody>
          <a:bodyPr/>
          <a:p/>
        </p:txBody>
      </p:sp>
      <p:sp>
        <p:nvSpPr>
          <p:cNvPr id="11" name="chip-899"/>
          <p:cNvSpPr txBox="1"/>
          <p:nvPr/>
        </p:nvSpPr>
        <p:spPr>
          <a:xfrm>
            <a:off x="4572000" y="2514600"/>
            <a:ext cx="1600200" cy="347472"/>
          </a:xfrm>
          <a:prstGeom prst="roundRect">
            <a:avLst>
              <a:gd name="adj" fmla="val 21053"/>
            </a:avLst>
          </a:prstGeom>
          <a:solidFill>
            <a:schemeClr val="accent2"/>
          </a:solidFill>
          <a:ln/>
        </p:spPr>
        <p:txBody>
          <a:bodyPr wrap="square" lIns="76200" tIns="38100" rIns="76200" bIns="38100" rtlCol="0" anchor="ctr"/>
          <a:lstStyle/>
          <a:p>
            <a:pPr algn="ctr" indent="0" marL="0">
              <a:buNone/>
            </a:pPr>
            <a:r>
              <a:rPr lang="en-US" sz="1000" b="1" dirty="0">
                <a:solidFill>
                  <a:schemeClr val="bg1"/>
                </a:solidFill>
              </a:rPr>
              <a:t>else: local disk + WARN</a:t>
            </a:r>
            <a:endParaRPr lang="en-US" sz="1000" dirty="0"/>
          </a:p>
        </p:txBody>
      </p:sp>
      <p:sp>
        <p:nvSpPr>
          <p:cNvPr id="12" name="chip-900"/>
          <p:cNvSpPr txBox="1"/>
          <p:nvPr/>
        </p:nvSpPr>
        <p:spPr>
          <a:xfrm>
            <a:off x="548640" y="3154680"/>
            <a:ext cx="1463040" cy="822960"/>
          </a:xfrm>
          <a:prstGeom prst="roundRect">
            <a:avLst>
              <a:gd name="adj" fmla="val 8889"/>
            </a:avLst>
          </a:prstGeom>
          <a:solidFill>
            <a:schemeClr val="tx1"/>
          </a:solidFill>
          <a:ln/>
        </p:spPr>
        <p:txBody>
          <a:bodyPr wrap="square" lIns="76200" tIns="38100" rIns="76200" bIns="38100" rtlCol="0" anchor="ctr"/>
          <a:lstStyle/>
          <a:p>
            <a:pPr algn="ctr" indent="0" marL="0">
              <a:buNone/>
            </a:pPr>
            <a:r>
              <a:rPr lang="en-US" sz="1200" b="1" dirty="0">
                <a:solidFill>
                  <a:schemeClr val="bg1"/>
                </a:solidFill>
              </a:rPr>
              <a:t>s3</a:t>
            </a:r>
            <a:endParaRPr lang="en-US" sz="1200" dirty="0"/>
          </a:p>
        </p:txBody>
      </p:sp>
      <p:sp>
        <p:nvSpPr>
          <p:cNvPr id="13" name="arrow-901"/>
          <p:cNvSpPr/>
          <p:nvPr/>
        </p:nvSpPr>
        <p:spPr>
          <a:xfrm>
            <a:off x="2011680" y="3566160"/>
            <a:ext cx="320040" cy="0"/>
          </a:xfrm>
          <a:prstGeom prst="line">
            <a:avLst/>
          </a:prstGeom>
          <a:noFill/>
          <a:ln w="19050">
            <a:solidFill>
              <a:schemeClr val="accent6"/>
            </a:solidFill>
            <a:prstDash val="solid"/>
            <a:tailEnd type="triangle"/>
          </a:ln>
        </p:spPr>
        <p:txBody>
          <a:bodyPr/>
          <a:p/>
        </p:txBody>
      </p:sp>
      <p:sp>
        <p:nvSpPr>
          <p:cNvPr id="14" name="box-902"/>
          <p:cNvSpPr txBox="1"/>
          <p:nvPr/>
        </p:nvSpPr>
        <p:spPr>
          <a:xfrm>
            <a:off x="2331720" y="3154680"/>
            <a:ext cx="1920240" cy="822960"/>
          </a:xfrm>
          <a:prstGeom prst="roundRect">
            <a:avLst>
              <a:gd name="adj" fmla="val 8889"/>
            </a:avLst>
          </a:prstGeom>
          <a:solidFill>
            <a:schemeClr val="bg2">
              <a:alpha val="70000"/>
            </a:schemeClr>
          </a:solidFill>
          <a:ln/>
        </p:spPr>
        <p:txBody>
          <a:bodyPr wrap="square" lIns="76200" tIns="38100" rIns="76200" bIns="38100" rtlCol="0" anchor="ctr"/>
          <a:lstStyle/>
          <a:p>
            <a:pPr algn="ctr" indent="0" marL="0">
              <a:buNone/>
            </a:pPr>
            <a:r>
              <a:rPr lang="en-US" sz="1050" dirty="0">
                <a:solidFill>
                  <a:schemeClr val="tx1"/>
                </a:solidFill>
              </a:rPr>
              <a:t>bucket set and HeadBucket succeeds</a:t>
            </a:r>
            <a:endParaRPr lang="en-US" sz="1050" dirty="0"/>
          </a:p>
        </p:txBody>
      </p:sp>
      <p:sp>
        <p:nvSpPr>
          <p:cNvPr id="15" name="arrow-903"/>
          <p:cNvSpPr/>
          <p:nvPr/>
        </p:nvSpPr>
        <p:spPr>
          <a:xfrm>
            <a:off x="4251960" y="3429000"/>
            <a:ext cx="320040" cy="0"/>
          </a:xfrm>
          <a:prstGeom prst="line">
            <a:avLst/>
          </a:prstGeom>
          <a:noFill/>
          <a:ln w="19050">
            <a:solidFill>
              <a:schemeClr val="accent6"/>
            </a:solidFill>
            <a:prstDash val="solid"/>
            <a:tailEnd type="triangle"/>
          </a:ln>
        </p:spPr>
        <p:txBody>
          <a:bodyPr/>
          <a:p/>
        </p:txBody>
      </p:sp>
      <p:sp>
        <p:nvSpPr>
          <p:cNvPr id="16" name="chip-904"/>
          <p:cNvSpPr txBox="1"/>
          <p:nvPr/>
        </p:nvSpPr>
        <p:spPr>
          <a:xfrm>
            <a:off x="4572000" y="3200400"/>
            <a:ext cx="1600200" cy="365760"/>
          </a:xfrm>
          <a:prstGeom prst="roundRect">
            <a:avLst>
              <a:gd name="adj" fmla="val 20000"/>
            </a:avLst>
          </a:prstGeom>
          <a:solidFill>
            <a:schemeClr val="accent5"/>
          </a:solidFill>
          <a:ln/>
        </p:spPr>
        <p:txBody>
          <a:bodyPr wrap="square" lIns="76200" tIns="38100" rIns="76200" bIns="38100" rtlCol="0" anchor="ctr"/>
          <a:lstStyle/>
          <a:p>
            <a:pPr algn="ctr" indent="0" marL="0">
              <a:buNone/>
            </a:pPr>
            <a:r>
              <a:rPr lang="en-US" sz="1100" b="1" dirty="0">
                <a:solidFill>
                  <a:schemeClr val="bg1"/>
                </a:solidFill>
              </a:rPr>
              <a:t>S3</a:t>
            </a:r>
            <a:endParaRPr lang="en-US" sz="1100" dirty="0"/>
          </a:p>
        </p:txBody>
      </p:sp>
      <p:sp>
        <p:nvSpPr>
          <p:cNvPr id="17" name="arrow-905"/>
          <p:cNvSpPr/>
          <p:nvPr/>
        </p:nvSpPr>
        <p:spPr>
          <a:xfrm>
            <a:off x="4251960" y="3776472"/>
            <a:ext cx="320040" cy="0"/>
          </a:xfrm>
          <a:prstGeom prst="line">
            <a:avLst/>
          </a:prstGeom>
          <a:noFill/>
          <a:ln w="19050">
            <a:solidFill>
              <a:schemeClr val="accent6"/>
            </a:solidFill>
            <a:prstDash val="solid"/>
            <a:tailEnd type="triangle"/>
          </a:ln>
        </p:spPr>
        <p:txBody>
          <a:bodyPr/>
          <a:p/>
        </p:txBody>
      </p:sp>
      <p:sp>
        <p:nvSpPr>
          <p:cNvPr id="18" name="chip-906"/>
          <p:cNvSpPr txBox="1"/>
          <p:nvPr/>
        </p:nvSpPr>
        <p:spPr>
          <a:xfrm>
            <a:off x="4572000" y="3611880"/>
            <a:ext cx="1600200" cy="347472"/>
          </a:xfrm>
          <a:prstGeom prst="roundRect">
            <a:avLst>
              <a:gd name="adj" fmla="val 21053"/>
            </a:avLst>
          </a:prstGeom>
          <a:solidFill>
            <a:schemeClr val="accent4"/>
          </a:solidFill>
          <a:ln/>
        </p:spPr>
        <p:txBody>
          <a:bodyPr wrap="square" lIns="76200" tIns="38100" rIns="76200" bIns="38100" rtlCol="0" anchor="ctr"/>
          <a:lstStyle/>
          <a:p>
            <a:pPr algn="ctr" indent="0" marL="0">
              <a:buNone/>
            </a:pPr>
            <a:r>
              <a:rPr lang="en-US" sz="1000" b="1" dirty="0">
                <a:solidFill>
                  <a:schemeClr val="bg1"/>
                </a:solidFill>
              </a:rPr>
              <a:t>else: startup fails</a:t>
            </a:r>
            <a:endParaRPr lang="en-US" sz="1000" dirty="0"/>
          </a:p>
        </p:txBody>
      </p:sp>
      <p:sp>
        <p:nvSpPr>
          <p:cNvPr id="19" name="chip-907"/>
          <p:cNvSpPr txBox="1"/>
          <p:nvPr/>
        </p:nvSpPr>
        <p:spPr>
          <a:xfrm>
            <a:off x="548640" y="4251960"/>
            <a:ext cx="1463040" cy="822960"/>
          </a:xfrm>
          <a:prstGeom prst="roundRect">
            <a:avLst>
              <a:gd name="adj" fmla="val 8889"/>
            </a:avLst>
          </a:prstGeom>
          <a:solidFill>
            <a:schemeClr val="tx1"/>
          </a:solidFill>
          <a:ln/>
        </p:spPr>
        <p:txBody>
          <a:bodyPr wrap="square" lIns="76200" tIns="38100" rIns="76200" bIns="38100" rtlCol="0" anchor="ctr"/>
          <a:lstStyle/>
          <a:p>
            <a:pPr algn="ctr" indent="0" marL="0">
              <a:buNone/>
            </a:pPr>
            <a:r>
              <a:rPr lang="en-US" sz="1200" b="1" dirty="0">
                <a:solidFill>
                  <a:schemeClr val="bg1"/>
                </a:solidFill>
              </a:rPr>
              <a:t>local</a:t>
            </a:r>
            <a:endParaRPr lang="en-US" sz="1200" dirty="0"/>
          </a:p>
        </p:txBody>
      </p:sp>
      <p:sp>
        <p:nvSpPr>
          <p:cNvPr id="20" name="arrow-908"/>
          <p:cNvSpPr/>
          <p:nvPr/>
        </p:nvSpPr>
        <p:spPr>
          <a:xfrm>
            <a:off x="2011680" y="4663440"/>
            <a:ext cx="320040" cy="0"/>
          </a:xfrm>
          <a:prstGeom prst="line">
            <a:avLst/>
          </a:prstGeom>
          <a:noFill/>
          <a:ln w="19050">
            <a:solidFill>
              <a:schemeClr val="accent6"/>
            </a:solidFill>
            <a:prstDash val="solid"/>
            <a:tailEnd type="triangle"/>
          </a:ln>
        </p:spPr>
        <p:txBody>
          <a:bodyPr/>
          <a:p/>
        </p:txBody>
      </p:sp>
      <p:sp>
        <p:nvSpPr>
          <p:cNvPr id="21" name="box-909"/>
          <p:cNvSpPr txBox="1"/>
          <p:nvPr/>
        </p:nvSpPr>
        <p:spPr>
          <a:xfrm>
            <a:off x="2331720" y="4251960"/>
            <a:ext cx="1920240" cy="822960"/>
          </a:xfrm>
          <a:prstGeom prst="roundRect">
            <a:avLst>
              <a:gd name="adj" fmla="val 8889"/>
            </a:avLst>
          </a:prstGeom>
          <a:solidFill>
            <a:schemeClr val="bg2">
              <a:alpha val="70000"/>
            </a:schemeClr>
          </a:solidFill>
          <a:ln/>
        </p:spPr>
        <p:txBody>
          <a:bodyPr wrap="square" lIns="76200" tIns="38100" rIns="76200" bIns="38100" rtlCol="0" anchor="ctr"/>
          <a:lstStyle/>
          <a:p>
            <a:pPr algn="ctr" indent="0" marL="0">
              <a:buNone/>
            </a:pPr>
            <a:r>
              <a:rPr lang="en-US" sz="1050" dirty="0">
                <a:solidFill>
                  <a:schemeClr val="tx1"/>
                </a:solidFill>
              </a:rPr>
              <a:t>S3 never tried</a:t>
            </a:r>
            <a:endParaRPr lang="en-US" sz="1050" dirty="0"/>
          </a:p>
        </p:txBody>
      </p:sp>
      <p:sp>
        <p:nvSpPr>
          <p:cNvPr id="22" name="arrow-910"/>
          <p:cNvSpPr/>
          <p:nvPr/>
        </p:nvSpPr>
        <p:spPr>
          <a:xfrm>
            <a:off x="4251960" y="4526280"/>
            <a:ext cx="320040" cy="0"/>
          </a:xfrm>
          <a:prstGeom prst="line">
            <a:avLst/>
          </a:prstGeom>
          <a:noFill/>
          <a:ln w="19050">
            <a:solidFill>
              <a:schemeClr val="accent6"/>
            </a:solidFill>
            <a:prstDash val="solid"/>
            <a:tailEnd type="triangle"/>
          </a:ln>
        </p:spPr>
        <p:txBody>
          <a:bodyPr/>
          <a:p/>
        </p:txBody>
      </p:sp>
      <p:sp>
        <p:nvSpPr>
          <p:cNvPr id="23" name="chip-911"/>
          <p:cNvSpPr txBox="1"/>
          <p:nvPr/>
        </p:nvSpPr>
        <p:spPr>
          <a:xfrm>
            <a:off x="4572000" y="4297680"/>
            <a:ext cx="1600200" cy="365760"/>
          </a:xfrm>
          <a:prstGeom prst="roundRect">
            <a:avLst>
              <a:gd name="adj" fmla="val 20000"/>
            </a:avLst>
          </a:prstGeom>
          <a:solidFill>
            <a:schemeClr val="accent6"/>
          </a:solidFill>
          <a:ln/>
        </p:spPr>
        <p:txBody>
          <a:bodyPr wrap="square" lIns="76200" tIns="38100" rIns="76200" bIns="38100" rtlCol="0" anchor="ctr"/>
          <a:lstStyle/>
          <a:p>
            <a:pPr algn="ctr" indent="0" marL="0">
              <a:buNone/>
            </a:pPr>
            <a:r>
              <a:rPr lang="en-US" sz="1100" b="1" dirty="0">
                <a:solidFill>
                  <a:schemeClr val="bg1"/>
                </a:solidFill>
              </a:rPr>
              <a:t>local disk</a:t>
            </a:r>
            <a:endParaRPr lang="en-US" sz="1100" dirty="0"/>
          </a:p>
        </p:txBody>
      </p:sp>
      <p:sp>
        <p:nvSpPr>
          <p:cNvPr id="24" name="text-912"/>
          <p:cNvSpPr txBox="1"/>
          <p:nvPr/>
        </p:nvSpPr>
        <p:spPr>
          <a:xfrm>
            <a:off x="6492240" y="1600200"/>
            <a:ext cx="4572000" cy="320040"/>
          </a:xfrm>
          <a:prstGeom prst="rect">
            <a:avLst/>
          </a:prstGeom>
          <a:noFill/>
          <a:ln/>
        </p:spPr>
        <p:txBody>
          <a:bodyPr wrap="square" lIns="0" tIns="0" rIns="0" bIns="0" rtlCol="0" anchor="t"/>
          <a:lstStyle/>
          <a:p>
            <a:pPr algn="l" indent="0" marL="0">
              <a:buNone/>
            </a:pPr>
            <a:r>
              <a:rPr lang="en-US" sz="1500" b="1" dirty="0">
                <a:solidFill>
                  <a:schemeClr val="tx1"/>
                </a:solidFill>
              </a:rPr>
              <a:t>Then, per photo</a:t>
            </a:r>
            <a:endParaRPr lang="en-US" sz="1500" dirty="0"/>
          </a:p>
        </p:txBody>
      </p:sp>
      <p:sp>
        <p:nvSpPr>
          <p:cNvPr id="25" name="icon-bg-camera-913"/>
          <p:cNvSpPr/>
          <p:nvPr/>
        </p:nvSpPr>
        <p:spPr>
          <a:xfrm>
            <a:off x="6492240" y="2057400"/>
            <a:ext cx="438912" cy="438912"/>
          </a:xfrm>
          <a:prstGeom prst="ellipse">
            <a:avLst/>
          </a:prstGeom>
          <a:solidFill>
            <a:schemeClr val="accent5"/>
          </a:solidFill>
          <a:ln/>
        </p:spPr>
        <p:txBody>
          <a:bodyPr/>
          <a:p/>
        </p:txBody>
      </p:sp>
      <p:pic>
        <p:nvPicPr>
          <p:cNvPr id="26" name="icon-camera-914" descr="camera">    </p:cNvPr>
          <p:cNvPicPr>
            <a:picLocks noChangeAspect="1"/>
          </p:cNvPicPr>
          <p:nvPr/>
        </p:nvPicPr>
        <p:blipFill>
          <a:blip r:embed="rId1"/>
          <a:stretch>
            <a:fillRect/>
          </a:stretch>
        </p:blipFill>
        <p:spPr>
          <a:xfrm>
            <a:off x="6597579" y="2162739"/>
            <a:ext cx="228234" cy="228234"/>
          </a:xfrm>
          <a:prstGeom prst="rect">
            <a:avLst/>
          </a:prstGeom>
        </p:spPr>
      </p:pic>
      <p:sp>
        <p:nvSpPr>
          <p:cNvPr id="27" name="text-915"/>
          <p:cNvSpPr txBox="1"/>
          <p:nvPr/>
        </p:nvSpPr>
        <p:spPr>
          <a:xfrm>
            <a:off x="7059168" y="2011680"/>
            <a:ext cx="4581144" cy="868680"/>
          </a:xfrm>
          <a:prstGeom prst="rect">
            <a:avLst/>
          </a:prstGeom>
          <a:noFill/>
          <a:ln/>
        </p:spPr>
        <p:txBody>
          <a:bodyPr wrap="square" lIns="0" tIns="0" rIns="0" bIns="0" rtlCol="0" anchor="t"/>
          <a:lstStyle/>
          <a:p>
            <a:pPr algn="l" indent="0" marL="0">
              <a:buNone/>
            </a:pPr>
            <a:r>
              <a:rPr lang="en-US" sz="1300" b="1" dirty="0">
                <a:solidFill>
                  <a:schemeClr val="tx1"/>
                </a:solidFill>
              </a:rPr>
              <a:t>Upload</a:t>
            </a:r>
            <a:endParaRPr lang="en-US" sz="1400" dirty="0"/>
          </a:p>
          <a:p>
            <a:pPr algn="l" indent="0" marL="0">
              <a:buNone/>
            </a:pPr>
            <a:r>
              <a:rPr lang="en-US" sz="1150" dirty="0">
                <a:solidFill>
                  <a:schemeClr val="accent6"/>
                </a:solidFill>
              </a:rPr>
              <a:t>POST /bookings/{key}/photos → the chosen store; key bookings/{id}/{photoId}.jpg</a:t>
            </a:r>
            <a:endParaRPr lang="en-US" sz="1400" dirty="0"/>
          </a:p>
        </p:txBody>
      </p:sp>
      <p:sp>
        <p:nvSpPr>
          <p:cNvPr id="28" name="icon-bg-x-916"/>
          <p:cNvSpPr/>
          <p:nvPr/>
        </p:nvSpPr>
        <p:spPr>
          <a:xfrm>
            <a:off x="6492240" y="3044952"/>
            <a:ext cx="438912" cy="438912"/>
          </a:xfrm>
          <a:prstGeom prst="ellipse">
            <a:avLst/>
          </a:prstGeom>
          <a:solidFill>
            <a:schemeClr val="accent5"/>
          </a:solidFill>
          <a:ln/>
        </p:spPr>
        <p:txBody>
          <a:bodyPr/>
          <a:p/>
        </p:txBody>
      </p:sp>
      <p:pic>
        <p:nvPicPr>
          <p:cNvPr id="29" name="icon-x-917" descr="x">    </p:cNvPr>
          <p:cNvPicPr>
            <a:picLocks noChangeAspect="1"/>
          </p:cNvPicPr>
          <p:nvPr/>
        </p:nvPicPr>
        <p:blipFill>
          <a:blip r:embed="rId2"/>
          <a:stretch>
            <a:fillRect/>
          </a:stretch>
        </p:blipFill>
        <p:spPr>
          <a:xfrm>
            <a:off x="6597579" y="3150291"/>
            <a:ext cx="228234" cy="228234"/>
          </a:xfrm>
          <a:prstGeom prst="rect">
            <a:avLst/>
          </a:prstGeom>
        </p:spPr>
      </p:pic>
      <p:sp>
        <p:nvSpPr>
          <p:cNvPr id="30" name="text-918"/>
          <p:cNvSpPr txBox="1"/>
          <p:nvPr/>
        </p:nvSpPr>
        <p:spPr>
          <a:xfrm>
            <a:off x="7059168" y="2999232"/>
            <a:ext cx="4581144" cy="868680"/>
          </a:xfrm>
          <a:prstGeom prst="rect">
            <a:avLst/>
          </a:prstGeom>
          <a:noFill/>
          <a:ln/>
        </p:spPr>
        <p:txBody>
          <a:bodyPr wrap="square" lIns="0" tIns="0" rIns="0" bIns="0" rtlCol="0" anchor="t"/>
          <a:lstStyle/>
          <a:p>
            <a:pPr algn="l" indent="0" marL="0">
              <a:buNone/>
            </a:pPr>
            <a:r>
              <a:rPr lang="en-US" sz="1300" b="1" dirty="0">
                <a:solidFill>
                  <a:schemeClr val="tx1"/>
                </a:solidFill>
              </a:rPr>
              <a:t>S3 fails mid-request</a:t>
            </a:r>
            <a:endParaRPr lang="en-US" sz="1400" dirty="0"/>
          </a:p>
          <a:p>
            <a:pPr algn="l" indent="0" marL="0">
              <a:buNone/>
            </a:pPr>
            <a:r>
              <a:rPr lang="en-US" sz="1150" dirty="0">
                <a:solidFill>
                  <a:schemeClr val="accent6"/>
                </a:solidFill>
              </a:rPr>
              <a:t>503 MEDIA_STORAGE_UNAVAILABLE: never quietly written to one server's disk</a:t>
            </a:r>
            <a:endParaRPr lang="en-US" sz="1400" dirty="0"/>
          </a:p>
        </p:txBody>
      </p:sp>
      <p:sp>
        <p:nvSpPr>
          <p:cNvPr id="31" name="icon-bg-db-919"/>
          <p:cNvSpPr/>
          <p:nvPr/>
        </p:nvSpPr>
        <p:spPr>
          <a:xfrm>
            <a:off x="6492240" y="4032504"/>
            <a:ext cx="438912" cy="438912"/>
          </a:xfrm>
          <a:prstGeom prst="ellipse">
            <a:avLst/>
          </a:prstGeom>
          <a:solidFill>
            <a:schemeClr val="accent5"/>
          </a:solidFill>
          <a:ln/>
        </p:spPr>
        <p:txBody>
          <a:bodyPr/>
          <a:p/>
        </p:txBody>
      </p:sp>
      <p:pic>
        <p:nvPicPr>
          <p:cNvPr id="32" name="icon-db-920" descr="db">    </p:cNvPr>
          <p:cNvPicPr>
            <a:picLocks noChangeAspect="1"/>
          </p:cNvPicPr>
          <p:nvPr/>
        </p:nvPicPr>
        <p:blipFill>
          <a:blip r:embed="rId3"/>
          <a:stretch>
            <a:fillRect/>
          </a:stretch>
        </p:blipFill>
        <p:spPr>
          <a:xfrm>
            <a:off x="6597579" y="4137843"/>
            <a:ext cx="228234" cy="228234"/>
          </a:xfrm>
          <a:prstGeom prst="rect">
            <a:avLst/>
          </a:prstGeom>
        </p:spPr>
      </p:pic>
      <p:sp>
        <p:nvSpPr>
          <p:cNvPr id="33" name="text-921"/>
          <p:cNvSpPr txBox="1"/>
          <p:nvPr/>
        </p:nvSpPr>
        <p:spPr>
          <a:xfrm>
            <a:off x="7059168" y="3986784"/>
            <a:ext cx="4581144" cy="868680"/>
          </a:xfrm>
          <a:prstGeom prst="rect">
            <a:avLst/>
          </a:prstGeom>
          <a:noFill/>
          <a:ln/>
        </p:spPr>
        <p:txBody>
          <a:bodyPr wrap="square" lIns="0" tIns="0" rIns="0" bIns="0" rtlCol="0" anchor="t"/>
          <a:lstStyle/>
          <a:p>
            <a:pPr algn="l" indent="0" marL="0">
              <a:buNone/>
            </a:pPr>
            <a:r>
              <a:rPr lang="en-US" sz="1300" b="1" dirty="0">
                <a:solidFill>
                  <a:schemeClr val="tx1"/>
                </a:solidFill>
              </a:rPr>
              <a:t>Recorded</a:t>
            </a:r>
            <a:endParaRPr lang="en-US" sz="1400" dirty="0"/>
          </a:p>
          <a:p>
            <a:pPr algn="l" indent="0" marL="0">
              <a:buNone/>
            </a:pPr>
            <a:r>
              <a:rPr lang="en-US" sz="1150" dirty="0">
                <a:solidFill>
                  <a:schemeClr val="accent6"/>
                </a:solidFill>
              </a:rPr>
              <a:t>job_media.storage = LOCAL or S3 (V5), so old photos stay readable</a:t>
            </a:r>
            <a:endParaRPr lang="en-US" sz="1400" dirty="0"/>
          </a:p>
        </p:txBody>
      </p:sp>
      <p:sp>
        <p:nvSpPr>
          <p:cNvPr id="34" name="icon-bg-eye-922"/>
          <p:cNvSpPr/>
          <p:nvPr/>
        </p:nvSpPr>
        <p:spPr>
          <a:xfrm>
            <a:off x="6492240" y="5020056"/>
            <a:ext cx="438912" cy="438912"/>
          </a:xfrm>
          <a:prstGeom prst="ellipse">
            <a:avLst/>
          </a:prstGeom>
          <a:solidFill>
            <a:schemeClr val="accent5"/>
          </a:solidFill>
          <a:ln/>
        </p:spPr>
        <p:txBody>
          <a:bodyPr/>
          <a:p/>
        </p:txBody>
      </p:sp>
      <p:pic>
        <p:nvPicPr>
          <p:cNvPr id="35" name="icon-eye-923" descr="eye">    </p:cNvPr>
          <p:cNvPicPr>
            <a:picLocks noChangeAspect="1"/>
          </p:cNvPicPr>
          <p:nvPr/>
        </p:nvPicPr>
        <p:blipFill>
          <a:blip r:embed="rId4"/>
          <a:stretch>
            <a:fillRect/>
          </a:stretch>
        </p:blipFill>
        <p:spPr>
          <a:xfrm>
            <a:off x="6597579" y="5125395"/>
            <a:ext cx="228234" cy="228234"/>
          </a:xfrm>
          <a:prstGeom prst="rect">
            <a:avLst/>
          </a:prstGeom>
        </p:spPr>
      </p:pic>
      <p:sp>
        <p:nvSpPr>
          <p:cNvPr id="36" name="text-924"/>
          <p:cNvSpPr txBox="1"/>
          <p:nvPr/>
        </p:nvSpPr>
        <p:spPr>
          <a:xfrm>
            <a:off x="7059168" y="4974336"/>
            <a:ext cx="4581144" cy="868680"/>
          </a:xfrm>
          <a:prstGeom prst="rect">
            <a:avLst/>
          </a:prstGeom>
          <a:noFill/>
          <a:ln/>
        </p:spPr>
        <p:txBody>
          <a:bodyPr wrap="square" lIns="0" tIns="0" rIns="0" bIns="0" rtlCol="0" anchor="t"/>
          <a:lstStyle/>
          <a:p>
            <a:pPr algn="l" indent="0" marL="0">
              <a:buNone/>
            </a:pPr>
            <a:r>
              <a:rPr lang="en-US" sz="1300" b="1" dirty="0">
                <a:solidFill>
                  <a:schemeClr val="tx1"/>
                </a:solidFill>
              </a:rPr>
              <a:t>Read</a:t>
            </a:r>
            <a:endParaRPr lang="en-US" sz="1400" dirty="0"/>
          </a:p>
          <a:p>
            <a:pPr algn="l" indent="0" marL="0">
              <a:buNone/>
            </a:pPr>
            <a:r>
              <a:rPr lang="en-US" sz="1150" dirty="0">
                <a:solidFill>
                  <a:schemeClr val="accent6"/>
                </a:solidFill>
              </a:rPr>
              <a:t>GET /bookings/{key}/photos/{photoId}, streamed with the detail's access rule; shown in the provider app</a:t>
            </a:r>
            <a:endParaRPr lang="en-US" sz="1400" dirty="0"/>
          </a:p>
        </p:txBody>
      </p:sp>
      <p:sp>
        <p:nvSpPr>
          <p:cNvPr id="37" name="text-925"/>
          <p:cNvSpPr txBox="1"/>
          <p:nvPr/>
        </p:nvSpPr>
        <p:spPr>
          <a:xfrm>
            <a:off x="548640" y="5760720"/>
            <a:ext cx="11091672" cy="365760"/>
          </a:xfrm>
          <a:prstGeom prst="rect">
            <a:avLst/>
          </a:prstGeom>
          <a:noFill/>
          <a:ln/>
        </p:spPr>
        <p:txBody>
          <a:bodyPr wrap="square" lIns="0" tIns="0" rIns="0" bIns="0" rtlCol="0" anchor="t"/>
          <a:lstStyle/>
          <a:p>
            <a:pPr algn="l" indent="0" marL="0">
              <a:buNone/>
            </a:pPr>
            <a:r>
              <a:rPr lang="en-US" sz="1200" i="1" dirty="0">
                <a:solidFill>
                  <a:schemeClr val="accent6"/>
                </a:solidFill>
              </a:rPr>
              <a:t>The old local adapter never wrote any bytes, so photos uploaded before 18 October answer 404 MEDIA_NOT_FOUND.</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Chat across several instances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Each message is published once on Redis and every node delivers it to its own sockets</a:t>
            </a:r>
            <a:endParaRPr lang="en-US" sz="1500" dirty="0"/>
          </a:p>
        </p:txBody>
      </p:sp>
      <p:sp>
        <p:nvSpPr>
          <p:cNvPr id="4" name="box-926"/>
          <p:cNvSpPr txBox="1"/>
          <p:nvPr/>
        </p:nvSpPr>
        <p:spPr>
          <a:xfrm>
            <a:off x="548640" y="1828800"/>
            <a:ext cx="1828800" cy="822960"/>
          </a:xfrm>
          <a:prstGeom prst="roundRect">
            <a:avLst>
              <a:gd name="adj" fmla="val 8889"/>
            </a:avLst>
          </a:prstGeom>
          <a:solidFill>
            <a:schemeClr val="accent1">
              <a:alpha val="15000"/>
            </a:schemeClr>
          </a:solidFill>
          <a:ln/>
        </p:spPr>
        <p:txBody>
          <a:bodyPr wrap="square" lIns="76200" tIns="38100" rIns="76200" bIns="38100" rtlCol="0" anchor="ctr"/>
          <a:lstStyle/>
          <a:p>
            <a:pPr algn="ctr" indent="0" marL="0">
              <a:buNone/>
            </a:pPr>
            <a:r>
              <a:rPr lang="en-US" sz="1250" b="1" dirty="0">
                <a:solidFill>
                  <a:schemeClr val="tx1"/>
                </a:solidFill>
              </a:rPr>
              <a:t>customer-app</a:t>
            </a:r>
            <a:endParaRPr lang="en-US" sz="1200" dirty="0"/>
          </a:p>
          <a:p>
            <a:pPr algn="ctr" indent="0" marL="0">
              <a:buNone/>
            </a:pPr>
            <a:r>
              <a:rPr lang="en-US" sz="1050" dirty="0">
                <a:solidFill>
                  <a:schemeClr val="tx1"/>
                </a:solidFill>
              </a:rPr>
              <a:t>socket on node A</a:t>
            </a:r>
            <a:endParaRPr lang="en-US" sz="1200" dirty="0"/>
          </a:p>
        </p:txBody>
      </p:sp>
      <p:sp>
        <p:nvSpPr>
          <p:cNvPr id="5" name="box-927"/>
          <p:cNvSpPr txBox="1"/>
          <p:nvPr/>
        </p:nvSpPr>
        <p:spPr>
          <a:xfrm>
            <a:off x="2697480" y="1645920"/>
            <a:ext cx="2606040" cy="1188720"/>
          </a:xfrm>
          <a:prstGeom prst="roundRect">
            <a:avLst>
              <a:gd name="adj" fmla="val 6154"/>
            </a:avLst>
          </a:prstGeom>
          <a:solidFill>
            <a:schemeClr val="accent3"/>
          </a:solidFill>
          <a:ln/>
        </p:spPr>
        <p:txBody>
          <a:bodyPr wrap="square" lIns="76200" tIns="38100" rIns="76200" bIns="38100" rtlCol="0" anchor="ctr"/>
          <a:lstStyle/>
          <a:p>
            <a:pPr algn="ctr" indent="0" marL="0">
              <a:buNone/>
            </a:pPr>
            <a:r>
              <a:rPr lang="en-US" sz="1300" b="1" dirty="0">
                <a:solidFill>
                  <a:schemeClr val="bg1"/>
                </a:solidFill>
              </a:rPr>
              <a:t>chat-service node A</a:t>
            </a:r>
            <a:endParaRPr lang="en-US" sz="1200" dirty="0"/>
          </a:p>
          <a:p>
            <a:pPr algn="ctr" indent="0" marL="0">
              <a:buNone/>
            </a:pPr>
            <a:r>
              <a:rPr lang="en-US" sz="1050" dirty="0">
                <a:solidFill>
                  <a:schemeClr val="bg1"/>
                </a:solidFill>
              </a:rPr>
              <a:t>check, mask, store, publish</a:t>
            </a:r>
            <a:endParaRPr lang="en-US" sz="1200" dirty="0"/>
          </a:p>
        </p:txBody>
      </p:sp>
      <p:sp>
        <p:nvSpPr>
          <p:cNvPr id="6" name="box-928"/>
          <p:cNvSpPr txBox="1"/>
          <p:nvPr/>
        </p:nvSpPr>
        <p:spPr>
          <a:xfrm>
            <a:off x="6885432" y="1645920"/>
            <a:ext cx="2606040" cy="1188720"/>
          </a:xfrm>
          <a:prstGeom prst="roundRect">
            <a:avLst>
              <a:gd name="adj" fmla="val 6154"/>
            </a:avLst>
          </a:prstGeom>
          <a:solidFill>
            <a:schemeClr val="accent3"/>
          </a:solidFill>
          <a:ln/>
        </p:spPr>
        <p:txBody>
          <a:bodyPr wrap="square" lIns="76200" tIns="38100" rIns="76200" bIns="38100" rtlCol="0" anchor="ctr"/>
          <a:lstStyle/>
          <a:p>
            <a:pPr algn="ctr" indent="0" marL="0">
              <a:buNone/>
            </a:pPr>
            <a:r>
              <a:rPr lang="en-US" sz="1300" b="1" dirty="0">
                <a:solidFill>
                  <a:schemeClr val="bg1"/>
                </a:solidFill>
              </a:rPr>
              <a:t>chat-service node B</a:t>
            </a:r>
            <a:endParaRPr lang="en-US" sz="1200" dirty="0"/>
          </a:p>
          <a:p>
            <a:pPr algn="ctr" indent="0" marL="0">
              <a:buNone/>
            </a:pPr>
            <a:r>
              <a:rPr lang="en-US" sz="1050" dirty="0">
                <a:solidFill>
                  <a:schemeClr val="bg1"/>
                </a:solidFill>
              </a:rPr>
              <a:t>delivers to its own sockets</a:t>
            </a:r>
            <a:endParaRPr lang="en-US" sz="1200" dirty="0"/>
          </a:p>
        </p:txBody>
      </p:sp>
      <p:sp>
        <p:nvSpPr>
          <p:cNvPr id="7" name="box-929"/>
          <p:cNvSpPr txBox="1"/>
          <p:nvPr/>
        </p:nvSpPr>
        <p:spPr>
          <a:xfrm>
            <a:off x="9811512" y="1828800"/>
            <a:ext cx="1828800" cy="822960"/>
          </a:xfrm>
          <a:prstGeom prst="roundRect">
            <a:avLst>
              <a:gd name="adj" fmla="val 8889"/>
            </a:avLst>
          </a:prstGeom>
          <a:solidFill>
            <a:schemeClr val="accent3">
              <a:alpha val="15000"/>
            </a:schemeClr>
          </a:solidFill>
          <a:ln/>
        </p:spPr>
        <p:txBody>
          <a:bodyPr wrap="square" lIns="76200" tIns="38100" rIns="76200" bIns="38100" rtlCol="0" anchor="ctr"/>
          <a:lstStyle/>
          <a:p>
            <a:pPr algn="ctr" indent="0" marL="0">
              <a:buNone/>
            </a:pPr>
            <a:r>
              <a:rPr lang="en-US" sz="1250" b="1" dirty="0">
                <a:solidFill>
                  <a:schemeClr val="tx1"/>
                </a:solidFill>
              </a:rPr>
              <a:t>provider-app</a:t>
            </a:r>
            <a:endParaRPr lang="en-US" sz="1200" dirty="0"/>
          </a:p>
          <a:p>
            <a:pPr algn="ctr" indent="0" marL="0">
              <a:buNone/>
            </a:pPr>
            <a:r>
              <a:rPr lang="en-US" sz="1050" dirty="0">
                <a:solidFill>
                  <a:schemeClr val="tx1"/>
                </a:solidFill>
              </a:rPr>
              <a:t>socket on node B</a:t>
            </a:r>
            <a:endParaRPr lang="en-US" sz="1200" dirty="0"/>
          </a:p>
        </p:txBody>
      </p:sp>
      <p:sp>
        <p:nvSpPr>
          <p:cNvPr id="8" name="arrow-930"/>
          <p:cNvSpPr/>
          <p:nvPr/>
        </p:nvSpPr>
        <p:spPr>
          <a:xfrm>
            <a:off x="2377440" y="2240280"/>
            <a:ext cx="320040" cy="0"/>
          </a:xfrm>
          <a:prstGeom prst="line">
            <a:avLst/>
          </a:prstGeom>
          <a:noFill/>
          <a:ln w="19050">
            <a:solidFill>
              <a:schemeClr val="accent6"/>
            </a:solidFill>
            <a:prstDash val="solid"/>
            <a:headEnd type="triangle"/>
            <a:tailEnd type="triangle"/>
          </a:ln>
        </p:spPr>
        <p:txBody>
          <a:bodyPr/>
          <a:p/>
        </p:txBody>
      </p:sp>
      <p:sp>
        <p:nvSpPr>
          <p:cNvPr id="9" name="arrow-931"/>
          <p:cNvSpPr/>
          <p:nvPr/>
        </p:nvSpPr>
        <p:spPr>
          <a:xfrm>
            <a:off x="9491472" y="2240280"/>
            <a:ext cx="320040" cy="0"/>
          </a:xfrm>
          <a:prstGeom prst="line">
            <a:avLst/>
          </a:prstGeom>
          <a:noFill/>
          <a:ln w="19050">
            <a:solidFill>
              <a:schemeClr val="accent6"/>
            </a:solidFill>
            <a:prstDash val="solid"/>
            <a:headEnd type="triangle"/>
            <a:tailEnd type="triangle"/>
          </a:ln>
        </p:spPr>
        <p:txBody>
          <a:bodyPr/>
          <a:p/>
        </p:txBody>
      </p:sp>
      <p:sp>
        <p:nvSpPr>
          <p:cNvPr id="10" name="box-932"/>
          <p:cNvSpPr txBox="1"/>
          <p:nvPr/>
        </p:nvSpPr>
        <p:spPr>
          <a:xfrm>
            <a:off x="4709160" y="3520440"/>
            <a:ext cx="2770632" cy="914400"/>
          </a:xfrm>
          <a:prstGeom prst="roundRect">
            <a:avLst>
              <a:gd name="adj" fmla="val 8000"/>
            </a:avLst>
          </a:prstGeom>
          <a:solidFill>
            <a:schemeClr val="accent4"/>
          </a:solidFill>
          <a:ln/>
        </p:spPr>
        <p:txBody>
          <a:bodyPr wrap="square" lIns="76200" tIns="38100" rIns="76200" bIns="38100" rtlCol="0" anchor="ctr"/>
          <a:lstStyle/>
          <a:p>
            <a:pPr algn="ctr" indent="0" marL="0">
              <a:buNone/>
            </a:pPr>
            <a:r>
              <a:rPr lang="en-US" sz="1400" b="1" dirty="0">
                <a:solidFill>
                  <a:schemeClr val="bg1"/>
                </a:solidFill>
              </a:rPr>
              <a:t>Redis</a:t>
            </a:r>
            <a:endParaRPr lang="en-US" sz="1200" dirty="0"/>
          </a:p>
          <a:p>
            <a:pPr algn="ctr" indent="0" marL="0">
              <a:buNone/>
            </a:pPr>
            <a:r>
              <a:rPr lang="en-US" sz="1050" dirty="0">
                <a:solidFill>
                  <a:schemeClr val="bg1"/>
                </a:solidFill>
              </a:rPr>
              <a:t>pub/sub channel chat:messages</a:t>
            </a:r>
            <a:endParaRPr lang="en-US" sz="1200" dirty="0"/>
          </a:p>
        </p:txBody>
      </p:sp>
      <p:sp>
        <p:nvSpPr>
          <p:cNvPr id="11" name="arrow-933"/>
          <p:cNvSpPr/>
          <p:nvPr/>
        </p:nvSpPr>
        <p:spPr>
          <a:xfrm>
            <a:off x="4480560" y="2834640"/>
            <a:ext cx="640080" cy="685800"/>
          </a:xfrm>
          <a:prstGeom prst="line">
            <a:avLst/>
          </a:prstGeom>
          <a:noFill/>
          <a:ln w="19050">
            <a:solidFill>
              <a:schemeClr val="accent6"/>
            </a:solidFill>
            <a:prstDash val="solid"/>
            <a:headEnd type="triangle"/>
            <a:tailEnd type="triangle"/>
          </a:ln>
        </p:spPr>
        <p:txBody>
          <a:bodyPr/>
          <a:p/>
        </p:txBody>
      </p:sp>
      <p:sp>
        <p:nvSpPr>
          <p:cNvPr id="12" name="arrow-934"/>
          <p:cNvSpPr/>
          <p:nvPr/>
        </p:nvSpPr>
        <p:spPr>
          <a:xfrm flipV="1">
            <a:off x="7040880" y="2834640"/>
            <a:ext cx="640080" cy="685800"/>
          </a:xfrm>
          <a:prstGeom prst="line">
            <a:avLst/>
          </a:prstGeom>
          <a:noFill/>
          <a:ln w="19050">
            <a:solidFill>
              <a:schemeClr val="accent6"/>
            </a:solidFill>
            <a:prstDash val="solid"/>
            <a:tailEnd type="triangle"/>
          </a:ln>
        </p:spPr>
        <p:txBody>
          <a:bodyPr/>
          <a:p/>
        </p:txBody>
      </p:sp>
      <p:sp>
        <p:nvSpPr>
          <p:cNvPr id="13" name="text-935"/>
          <p:cNvSpPr txBox="1"/>
          <p:nvPr/>
        </p:nvSpPr>
        <p:spPr>
          <a:xfrm>
            <a:off x="2148840" y="3154680"/>
            <a:ext cx="2103120" cy="274320"/>
          </a:xfrm>
          <a:prstGeom prst="rect">
            <a:avLst/>
          </a:prstGeom>
          <a:noFill/>
          <a:ln/>
        </p:spPr>
        <p:txBody>
          <a:bodyPr wrap="square" lIns="0" tIns="0" rIns="0" bIns="0" rtlCol="0" anchor="t"/>
          <a:lstStyle/>
          <a:p>
            <a:pPr algn="r" indent="0" marL="0">
              <a:buNone/>
            </a:pPr>
            <a:r>
              <a:rPr lang="en-US" sz="1050" dirty="0">
                <a:solidFill>
                  <a:schemeClr val="accent6"/>
                </a:solidFill>
              </a:rPr>
              <a:t>publish once / receive</a:t>
            </a:r>
            <a:endParaRPr lang="en-US" sz="1050" dirty="0"/>
          </a:p>
        </p:txBody>
      </p:sp>
      <p:sp>
        <p:nvSpPr>
          <p:cNvPr id="14" name="text-936"/>
          <p:cNvSpPr txBox="1"/>
          <p:nvPr/>
        </p:nvSpPr>
        <p:spPr>
          <a:xfrm>
            <a:off x="7635240" y="3154680"/>
            <a:ext cx="1371600" cy="274320"/>
          </a:xfrm>
          <a:prstGeom prst="rect">
            <a:avLst/>
          </a:prstGeom>
          <a:noFill/>
          <a:ln/>
        </p:spPr>
        <p:txBody>
          <a:bodyPr wrap="square" lIns="0" tIns="0" rIns="0" bIns="0" rtlCol="0" anchor="t"/>
          <a:lstStyle/>
          <a:p>
            <a:pPr algn="l" indent="0" marL="0">
              <a:buNone/>
            </a:pPr>
            <a:r>
              <a:rPr lang="en-US" sz="1050" dirty="0">
                <a:solidFill>
                  <a:schemeClr val="accent6"/>
                </a:solidFill>
              </a:rPr>
              <a:t>receive</a:t>
            </a:r>
            <a:endParaRPr lang="en-US" sz="1050" dirty="0"/>
          </a:p>
        </p:txBody>
      </p:sp>
      <p:sp>
        <p:nvSpPr>
          <p:cNvPr id="15" name="box-937"/>
          <p:cNvSpPr txBox="1"/>
          <p:nvPr/>
        </p:nvSpPr>
        <p:spPr>
          <a:xfrm>
            <a:off x="4023360" y="4663440"/>
            <a:ext cx="4142232" cy="960120"/>
          </a:xfrm>
          <a:prstGeom prst="roundRect">
            <a:avLst>
              <a:gd name="adj" fmla="val 7619"/>
            </a:avLst>
          </a:prstGeom>
          <a:solidFill>
            <a:schemeClr val="accent4">
              <a:alpha val="12000"/>
            </a:schemeClr>
          </a:solidFill>
          <a:ln/>
        </p:spPr>
        <p:txBody>
          <a:bodyPr wrap="square" lIns="127000" tIns="50800" rIns="127000" bIns="50800" rtlCol="0" anchor="ctr"/>
          <a:lstStyle/>
          <a:p>
            <a:pPr algn="l" indent="0" marL="0">
              <a:buNone/>
            </a:pPr>
            <a:r>
              <a:rPr lang="en-US" sz="1250" b="1" dirty="0">
                <a:solidFill>
                  <a:schemeClr val="tx1"/>
                </a:solidFill>
              </a:rPr>
              <a:t>Presence  </a:t>
            </a:r>
            <a:pPr algn="l" indent="0" marL="0">
              <a:buNone/>
            </a:pPr>
            <a:r>
              <a:rPr lang="en-US" sz="1100" dirty="0">
                <a:solidFill>
                  <a:schemeClr val="tx1"/>
                </a:solidFill>
              </a:rPr>
              <a:t>a sorted set per (booking, user) of {node}/{socket} expiries; heartbeat every 3 s, gone 10 s after a crash</a:t>
            </a:r>
            <a:endParaRPr lang="en-US" sz="1200" dirty="0"/>
          </a:p>
        </p:txBody>
      </p:sp>
      <p:sp>
        <p:nvSpPr>
          <p:cNvPr id="16" name="icon-bg-check-938"/>
          <p:cNvSpPr/>
          <p:nvPr/>
        </p:nvSpPr>
        <p:spPr>
          <a:xfrm>
            <a:off x="548640" y="3657600"/>
            <a:ext cx="420624" cy="420624"/>
          </a:xfrm>
          <a:prstGeom prst="ellipse">
            <a:avLst/>
          </a:prstGeom>
          <a:solidFill>
            <a:schemeClr val="accent3"/>
          </a:solidFill>
          <a:ln/>
        </p:spPr>
        <p:txBody>
          <a:bodyPr/>
          <a:p/>
        </p:txBody>
      </p:sp>
      <p:pic>
        <p:nvPicPr>
          <p:cNvPr id="17" name="icon-check-939" descr="check">    </p:cNvPr>
          <p:cNvPicPr>
            <a:picLocks noChangeAspect="1"/>
          </p:cNvPicPr>
          <p:nvPr/>
        </p:nvPicPr>
        <p:blipFill>
          <a:blip r:embed="rId1"/>
          <a:stretch>
            <a:fillRect/>
          </a:stretch>
        </p:blipFill>
        <p:spPr>
          <a:xfrm>
            <a:off x="649590" y="3758550"/>
            <a:ext cx="218724" cy="218724"/>
          </a:xfrm>
          <a:prstGeom prst="rect">
            <a:avLst/>
          </a:prstGeom>
        </p:spPr>
      </p:pic>
      <p:sp>
        <p:nvSpPr>
          <p:cNvPr id="18" name="text-940"/>
          <p:cNvSpPr txBox="1"/>
          <p:nvPr/>
        </p:nvSpPr>
        <p:spPr>
          <a:xfrm>
            <a:off x="1078992" y="3611880"/>
            <a:ext cx="2651760" cy="914400"/>
          </a:xfrm>
          <a:prstGeom prst="rect">
            <a:avLst/>
          </a:prstGeom>
          <a:noFill/>
          <a:ln/>
        </p:spPr>
        <p:txBody>
          <a:bodyPr wrap="square" lIns="0" tIns="0" rIns="0" bIns="0" rtlCol="0" anchor="t"/>
          <a:lstStyle/>
          <a:p>
            <a:pPr algn="l" indent="0" marL="0">
              <a:buNone/>
            </a:pPr>
            <a:r>
              <a:rPr lang="en-US" sz="1250" b="1" dirty="0">
                <a:solidFill>
                  <a:schemeClr val="tx1"/>
                </a:solidFill>
              </a:rPr>
              <a:t>Exactly once per socket</a:t>
            </a:r>
            <a:endParaRPr lang="en-US" sz="1400" dirty="0"/>
          </a:p>
          <a:p>
            <a:pPr algn="l" indent="0" marL="0">
              <a:buNone/>
            </a:pPr>
            <a:r>
              <a:rPr lang="en-US" sz="1100" dirty="0">
                <a:solidFill>
                  <a:schemeClr val="accent6"/>
                </a:solidFill>
              </a:rPr>
              <a:t>no node writes to its sockets directly, the sender's included</a:t>
            </a:r>
            <a:endParaRPr lang="en-US" sz="1400" dirty="0"/>
          </a:p>
        </p:txBody>
      </p:sp>
      <p:sp>
        <p:nvSpPr>
          <p:cNvPr id="19" name="icon-bg-bell-941"/>
          <p:cNvSpPr/>
          <p:nvPr/>
        </p:nvSpPr>
        <p:spPr>
          <a:xfrm>
            <a:off x="8458200" y="3657600"/>
            <a:ext cx="420624" cy="420624"/>
          </a:xfrm>
          <a:prstGeom prst="ellipse">
            <a:avLst/>
          </a:prstGeom>
          <a:solidFill>
            <a:schemeClr val="accent3"/>
          </a:solidFill>
          <a:ln/>
        </p:spPr>
        <p:txBody>
          <a:bodyPr/>
          <a:p/>
        </p:txBody>
      </p:sp>
      <p:pic>
        <p:nvPicPr>
          <p:cNvPr id="20" name="icon-bell-942" descr="bell">    </p:cNvPr>
          <p:cNvPicPr>
            <a:picLocks noChangeAspect="1"/>
          </p:cNvPicPr>
          <p:nvPr/>
        </p:nvPicPr>
        <p:blipFill>
          <a:blip r:embed="rId2"/>
          <a:stretch>
            <a:fillRect/>
          </a:stretch>
        </p:blipFill>
        <p:spPr>
          <a:xfrm>
            <a:off x="8559150" y="3758550"/>
            <a:ext cx="218724" cy="218724"/>
          </a:xfrm>
          <a:prstGeom prst="rect">
            <a:avLst/>
          </a:prstGeom>
        </p:spPr>
      </p:pic>
      <p:sp>
        <p:nvSpPr>
          <p:cNvPr id="21" name="text-943"/>
          <p:cNvSpPr txBox="1"/>
          <p:nvPr/>
        </p:nvSpPr>
        <p:spPr>
          <a:xfrm>
            <a:off x="8988552" y="3611880"/>
            <a:ext cx="2651760" cy="914400"/>
          </a:xfrm>
          <a:prstGeom prst="rect">
            <a:avLst/>
          </a:prstGeom>
          <a:noFill/>
          <a:ln/>
        </p:spPr>
        <p:txBody>
          <a:bodyPr wrap="square" lIns="0" tIns="0" rIns="0" bIns="0" rtlCol="0" anchor="t"/>
          <a:lstStyle/>
          <a:p>
            <a:pPr algn="l" indent="0" marL="0">
              <a:buNone/>
            </a:pPr>
            <a:r>
              <a:rPr lang="en-US" sz="1250" b="1" dirty="0">
                <a:solidFill>
                  <a:schemeClr val="tx1"/>
                </a:solidFill>
              </a:rPr>
              <a:t>Offline means push</a:t>
            </a:r>
            <a:endParaRPr lang="en-US" sz="1400" dirty="0"/>
          </a:p>
          <a:p>
            <a:pPr algn="l" indent="0" marL="0">
              <a:buNone/>
            </a:pPr>
            <a:r>
              <a:rPr lang="en-US" sz="1100" dirty="0">
                <a:solidFill>
                  <a:schemeClr val="accent6"/>
                </a:solidFill>
              </a:rPr>
              <a:t>no live socket stamp: unread push via notification-service</a:t>
            </a:r>
            <a:endParaRPr lang="en-US" sz="1400" dirty="0"/>
          </a:p>
        </p:txBody>
      </p:sp>
      <p:sp>
        <p:nvSpPr>
          <p:cNvPr id="22" name="text-944"/>
          <p:cNvSpPr txBox="1"/>
          <p:nvPr/>
        </p:nvSpPr>
        <p:spPr>
          <a:xfrm>
            <a:off x="548640" y="5852160"/>
            <a:ext cx="11091672" cy="320040"/>
          </a:xfrm>
          <a:prstGeom prst="rect">
            <a:avLst/>
          </a:prstGeom>
          <a:noFill/>
          <a:ln/>
        </p:spPr>
        <p:txBody>
          <a:bodyPr wrap="square" lIns="0" tIns="0" rIns="0" bIns="0" rtlCol="0" anchor="t"/>
          <a:lstStyle/>
          <a:p>
            <a:pPr algn="l" indent="0" marL="0">
              <a:buNone/>
            </a:pPr>
            <a:r>
              <a:rPr lang="en-US" sz="1200" dirty="0">
                <a:solidFill>
                  <a:schemeClr val="accent6"/>
                </a:solidFill>
              </a:rPr>
              <a:t>Redis down: the message is still stored and the recipient pushed. CHAT_CLUSTER=local keeps the single-instance mode.</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How the changes were verified</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Unit tests per module, then every changed service started against a real PostgreSQL</a:t>
            </a:r>
            <a:endParaRPr lang="en-US" sz="1500" dirty="0"/>
          </a:p>
        </p:txBody>
      </p:sp>
      <p:graphicFrame>
        <p:nvGraphicFramePr>
          <p:cNvPr id="4" name="Chart 0" descr=""/>
          <p:cNvGraphicFramePr/>
          <p:nvPr/>
        </p:nvGraphicFramePr>
        <p:xfrm>
          <a:off x="548640" y="1554480"/>
          <a:ext cx="5852160" cy="4572000"/>
        </p:xfrm>
        <a:graphic xmlns:a="http://schemas.openxmlformats.org/drawingml/2006/main">
          <a:graphicData uri="http://schemas.openxmlformats.org/drawingml/2006/chart">
            <c:chart xmlns:c="http://schemas.openxmlformats.org/drawingml/2006/chart" r:id="rId1"/>
          </a:graphicData>
        </a:graphic>
      </p:graphicFrame>
      <p:sp>
        <p:nvSpPr>
          <p:cNvPr id="5" name="text-945"/>
          <p:cNvSpPr txBox="1"/>
          <p:nvPr/>
        </p:nvSpPr>
        <p:spPr>
          <a:xfrm>
            <a:off x="6766560" y="1600200"/>
            <a:ext cx="4873752" cy="320040"/>
          </a:xfrm>
          <a:prstGeom prst="rect">
            <a:avLst/>
          </a:prstGeom>
          <a:noFill/>
          <a:ln/>
        </p:spPr>
        <p:txBody>
          <a:bodyPr wrap="square" lIns="0" tIns="0" rIns="0" bIns="0" rtlCol="0" anchor="t"/>
          <a:lstStyle/>
          <a:p>
            <a:pPr algn="l" indent="0" marL="0">
              <a:buNone/>
            </a:pPr>
            <a:r>
              <a:rPr lang="en-US" sz="1400" b="1" dirty="0">
                <a:solidFill>
                  <a:schemeClr val="tx1"/>
                </a:solidFill>
              </a:rPr>
              <a:t>Migrations applied on a throwaway PostgreSQL 18</a:t>
            </a:r>
            <a:endParaRPr lang="en-US" sz="1400" dirty="0"/>
          </a:p>
        </p:txBody>
      </p:sp>
      <p:sp>
        <p:nvSpPr>
          <p:cNvPr id="6" name="chip-946"/>
          <p:cNvSpPr txBox="1"/>
          <p:nvPr/>
        </p:nvSpPr>
        <p:spPr>
          <a:xfrm>
            <a:off x="6766560" y="201168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booking V5</a:t>
            </a:r>
            <a:endParaRPr lang="en-US" sz="1150" dirty="0"/>
          </a:p>
        </p:txBody>
      </p:sp>
      <p:sp>
        <p:nvSpPr>
          <p:cNvPr id="7" name="chip-947"/>
          <p:cNvSpPr txBox="1"/>
          <p:nvPr/>
        </p:nvSpPr>
        <p:spPr>
          <a:xfrm>
            <a:off x="8412480" y="201168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complaint V3</a:t>
            </a:r>
            <a:endParaRPr lang="en-US" sz="1150" dirty="0"/>
          </a:p>
        </p:txBody>
      </p:sp>
      <p:sp>
        <p:nvSpPr>
          <p:cNvPr id="8" name="chip-948"/>
          <p:cNvSpPr txBox="1"/>
          <p:nvPr/>
        </p:nvSpPr>
        <p:spPr>
          <a:xfrm>
            <a:off x="10058400" y="201168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dispatch V3</a:t>
            </a:r>
            <a:endParaRPr lang="en-US" sz="1150" dirty="0"/>
          </a:p>
        </p:txBody>
      </p:sp>
      <p:sp>
        <p:nvSpPr>
          <p:cNvPr id="9" name="chip-949"/>
          <p:cNvSpPr txBox="1"/>
          <p:nvPr/>
        </p:nvSpPr>
        <p:spPr>
          <a:xfrm>
            <a:off x="6766560" y="251460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payment V4</a:t>
            </a:r>
            <a:endParaRPr lang="en-US" sz="1150" dirty="0"/>
          </a:p>
        </p:txBody>
      </p:sp>
      <p:sp>
        <p:nvSpPr>
          <p:cNvPr id="10" name="chip-950"/>
          <p:cNvSpPr txBox="1"/>
          <p:nvPr/>
        </p:nvSpPr>
        <p:spPr>
          <a:xfrm>
            <a:off x="8412480" y="251460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provider V5</a:t>
            </a:r>
            <a:endParaRPr lang="en-US" sz="1150" dirty="0"/>
          </a:p>
        </p:txBody>
      </p:sp>
      <p:sp>
        <p:nvSpPr>
          <p:cNvPr id="11" name="chip-951"/>
          <p:cNvSpPr txBox="1"/>
          <p:nvPr/>
        </p:nvSpPr>
        <p:spPr>
          <a:xfrm>
            <a:off x="10058400" y="251460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rating V2</a:t>
            </a:r>
            <a:endParaRPr lang="en-US" sz="1150" dirty="0"/>
          </a:p>
        </p:txBody>
      </p:sp>
      <p:sp>
        <p:nvSpPr>
          <p:cNvPr id="12" name="text-952"/>
          <p:cNvSpPr txBox="1"/>
          <p:nvPr/>
        </p:nvSpPr>
        <p:spPr>
          <a:xfrm>
            <a:off x="6766560" y="3108960"/>
            <a:ext cx="4873752" cy="822960"/>
          </a:xfrm>
          <a:prstGeom prst="rect">
            <a:avLst/>
          </a:prstGeom>
          <a:noFill/>
          <a:ln/>
        </p:spPr>
        <p:txBody>
          <a:bodyPr wrap="square" lIns="0" tIns="0" rIns="0" bIns="0" rtlCol="0" anchor="t"/>
          <a:lstStyle/>
          <a:p>
            <a:pPr algn="l" indent="0" marL="0">
              <a:buNone/>
            </a:pPr>
            <a:r>
              <a:rPr lang="en-US" sz="1200" dirty="0">
                <a:solidFill>
                  <a:schemeClr val="tx1"/>
                </a:solidFill>
              </a:rPr>
              <a:t>Each changed service started from its packaged deployable; Hibernate schema validation passed in all of them, and payment-service started with no Stripe secret.</a:t>
            </a:r>
            <a:endParaRPr lang="en-US" sz="1200" dirty="0"/>
          </a:p>
        </p:txBody>
      </p:sp>
      <p:sp>
        <p:nvSpPr>
          <p:cNvPr id="13" name="text-953"/>
          <p:cNvSpPr txBox="1"/>
          <p:nvPr/>
        </p:nvSpPr>
        <p:spPr>
          <a:xfrm>
            <a:off x="6766560" y="4069080"/>
            <a:ext cx="4873752" cy="320040"/>
          </a:xfrm>
          <a:prstGeom prst="rect">
            <a:avLst/>
          </a:prstGeom>
          <a:noFill/>
          <a:ln/>
        </p:spPr>
        <p:txBody>
          <a:bodyPr wrap="square" lIns="0" tIns="0" rIns="0" bIns="0" rtlCol="0" anchor="t"/>
          <a:lstStyle/>
          <a:p>
            <a:pPr algn="l" indent="0" marL="0">
              <a:buNone/>
            </a:pPr>
            <a:r>
              <a:rPr lang="en-US" sz="1400" b="1" dirty="0">
                <a:solidFill>
                  <a:schemeClr val="accent4"/>
                </a:solidFill>
              </a:rPr>
              <a:t>Not verified yet</a:t>
            </a:r>
            <a:endParaRPr lang="en-US" sz="1400" dirty="0"/>
          </a:p>
        </p:txBody>
      </p:sp>
      <p:sp>
        <p:nvSpPr>
          <p:cNvPr id="14" name="icon-bg-x-954"/>
          <p:cNvSpPr/>
          <p:nvPr/>
        </p:nvSpPr>
        <p:spPr>
          <a:xfrm>
            <a:off x="6766560" y="4498848"/>
            <a:ext cx="310896" cy="310896"/>
          </a:xfrm>
          <a:prstGeom prst="ellipse">
            <a:avLst/>
          </a:prstGeom>
          <a:solidFill>
            <a:schemeClr val="accent4"/>
          </a:solidFill>
          <a:ln/>
        </p:spPr>
        <p:txBody>
          <a:bodyPr/>
          <a:p/>
        </p:txBody>
      </p:sp>
      <p:pic>
        <p:nvPicPr>
          <p:cNvPr id="15" name="icon-x-955" descr="x">    </p:cNvPr>
          <p:cNvPicPr>
            <a:picLocks noChangeAspect="1"/>
          </p:cNvPicPr>
          <p:nvPr/>
        </p:nvPicPr>
        <p:blipFill>
          <a:blip r:embed="rId2"/>
          <a:stretch>
            <a:fillRect/>
          </a:stretch>
        </p:blipFill>
        <p:spPr>
          <a:xfrm>
            <a:off x="6841175" y="4573463"/>
            <a:ext cx="161666" cy="161666"/>
          </a:xfrm>
          <a:prstGeom prst="rect">
            <a:avLst/>
          </a:prstGeom>
        </p:spPr>
      </p:pic>
      <p:sp>
        <p:nvSpPr>
          <p:cNvPr id="16" name="text-956"/>
          <p:cNvSpPr txBox="1"/>
          <p:nvPr/>
        </p:nvSpPr>
        <p:spPr>
          <a:xfrm>
            <a:off x="7178040" y="4480560"/>
            <a:ext cx="4462272" cy="365760"/>
          </a:xfrm>
          <a:prstGeom prst="rect">
            <a:avLst/>
          </a:prstGeom>
          <a:noFill/>
          <a:ln/>
        </p:spPr>
        <p:txBody>
          <a:bodyPr wrap="square" lIns="0" tIns="0" rIns="0" bIns="0" rtlCol="0" anchor="ctr"/>
          <a:lstStyle/>
          <a:p>
            <a:pPr algn="l" indent="0" marL="0">
              <a:buNone/>
            </a:pPr>
            <a:r>
              <a:rPr lang="en-US" sz="1200" dirty="0">
                <a:solidFill>
                  <a:schemeClr val="tx1"/>
                </a:solidFill>
              </a:rPr>
              <a:t>the full stack end to end (Docker would not start here)</a:t>
            </a:r>
            <a:endParaRPr lang="en-US" sz="1200" dirty="0"/>
          </a:p>
        </p:txBody>
      </p:sp>
      <p:sp>
        <p:nvSpPr>
          <p:cNvPr id="17" name="icon-bg-x-957"/>
          <p:cNvSpPr/>
          <p:nvPr/>
        </p:nvSpPr>
        <p:spPr>
          <a:xfrm>
            <a:off x="6766560" y="5001768"/>
            <a:ext cx="310896" cy="310896"/>
          </a:xfrm>
          <a:prstGeom prst="ellipse">
            <a:avLst/>
          </a:prstGeom>
          <a:solidFill>
            <a:schemeClr val="accent4"/>
          </a:solidFill>
          <a:ln/>
        </p:spPr>
        <p:txBody>
          <a:bodyPr/>
          <a:p/>
        </p:txBody>
      </p:sp>
      <p:pic>
        <p:nvPicPr>
          <p:cNvPr id="18" name="icon-x-958" descr="x">    </p:cNvPr>
          <p:cNvPicPr>
            <a:picLocks noChangeAspect="1"/>
          </p:cNvPicPr>
          <p:nvPr/>
        </p:nvPicPr>
        <p:blipFill>
          <a:blip r:embed="rId3"/>
          <a:stretch>
            <a:fillRect/>
          </a:stretch>
        </p:blipFill>
        <p:spPr>
          <a:xfrm>
            <a:off x="6841175" y="5076383"/>
            <a:ext cx="161666" cy="161666"/>
          </a:xfrm>
          <a:prstGeom prst="rect">
            <a:avLst/>
          </a:prstGeom>
        </p:spPr>
      </p:pic>
      <p:sp>
        <p:nvSpPr>
          <p:cNvPr id="19" name="text-959"/>
          <p:cNvSpPr txBox="1"/>
          <p:nvPr/>
        </p:nvSpPr>
        <p:spPr>
          <a:xfrm>
            <a:off x="7178040" y="4983480"/>
            <a:ext cx="4462272" cy="365760"/>
          </a:xfrm>
          <a:prstGeom prst="rect">
            <a:avLst/>
          </a:prstGeom>
          <a:noFill/>
          <a:ln/>
        </p:spPr>
        <p:txBody>
          <a:bodyPr wrap="square" lIns="0" tIns="0" rIns="0" bIns="0" rtlCol="0" anchor="ctr"/>
          <a:lstStyle/>
          <a:p>
            <a:pPr algn="l" indent="0" marL="0">
              <a:buNone/>
            </a:pPr>
            <a:r>
              <a:rPr lang="en-US" sz="1200" dirty="0">
                <a:solidFill>
                  <a:schemeClr val="tx1"/>
                </a:solidFill>
              </a:rPr>
              <a:t>real SES and S3; two chat nodes on one Redis</a:t>
            </a:r>
            <a:endParaRPr lang="en-US" sz="1200" dirty="0"/>
          </a:p>
        </p:txBody>
      </p:sp>
      <p:sp>
        <p:nvSpPr>
          <p:cNvPr id="20" name="icon-bg-x-960"/>
          <p:cNvSpPr/>
          <p:nvPr/>
        </p:nvSpPr>
        <p:spPr>
          <a:xfrm>
            <a:off x="6766560" y="5504688"/>
            <a:ext cx="310896" cy="310896"/>
          </a:xfrm>
          <a:prstGeom prst="ellipse">
            <a:avLst/>
          </a:prstGeom>
          <a:solidFill>
            <a:schemeClr val="accent4"/>
          </a:solidFill>
          <a:ln/>
        </p:spPr>
        <p:txBody>
          <a:bodyPr/>
          <a:p/>
        </p:txBody>
      </p:sp>
      <p:pic>
        <p:nvPicPr>
          <p:cNvPr id="21" name="icon-x-961" descr="x">    </p:cNvPr>
          <p:cNvPicPr>
            <a:picLocks noChangeAspect="1"/>
          </p:cNvPicPr>
          <p:nvPr/>
        </p:nvPicPr>
        <p:blipFill>
          <a:blip r:embed="rId4"/>
          <a:stretch>
            <a:fillRect/>
          </a:stretch>
        </p:blipFill>
        <p:spPr>
          <a:xfrm>
            <a:off x="6841175" y="5579303"/>
            <a:ext cx="161666" cy="161666"/>
          </a:xfrm>
          <a:prstGeom prst="rect">
            <a:avLst/>
          </a:prstGeom>
        </p:spPr>
      </p:pic>
      <p:sp>
        <p:nvSpPr>
          <p:cNvPr id="22" name="text-962"/>
          <p:cNvSpPr txBox="1"/>
          <p:nvPr/>
        </p:nvSpPr>
        <p:spPr>
          <a:xfrm>
            <a:off x="7178040" y="5486400"/>
            <a:ext cx="4462272" cy="365760"/>
          </a:xfrm>
          <a:prstGeom prst="rect">
            <a:avLst/>
          </a:prstGeom>
          <a:noFill/>
          <a:ln/>
        </p:spPr>
        <p:txBody>
          <a:bodyPr wrap="square" lIns="0" tIns="0" rIns="0" bIns="0" rtlCol="0" anchor="ctr"/>
          <a:lstStyle/>
          <a:p>
            <a:pPr algn="l" indent="0" marL="0">
              <a:buNone/>
            </a:pPr>
            <a:r>
              <a:rPr lang="en-US" sz="1200" dirty="0">
                <a:solidFill>
                  <a:schemeClr val="tx1"/>
                </a:solidFill>
              </a:rPr>
              <a:t>terraform plan; provider-app unit tests (Node 24 needed)</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731520" y="2697480"/>
            <a:ext cx="10515600" cy="1005840"/>
          </a:xfrm>
          <a:prstGeom prst="rect">
            <a:avLst/>
          </a:prstGeom>
          <a:noFill/>
          <a:ln/>
        </p:spPr>
        <p:txBody>
          <a:bodyPr wrap="square" lIns="0" tIns="0" rIns="0" bIns="0" rtlCol="0" anchor="t"/>
          <a:lstStyle/>
          <a:p>
            <a:pPr algn="l" indent="0" marL="0">
              <a:buNone/>
            </a:pPr>
            <a:r>
              <a:rPr lang="en-US" sz="4400" b="1" dirty="0">
                <a:solidFill>
                  <a:schemeClr val="bg1"/>
                </a:solidFill>
              </a:rPr>
              <a:t>Load test and gap review</a:t>
            </a:r>
            <a:endParaRPr lang="en-US" sz="4400" dirty="0"/>
          </a:p>
        </p:txBody>
      </p:sp>
      <p:sp>
        <p:nvSpPr>
          <p:cNvPr id="3" name="Text 0"/>
          <p:cNvSpPr/>
          <p:nvPr>
            <p:ph idx="102" type="body" hasCustomPrompt="1"/>
          </p:nvPr>
        </p:nvSpPr>
        <p:spPr>
          <a:xfrm>
            <a:off x="731520" y="3749040"/>
            <a:ext cx="10515600" cy="640080"/>
          </a:xfrm>
          <a:prstGeom prst="rect">
            <a:avLst/>
          </a:prstGeom>
          <a:noFill/>
          <a:ln/>
        </p:spPr>
        <p:txBody>
          <a:bodyPr wrap="square" lIns="0" tIns="0" rIns="0" bIns="0" rtlCol="0" anchor="t"/>
          <a:lstStyle/>
          <a:p>
            <a:pPr indent="0" marL="0">
              <a:buNone/>
            </a:pPr>
            <a:r>
              <a:rPr lang="en-US" sz="2000" dirty="0">
                <a:solidFill>
                  <a:schemeClr val="bg2"/>
                </a:solidFill>
              </a:rPr>
              <a:t>k6 through the gateway, then every app call checked against the services behind it</a:t>
            </a:r>
            <a:endParaRPr lang="en-US" sz="2000" dirty="0"/>
          </a:p>
        </p:txBody>
      </p:sp>
      <p:sp>
        <p:nvSpPr>
          <p:cNvPr id="4" name="Text 0"/>
          <p:cNvSpPr/>
          <p:nvPr>
            <p:ph idx="100" type="body" hasCustomPrompt="1"/>
          </p:nvPr>
        </p:nvSpPr>
        <p:spPr>
          <a:xfrm>
            <a:off x="731520" y="2011680"/>
            <a:ext cx="3657600" cy="640080"/>
          </a:xfrm>
          <a:prstGeom prst="rect">
            <a:avLst/>
          </a:prstGeom>
          <a:noFill/>
          <a:ln/>
        </p:spPr>
        <p:txBody>
          <a:bodyPr wrap="square" lIns="0" tIns="0" rIns="0" bIns="0" rtlCol="0" anchor="b"/>
          <a:lstStyle/>
          <a:p>
            <a:pPr indent="0" marL="0">
              <a:buNone/>
            </a:pPr>
            <a:r>
              <a:rPr lang="en-US" sz="2800" b="1" dirty="0">
                <a:solidFill>
                  <a:schemeClr val="bg2"/>
                </a:solidFill>
              </a:rPr>
              <a:t>06</a:t>
            </a: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How the load test drives the platform</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Three populations at once; the booking journey crosses all five deployables and both Kafka hops</a:t>
            </a:r>
            <a:endParaRPr lang="en-US" sz="1500" dirty="0"/>
          </a:p>
        </p:txBody>
      </p:sp>
      <p:sp>
        <p:nvSpPr>
          <p:cNvPr id="4" name="panel-963"/>
          <p:cNvSpPr txBox="1"/>
          <p:nvPr/>
        </p:nvSpPr>
        <p:spPr>
          <a:xfrm>
            <a:off x="548640" y="1600200"/>
            <a:ext cx="6035040" cy="1298448"/>
          </a:xfrm>
          <a:prstGeom prst="roundRect">
            <a:avLst>
              <a:gd name="adj" fmla="val 7042"/>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5" name="icon-bg-users-964"/>
          <p:cNvSpPr/>
          <p:nvPr/>
        </p:nvSpPr>
        <p:spPr>
          <a:xfrm>
            <a:off x="731520" y="1801368"/>
            <a:ext cx="566928" cy="566928"/>
          </a:xfrm>
          <a:prstGeom prst="ellipse">
            <a:avLst/>
          </a:prstGeom>
          <a:solidFill>
            <a:schemeClr val="accent1"/>
          </a:solidFill>
          <a:ln/>
        </p:spPr>
        <p:txBody>
          <a:bodyPr/>
          <a:p/>
        </p:txBody>
      </p:sp>
      <p:pic>
        <p:nvPicPr>
          <p:cNvPr id="6" name="icon-users-965" descr="users">    </p:cNvPr>
          <p:cNvPicPr>
            <a:picLocks noChangeAspect="1"/>
          </p:cNvPicPr>
          <p:nvPr/>
        </p:nvPicPr>
        <p:blipFill>
          <a:blip r:embed="rId1"/>
          <a:stretch>
            <a:fillRect/>
          </a:stretch>
        </p:blipFill>
        <p:spPr>
          <a:xfrm>
            <a:off x="867583" y="1937431"/>
            <a:ext cx="294803" cy="294803"/>
          </a:xfrm>
          <a:prstGeom prst="rect">
            <a:avLst/>
          </a:prstGeom>
        </p:spPr>
      </p:pic>
      <p:sp>
        <p:nvSpPr>
          <p:cNvPr id="7" name="text-966"/>
          <p:cNvSpPr txBox="1"/>
          <p:nvPr/>
        </p:nvSpPr>
        <p:spPr>
          <a:xfrm>
            <a:off x="1463040" y="1746504"/>
            <a:ext cx="4937760" cy="365760"/>
          </a:xfrm>
          <a:prstGeom prst="rect">
            <a:avLst/>
          </a:prstGeom>
          <a:noFill/>
          <a:ln/>
        </p:spPr>
        <p:txBody>
          <a:bodyPr wrap="square" lIns="0" tIns="0" rIns="0" bIns="0" rtlCol="0" anchor="t"/>
          <a:lstStyle/>
          <a:p>
            <a:pPr algn="l" indent="0" marL="0">
              <a:buNone/>
            </a:pPr>
            <a:r>
              <a:rPr lang="en-US" sz="1600" b="1" dirty="0">
                <a:solidFill>
                  <a:schemeClr val="tx1"/>
                </a:solidFill>
              </a:rPr>
              <a:t>browse  </a:t>
            </a:r>
            <a:pPr algn="l" indent="0" marL="0">
              <a:buNone/>
            </a:pPr>
            <a:r>
              <a:rPr lang="en-US" sz="1400" b="1" dirty="0">
                <a:solidFill>
                  <a:schemeClr val="accent1"/>
                </a:solidFill>
              </a:rPr>
              <a:t>60 customers</a:t>
            </a:r>
            <a:endParaRPr lang="en-US" sz="1400" dirty="0"/>
          </a:p>
        </p:txBody>
      </p:sp>
      <p:sp>
        <p:nvSpPr>
          <p:cNvPr id="8" name="text-967"/>
          <p:cNvSpPr txBox="1"/>
          <p:nvPr/>
        </p:nvSpPr>
        <p:spPr>
          <a:xfrm>
            <a:off x="1463040" y="2130552"/>
            <a:ext cx="4983480" cy="685800"/>
          </a:xfrm>
          <a:prstGeom prst="rect">
            <a:avLst/>
          </a:prstGeom>
          <a:noFill/>
          <a:ln/>
        </p:spPr>
        <p:txBody>
          <a:bodyPr wrap="square" lIns="0" tIns="0" rIns="0" bIns="0" rtlCol="0" anchor="t"/>
          <a:lstStyle/>
          <a:p>
            <a:pPr algn="l" indent="0" marL="0">
              <a:buNone/>
            </a:pPr>
            <a:r>
              <a:rPr lang="en-US" sz="1250" dirty="0">
                <a:solidFill>
                  <a:schemeClr val="tx1"/>
                </a:solidFill>
              </a:rPr>
              <a:t>catalog, price estimate, booking history, with 2–4 s of think time: the bulk of real traffic</a:t>
            </a:r>
            <a:endParaRPr lang="en-US" sz="1250" dirty="0"/>
          </a:p>
        </p:txBody>
      </p:sp>
      <p:sp>
        <p:nvSpPr>
          <p:cNvPr id="9" name="panel-968"/>
          <p:cNvSpPr txBox="1"/>
          <p:nvPr/>
        </p:nvSpPr>
        <p:spPr>
          <a:xfrm>
            <a:off x="548640" y="3081528"/>
            <a:ext cx="6035040" cy="1298448"/>
          </a:xfrm>
          <a:prstGeom prst="roundRect">
            <a:avLst>
              <a:gd name="adj" fmla="val 7042"/>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10" name="icon-bg-user-969"/>
          <p:cNvSpPr/>
          <p:nvPr/>
        </p:nvSpPr>
        <p:spPr>
          <a:xfrm>
            <a:off x="731520" y="3282696"/>
            <a:ext cx="566928" cy="566928"/>
          </a:xfrm>
          <a:prstGeom prst="ellipse">
            <a:avLst/>
          </a:prstGeom>
          <a:solidFill>
            <a:schemeClr val="accent2"/>
          </a:solidFill>
          <a:ln/>
        </p:spPr>
        <p:txBody>
          <a:bodyPr/>
          <a:p/>
        </p:txBody>
      </p:sp>
      <p:pic>
        <p:nvPicPr>
          <p:cNvPr id="11" name="icon-user-970" descr="user">    </p:cNvPr>
          <p:cNvPicPr>
            <a:picLocks noChangeAspect="1"/>
          </p:cNvPicPr>
          <p:nvPr/>
        </p:nvPicPr>
        <p:blipFill>
          <a:blip r:embed="rId2"/>
          <a:stretch>
            <a:fillRect/>
          </a:stretch>
        </p:blipFill>
        <p:spPr>
          <a:xfrm>
            <a:off x="867583" y="3418759"/>
            <a:ext cx="294803" cy="294803"/>
          </a:xfrm>
          <a:prstGeom prst="rect">
            <a:avLst/>
          </a:prstGeom>
        </p:spPr>
      </p:pic>
      <p:sp>
        <p:nvSpPr>
          <p:cNvPr id="12" name="text-971"/>
          <p:cNvSpPr txBox="1"/>
          <p:nvPr/>
        </p:nvSpPr>
        <p:spPr>
          <a:xfrm>
            <a:off x="1463040" y="3227832"/>
            <a:ext cx="4937760" cy="365760"/>
          </a:xfrm>
          <a:prstGeom prst="rect">
            <a:avLst/>
          </a:prstGeom>
          <a:noFill/>
          <a:ln/>
        </p:spPr>
        <p:txBody>
          <a:bodyPr wrap="square" lIns="0" tIns="0" rIns="0" bIns="0" rtlCol="0" anchor="t"/>
          <a:lstStyle/>
          <a:p>
            <a:pPr algn="l" indent="0" marL="0">
              <a:buNone/>
            </a:pPr>
            <a:r>
              <a:rPr lang="en-US" sz="1600" b="1" dirty="0">
                <a:solidFill>
                  <a:schemeClr val="tx1"/>
                </a:solidFill>
              </a:rPr>
              <a:t>customers  </a:t>
            </a:r>
            <a:pPr algn="l" indent="0" marL="0">
              <a:buNone/>
            </a:pPr>
            <a:r>
              <a:rPr lang="en-US" sz="1400" b="1" dirty="0">
                <a:solidFill>
                  <a:schemeClr val="accent2"/>
                </a:solidFill>
              </a:rPr>
              <a:t>12 customers</a:t>
            </a:r>
            <a:endParaRPr lang="en-US" sz="1400" dirty="0"/>
          </a:p>
        </p:txBody>
      </p:sp>
      <p:sp>
        <p:nvSpPr>
          <p:cNvPr id="13" name="text-972"/>
          <p:cNvSpPr txBox="1"/>
          <p:nvPr/>
        </p:nvSpPr>
        <p:spPr>
          <a:xfrm>
            <a:off x="1463040" y="3611880"/>
            <a:ext cx="4983480" cy="685800"/>
          </a:xfrm>
          <a:prstGeom prst="rect">
            <a:avLst/>
          </a:prstGeom>
          <a:noFill/>
          <a:ln/>
        </p:spPr>
        <p:txBody>
          <a:bodyPr wrap="square" lIns="0" tIns="0" rIns="0" bIns="0" rtlCol="0" anchor="t"/>
          <a:lstStyle/>
          <a:p>
            <a:pPr algn="l" indent="0" marL="0">
              <a:buNone/>
            </a:pPr>
            <a:r>
              <a:rPr lang="en-US" sz="1250" dirty="0">
                <a:solidFill>
                  <a:schemeClr val="tx1"/>
                </a:solidFill>
              </a:rPr>
              <a:t>book a plumber, confirm, wait for a provider, watch the live location, pay when the job is done</a:t>
            </a:r>
            <a:endParaRPr lang="en-US" sz="1250" dirty="0"/>
          </a:p>
        </p:txBody>
      </p:sp>
      <p:sp>
        <p:nvSpPr>
          <p:cNvPr id="14" name="panel-973"/>
          <p:cNvSpPr txBox="1"/>
          <p:nvPr/>
        </p:nvSpPr>
        <p:spPr>
          <a:xfrm>
            <a:off x="548640" y="4562856"/>
            <a:ext cx="6035040" cy="1298448"/>
          </a:xfrm>
          <a:prstGeom prst="roundRect">
            <a:avLst>
              <a:gd name="adj" fmla="val 7042"/>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15" name="icon-bg-hardhat-974"/>
          <p:cNvSpPr/>
          <p:nvPr/>
        </p:nvSpPr>
        <p:spPr>
          <a:xfrm>
            <a:off x="731520" y="4764024"/>
            <a:ext cx="566928" cy="566928"/>
          </a:xfrm>
          <a:prstGeom prst="ellipse">
            <a:avLst/>
          </a:prstGeom>
          <a:solidFill>
            <a:schemeClr val="accent3"/>
          </a:solidFill>
          <a:ln/>
        </p:spPr>
        <p:txBody>
          <a:bodyPr/>
          <a:p/>
        </p:txBody>
      </p:sp>
      <p:pic>
        <p:nvPicPr>
          <p:cNvPr id="16" name="icon-hardhat-975" descr="hardhat">    </p:cNvPr>
          <p:cNvPicPr>
            <a:picLocks noChangeAspect="1"/>
          </p:cNvPicPr>
          <p:nvPr/>
        </p:nvPicPr>
        <p:blipFill>
          <a:blip r:embed="rId3"/>
          <a:stretch>
            <a:fillRect/>
          </a:stretch>
        </p:blipFill>
        <p:spPr>
          <a:xfrm>
            <a:off x="867583" y="4900087"/>
            <a:ext cx="294803" cy="294803"/>
          </a:xfrm>
          <a:prstGeom prst="rect">
            <a:avLst/>
          </a:prstGeom>
        </p:spPr>
      </p:pic>
      <p:sp>
        <p:nvSpPr>
          <p:cNvPr id="17" name="text-976"/>
          <p:cNvSpPr txBox="1"/>
          <p:nvPr/>
        </p:nvSpPr>
        <p:spPr>
          <a:xfrm>
            <a:off x="1463040" y="4709160"/>
            <a:ext cx="4937760" cy="365760"/>
          </a:xfrm>
          <a:prstGeom prst="rect">
            <a:avLst/>
          </a:prstGeom>
          <a:noFill/>
          <a:ln/>
        </p:spPr>
        <p:txBody>
          <a:bodyPr wrap="square" lIns="0" tIns="0" rIns="0" bIns="0" rtlCol="0" anchor="t"/>
          <a:lstStyle/>
          <a:p>
            <a:pPr algn="l" indent="0" marL="0">
              <a:buNone/>
            </a:pPr>
            <a:r>
              <a:rPr lang="en-US" sz="1600" b="1" dirty="0">
                <a:solidFill>
                  <a:schemeClr val="tx1"/>
                </a:solidFill>
              </a:rPr>
              <a:t>providers  </a:t>
            </a:r>
            <a:pPr algn="l" indent="0" marL="0">
              <a:buNone/>
            </a:pPr>
            <a:r>
              <a:rPr lang="en-US" sz="1400" b="1" dirty="0">
                <a:solidFill>
                  <a:schemeClr val="accent3"/>
                </a:solidFill>
              </a:rPr>
              <a:t>8 providers</a:t>
            </a:r>
            <a:endParaRPr lang="en-US" sz="1400" dirty="0"/>
          </a:p>
        </p:txBody>
      </p:sp>
      <p:sp>
        <p:nvSpPr>
          <p:cNvPr id="18" name="text-977"/>
          <p:cNvSpPr txBox="1"/>
          <p:nvPr/>
        </p:nvSpPr>
        <p:spPr>
          <a:xfrm>
            <a:off x="1463040" y="5093208"/>
            <a:ext cx="4983480" cy="685800"/>
          </a:xfrm>
          <a:prstGeom prst="rect">
            <a:avLst/>
          </a:prstGeom>
          <a:noFill/>
          <a:ln/>
        </p:spPr>
        <p:txBody>
          <a:bodyPr wrap="square" lIns="0" tIns="0" rIns="0" bIns="0" rtlCol="0" anchor="t"/>
          <a:lstStyle/>
          <a:p>
            <a:pPr algn="l" indent="0" marL="0">
              <a:buNone/>
            </a:pPr>
            <a:r>
              <a:rPr lang="en-US" sz="1250" dirty="0">
                <a:solidFill>
                  <a:schemeClr val="tx1"/>
                </a:solidFill>
              </a:rPr>
              <a:t>onboarded in setup, poll offers every 5 s, accept, share location, upload photos, complete</a:t>
            </a:r>
            <a:endParaRPr lang="en-US" sz="1250" dirty="0"/>
          </a:p>
        </p:txBody>
      </p:sp>
      <p:sp>
        <p:nvSpPr>
          <p:cNvPr id="19" name="text-978"/>
          <p:cNvSpPr txBox="1"/>
          <p:nvPr/>
        </p:nvSpPr>
        <p:spPr>
          <a:xfrm>
            <a:off x="548640" y="6053328"/>
            <a:ext cx="6035040" cy="320040"/>
          </a:xfrm>
          <a:prstGeom prst="rect">
            <a:avLst/>
          </a:prstGeom>
          <a:noFill/>
          <a:ln/>
        </p:spPr>
        <p:txBody>
          <a:bodyPr wrap="square" lIns="0" tIns="0" rIns="0" bIns="0" rtlCol="0" anchor="t"/>
          <a:lstStyle/>
          <a:p>
            <a:pPr algn="l" indent="0" marL="0">
              <a:buNone/>
            </a:pPr>
            <a:r>
              <a:rPr lang="en-US" sz="1150" i="1" dirty="0">
                <a:solidFill>
                  <a:schemeClr val="accent6"/>
                </a:solidFill>
              </a:rPr>
              <a:t>Ramp 1 min, hold 4 min, ramp down; the k6 image runs in Docker on the stack's own network.</a:t>
            </a:r>
            <a:endParaRPr lang="en-US" sz="1150" dirty="0"/>
          </a:p>
        </p:txBody>
      </p:sp>
      <p:sp>
        <p:nvSpPr>
          <p:cNvPr id="20" name="text-979"/>
          <p:cNvSpPr txBox="1"/>
          <p:nvPr/>
        </p:nvSpPr>
        <p:spPr>
          <a:xfrm>
            <a:off x="6995160" y="1600200"/>
            <a:ext cx="4645152" cy="365760"/>
          </a:xfrm>
          <a:prstGeom prst="rect">
            <a:avLst/>
          </a:prstGeom>
          <a:noFill/>
          <a:ln/>
        </p:spPr>
        <p:txBody>
          <a:bodyPr wrap="square" lIns="0" tIns="0" rIns="0" bIns="0" rtlCol="0" anchor="t"/>
          <a:lstStyle/>
          <a:p>
            <a:pPr algn="l" indent="0" marL="0">
              <a:buNone/>
            </a:pPr>
            <a:r>
              <a:rPr lang="en-US" sz="1600" b="1" dirty="0">
                <a:solidFill>
                  <a:schemeClr val="tx1"/>
                </a:solidFill>
              </a:rPr>
              <a:t>Pass criteria</a:t>
            </a:r>
            <a:endParaRPr lang="en-US" sz="1600" dirty="0"/>
          </a:p>
        </p:txBody>
      </p:sp>
      <p:sp>
        <p:nvSpPr>
          <p:cNvPr id="21" name="chip-980"/>
          <p:cNvSpPr txBox="1"/>
          <p:nvPr/>
        </p:nvSpPr>
        <p:spPr>
          <a:xfrm>
            <a:off x="6995160" y="2057400"/>
            <a:ext cx="1051560" cy="420624"/>
          </a:xfrm>
          <a:prstGeom prst="roundRect">
            <a:avLst>
              <a:gd name="adj" fmla="val 17391"/>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&lt; 1 %</a:t>
            </a:r>
            <a:endParaRPr lang="en-US" sz="1200" dirty="0"/>
          </a:p>
        </p:txBody>
      </p:sp>
      <p:sp>
        <p:nvSpPr>
          <p:cNvPr id="22" name="text-981"/>
          <p:cNvSpPr txBox="1"/>
          <p:nvPr/>
        </p:nvSpPr>
        <p:spPr>
          <a:xfrm>
            <a:off x="8183880" y="2057400"/>
            <a:ext cx="3456432" cy="420624"/>
          </a:xfrm>
          <a:prstGeom prst="rect">
            <a:avLst/>
          </a:prstGeom>
          <a:noFill/>
          <a:ln/>
        </p:spPr>
        <p:txBody>
          <a:bodyPr wrap="square" lIns="0" tIns="0" rIns="0" bIns="0" rtlCol="0" anchor="ctr"/>
          <a:lstStyle/>
          <a:p>
            <a:pPr algn="l" indent="0" marL="0">
              <a:buNone/>
            </a:pPr>
            <a:r>
              <a:rPr lang="en-US" sz="1300" dirty="0">
                <a:solidFill>
                  <a:schemeClr val="tx1"/>
                </a:solidFill>
              </a:rPr>
              <a:t>unexpected statuses</a:t>
            </a:r>
            <a:endParaRPr lang="en-US" sz="1300" dirty="0"/>
          </a:p>
        </p:txBody>
      </p:sp>
      <p:sp>
        <p:nvSpPr>
          <p:cNvPr id="23" name="chip-982"/>
          <p:cNvSpPr txBox="1"/>
          <p:nvPr/>
        </p:nvSpPr>
        <p:spPr>
          <a:xfrm>
            <a:off x="6995160" y="2606040"/>
            <a:ext cx="1051560" cy="420624"/>
          </a:xfrm>
          <a:prstGeom prst="roundRect">
            <a:avLst>
              <a:gd name="adj" fmla="val 17391"/>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500 ms</a:t>
            </a:r>
            <a:endParaRPr lang="en-US" sz="1200" dirty="0"/>
          </a:p>
        </p:txBody>
      </p:sp>
      <p:sp>
        <p:nvSpPr>
          <p:cNvPr id="24" name="text-983"/>
          <p:cNvSpPr txBox="1"/>
          <p:nvPr/>
        </p:nvSpPr>
        <p:spPr>
          <a:xfrm>
            <a:off x="8183880" y="2606040"/>
            <a:ext cx="3456432" cy="420624"/>
          </a:xfrm>
          <a:prstGeom prst="rect">
            <a:avLst/>
          </a:prstGeom>
          <a:noFill/>
          <a:ln/>
        </p:spPr>
        <p:txBody>
          <a:bodyPr wrap="square" lIns="0" tIns="0" rIns="0" bIns="0" rtlCol="0" anchor="ctr"/>
          <a:lstStyle/>
          <a:p>
            <a:pPr algn="l" indent="0" marL="0">
              <a:buNone/>
            </a:pPr>
            <a:r>
              <a:rPr lang="en-US" sz="1300" dirty="0">
                <a:solidFill>
                  <a:schemeClr val="tx1"/>
                </a:solidFill>
              </a:rPr>
              <a:t>browse p95 (1.5 s p99)</a:t>
            </a:r>
            <a:endParaRPr lang="en-US" sz="1300" dirty="0"/>
          </a:p>
        </p:txBody>
      </p:sp>
      <p:sp>
        <p:nvSpPr>
          <p:cNvPr id="25" name="chip-984"/>
          <p:cNvSpPr txBox="1"/>
          <p:nvPr/>
        </p:nvSpPr>
        <p:spPr>
          <a:xfrm>
            <a:off x="6995160" y="3154680"/>
            <a:ext cx="1051560" cy="420624"/>
          </a:xfrm>
          <a:prstGeom prst="roundRect">
            <a:avLst>
              <a:gd name="adj" fmla="val 17391"/>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1.5 s</a:t>
            </a:r>
            <a:endParaRPr lang="en-US" sz="1200" dirty="0"/>
          </a:p>
        </p:txBody>
      </p:sp>
      <p:sp>
        <p:nvSpPr>
          <p:cNvPr id="26" name="text-985"/>
          <p:cNvSpPr txBox="1"/>
          <p:nvPr/>
        </p:nvSpPr>
        <p:spPr>
          <a:xfrm>
            <a:off x="8183880" y="3154680"/>
            <a:ext cx="3456432" cy="420624"/>
          </a:xfrm>
          <a:prstGeom prst="rect">
            <a:avLst/>
          </a:prstGeom>
          <a:noFill/>
          <a:ln/>
        </p:spPr>
        <p:txBody>
          <a:bodyPr wrap="square" lIns="0" tIns="0" rIns="0" bIns="0" rtlCol="0" anchor="ctr"/>
          <a:lstStyle/>
          <a:p>
            <a:pPr algn="l" indent="0" marL="0">
              <a:buNone/>
            </a:pPr>
            <a:r>
              <a:rPr lang="en-US" sz="1300" dirty="0">
                <a:solidFill>
                  <a:schemeClr val="tx1"/>
                </a:solidFill>
              </a:rPr>
              <a:t>create and confirm a booking, p95</a:t>
            </a:r>
            <a:endParaRPr lang="en-US" sz="1300" dirty="0"/>
          </a:p>
        </p:txBody>
      </p:sp>
      <p:sp>
        <p:nvSpPr>
          <p:cNvPr id="27" name="chip-986"/>
          <p:cNvSpPr txBox="1"/>
          <p:nvPr/>
        </p:nvSpPr>
        <p:spPr>
          <a:xfrm>
            <a:off x="6995160" y="3703320"/>
            <a:ext cx="1051560" cy="420624"/>
          </a:xfrm>
          <a:prstGeom prst="roundRect">
            <a:avLst>
              <a:gd name="adj" fmla="val 17391"/>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300 ms</a:t>
            </a:r>
            <a:endParaRPr lang="en-US" sz="1200" dirty="0"/>
          </a:p>
        </p:txBody>
      </p:sp>
      <p:sp>
        <p:nvSpPr>
          <p:cNvPr id="28" name="text-987"/>
          <p:cNvSpPr txBox="1"/>
          <p:nvPr/>
        </p:nvSpPr>
        <p:spPr>
          <a:xfrm>
            <a:off x="8183880" y="3703320"/>
            <a:ext cx="3456432" cy="420624"/>
          </a:xfrm>
          <a:prstGeom prst="rect">
            <a:avLst/>
          </a:prstGeom>
          <a:noFill/>
          <a:ln/>
        </p:spPr>
        <p:txBody>
          <a:bodyPr wrap="square" lIns="0" tIns="0" rIns="0" bIns="0" rtlCol="0" anchor="ctr"/>
          <a:lstStyle/>
          <a:p>
            <a:pPr algn="l" indent="0" marL="0">
              <a:buNone/>
            </a:pPr>
            <a:r>
              <a:rPr lang="en-US" sz="1300" dirty="0">
                <a:solidFill>
                  <a:schemeClr val="tx1"/>
                </a:solidFill>
              </a:rPr>
              <a:t>provider location ping, p95</a:t>
            </a:r>
            <a:endParaRPr lang="en-US" sz="1300" dirty="0"/>
          </a:p>
        </p:txBody>
      </p:sp>
      <p:sp>
        <p:nvSpPr>
          <p:cNvPr id="29" name="chip-988"/>
          <p:cNvSpPr txBox="1"/>
          <p:nvPr/>
        </p:nvSpPr>
        <p:spPr>
          <a:xfrm>
            <a:off x="6995160" y="4251960"/>
            <a:ext cx="1051560" cy="420624"/>
          </a:xfrm>
          <a:prstGeom prst="roundRect">
            <a:avLst>
              <a:gd name="adj" fmla="val 17391"/>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30 s</a:t>
            </a:r>
            <a:endParaRPr lang="en-US" sz="1200" dirty="0"/>
          </a:p>
        </p:txBody>
      </p:sp>
      <p:sp>
        <p:nvSpPr>
          <p:cNvPr id="30" name="text-989"/>
          <p:cNvSpPr txBox="1"/>
          <p:nvPr/>
        </p:nvSpPr>
        <p:spPr>
          <a:xfrm>
            <a:off x="8183880" y="4251960"/>
            <a:ext cx="3456432" cy="420624"/>
          </a:xfrm>
          <a:prstGeom prst="rect">
            <a:avLst/>
          </a:prstGeom>
          <a:noFill/>
          <a:ln/>
        </p:spPr>
        <p:txBody>
          <a:bodyPr wrap="square" lIns="0" tIns="0" rIns="0" bIns="0" rtlCol="0" anchor="ctr"/>
          <a:lstStyle/>
          <a:p>
            <a:pPr algn="l" indent="0" marL="0">
              <a:buNone/>
            </a:pPr>
            <a:r>
              <a:rPr lang="en-US" sz="1300" dirty="0">
                <a:solidFill>
                  <a:schemeClr val="tx1"/>
                </a:solidFill>
              </a:rPr>
              <a:t>confirm → provider accepted, p95</a:t>
            </a:r>
            <a:endParaRPr lang="en-US" sz="1300" dirty="0"/>
          </a:p>
        </p:txBody>
      </p:sp>
      <p:sp>
        <p:nvSpPr>
          <p:cNvPr id="31" name="chip-990"/>
          <p:cNvSpPr txBox="1"/>
          <p:nvPr/>
        </p:nvSpPr>
        <p:spPr>
          <a:xfrm>
            <a:off x="6995160" y="4800600"/>
            <a:ext cx="1051560" cy="420624"/>
          </a:xfrm>
          <a:prstGeom prst="roundRect">
            <a:avLst>
              <a:gd name="adj" fmla="val 17391"/>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15 s</a:t>
            </a:r>
            <a:endParaRPr lang="en-US" sz="1200" dirty="0"/>
          </a:p>
        </p:txBody>
      </p:sp>
      <p:sp>
        <p:nvSpPr>
          <p:cNvPr id="32" name="text-991"/>
          <p:cNvSpPr txBox="1"/>
          <p:nvPr/>
        </p:nvSpPr>
        <p:spPr>
          <a:xfrm>
            <a:off x="8183880" y="4800600"/>
            <a:ext cx="3456432" cy="420624"/>
          </a:xfrm>
          <a:prstGeom prst="rect">
            <a:avLst/>
          </a:prstGeom>
          <a:noFill/>
          <a:ln/>
        </p:spPr>
        <p:txBody>
          <a:bodyPr wrap="square" lIns="0" tIns="0" rIns="0" bIns="0" rtlCol="0" anchor="ctr"/>
          <a:lstStyle/>
          <a:p>
            <a:pPr algn="l" indent="0" marL="0">
              <a:buNone/>
            </a:pPr>
            <a:r>
              <a:rPr lang="en-US" sz="1300" dirty="0">
                <a:solidFill>
                  <a:schemeClr val="tx1"/>
                </a:solidFill>
              </a:rPr>
              <a:t>payment → PAYMENT_COMPLETED, p95</a:t>
            </a:r>
            <a:endParaRPr lang="en-US" sz="1300" dirty="0"/>
          </a:p>
        </p:txBody>
      </p:sp>
      <p:sp>
        <p:nvSpPr>
          <p:cNvPr id="33" name="chip-992"/>
          <p:cNvSpPr txBox="1"/>
          <p:nvPr/>
        </p:nvSpPr>
        <p:spPr>
          <a:xfrm>
            <a:off x="6995160" y="5349240"/>
            <a:ext cx="1051560" cy="420624"/>
          </a:xfrm>
          <a:prstGeom prst="roundRect">
            <a:avLst>
              <a:gd name="adj" fmla="val 17391"/>
            </a:avLst>
          </a:prstGeom>
          <a:solidFill>
            <a:schemeClr val="accent5"/>
          </a:solidFill>
          <a:ln/>
        </p:spPr>
        <p:txBody>
          <a:bodyPr wrap="square" lIns="76200" tIns="38100" rIns="76200" bIns="38100" rtlCol="0" anchor="ctr"/>
          <a:lstStyle/>
          <a:p>
            <a:pPr algn="ctr" indent="0" marL="0">
              <a:buNone/>
            </a:pPr>
            <a:r>
              <a:rPr lang="en-US" sz="1200" b="1" dirty="0">
                <a:solidFill>
                  <a:schemeClr val="bg1"/>
                </a:solidFill>
              </a:rPr>
              <a:t>0</a:t>
            </a:r>
            <a:endParaRPr lang="en-US" sz="1200" dirty="0"/>
          </a:p>
        </p:txBody>
      </p:sp>
      <p:sp>
        <p:nvSpPr>
          <p:cNvPr id="34" name="text-993"/>
          <p:cNvSpPr txBox="1"/>
          <p:nvPr/>
        </p:nvSpPr>
        <p:spPr>
          <a:xfrm>
            <a:off x="8183880" y="5349240"/>
            <a:ext cx="3456432" cy="420624"/>
          </a:xfrm>
          <a:prstGeom prst="rect">
            <a:avLst/>
          </a:prstGeom>
          <a:noFill/>
          <a:ln/>
        </p:spPr>
        <p:txBody>
          <a:bodyPr wrap="square" lIns="0" tIns="0" rIns="0" bIns="0" rtlCol="0" anchor="ctr"/>
          <a:lstStyle/>
          <a:p>
            <a:pPr algn="l" indent="0" marL="0">
              <a:buNone/>
            </a:pPr>
            <a:r>
              <a:rPr lang="en-US" sz="1300" dirty="0">
                <a:solidFill>
                  <a:schemeClr val="tx1"/>
                </a:solidFill>
              </a:rPr>
              <a:t>429s from app-like traffic</a:t>
            </a:r>
            <a:endParaRPr lang="en-US" sz="13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Load profile: results</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82 complete journeys and 12,487 requests, 4-minute hold on one laptop; 0.9 % unexpected statuses</a:t>
            </a:r>
            <a:endParaRPr lang="en-US" sz="1500" dirty="0"/>
          </a:p>
        </p:txBody>
      </p:sp>
      <p:sp>
        <p:nvSpPr>
          <p:cNvPr id="4" name="panel-994"/>
          <p:cNvSpPr txBox="1"/>
          <p:nvPr/>
        </p:nvSpPr>
        <p:spPr>
          <a:xfrm>
            <a:off x="548640" y="1600200"/>
            <a:ext cx="2148840" cy="1783080"/>
          </a:xfrm>
          <a:prstGeom prst="roundRect">
            <a:avLst>
              <a:gd name="adj" fmla="val 5128"/>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5" name="text-995"/>
          <p:cNvSpPr txBox="1"/>
          <p:nvPr/>
        </p:nvSpPr>
        <p:spPr>
          <a:xfrm>
            <a:off x="713232" y="1764792"/>
            <a:ext cx="1828800" cy="777240"/>
          </a:xfrm>
          <a:prstGeom prst="rect">
            <a:avLst/>
          </a:prstGeom>
          <a:noFill/>
          <a:ln/>
        </p:spPr>
        <p:txBody>
          <a:bodyPr wrap="square" lIns="0" tIns="0" rIns="0" bIns="0" rtlCol="0" anchor="t"/>
          <a:lstStyle/>
          <a:p>
            <a:pPr algn="l" indent="0" marL="0">
              <a:buNone/>
            </a:pPr>
            <a:r>
              <a:rPr lang="en-US" sz="3800" b="1" dirty="0">
                <a:solidFill>
                  <a:schemeClr val="accent1"/>
                </a:solidFill>
              </a:rPr>
              <a:t>82</a:t>
            </a:r>
            <a:endParaRPr lang="en-US" sz="3800" dirty="0"/>
          </a:p>
        </p:txBody>
      </p:sp>
      <p:sp>
        <p:nvSpPr>
          <p:cNvPr id="6" name="text-996"/>
          <p:cNvSpPr txBox="1"/>
          <p:nvPr/>
        </p:nvSpPr>
        <p:spPr>
          <a:xfrm>
            <a:off x="713232" y="2560320"/>
            <a:ext cx="1828800" cy="731520"/>
          </a:xfrm>
          <a:prstGeom prst="rect">
            <a:avLst/>
          </a:prstGeom>
          <a:noFill/>
          <a:ln/>
        </p:spPr>
        <p:txBody>
          <a:bodyPr wrap="square" lIns="0" tIns="0" rIns="0" bIns="0" rtlCol="0" anchor="t"/>
          <a:lstStyle/>
          <a:p>
            <a:pPr algn="l" indent="0" marL="0">
              <a:buNone/>
            </a:pPr>
            <a:r>
              <a:rPr lang="en-US" sz="1200" dirty="0">
                <a:solidFill>
                  <a:schemeClr val="tx1"/>
                </a:solidFill>
              </a:rPr>
              <a:t>complete journeys: booked, dispatched, done and paid</a:t>
            </a:r>
            <a:endParaRPr lang="en-US" sz="1200" dirty="0"/>
          </a:p>
        </p:txBody>
      </p:sp>
      <p:sp>
        <p:nvSpPr>
          <p:cNvPr id="7" name="panel-997"/>
          <p:cNvSpPr txBox="1"/>
          <p:nvPr/>
        </p:nvSpPr>
        <p:spPr>
          <a:xfrm>
            <a:off x="2880360" y="1600200"/>
            <a:ext cx="2148840" cy="1783080"/>
          </a:xfrm>
          <a:prstGeom prst="roundRect">
            <a:avLst>
              <a:gd name="adj" fmla="val 5128"/>
            </a:avLst>
          </a:prstGeom>
          <a:solidFill>
            <a:schemeClr val="accent5">
              <a:alpha val="10000"/>
            </a:schemeClr>
          </a:solidFill>
          <a:ln/>
        </p:spPr>
        <p:txBody>
          <a:bodyPr wrap="square" lIns="76200" tIns="38100" rIns="76200" bIns="38100" rtlCol="0" anchor="ctr"/>
          <a:lstStyle/>
          <a:p>
            <a:pPr algn="ctr" indent="0" marL="0">
              <a:buNone/>
            </a:pPr>
            <a:endParaRPr lang="en-US" sz="1200" dirty="0"/>
          </a:p>
        </p:txBody>
      </p:sp>
      <p:sp>
        <p:nvSpPr>
          <p:cNvPr id="8" name="text-998"/>
          <p:cNvSpPr txBox="1"/>
          <p:nvPr/>
        </p:nvSpPr>
        <p:spPr>
          <a:xfrm>
            <a:off x="3044952" y="1764792"/>
            <a:ext cx="1828800" cy="777240"/>
          </a:xfrm>
          <a:prstGeom prst="rect">
            <a:avLst/>
          </a:prstGeom>
          <a:noFill/>
          <a:ln/>
        </p:spPr>
        <p:txBody>
          <a:bodyPr wrap="square" lIns="0" tIns="0" rIns="0" bIns="0" rtlCol="0" anchor="t"/>
          <a:lstStyle/>
          <a:p>
            <a:pPr algn="l" indent="0" marL="0">
              <a:buNone/>
            </a:pPr>
            <a:r>
              <a:rPr lang="en-US" sz="3800" b="1" dirty="0">
                <a:solidFill>
                  <a:schemeClr val="accent5"/>
                </a:solidFill>
              </a:rPr>
              <a:t>26/s</a:t>
            </a:r>
            <a:endParaRPr lang="en-US" sz="3800" dirty="0"/>
          </a:p>
        </p:txBody>
      </p:sp>
      <p:sp>
        <p:nvSpPr>
          <p:cNvPr id="9" name="text-999"/>
          <p:cNvSpPr txBox="1"/>
          <p:nvPr/>
        </p:nvSpPr>
        <p:spPr>
          <a:xfrm>
            <a:off x="3044952" y="2560320"/>
            <a:ext cx="1828800" cy="731520"/>
          </a:xfrm>
          <a:prstGeom prst="rect">
            <a:avLst/>
          </a:prstGeom>
          <a:noFill/>
          <a:ln/>
        </p:spPr>
        <p:txBody>
          <a:bodyPr wrap="square" lIns="0" tIns="0" rIns="0" bIns="0" rtlCol="0" anchor="t"/>
          <a:lstStyle/>
          <a:p>
            <a:pPr algn="l" indent="0" marL="0">
              <a:buNone/>
            </a:pPr>
            <a:r>
              <a:rPr lang="en-US" sz="1200" dirty="0">
                <a:solidFill>
                  <a:schemeClr val="tx1"/>
                </a:solidFill>
              </a:rPr>
              <a:t>requests per second through the gateway</a:t>
            </a:r>
            <a:endParaRPr lang="en-US" sz="1200" dirty="0"/>
          </a:p>
        </p:txBody>
      </p:sp>
      <p:sp>
        <p:nvSpPr>
          <p:cNvPr id="10" name="panel-1000"/>
          <p:cNvSpPr txBox="1"/>
          <p:nvPr/>
        </p:nvSpPr>
        <p:spPr>
          <a:xfrm>
            <a:off x="548640" y="3566160"/>
            <a:ext cx="2148840" cy="1783080"/>
          </a:xfrm>
          <a:prstGeom prst="roundRect">
            <a:avLst>
              <a:gd name="adj" fmla="val 5128"/>
            </a:avLst>
          </a:prstGeom>
          <a:solidFill>
            <a:schemeClr val="accent1">
              <a:alpha val="10000"/>
            </a:schemeClr>
          </a:solidFill>
          <a:ln/>
        </p:spPr>
        <p:txBody>
          <a:bodyPr wrap="square" lIns="76200" tIns="38100" rIns="76200" bIns="38100" rtlCol="0" anchor="ctr"/>
          <a:lstStyle/>
          <a:p>
            <a:pPr algn="ctr" indent="0" marL="0">
              <a:buNone/>
            </a:pPr>
            <a:endParaRPr lang="en-US" sz="1200" dirty="0"/>
          </a:p>
        </p:txBody>
      </p:sp>
      <p:sp>
        <p:nvSpPr>
          <p:cNvPr id="11" name="text-1001"/>
          <p:cNvSpPr txBox="1"/>
          <p:nvPr/>
        </p:nvSpPr>
        <p:spPr>
          <a:xfrm>
            <a:off x="713232" y="3730752"/>
            <a:ext cx="1828800" cy="777240"/>
          </a:xfrm>
          <a:prstGeom prst="rect">
            <a:avLst/>
          </a:prstGeom>
          <a:noFill/>
          <a:ln/>
        </p:spPr>
        <p:txBody>
          <a:bodyPr wrap="square" lIns="0" tIns="0" rIns="0" bIns="0" rtlCol="0" anchor="t"/>
          <a:lstStyle/>
          <a:p>
            <a:pPr algn="l" indent="0" marL="0">
              <a:buNone/>
            </a:pPr>
            <a:r>
              <a:rPr lang="en-US" sz="3800" b="1" dirty="0">
                <a:solidFill>
                  <a:schemeClr val="accent1"/>
                </a:solidFill>
              </a:rPr>
              <a:t>0.9 %</a:t>
            </a:r>
            <a:endParaRPr lang="en-US" sz="3800" dirty="0"/>
          </a:p>
        </p:txBody>
      </p:sp>
      <p:sp>
        <p:nvSpPr>
          <p:cNvPr id="12" name="text-1002"/>
          <p:cNvSpPr txBox="1"/>
          <p:nvPr/>
        </p:nvSpPr>
        <p:spPr>
          <a:xfrm>
            <a:off x="713232" y="4526280"/>
            <a:ext cx="1828800" cy="731520"/>
          </a:xfrm>
          <a:prstGeom prst="rect">
            <a:avLst/>
          </a:prstGeom>
          <a:noFill/>
          <a:ln/>
        </p:spPr>
        <p:txBody>
          <a:bodyPr wrap="square" lIns="0" tIns="0" rIns="0" bIns="0" rtlCol="0" anchor="t"/>
          <a:lstStyle/>
          <a:p>
            <a:pPr algn="l" indent="0" marL="0">
              <a:buNone/>
            </a:pPr>
            <a:r>
              <a:rPr lang="en-US" sz="1200" dirty="0">
                <a:solidFill>
                  <a:schemeClr val="tx1"/>
                </a:solidFill>
              </a:rPr>
              <a:t>unexpected statuses</a:t>
            </a:r>
            <a:endParaRPr lang="en-US" sz="1200" dirty="0"/>
          </a:p>
        </p:txBody>
      </p:sp>
      <p:sp>
        <p:nvSpPr>
          <p:cNvPr id="13" name="panel-1003"/>
          <p:cNvSpPr txBox="1"/>
          <p:nvPr/>
        </p:nvSpPr>
        <p:spPr>
          <a:xfrm>
            <a:off x="2880360" y="3566160"/>
            <a:ext cx="2148840" cy="1783080"/>
          </a:xfrm>
          <a:prstGeom prst="roundRect">
            <a:avLst>
              <a:gd name="adj" fmla="val 5128"/>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14" name="text-1004"/>
          <p:cNvSpPr txBox="1"/>
          <p:nvPr/>
        </p:nvSpPr>
        <p:spPr>
          <a:xfrm>
            <a:off x="3044952" y="3730752"/>
            <a:ext cx="1828800" cy="777240"/>
          </a:xfrm>
          <a:prstGeom prst="rect">
            <a:avLst/>
          </a:prstGeom>
          <a:noFill/>
          <a:ln/>
        </p:spPr>
        <p:txBody>
          <a:bodyPr wrap="square" lIns="0" tIns="0" rIns="0" bIns="0" rtlCol="0" anchor="t"/>
          <a:lstStyle/>
          <a:p>
            <a:pPr algn="l" indent="0" marL="0">
              <a:buNone/>
            </a:pPr>
            <a:r>
              <a:rPr lang="en-US" sz="3800" b="1" dirty="0">
                <a:solidFill>
                  <a:schemeClr val="accent3"/>
                </a:solidFill>
              </a:rPr>
              <a:t>21 ms</a:t>
            </a:r>
            <a:endParaRPr lang="en-US" sz="3800" dirty="0"/>
          </a:p>
        </p:txBody>
      </p:sp>
      <p:sp>
        <p:nvSpPr>
          <p:cNvPr id="15" name="text-1005"/>
          <p:cNvSpPr txBox="1"/>
          <p:nvPr/>
        </p:nvSpPr>
        <p:spPr>
          <a:xfrm>
            <a:off x="3044952" y="4526280"/>
            <a:ext cx="1828800" cy="731520"/>
          </a:xfrm>
          <a:prstGeom prst="rect">
            <a:avLst/>
          </a:prstGeom>
          <a:noFill/>
          <a:ln/>
        </p:spPr>
        <p:txBody>
          <a:bodyPr wrap="square" lIns="0" tIns="0" rIns="0" bIns="0" rtlCol="0" anchor="t"/>
          <a:lstStyle/>
          <a:p>
            <a:pPr algn="l" indent="0" marL="0">
              <a:buNone/>
            </a:pPr>
            <a:r>
              <a:rPr lang="en-US" sz="1200" dirty="0">
                <a:solidFill>
                  <a:schemeClr val="tx1"/>
                </a:solidFill>
              </a:rPr>
              <a:t>browse p95 latency</a:t>
            </a:r>
            <a:endParaRPr lang="en-US" sz="1200" dirty="0"/>
          </a:p>
        </p:txBody>
      </p:sp>
      <p:graphicFrame>
        <p:nvGraphicFramePr>
          <p:cNvPr id="16" name="Chart 0" descr=""/>
          <p:cNvGraphicFramePr/>
          <p:nvPr/>
        </p:nvGraphicFramePr>
        <p:xfrm>
          <a:off x="5394960" y="1463040"/>
          <a:ext cx="6263640" cy="3246120"/>
        </p:xfrm>
        <a:graphic xmlns:a="http://schemas.openxmlformats.org/drawingml/2006/main">
          <a:graphicData uri="http://schemas.openxmlformats.org/drawingml/2006/chart">
            <c:chart xmlns:c="http://schemas.openxmlformats.org/drawingml/2006/chart" r:id="rId1"/>
          </a:graphicData>
        </a:graphic>
      </p:graphicFrame>
      <p:sp>
        <p:nvSpPr>
          <p:cNvPr id="17" name="text-1006"/>
          <p:cNvSpPr txBox="1"/>
          <p:nvPr/>
        </p:nvSpPr>
        <p:spPr>
          <a:xfrm>
            <a:off x="5394960" y="4846320"/>
            <a:ext cx="6263640" cy="320040"/>
          </a:xfrm>
          <a:prstGeom prst="rect">
            <a:avLst/>
          </a:prstGeom>
          <a:noFill/>
          <a:ln/>
        </p:spPr>
        <p:txBody>
          <a:bodyPr wrap="square" lIns="0" tIns="0" rIns="0" bIns="0" rtlCol="0" anchor="t"/>
          <a:lstStyle/>
          <a:p>
            <a:pPr algn="l" indent="0" marL="0">
              <a:buNone/>
            </a:pPr>
            <a:r>
              <a:rPr lang="en-US" sz="1400" b="1" dirty="0">
                <a:solidFill>
                  <a:schemeClr val="tx1"/>
                </a:solidFill>
              </a:rPr>
              <a:t>Asynchronous hops (wall clock)</a:t>
            </a:r>
            <a:endParaRPr lang="en-US" sz="1400" dirty="0"/>
          </a:p>
        </p:txBody>
      </p:sp>
      <p:sp>
        <p:nvSpPr>
          <p:cNvPr id="18" name="box-1007"/>
          <p:cNvSpPr txBox="1"/>
          <p:nvPr/>
        </p:nvSpPr>
        <p:spPr>
          <a:xfrm>
            <a:off x="5394960" y="5230368"/>
            <a:ext cx="3044952" cy="960120"/>
          </a:xfrm>
          <a:prstGeom prst="roundRect">
            <a:avLst>
              <a:gd name="adj" fmla="val 7619"/>
            </a:avLst>
          </a:prstGeom>
          <a:solidFill>
            <a:schemeClr val="accent5">
              <a:alpha val="10000"/>
            </a:schemeClr>
          </a:solidFill>
          <a:ln/>
        </p:spPr>
        <p:txBody>
          <a:bodyPr wrap="square" lIns="127000" tIns="76200" rIns="101600" bIns="50800" rtlCol="0" anchor="t"/>
          <a:lstStyle/>
          <a:p>
            <a:pPr algn="l" indent="0" marL="0">
              <a:buNone/>
            </a:pPr>
            <a:r>
              <a:rPr lang="en-US" sz="1250" b="1" dirty="0">
                <a:solidFill>
                  <a:schemeClr val="tx1"/>
                </a:solidFill>
              </a:rPr>
              <a:t>confirm → provider accepted</a:t>
            </a:r>
            <a:endParaRPr lang="en-US" sz="1200" dirty="0"/>
          </a:p>
          <a:p>
            <a:pPr algn="l" indent="0" marL="0">
              <a:buNone/>
            </a:pPr>
            <a:r>
              <a:rPr lang="en-US" sz="1300" b="1" dirty="0">
                <a:solidFill>
                  <a:schemeClr val="accent5"/>
                </a:solidFill>
              </a:rPr>
              <a:t>p50 4.1 s  ·  p95 13.7 s</a:t>
            </a:r>
            <a:endParaRPr lang="en-US" sz="1200" dirty="0"/>
          </a:p>
        </p:txBody>
      </p:sp>
      <p:sp>
        <p:nvSpPr>
          <p:cNvPr id="19" name="box-1008"/>
          <p:cNvSpPr txBox="1"/>
          <p:nvPr/>
        </p:nvSpPr>
        <p:spPr>
          <a:xfrm>
            <a:off x="8567928" y="5230368"/>
            <a:ext cx="3044952" cy="960120"/>
          </a:xfrm>
          <a:prstGeom prst="roundRect">
            <a:avLst>
              <a:gd name="adj" fmla="val 7619"/>
            </a:avLst>
          </a:prstGeom>
          <a:solidFill>
            <a:schemeClr val="accent5">
              <a:alpha val="10000"/>
            </a:schemeClr>
          </a:solidFill>
          <a:ln/>
        </p:spPr>
        <p:txBody>
          <a:bodyPr wrap="square" lIns="127000" tIns="76200" rIns="101600" bIns="50800" rtlCol="0" anchor="t"/>
          <a:lstStyle/>
          <a:p>
            <a:pPr algn="l" indent="0" marL="0">
              <a:buNone/>
            </a:pPr>
            <a:r>
              <a:rPr lang="en-US" sz="1250" b="1" dirty="0">
                <a:solidFill>
                  <a:schemeClr val="tx1"/>
                </a:solidFill>
              </a:rPr>
              <a:t>payment → PAYMENT_COMPLETED</a:t>
            </a:r>
            <a:endParaRPr lang="en-US" sz="1200" dirty="0"/>
          </a:p>
          <a:p>
            <a:pPr algn="l" indent="0" marL="0">
              <a:buNone/>
            </a:pPr>
            <a:r>
              <a:rPr lang="en-US" sz="1300" b="1" dirty="0">
                <a:solidFill>
                  <a:schemeClr val="accent5"/>
                </a:solidFill>
              </a:rPr>
              <a:t>p50 1.0 s  ·  p95 1.1 s</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What the load test showed</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The services kept up; the limits that bit were policy and pool sizing, and two are fixed</a:t>
            </a:r>
            <a:endParaRPr lang="en-US" sz="1500" dirty="0"/>
          </a:p>
        </p:txBody>
      </p:sp>
      <p:sp>
        <p:nvSpPr>
          <p:cNvPr id="4" name="panel-1009"/>
          <p:cNvSpPr txBox="1"/>
          <p:nvPr/>
        </p:nvSpPr>
        <p:spPr>
          <a:xfrm>
            <a:off x="548640" y="1600200"/>
            <a:ext cx="5454396" cy="2148840"/>
          </a:xfrm>
          <a:prstGeom prst="roundRect">
            <a:avLst>
              <a:gd name="adj" fmla="val 4255"/>
            </a:avLst>
          </a:prstGeom>
          <a:solidFill>
            <a:schemeClr val="accent4">
              <a:alpha val="10000"/>
            </a:schemeClr>
          </a:solidFill>
          <a:ln/>
        </p:spPr>
        <p:txBody>
          <a:bodyPr wrap="square" lIns="76200" tIns="38100" rIns="76200" bIns="38100" rtlCol="0" anchor="ctr"/>
          <a:lstStyle/>
          <a:p>
            <a:pPr algn="ctr" indent="0" marL="0">
              <a:buNone/>
            </a:pPr>
            <a:endParaRPr lang="en-US" sz="1200" dirty="0"/>
          </a:p>
        </p:txBody>
      </p:sp>
      <p:sp>
        <p:nvSpPr>
          <p:cNvPr id="5" name="icon-bg-timer-1010"/>
          <p:cNvSpPr/>
          <p:nvPr/>
        </p:nvSpPr>
        <p:spPr>
          <a:xfrm>
            <a:off x="694944" y="1746504"/>
            <a:ext cx="457200" cy="457200"/>
          </a:xfrm>
          <a:prstGeom prst="ellipse">
            <a:avLst/>
          </a:prstGeom>
          <a:solidFill>
            <a:schemeClr val="accent4"/>
          </a:solidFill>
          <a:ln/>
        </p:spPr>
        <p:txBody>
          <a:bodyPr/>
          <a:p/>
        </p:txBody>
      </p:sp>
      <p:pic>
        <p:nvPicPr>
          <p:cNvPr id="6" name="icon-timer-1011" descr="timer">    </p:cNvPr>
          <p:cNvPicPr>
            <a:picLocks noChangeAspect="1"/>
          </p:cNvPicPr>
          <p:nvPr/>
        </p:nvPicPr>
        <p:blipFill>
          <a:blip r:embed="rId1"/>
          <a:stretch>
            <a:fillRect/>
          </a:stretch>
        </p:blipFill>
        <p:spPr>
          <a:xfrm>
            <a:off x="804672" y="1856232"/>
            <a:ext cx="237744" cy="237744"/>
          </a:xfrm>
          <a:prstGeom prst="rect">
            <a:avLst/>
          </a:prstGeom>
        </p:spPr>
      </p:pic>
      <p:sp>
        <p:nvSpPr>
          <p:cNvPr id="7" name="card-text-1012"/>
          <p:cNvSpPr txBox="1"/>
          <p:nvPr/>
        </p:nvSpPr>
        <p:spPr>
          <a:xfrm>
            <a:off x="694944" y="2295144"/>
            <a:ext cx="5161788" cy="136245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An idle provider costs a full offer window</a:t>
            </a:r>
            <a:endParaRPr lang="en-US" sz="1500" dirty="0"/>
          </a:p>
          <a:p>
            <a:pPr indent="0" marL="0">
              <a:spcAft>
                <a:spcPts val="200"/>
              </a:spcAft>
              <a:buNone/>
            </a:pPr>
            <a:r>
              <a:rPr lang="en-US" sz="1250" dirty="0">
                <a:solidFill>
                  <a:schemeClr val="tx1"/>
                </a:solidFill>
              </a:rPr>
              <a:t>with idle providers in range, confirm → accepted took 62 s at the median; with active ones 4.1 s. Dispatch waits the whole 60 s window per wave, and providers have no online/offline state.</a:t>
            </a:r>
            <a:endParaRPr lang="en-US" sz="1500" dirty="0"/>
          </a:p>
        </p:txBody>
      </p:sp>
      <p:sp>
        <p:nvSpPr>
          <p:cNvPr id="8" name="panel-1013"/>
          <p:cNvSpPr txBox="1"/>
          <p:nvPr/>
        </p:nvSpPr>
        <p:spPr>
          <a:xfrm>
            <a:off x="6185916" y="1600200"/>
            <a:ext cx="5454396" cy="2148840"/>
          </a:xfrm>
          <a:prstGeom prst="roundRect">
            <a:avLst>
              <a:gd name="adj" fmla="val 4255"/>
            </a:avLst>
          </a:prstGeom>
          <a:solidFill>
            <a:schemeClr val="accent2">
              <a:alpha val="10000"/>
            </a:schemeClr>
          </a:solidFill>
          <a:ln/>
        </p:spPr>
        <p:txBody>
          <a:bodyPr wrap="square" lIns="76200" tIns="38100" rIns="76200" bIns="38100" rtlCol="0" anchor="ctr"/>
          <a:lstStyle/>
          <a:p>
            <a:pPr algn="ctr" indent="0" marL="0">
              <a:buNone/>
            </a:pPr>
            <a:endParaRPr lang="en-US" sz="1200" dirty="0"/>
          </a:p>
        </p:txBody>
      </p:sp>
      <p:sp>
        <p:nvSpPr>
          <p:cNvPr id="9" name="icon-bg-db-1014"/>
          <p:cNvSpPr/>
          <p:nvPr/>
        </p:nvSpPr>
        <p:spPr>
          <a:xfrm>
            <a:off x="6332220" y="1746504"/>
            <a:ext cx="457200" cy="457200"/>
          </a:xfrm>
          <a:prstGeom prst="ellipse">
            <a:avLst/>
          </a:prstGeom>
          <a:solidFill>
            <a:schemeClr val="accent2"/>
          </a:solidFill>
          <a:ln/>
        </p:spPr>
        <p:txBody>
          <a:bodyPr/>
          <a:p/>
        </p:txBody>
      </p:sp>
      <p:pic>
        <p:nvPicPr>
          <p:cNvPr id="10" name="icon-db-1015" descr="db">    </p:cNvPr>
          <p:cNvPicPr>
            <a:picLocks noChangeAspect="1"/>
          </p:cNvPicPr>
          <p:nvPr/>
        </p:nvPicPr>
        <p:blipFill>
          <a:blip r:embed="rId2"/>
          <a:stretch>
            <a:fillRect/>
          </a:stretch>
        </p:blipFill>
        <p:spPr>
          <a:xfrm>
            <a:off x="6441948" y="1856232"/>
            <a:ext cx="237744" cy="237744"/>
          </a:xfrm>
          <a:prstGeom prst="rect">
            <a:avLst/>
          </a:prstGeom>
        </p:spPr>
      </p:pic>
      <p:sp>
        <p:nvSpPr>
          <p:cNvPr id="11" name="card-text-1016"/>
          <p:cNvSpPr txBox="1"/>
          <p:nvPr/>
        </p:nvSpPr>
        <p:spPr>
          <a:xfrm>
            <a:off x="6332220" y="2295144"/>
            <a:ext cx="5161788" cy="136245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Notifications drained their connection pool</a:t>
            </a:r>
            <a:endParaRPr lang="en-US" sz="1500" dirty="0"/>
          </a:p>
          <a:p>
            <a:pPr indent="0" marL="0">
              <a:spcAft>
                <a:spcPts val="200"/>
              </a:spcAft>
              <a:buNone/>
            </a:pPr>
            <a:r>
              <a:rPr lang="en-US" sz="1250" dirty="0">
                <a:solidFill>
                  <a:schemeClr val="tx1"/>
                </a:solidFill>
              </a:rPr>
              <a:t>the shared consumer held a connection through every SMS, email and push send, with back-off, on eleven listeners against a pool of 4. Fixed: notification-service opts out of the wrapping transaction (0 pool timeouts in the re-run).</a:t>
            </a:r>
            <a:endParaRPr lang="en-US" sz="1500" dirty="0"/>
          </a:p>
        </p:txBody>
      </p:sp>
      <p:sp>
        <p:nvSpPr>
          <p:cNvPr id="12" name="panel-1017"/>
          <p:cNvSpPr txBox="1"/>
          <p:nvPr/>
        </p:nvSpPr>
        <p:spPr>
          <a:xfrm>
            <a:off x="548640" y="3931920"/>
            <a:ext cx="5454396" cy="2148840"/>
          </a:xfrm>
          <a:prstGeom prst="roundRect">
            <a:avLst>
              <a:gd name="adj" fmla="val 4255"/>
            </a:avLst>
          </a:prstGeom>
          <a:solidFill>
            <a:schemeClr val="accent3">
              <a:alpha val="10000"/>
            </a:schemeClr>
          </a:solidFill>
          <a:ln/>
        </p:spPr>
        <p:txBody>
          <a:bodyPr wrap="square" lIns="76200" tIns="38100" rIns="76200" bIns="38100" rtlCol="0" anchor="ctr"/>
          <a:lstStyle/>
          <a:p>
            <a:pPr algn="ctr" indent="0" marL="0">
              <a:buNone/>
            </a:pPr>
            <a:endParaRPr lang="en-US" sz="1200" dirty="0"/>
          </a:p>
        </p:txBody>
      </p:sp>
      <p:sp>
        <p:nvSpPr>
          <p:cNvPr id="13" name="icon-bg-gauge-1018"/>
          <p:cNvSpPr/>
          <p:nvPr/>
        </p:nvSpPr>
        <p:spPr>
          <a:xfrm>
            <a:off x="694944" y="4078224"/>
            <a:ext cx="457200" cy="457200"/>
          </a:xfrm>
          <a:prstGeom prst="ellipse">
            <a:avLst/>
          </a:prstGeom>
          <a:solidFill>
            <a:schemeClr val="accent3"/>
          </a:solidFill>
          <a:ln/>
        </p:spPr>
        <p:txBody>
          <a:bodyPr/>
          <a:p/>
        </p:txBody>
      </p:sp>
      <p:pic>
        <p:nvPicPr>
          <p:cNvPr id="14" name="icon-gauge-1019" descr="gauge">    </p:cNvPr>
          <p:cNvPicPr>
            <a:picLocks noChangeAspect="1"/>
          </p:cNvPicPr>
          <p:nvPr/>
        </p:nvPicPr>
        <p:blipFill>
          <a:blip r:embed="rId3"/>
          <a:stretch>
            <a:fillRect/>
          </a:stretch>
        </p:blipFill>
        <p:spPr>
          <a:xfrm>
            <a:off x="804672" y="4187952"/>
            <a:ext cx="237744" cy="237744"/>
          </a:xfrm>
          <a:prstGeom prst="rect">
            <a:avLst/>
          </a:prstGeom>
        </p:spPr>
      </p:pic>
      <p:sp>
        <p:nvSpPr>
          <p:cNvPr id="15" name="card-text-1020"/>
          <p:cNvSpPr txBox="1"/>
          <p:nvPr/>
        </p:nvSpPr>
        <p:spPr>
          <a:xfrm>
            <a:off x="694944" y="4626864"/>
            <a:ext cx="5161788" cy="136245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Busy providers reach the 60-a-minute limit</a:t>
            </a:r>
            <a:endParaRPr lang="en-US" sz="1500" dirty="0"/>
          </a:p>
          <a:p>
            <a:pPr indent="0" marL="0">
              <a:spcAft>
                <a:spcPts val="200"/>
              </a:spcAft>
              <a:buNone/>
            </a:pPr>
            <a:r>
              <a:rPr lang="en-US" sz="1250" dirty="0">
                <a:solidFill>
                  <a:schemeClr val="tx1"/>
                </a:solidFill>
              </a:rPr>
              <a:t>25 refusals at minute boundaries for providers doing jobs back to back; the app uses about 40 a minute during a job. Now RATE_LIMIT_PROVIDER_PER_MINUTE; the value is a decision to make.</a:t>
            </a:r>
            <a:endParaRPr lang="en-US" sz="1500" dirty="0"/>
          </a:p>
        </p:txBody>
      </p:sp>
      <p:sp>
        <p:nvSpPr>
          <p:cNvPr id="16" name="panel-1021"/>
          <p:cNvSpPr txBox="1"/>
          <p:nvPr/>
        </p:nvSpPr>
        <p:spPr>
          <a:xfrm>
            <a:off x="6185916" y="3931920"/>
            <a:ext cx="5454396" cy="2148840"/>
          </a:xfrm>
          <a:prstGeom prst="roundRect">
            <a:avLst>
              <a:gd name="adj" fmla="val 4255"/>
            </a:avLst>
          </a:prstGeom>
          <a:solidFill>
            <a:schemeClr val="accent5">
              <a:alpha val="10000"/>
            </a:schemeClr>
          </a:solidFill>
          <a:ln/>
        </p:spPr>
        <p:txBody>
          <a:bodyPr wrap="square" lIns="76200" tIns="38100" rIns="76200" bIns="38100" rtlCol="0" anchor="ctr"/>
          <a:lstStyle/>
          <a:p>
            <a:pPr algn="ctr" indent="0" marL="0">
              <a:buNone/>
            </a:pPr>
            <a:endParaRPr lang="en-US" sz="1200" dirty="0"/>
          </a:p>
        </p:txBody>
      </p:sp>
      <p:sp>
        <p:nvSpPr>
          <p:cNvPr id="17" name="icon-bg-search-1022"/>
          <p:cNvSpPr/>
          <p:nvPr/>
        </p:nvSpPr>
        <p:spPr>
          <a:xfrm>
            <a:off x="6332220" y="4078224"/>
            <a:ext cx="457200" cy="457200"/>
          </a:xfrm>
          <a:prstGeom prst="ellipse">
            <a:avLst/>
          </a:prstGeom>
          <a:solidFill>
            <a:schemeClr val="accent5"/>
          </a:solidFill>
          <a:ln/>
        </p:spPr>
        <p:txBody>
          <a:bodyPr/>
          <a:p/>
        </p:txBody>
      </p:sp>
      <p:pic>
        <p:nvPicPr>
          <p:cNvPr id="18" name="icon-search-1023" descr="search">    </p:cNvPr>
          <p:cNvPicPr>
            <a:picLocks noChangeAspect="1"/>
          </p:cNvPicPr>
          <p:nvPr/>
        </p:nvPicPr>
        <p:blipFill>
          <a:blip r:embed="rId4"/>
          <a:stretch>
            <a:fillRect/>
          </a:stretch>
        </p:blipFill>
        <p:spPr>
          <a:xfrm>
            <a:off x="6441948" y="4187952"/>
            <a:ext cx="237744" cy="237744"/>
          </a:xfrm>
          <a:prstGeom prst="rect">
            <a:avLst/>
          </a:prstGeom>
        </p:spPr>
      </p:pic>
      <p:sp>
        <p:nvSpPr>
          <p:cNvPr id="19" name="card-text-1024"/>
          <p:cNvSpPr txBox="1"/>
          <p:nvPr/>
        </p:nvSpPr>
        <p:spPr>
          <a:xfrm>
            <a:off x="6332220" y="4626864"/>
            <a:ext cx="5161788" cy="1362456"/>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Hot polls had no index</a:t>
            </a:r>
            <a:endParaRPr lang="en-US" sz="1500" dirty="0"/>
          </a:p>
          <a:p>
            <a:pPr indent="0" marL="0">
              <a:spcAft>
                <a:spcPts val="200"/>
              </a:spcAft>
              <a:buNone/>
            </a:pPr>
            <a:r>
              <a:rPr lang="en-US" sz="1250" dirty="0">
                <a:solidFill>
                  <a:schemeClr val="tx1"/>
                </a:solidFill>
              </a:rPr>
              <a:t>every provider poll scanned booking.booking by provider_id; skill tags, earnings, reviews, complaints and invoices too. Fixed: booking V6, provider V6, rating V3, complaint V4, invoice V2</a:t>
            </a:r>
            <a:endParaRPr lang="en-US" sz="15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Gaps found and fixed</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Every call the three apps make was checked against the gateway, the controller, RBAC and the DTO</a:t>
            </a:r>
            <a:endParaRPr lang="en-US" sz="1500" dirty="0"/>
          </a:p>
        </p:txBody>
      </p:sp>
      <p:sp>
        <p:nvSpPr>
          <p:cNvPr id="4" name="icon-bg-check-1025"/>
          <p:cNvSpPr/>
          <p:nvPr/>
        </p:nvSpPr>
        <p:spPr>
          <a:xfrm>
            <a:off x="548640" y="1700784"/>
            <a:ext cx="365760" cy="365760"/>
          </a:xfrm>
          <a:prstGeom prst="ellipse">
            <a:avLst/>
          </a:prstGeom>
          <a:solidFill>
            <a:schemeClr val="accent1"/>
          </a:solidFill>
          <a:ln/>
        </p:spPr>
        <p:txBody>
          <a:bodyPr/>
          <a:p/>
        </p:txBody>
      </p:sp>
      <p:pic>
        <p:nvPicPr>
          <p:cNvPr id="5" name="icon-check-1026" descr="check">    </p:cNvPr>
          <p:cNvPicPr>
            <a:picLocks noChangeAspect="1"/>
          </p:cNvPicPr>
          <p:nvPr/>
        </p:nvPicPr>
        <p:blipFill>
          <a:blip r:embed="rId1"/>
          <a:stretch>
            <a:fillRect/>
          </a:stretch>
        </p:blipFill>
        <p:spPr>
          <a:xfrm>
            <a:off x="636422" y="1788566"/>
            <a:ext cx="190195" cy="190195"/>
          </a:xfrm>
          <a:prstGeom prst="rect">
            <a:avLst/>
          </a:prstGeom>
        </p:spPr>
      </p:pic>
      <p:sp>
        <p:nvSpPr>
          <p:cNvPr id="6" name="text-1027"/>
          <p:cNvSpPr txBox="1"/>
          <p:nvPr/>
        </p:nvSpPr>
        <p:spPr>
          <a:xfrm>
            <a:off x="1051560" y="1645920"/>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Verification documents stored</a:t>
            </a:r>
            <a:endParaRPr lang="en-US" sz="1400" dirty="0"/>
          </a:p>
          <a:p>
            <a:pPr algn="l" indent="0" marL="0">
              <a:buNone/>
            </a:pPr>
            <a:r>
              <a:rPr lang="en-US" sz="1200" dirty="0">
                <a:solidFill>
                  <a:schemeClr val="accent6"/>
                </a:solidFill>
              </a:rPr>
              <a:t>S3 or local disk; admins see them in the review dialog</a:t>
            </a:r>
            <a:endParaRPr lang="en-US" sz="1400" dirty="0"/>
          </a:p>
        </p:txBody>
      </p:sp>
      <p:sp>
        <p:nvSpPr>
          <p:cNvPr id="7" name="icon-bg-check-1028"/>
          <p:cNvSpPr/>
          <p:nvPr/>
        </p:nvSpPr>
        <p:spPr>
          <a:xfrm>
            <a:off x="548640" y="2450592"/>
            <a:ext cx="365760" cy="365760"/>
          </a:xfrm>
          <a:prstGeom prst="ellipse">
            <a:avLst/>
          </a:prstGeom>
          <a:solidFill>
            <a:schemeClr val="accent1"/>
          </a:solidFill>
          <a:ln/>
        </p:spPr>
        <p:txBody>
          <a:bodyPr/>
          <a:p/>
        </p:txBody>
      </p:sp>
      <p:pic>
        <p:nvPicPr>
          <p:cNvPr id="8" name="icon-check-1029" descr="check">    </p:cNvPr>
          <p:cNvPicPr>
            <a:picLocks noChangeAspect="1"/>
          </p:cNvPicPr>
          <p:nvPr/>
        </p:nvPicPr>
        <p:blipFill>
          <a:blip r:embed="rId2"/>
          <a:stretch>
            <a:fillRect/>
          </a:stretch>
        </p:blipFill>
        <p:spPr>
          <a:xfrm>
            <a:off x="636422" y="2538374"/>
            <a:ext cx="190195" cy="190195"/>
          </a:xfrm>
          <a:prstGeom prst="rect">
            <a:avLst/>
          </a:prstGeom>
        </p:spPr>
      </p:pic>
      <p:sp>
        <p:nvSpPr>
          <p:cNvPr id="9" name="text-1030"/>
          <p:cNvSpPr txBox="1"/>
          <p:nvPr/>
        </p:nvSpPr>
        <p:spPr>
          <a:xfrm>
            <a:off x="1051560" y="2395728"/>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Complaint refunds from the portal</a:t>
            </a:r>
            <a:endParaRPr lang="en-US" sz="1400" dirty="0"/>
          </a:p>
          <a:p>
            <a:pPr algn="l" indent="0" marL="0">
              <a:buNone/>
            </a:pPr>
            <a:r>
              <a:rPr lang="en-US" sz="1200" dirty="0">
                <a:solidFill>
                  <a:schemeClr val="accent6"/>
                </a:solidFill>
              </a:rPr>
              <a:t>Refund dialog, refund status, Re-send for an unknown outcome</a:t>
            </a:r>
            <a:endParaRPr lang="en-US" sz="1400" dirty="0"/>
          </a:p>
        </p:txBody>
      </p:sp>
      <p:sp>
        <p:nvSpPr>
          <p:cNvPr id="10" name="icon-bg-check-1031"/>
          <p:cNvSpPr/>
          <p:nvPr/>
        </p:nvSpPr>
        <p:spPr>
          <a:xfrm>
            <a:off x="548640" y="3200400"/>
            <a:ext cx="365760" cy="365760"/>
          </a:xfrm>
          <a:prstGeom prst="ellipse">
            <a:avLst/>
          </a:prstGeom>
          <a:solidFill>
            <a:schemeClr val="accent1"/>
          </a:solidFill>
          <a:ln/>
        </p:spPr>
        <p:txBody>
          <a:bodyPr/>
          <a:p/>
        </p:txBody>
      </p:sp>
      <p:pic>
        <p:nvPicPr>
          <p:cNvPr id="11" name="icon-check-1032" descr="check">    </p:cNvPr>
          <p:cNvPicPr>
            <a:picLocks noChangeAspect="1"/>
          </p:cNvPicPr>
          <p:nvPr/>
        </p:nvPicPr>
        <p:blipFill>
          <a:blip r:embed="rId3"/>
          <a:stretch>
            <a:fillRect/>
          </a:stretch>
        </p:blipFill>
        <p:spPr>
          <a:xfrm>
            <a:off x="636422" y="3288182"/>
            <a:ext cx="190195" cy="190195"/>
          </a:xfrm>
          <a:prstGeom prst="rect">
            <a:avLst/>
          </a:prstGeom>
        </p:spPr>
      </p:pic>
      <p:sp>
        <p:nvSpPr>
          <p:cNvPr id="12" name="text-1033"/>
          <p:cNvSpPr txBox="1"/>
          <p:nvPr/>
        </p:nvSpPr>
        <p:spPr>
          <a:xfrm>
            <a:off x="1051560" y="3145536"/>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Invoice download works</a:t>
            </a:r>
            <a:endParaRPr lang="en-US" sz="1400" dirty="0"/>
          </a:p>
          <a:p>
            <a:pPr algn="l" indent="0" marL="0">
              <a:buNone/>
            </a:pPr>
            <a:r>
              <a:rPr lang="en-US" sz="1200" dirty="0">
                <a:solidFill>
                  <a:schemeClr val="accent6"/>
                </a:solidFill>
              </a:rPr>
              <a:t>invoice by booking and PDF download; re-rendered when gone</a:t>
            </a:r>
            <a:endParaRPr lang="en-US" sz="1400" dirty="0"/>
          </a:p>
        </p:txBody>
      </p:sp>
      <p:sp>
        <p:nvSpPr>
          <p:cNvPr id="13" name="icon-bg-check-1034"/>
          <p:cNvSpPr/>
          <p:nvPr/>
        </p:nvSpPr>
        <p:spPr>
          <a:xfrm>
            <a:off x="548640" y="3950208"/>
            <a:ext cx="365760" cy="365760"/>
          </a:xfrm>
          <a:prstGeom prst="ellipse">
            <a:avLst/>
          </a:prstGeom>
          <a:solidFill>
            <a:schemeClr val="accent1"/>
          </a:solidFill>
          <a:ln/>
        </p:spPr>
        <p:txBody>
          <a:bodyPr/>
          <a:p/>
        </p:txBody>
      </p:sp>
      <p:pic>
        <p:nvPicPr>
          <p:cNvPr id="14" name="icon-check-1035" descr="check">    </p:cNvPr>
          <p:cNvPicPr>
            <a:picLocks noChangeAspect="1"/>
          </p:cNvPicPr>
          <p:nvPr/>
        </p:nvPicPr>
        <p:blipFill>
          <a:blip r:embed="rId4"/>
          <a:stretch>
            <a:fillRect/>
          </a:stretch>
        </p:blipFill>
        <p:spPr>
          <a:xfrm>
            <a:off x="636422" y="4037990"/>
            <a:ext cx="190195" cy="190195"/>
          </a:xfrm>
          <a:prstGeom prst="rect">
            <a:avLst/>
          </a:prstGeom>
        </p:spPr>
      </p:pic>
      <p:sp>
        <p:nvSpPr>
          <p:cNvPr id="15" name="text-1036"/>
          <p:cNvSpPr txBox="1"/>
          <p:nvPr/>
        </p:nvSpPr>
        <p:spPr>
          <a:xfrm>
            <a:off x="1051560" y="3895344"/>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Customers see job photos</a:t>
            </a:r>
            <a:endParaRPr lang="en-US" sz="1400" dirty="0"/>
          </a:p>
          <a:p>
            <a:pPr algn="l" indent="0" marL="0">
              <a:buNone/>
            </a:pPr>
            <a:r>
              <a:rPr lang="en-US" sz="1200" dirty="0">
                <a:solidFill>
                  <a:schemeClr val="accent6"/>
                </a:solidFill>
              </a:rPr>
              <a:t>before and after tiles on the booking detail</a:t>
            </a:r>
            <a:endParaRPr lang="en-US" sz="1400" dirty="0"/>
          </a:p>
        </p:txBody>
      </p:sp>
      <p:sp>
        <p:nvSpPr>
          <p:cNvPr id="16" name="icon-bg-check-1037"/>
          <p:cNvSpPr/>
          <p:nvPr/>
        </p:nvSpPr>
        <p:spPr>
          <a:xfrm>
            <a:off x="548640" y="4700016"/>
            <a:ext cx="365760" cy="365760"/>
          </a:xfrm>
          <a:prstGeom prst="ellipse">
            <a:avLst/>
          </a:prstGeom>
          <a:solidFill>
            <a:schemeClr val="accent1"/>
          </a:solidFill>
          <a:ln/>
        </p:spPr>
        <p:txBody>
          <a:bodyPr/>
          <a:p/>
        </p:txBody>
      </p:sp>
      <p:pic>
        <p:nvPicPr>
          <p:cNvPr id="17" name="icon-check-1038" descr="check">    </p:cNvPr>
          <p:cNvPicPr>
            <a:picLocks noChangeAspect="1"/>
          </p:cNvPicPr>
          <p:nvPr/>
        </p:nvPicPr>
        <p:blipFill>
          <a:blip r:embed="rId5"/>
          <a:stretch>
            <a:fillRect/>
          </a:stretch>
        </p:blipFill>
        <p:spPr>
          <a:xfrm>
            <a:off x="636422" y="4787798"/>
            <a:ext cx="190195" cy="190195"/>
          </a:xfrm>
          <a:prstGeom prst="rect">
            <a:avLst/>
          </a:prstGeom>
        </p:spPr>
      </p:pic>
      <p:sp>
        <p:nvSpPr>
          <p:cNvPr id="18" name="text-1039"/>
          <p:cNvSpPr txBox="1"/>
          <p:nvPr/>
        </p:nvSpPr>
        <p:spPr>
          <a:xfrm>
            <a:off x="1051560" y="4645152"/>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Saved addresses listed</a:t>
            </a:r>
            <a:endParaRPr lang="en-US" sz="1400" dirty="0"/>
          </a:p>
          <a:p>
            <a:pPr algn="l" indent="0" marL="0">
              <a:buNone/>
            </a:pPr>
            <a:r>
              <a:rPr lang="en-US" sz="1200" dirty="0">
                <a:solidFill>
                  <a:schemeClr val="accent6"/>
                </a:solidFill>
              </a:rPr>
              <a:t>GET /customers/{id}/addresses; the app no longer reuses deleted ones</a:t>
            </a:r>
            <a:endParaRPr lang="en-US" sz="1400" dirty="0"/>
          </a:p>
        </p:txBody>
      </p:sp>
      <p:sp>
        <p:nvSpPr>
          <p:cNvPr id="19" name="icon-bg-check-1040"/>
          <p:cNvSpPr/>
          <p:nvPr/>
        </p:nvSpPr>
        <p:spPr>
          <a:xfrm>
            <a:off x="548640" y="5449824"/>
            <a:ext cx="365760" cy="365760"/>
          </a:xfrm>
          <a:prstGeom prst="ellipse">
            <a:avLst/>
          </a:prstGeom>
          <a:solidFill>
            <a:schemeClr val="accent1"/>
          </a:solidFill>
          <a:ln/>
        </p:spPr>
        <p:txBody>
          <a:bodyPr/>
          <a:p/>
        </p:txBody>
      </p:sp>
      <p:pic>
        <p:nvPicPr>
          <p:cNvPr id="20" name="icon-check-1041" descr="check">    </p:cNvPr>
          <p:cNvPicPr>
            <a:picLocks noChangeAspect="1"/>
          </p:cNvPicPr>
          <p:nvPr/>
        </p:nvPicPr>
        <p:blipFill>
          <a:blip r:embed="rId6"/>
          <a:stretch>
            <a:fillRect/>
          </a:stretch>
        </p:blipFill>
        <p:spPr>
          <a:xfrm>
            <a:off x="636422" y="5537606"/>
            <a:ext cx="190195" cy="190195"/>
          </a:xfrm>
          <a:prstGeom prst="rect">
            <a:avLst/>
          </a:prstGeom>
        </p:spPr>
      </p:pic>
      <p:sp>
        <p:nvSpPr>
          <p:cNvPr id="21" name="text-1042"/>
          <p:cNvSpPr txBox="1"/>
          <p:nvPr/>
        </p:nvSpPr>
        <p:spPr>
          <a:xfrm>
            <a:off x="1051560" y="5394960"/>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Dead screen removed</a:t>
            </a:r>
            <a:endParaRPr lang="en-US" sz="1400" dirty="0"/>
          </a:p>
          <a:p>
            <a:pPr algn="l" indent="0" marL="0">
              <a:buNone/>
            </a:pPr>
            <a:r>
              <a:rPr lang="en-US" sz="1200" dirty="0">
                <a:solidFill>
                  <a:schemeClr val="accent6"/>
                </a:solidFill>
              </a:rPr>
              <a:t>Available Professionals called an endpoint that never existed</a:t>
            </a:r>
            <a:endParaRPr lang="en-US" sz="1400" dirty="0"/>
          </a:p>
        </p:txBody>
      </p:sp>
      <p:sp>
        <p:nvSpPr>
          <p:cNvPr id="22" name="icon-bg-check-1043"/>
          <p:cNvSpPr/>
          <p:nvPr/>
        </p:nvSpPr>
        <p:spPr>
          <a:xfrm>
            <a:off x="6245352" y="1700784"/>
            <a:ext cx="365760" cy="365760"/>
          </a:xfrm>
          <a:prstGeom prst="ellipse">
            <a:avLst/>
          </a:prstGeom>
          <a:solidFill>
            <a:schemeClr val="accent1"/>
          </a:solidFill>
          <a:ln/>
        </p:spPr>
        <p:txBody>
          <a:bodyPr/>
          <a:p/>
        </p:txBody>
      </p:sp>
      <p:pic>
        <p:nvPicPr>
          <p:cNvPr id="23" name="icon-check-1044" descr="check">    </p:cNvPr>
          <p:cNvPicPr>
            <a:picLocks noChangeAspect="1"/>
          </p:cNvPicPr>
          <p:nvPr/>
        </p:nvPicPr>
        <p:blipFill>
          <a:blip r:embed="rId7"/>
          <a:stretch>
            <a:fillRect/>
          </a:stretch>
        </p:blipFill>
        <p:spPr>
          <a:xfrm>
            <a:off x="6333134" y="1788566"/>
            <a:ext cx="190195" cy="190195"/>
          </a:xfrm>
          <a:prstGeom prst="rect">
            <a:avLst/>
          </a:prstGeom>
        </p:spPr>
      </p:pic>
      <p:sp>
        <p:nvSpPr>
          <p:cNvPr id="24" name="text-1045"/>
          <p:cNvSpPr txBox="1"/>
          <p:nvPr/>
        </p:nvSpPr>
        <p:spPr>
          <a:xfrm>
            <a:off x="6748272" y="1645920"/>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Chat reconnects safely</a:t>
            </a:r>
            <a:endParaRPr lang="en-US" sz="1400" dirty="0"/>
          </a:p>
          <a:p>
            <a:pPr algn="l" indent="0" marL="0">
              <a:buNone/>
            </a:pPr>
            <a:r>
              <a:rPr lang="en-US" sz="1200" dirty="0">
                <a:solidFill>
                  <a:schemeClr val="accent6"/>
                </a:solidFill>
              </a:rPr>
              <a:t>reloads history, refreshes an expired token, keeps undelivered text</a:t>
            </a:r>
            <a:endParaRPr lang="en-US" sz="1400" dirty="0"/>
          </a:p>
        </p:txBody>
      </p:sp>
      <p:sp>
        <p:nvSpPr>
          <p:cNvPr id="25" name="icon-bg-check-1046"/>
          <p:cNvSpPr/>
          <p:nvPr/>
        </p:nvSpPr>
        <p:spPr>
          <a:xfrm>
            <a:off x="6245352" y="2450592"/>
            <a:ext cx="365760" cy="365760"/>
          </a:xfrm>
          <a:prstGeom prst="ellipse">
            <a:avLst/>
          </a:prstGeom>
          <a:solidFill>
            <a:schemeClr val="accent1"/>
          </a:solidFill>
          <a:ln/>
        </p:spPr>
        <p:txBody>
          <a:bodyPr/>
          <a:p/>
        </p:txBody>
      </p:sp>
      <p:pic>
        <p:nvPicPr>
          <p:cNvPr id="26" name="icon-check-1047" descr="check">    </p:cNvPr>
          <p:cNvPicPr>
            <a:picLocks noChangeAspect="1"/>
          </p:cNvPicPr>
          <p:nvPr/>
        </p:nvPicPr>
        <p:blipFill>
          <a:blip r:embed="rId8"/>
          <a:stretch>
            <a:fillRect/>
          </a:stretch>
        </p:blipFill>
        <p:spPr>
          <a:xfrm>
            <a:off x="6333134" y="2538374"/>
            <a:ext cx="190195" cy="190195"/>
          </a:xfrm>
          <a:prstGeom prst="rect">
            <a:avLst/>
          </a:prstGeom>
        </p:spPr>
      </p:pic>
      <p:sp>
        <p:nvSpPr>
          <p:cNvPr id="27" name="text-1048"/>
          <p:cNvSpPr txBox="1"/>
          <p:nvPr/>
        </p:nvSpPr>
        <p:spPr>
          <a:xfrm>
            <a:off x="6748272" y="2395728"/>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Accept → job screen race</a:t>
            </a:r>
            <a:endParaRPr lang="en-US" sz="1400" dirty="0"/>
          </a:p>
          <a:p>
            <a:pPr algn="l" indent="0" marL="0">
              <a:buNone/>
            </a:pPr>
            <a:r>
              <a:rPr lang="en-US" sz="1200" dirty="0">
                <a:solidFill>
                  <a:schemeClr val="accent6"/>
                </a:solidFill>
              </a:rPr>
              <a:t>the provider app retries the first 404 while dispatch assigns</a:t>
            </a:r>
            <a:endParaRPr lang="en-US" sz="1400" dirty="0"/>
          </a:p>
        </p:txBody>
      </p:sp>
      <p:sp>
        <p:nvSpPr>
          <p:cNvPr id="28" name="icon-bg-check-1049"/>
          <p:cNvSpPr/>
          <p:nvPr/>
        </p:nvSpPr>
        <p:spPr>
          <a:xfrm>
            <a:off x="6245352" y="3200400"/>
            <a:ext cx="365760" cy="365760"/>
          </a:xfrm>
          <a:prstGeom prst="ellipse">
            <a:avLst/>
          </a:prstGeom>
          <a:solidFill>
            <a:schemeClr val="accent1"/>
          </a:solidFill>
          <a:ln/>
        </p:spPr>
        <p:txBody>
          <a:bodyPr/>
          <a:p/>
        </p:txBody>
      </p:sp>
      <p:pic>
        <p:nvPicPr>
          <p:cNvPr id="29" name="icon-check-1050" descr="check">    </p:cNvPr>
          <p:cNvPicPr>
            <a:picLocks noChangeAspect="1"/>
          </p:cNvPicPr>
          <p:nvPr/>
        </p:nvPicPr>
        <p:blipFill>
          <a:blip r:embed="rId9"/>
          <a:stretch>
            <a:fillRect/>
          </a:stretch>
        </p:blipFill>
        <p:spPr>
          <a:xfrm>
            <a:off x="6333134" y="3288182"/>
            <a:ext cx="190195" cy="190195"/>
          </a:xfrm>
          <a:prstGeom prst="rect">
            <a:avLst/>
          </a:prstGeom>
        </p:spPr>
      </p:pic>
      <p:sp>
        <p:nvSpPr>
          <p:cNvPr id="30" name="text-1051"/>
          <p:cNvSpPr txBox="1"/>
          <p:nvPr/>
        </p:nvSpPr>
        <p:spPr>
          <a:xfrm>
            <a:off x="6748272" y="3145536"/>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Provider status toggle</a:t>
            </a:r>
            <a:endParaRPr lang="en-US" sz="1400" dirty="0"/>
          </a:p>
          <a:p>
            <a:pPr algn="l" indent="0" marL="0">
              <a:buNone/>
            </a:pPr>
            <a:r>
              <a:rPr lang="en-US" sz="1200" dirty="0">
                <a:solidFill>
                  <a:schemeClr val="accent6"/>
                </a:solidFill>
              </a:rPr>
              <a:t>Suspend only offered to approved providers (no more 409s)</a:t>
            </a:r>
            <a:endParaRPr lang="en-US" sz="1400" dirty="0"/>
          </a:p>
        </p:txBody>
      </p:sp>
      <p:sp>
        <p:nvSpPr>
          <p:cNvPr id="31" name="icon-bg-check-1052"/>
          <p:cNvSpPr/>
          <p:nvPr/>
        </p:nvSpPr>
        <p:spPr>
          <a:xfrm>
            <a:off x="6245352" y="3950208"/>
            <a:ext cx="365760" cy="365760"/>
          </a:xfrm>
          <a:prstGeom prst="ellipse">
            <a:avLst/>
          </a:prstGeom>
          <a:solidFill>
            <a:schemeClr val="accent1"/>
          </a:solidFill>
          <a:ln/>
        </p:spPr>
        <p:txBody>
          <a:bodyPr/>
          <a:p/>
        </p:txBody>
      </p:sp>
      <p:pic>
        <p:nvPicPr>
          <p:cNvPr id="32" name="icon-check-1053" descr="check">    </p:cNvPr>
          <p:cNvPicPr>
            <a:picLocks noChangeAspect="1"/>
          </p:cNvPicPr>
          <p:nvPr/>
        </p:nvPicPr>
        <p:blipFill>
          <a:blip r:embed="rId10"/>
          <a:stretch>
            <a:fillRect/>
          </a:stretch>
        </p:blipFill>
        <p:spPr>
          <a:xfrm>
            <a:off x="6333134" y="4037990"/>
            <a:ext cx="190195" cy="190195"/>
          </a:xfrm>
          <a:prstGeom prst="rect">
            <a:avLst/>
          </a:prstGeom>
        </p:spPr>
      </p:pic>
      <p:sp>
        <p:nvSpPr>
          <p:cNvPr id="33" name="text-1054"/>
          <p:cNvSpPr txBox="1"/>
          <p:nvPr/>
        </p:nvSpPr>
        <p:spPr>
          <a:xfrm>
            <a:off x="6748272" y="3895344"/>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Logout through the gateway</a:t>
            </a:r>
            <a:endParaRPr lang="en-US" sz="1400" dirty="0"/>
          </a:p>
          <a:p>
            <a:pPr algn="l" indent="0" marL="0">
              <a:buNone/>
            </a:pPr>
            <a:r>
              <a:rPr lang="en-US" sz="1200" dirty="0">
                <a:solidFill>
                  <a:schemeClr val="accent6"/>
                </a:solidFill>
              </a:rPr>
              <a:t>the apps send their token, so the refresh token is revoked</a:t>
            </a:r>
            <a:endParaRPr lang="en-US" sz="1400" dirty="0"/>
          </a:p>
        </p:txBody>
      </p:sp>
      <p:sp>
        <p:nvSpPr>
          <p:cNvPr id="34" name="icon-bg-check-1055"/>
          <p:cNvSpPr/>
          <p:nvPr/>
        </p:nvSpPr>
        <p:spPr>
          <a:xfrm>
            <a:off x="6245352" y="4700016"/>
            <a:ext cx="365760" cy="365760"/>
          </a:xfrm>
          <a:prstGeom prst="ellipse">
            <a:avLst/>
          </a:prstGeom>
          <a:solidFill>
            <a:schemeClr val="accent1"/>
          </a:solidFill>
          <a:ln/>
        </p:spPr>
        <p:txBody>
          <a:bodyPr/>
          <a:p/>
        </p:txBody>
      </p:sp>
      <p:pic>
        <p:nvPicPr>
          <p:cNvPr id="35" name="icon-check-1056" descr="check">    </p:cNvPr>
          <p:cNvPicPr>
            <a:picLocks noChangeAspect="1"/>
          </p:cNvPicPr>
          <p:nvPr/>
        </p:nvPicPr>
        <p:blipFill>
          <a:blip r:embed="rId11"/>
          <a:stretch>
            <a:fillRect/>
          </a:stretch>
        </p:blipFill>
        <p:spPr>
          <a:xfrm>
            <a:off x="6333134" y="4787798"/>
            <a:ext cx="190195" cy="190195"/>
          </a:xfrm>
          <a:prstGeom prst="rect">
            <a:avLst/>
          </a:prstGeom>
        </p:spPr>
      </p:pic>
      <p:sp>
        <p:nvSpPr>
          <p:cNvPr id="36" name="text-1057"/>
          <p:cNvSpPr txBox="1"/>
          <p:nvPr/>
        </p:nvSpPr>
        <p:spPr>
          <a:xfrm>
            <a:off x="6748272" y="4645152"/>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SMTP misconfiguration retried</a:t>
            </a:r>
            <a:endParaRPr lang="en-US" sz="1400" dirty="0"/>
          </a:p>
          <a:p>
            <a:pPr algn="l" indent="0" marL="0">
              <a:buNone/>
            </a:pPr>
            <a:r>
              <a:rPr lang="en-US" sz="1200" dirty="0">
                <a:solidFill>
                  <a:schemeClr val="accent6"/>
                </a:solidFill>
              </a:rPr>
              <a:t>530 and 535 no longer drop the email as permanent</a:t>
            </a:r>
            <a:endParaRPr lang="en-US" sz="1400" dirty="0"/>
          </a:p>
        </p:txBody>
      </p:sp>
      <p:sp>
        <p:nvSpPr>
          <p:cNvPr id="37" name="icon-bg-check-1058"/>
          <p:cNvSpPr/>
          <p:nvPr/>
        </p:nvSpPr>
        <p:spPr>
          <a:xfrm>
            <a:off x="6245352" y="5449824"/>
            <a:ext cx="365760" cy="365760"/>
          </a:xfrm>
          <a:prstGeom prst="ellipse">
            <a:avLst/>
          </a:prstGeom>
          <a:solidFill>
            <a:schemeClr val="accent1"/>
          </a:solidFill>
          <a:ln/>
        </p:spPr>
        <p:txBody>
          <a:bodyPr/>
          <a:p/>
        </p:txBody>
      </p:sp>
      <p:pic>
        <p:nvPicPr>
          <p:cNvPr id="38" name="icon-check-1059" descr="check">    </p:cNvPr>
          <p:cNvPicPr>
            <a:picLocks noChangeAspect="1"/>
          </p:cNvPicPr>
          <p:nvPr/>
        </p:nvPicPr>
        <p:blipFill>
          <a:blip r:embed="rId12"/>
          <a:stretch>
            <a:fillRect/>
          </a:stretch>
        </p:blipFill>
        <p:spPr>
          <a:xfrm>
            <a:off x="6333134" y="5537606"/>
            <a:ext cx="190195" cy="190195"/>
          </a:xfrm>
          <a:prstGeom prst="rect">
            <a:avLst/>
          </a:prstGeom>
        </p:spPr>
      </p:pic>
      <p:sp>
        <p:nvSpPr>
          <p:cNvPr id="39" name="text-1060"/>
          <p:cNvSpPr txBox="1"/>
          <p:nvPr/>
        </p:nvSpPr>
        <p:spPr>
          <a:xfrm>
            <a:off x="6748272" y="5394960"/>
            <a:ext cx="4983480" cy="658368"/>
          </a:xfrm>
          <a:prstGeom prst="rect">
            <a:avLst/>
          </a:prstGeom>
          <a:noFill/>
          <a:ln/>
        </p:spPr>
        <p:txBody>
          <a:bodyPr wrap="square" lIns="0" tIns="0" rIns="0" bIns="0" rtlCol="0" anchor="t"/>
          <a:lstStyle/>
          <a:p>
            <a:pPr algn="l" indent="0" marL="0">
              <a:buNone/>
            </a:pPr>
            <a:r>
              <a:rPr lang="en-US" sz="1350" b="1" dirty="0">
                <a:solidFill>
                  <a:schemeClr val="tx1"/>
                </a:solidFill>
              </a:rPr>
              <a:t>One rating threshold</a:t>
            </a:r>
            <a:endParaRPr lang="en-US" sz="1400" dirty="0"/>
          </a:p>
          <a:p>
            <a:pPr algn="l" indent="0" marL="0">
              <a:buNone/>
            </a:pPr>
            <a:r>
              <a:rPr lang="en-US" sz="1200" dirty="0">
                <a:solidFill>
                  <a:schemeClr val="accent6"/>
                </a:solidFill>
              </a:rPr>
              <a:t>REVIEW_RATING_THRESHOLD sets both services</a:t>
            </a:r>
            <a:endParaRPr lang="en-US" sz="14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640080"/>
          </a:xfrm>
          <a:prstGeom prst="rect">
            <a:avLst/>
          </a:prstGeom>
          <a:noFill/>
          <a:ln/>
        </p:spPr>
        <p:txBody>
          <a:bodyPr wrap="square" lIns="0" tIns="0" rIns="0" bIns="0" rtlCol="0" anchor="t"/>
          <a:lstStyle/>
          <a:p>
            <a:pPr algn="l" indent="0" marL="0">
              <a:buNone/>
            </a:pPr>
            <a:r>
              <a:rPr lang="en-US" sz="3200" b="1" dirty="0">
                <a:solidFill>
                  <a:schemeClr val="tx1"/>
                </a:solidFill>
              </a:rPr>
              <a:t>How it was verified</a:t>
            </a:r>
            <a:endParaRPr lang="en-US" sz="3200" dirty="0"/>
          </a:p>
        </p:txBody>
      </p:sp>
      <p:sp>
        <p:nvSpPr>
          <p:cNvPr id="3" name="Text 0"/>
          <p:cNvSpPr/>
          <p:nvPr>
            <p:ph idx="101" type="body" hasCustomPrompt="1"/>
          </p:nvPr>
        </p:nvSpPr>
        <p:spPr>
          <a:xfrm>
            <a:off x="548640" y="960120"/>
            <a:ext cx="11091672" cy="411480"/>
          </a:xfrm>
          <a:prstGeom prst="rect">
            <a:avLst/>
          </a:prstGeom>
          <a:noFill/>
          <a:ln/>
        </p:spPr>
        <p:txBody>
          <a:bodyPr wrap="square" lIns="0" tIns="0" rIns="0" bIns="0" rtlCol="0" anchor="t"/>
          <a:lstStyle/>
          <a:p>
            <a:pPr indent="0" marL="0">
              <a:buNone/>
            </a:pPr>
            <a:r>
              <a:rPr lang="en-US" sz="1500" dirty="0">
                <a:solidFill>
                  <a:schemeClr val="accent6"/>
                </a:solidFill>
              </a:rPr>
              <a:t>The whole reactor, the three apps, a fresh stack and the booking flow, then the load test</a:t>
            </a:r>
            <a:endParaRPr lang="en-US" sz="1500" dirty="0"/>
          </a:p>
        </p:txBody>
      </p:sp>
      <p:graphicFrame>
        <p:nvGraphicFramePr>
          <p:cNvPr id="4" name="Chart 0" descr=""/>
          <p:cNvGraphicFramePr/>
          <p:nvPr/>
        </p:nvGraphicFramePr>
        <p:xfrm>
          <a:off x="548640" y="1554480"/>
          <a:ext cx="5852160" cy="4572000"/>
        </p:xfrm>
        <a:graphic xmlns:a="http://schemas.openxmlformats.org/drawingml/2006/main">
          <a:graphicData uri="http://schemas.openxmlformats.org/drawingml/2006/chart">
            <c:chart xmlns:c="http://schemas.openxmlformats.org/drawingml/2006/chart" r:id="rId1"/>
          </a:graphicData>
        </a:graphic>
      </p:graphicFrame>
      <p:sp>
        <p:nvSpPr>
          <p:cNvPr id="5" name="text-1061"/>
          <p:cNvSpPr txBox="1"/>
          <p:nvPr/>
        </p:nvSpPr>
        <p:spPr>
          <a:xfrm>
            <a:off x="6766560" y="1600200"/>
            <a:ext cx="4873752" cy="320040"/>
          </a:xfrm>
          <a:prstGeom prst="rect">
            <a:avLst/>
          </a:prstGeom>
          <a:noFill/>
          <a:ln/>
        </p:spPr>
        <p:txBody>
          <a:bodyPr wrap="square" lIns="0" tIns="0" rIns="0" bIns="0" rtlCol="0" anchor="t"/>
          <a:lstStyle/>
          <a:p>
            <a:pPr algn="l" indent="0" marL="0">
              <a:buNone/>
            </a:pPr>
            <a:r>
              <a:rPr lang="en-US" sz="1400" b="1" dirty="0">
                <a:solidFill>
                  <a:schemeClr val="tx1"/>
                </a:solidFill>
              </a:rPr>
              <a:t>New migrations applied on PostgreSQL 16</a:t>
            </a:r>
            <a:endParaRPr lang="en-US" sz="1400" dirty="0"/>
          </a:p>
        </p:txBody>
      </p:sp>
      <p:sp>
        <p:nvSpPr>
          <p:cNvPr id="6" name="chip-1062"/>
          <p:cNvSpPr txBox="1"/>
          <p:nvPr/>
        </p:nvSpPr>
        <p:spPr>
          <a:xfrm>
            <a:off x="6766560" y="201168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booking V6</a:t>
            </a:r>
            <a:endParaRPr lang="en-US" sz="1150" dirty="0"/>
          </a:p>
        </p:txBody>
      </p:sp>
      <p:sp>
        <p:nvSpPr>
          <p:cNvPr id="7" name="chip-1063"/>
          <p:cNvSpPr txBox="1"/>
          <p:nvPr/>
        </p:nvSpPr>
        <p:spPr>
          <a:xfrm>
            <a:off x="8412480" y="201168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provider V6</a:t>
            </a:r>
            <a:endParaRPr lang="en-US" sz="1150" dirty="0"/>
          </a:p>
        </p:txBody>
      </p:sp>
      <p:sp>
        <p:nvSpPr>
          <p:cNvPr id="8" name="chip-1064"/>
          <p:cNvSpPr txBox="1"/>
          <p:nvPr/>
        </p:nvSpPr>
        <p:spPr>
          <a:xfrm>
            <a:off x="10058400" y="201168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rating V3</a:t>
            </a:r>
            <a:endParaRPr lang="en-US" sz="1150" dirty="0"/>
          </a:p>
        </p:txBody>
      </p:sp>
      <p:sp>
        <p:nvSpPr>
          <p:cNvPr id="9" name="chip-1065"/>
          <p:cNvSpPr txBox="1"/>
          <p:nvPr/>
        </p:nvSpPr>
        <p:spPr>
          <a:xfrm>
            <a:off x="6766560" y="251460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complaint V4</a:t>
            </a:r>
            <a:endParaRPr lang="en-US" sz="1150" dirty="0"/>
          </a:p>
        </p:txBody>
      </p:sp>
      <p:sp>
        <p:nvSpPr>
          <p:cNvPr id="10" name="chip-1066"/>
          <p:cNvSpPr txBox="1"/>
          <p:nvPr/>
        </p:nvSpPr>
        <p:spPr>
          <a:xfrm>
            <a:off x="8412480" y="251460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invoice V2</a:t>
            </a:r>
            <a:endParaRPr lang="en-US" sz="1150" dirty="0"/>
          </a:p>
        </p:txBody>
      </p:sp>
      <p:sp>
        <p:nvSpPr>
          <p:cNvPr id="11" name="chip-1067"/>
          <p:cNvSpPr txBox="1"/>
          <p:nvPr/>
        </p:nvSpPr>
        <p:spPr>
          <a:xfrm>
            <a:off x="10058400" y="2514600"/>
            <a:ext cx="1536192" cy="411480"/>
          </a:xfrm>
          <a:prstGeom prst="roundRect">
            <a:avLst>
              <a:gd name="adj" fmla="val 17778"/>
            </a:avLst>
          </a:prstGeom>
          <a:solidFill>
            <a:schemeClr val="accent1"/>
          </a:solidFill>
          <a:ln/>
        </p:spPr>
        <p:txBody>
          <a:bodyPr wrap="square" lIns="76200" tIns="38100" rIns="76200" bIns="38100" rtlCol="0" anchor="ctr"/>
          <a:lstStyle/>
          <a:p>
            <a:pPr algn="ctr" indent="0" marL="0">
              <a:buNone/>
            </a:pPr>
            <a:r>
              <a:rPr lang="en-US" sz="1150" b="1" dirty="0">
                <a:solidFill>
                  <a:schemeClr val="bg1"/>
                </a:solidFill>
              </a:rPr>
              <a:t>verification V2</a:t>
            </a:r>
            <a:endParaRPr lang="en-US" sz="1150" dirty="0"/>
          </a:p>
        </p:txBody>
      </p:sp>
      <p:sp>
        <p:nvSpPr>
          <p:cNvPr id="12" name="icon-bg-check-1068"/>
          <p:cNvSpPr/>
          <p:nvPr/>
        </p:nvSpPr>
        <p:spPr>
          <a:xfrm>
            <a:off x="6766560" y="3017520"/>
            <a:ext cx="292608" cy="292608"/>
          </a:xfrm>
          <a:prstGeom prst="ellipse">
            <a:avLst/>
          </a:prstGeom>
          <a:solidFill>
            <a:schemeClr val="accent1"/>
          </a:solidFill>
          <a:ln/>
        </p:spPr>
        <p:txBody>
          <a:bodyPr/>
          <a:p/>
        </p:txBody>
      </p:sp>
      <p:pic>
        <p:nvPicPr>
          <p:cNvPr id="13" name="icon-check-1069" descr="check">    </p:cNvPr>
          <p:cNvPicPr>
            <a:picLocks noChangeAspect="1"/>
          </p:cNvPicPr>
          <p:nvPr/>
        </p:nvPicPr>
        <p:blipFill>
          <a:blip r:embed="rId2"/>
          <a:stretch>
            <a:fillRect/>
          </a:stretch>
        </p:blipFill>
        <p:spPr>
          <a:xfrm>
            <a:off x="6836786" y="3087746"/>
            <a:ext cx="152156" cy="152156"/>
          </a:xfrm>
          <a:prstGeom prst="rect">
            <a:avLst/>
          </a:prstGeom>
        </p:spPr>
      </p:pic>
      <p:sp>
        <p:nvSpPr>
          <p:cNvPr id="14" name="text-1070"/>
          <p:cNvSpPr txBox="1"/>
          <p:nvPr/>
        </p:nvSpPr>
        <p:spPr>
          <a:xfrm>
            <a:off x="7178040" y="2990088"/>
            <a:ext cx="4462272" cy="347472"/>
          </a:xfrm>
          <a:prstGeom prst="rect">
            <a:avLst/>
          </a:prstGeom>
          <a:noFill/>
          <a:ln/>
        </p:spPr>
        <p:txBody>
          <a:bodyPr wrap="square" lIns="0" tIns="0" rIns="0" bIns="0" rtlCol="0" anchor="ctr"/>
          <a:lstStyle/>
          <a:p>
            <a:pPr algn="l" indent="0" marL="0">
              <a:buNone/>
            </a:pPr>
            <a:r>
              <a:rPr lang="en-US" sz="1200" dirty="0">
                <a:solidFill>
                  <a:schemeClr val="tx1"/>
                </a:solidFill>
              </a:rPr>
              <a:t>booking flow end to end: 48 of 48 checks</a:t>
            </a:r>
            <a:endParaRPr lang="en-US" sz="1200" dirty="0"/>
          </a:p>
        </p:txBody>
      </p:sp>
      <p:sp>
        <p:nvSpPr>
          <p:cNvPr id="15" name="icon-bg-check-1071"/>
          <p:cNvSpPr/>
          <p:nvPr/>
        </p:nvSpPr>
        <p:spPr>
          <a:xfrm>
            <a:off x="6766560" y="3419856"/>
            <a:ext cx="292608" cy="292608"/>
          </a:xfrm>
          <a:prstGeom prst="ellipse">
            <a:avLst/>
          </a:prstGeom>
          <a:solidFill>
            <a:schemeClr val="accent1"/>
          </a:solidFill>
          <a:ln/>
        </p:spPr>
        <p:txBody>
          <a:bodyPr/>
          <a:p/>
        </p:txBody>
      </p:sp>
      <p:pic>
        <p:nvPicPr>
          <p:cNvPr id="16" name="icon-check-1072" descr="check">    </p:cNvPr>
          <p:cNvPicPr>
            <a:picLocks noChangeAspect="1"/>
          </p:cNvPicPr>
          <p:nvPr/>
        </p:nvPicPr>
        <p:blipFill>
          <a:blip r:embed="rId3"/>
          <a:stretch>
            <a:fillRect/>
          </a:stretch>
        </p:blipFill>
        <p:spPr>
          <a:xfrm>
            <a:off x="6836786" y="3490082"/>
            <a:ext cx="152156" cy="152156"/>
          </a:xfrm>
          <a:prstGeom prst="rect">
            <a:avLst/>
          </a:prstGeom>
        </p:spPr>
      </p:pic>
      <p:sp>
        <p:nvSpPr>
          <p:cNvPr id="17" name="text-1073"/>
          <p:cNvSpPr txBox="1"/>
          <p:nvPr/>
        </p:nvSpPr>
        <p:spPr>
          <a:xfrm>
            <a:off x="7178040" y="3392424"/>
            <a:ext cx="4462272" cy="347472"/>
          </a:xfrm>
          <a:prstGeom prst="rect">
            <a:avLst/>
          </a:prstGeom>
          <a:noFill/>
          <a:ln/>
        </p:spPr>
        <p:txBody>
          <a:bodyPr wrap="square" lIns="0" tIns="0" rIns="0" bIns="0" rtlCol="0" anchor="ctr"/>
          <a:lstStyle/>
          <a:p>
            <a:pPr algn="l" indent="0" marL="0">
              <a:buNone/>
            </a:pPr>
            <a:r>
              <a:rPr lang="en-US" sz="1200" dirty="0">
                <a:solidFill>
                  <a:schemeClr val="tx1"/>
                </a:solidFill>
              </a:rPr>
              <a:t>new endpoints via the gateway: 11 of 11</a:t>
            </a:r>
            <a:endParaRPr lang="en-US" sz="1200" dirty="0"/>
          </a:p>
        </p:txBody>
      </p:sp>
      <p:sp>
        <p:nvSpPr>
          <p:cNvPr id="18" name="icon-bg-check-1074"/>
          <p:cNvSpPr/>
          <p:nvPr/>
        </p:nvSpPr>
        <p:spPr>
          <a:xfrm>
            <a:off x="6766560" y="3822192"/>
            <a:ext cx="292608" cy="292608"/>
          </a:xfrm>
          <a:prstGeom prst="ellipse">
            <a:avLst/>
          </a:prstGeom>
          <a:solidFill>
            <a:schemeClr val="accent1"/>
          </a:solidFill>
          <a:ln/>
        </p:spPr>
        <p:txBody>
          <a:bodyPr/>
          <a:p/>
        </p:txBody>
      </p:sp>
      <p:pic>
        <p:nvPicPr>
          <p:cNvPr id="19" name="icon-check-1075" descr="check">    </p:cNvPr>
          <p:cNvPicPr>
            <a:picLocks noChangeAspect="1"/>
          </p:cNvPicPr>
          <p:nvPr/>
        </p:nvPicPr>
        <p:blipFill>
          <a:blip r:embed="rId4"/>
          <a:stretch>
            <a:fillRect/>
          </a:stretch>
        </p:blipFill>
        <p:spPr>
          <a:xfrm>
            <a:off x="6836786" y="3892418"/>
            <a:ext cx="152156" cy="152156"/>
          </a:xfrm>
          <a:prstGeom prst="rect">
            <a:avLst/>
          </a:prstGeom>
        </p:spPr>
      </p:pic>
      <p:sp>
        <p:nvSpPr>
          <p:cNvPr id="20" name="text-1076"/>
          <p:cNvSpPr txBox="1"/>
          <p:nvPr/>
        </p:nvSpPr>
        <p:spPr>
          <a:xfrm>
            <a:off x="7178040" y="3794760"/>
            <a:ext cx="4462272" cy="347472"/>
          </a:xfrm>
          <a:prstGeom prst="rect">
            <a:avLst/>
          </a:prstGeom>
          <a:noFill/>
          <a:ln/>
        </p:spPr>
        <p:txBody>
          <a:bodyPr wrap="square" lIns="0" tIns="0" rIns="0" bIns="0" rtlCol="0" anchor="ctr"/>
          <a:lstStyle/>
          <a:p>
            <a:pPr algn="l" indent="0" marL="0">
              <a:buNone/>
            </a:pPr>
            <a:r>
              <a:rPr lang="en-US" sz="1200" dirty="0">
                <a:solidFill>
                  <a:schemeClr val="tx1"/>
                </a:solidFill>
              </a:rPr>
              <a:t>three apps: tsc and eslint clean</a:t>
            </a:r>
            <a:endParaRPr lang="en-US" sz="1200" dirty="0"/>
          </a:p>
        </p:txBody>
      </p:sp>
      <p:sp>
        <p:nvSpPr>
          <p:cNvPr id="21" name="icon-bg-check-1077"/>
          <p:cNvSpPr/>
          <p:nvPr/>
        </p:nvSpPr>
        <p:spPr>
          <a:xfrm>
            <a:off x="6766560" y="4224528"/>
            <a:ext cx="292608" cy="292608"/>
          </a:xfrm>
          <a:prstGeom prst="ellipse">
            <a:avLst/>
          </a:prstGeom>
          <a:solidFill>
            <a:schemeClr val="accent1"/>
          </a:solidFill>
          <a:ln/>
        </p:spPr>
        <p:txBody>
          <a:bodyPr/>
          <a:p/>
        </p:txBody>
      </p:sp>
      <p:pic>
        <p:nvPicPr>
          <p:cNvPr id="22" name="icon-check-1078" descr="check">    </p:cNvPr>
          <p:cNvPicPr>
            <a:picLocks noChangeAspect="1"/>
          </p:cNvPicPr>
          <p:nvPr/>
        </p:nvPicPr>
        <p:blipFill>
          <a:blip r:embed="rId5"/>
          <a:stretch>
            <a:fillRect/>
          </a:stretch>
        </p:blipFill>
        <p:spPr>
          <a:xfrm>
            <a:off x="6836786" y="4294754"/>
            <a:ext cx="152156" cy="152156"/>
          </a:xfrm>
          <a:prstGeom prst="rect">
            <a:avLst/>
          </a:prstGeom>
        </p:spPr>
      </p:pic>
      <p:sp>
        <p:nvSpPr>
          <p:cNvPr id="23" name="text-1079"/>
          <p:cNvSpPr txBox="1"/>
          <p:nvPr/>
        </p:nvSpPr>
        <p:spPr>
          <a:xfrm>
            <a:off x="7178040" y="4197096"/>
            <a:ext cx="4462272" cy="347472"/>
          </a:xfrm>
          <a:prstGeom prst="rect">
            <a:avLst/>
          </a:prstGeom>
          <a:noFill/>
          <a:ln/>
        </p:spPr>
        <p:txBody>
          <a:bodyPr wrap="square" lIns="0" tIns="0" rIns="0" bIns="0" rtlCol="0" anchor="ctr"/>
          <a:lstStyle/>
          <a:p>
            <a:pPr algn="l" indent="0" marL="0">
              <a:buNone/>
            </a:pPr>
            <a:r>
              <a:rPr lang="en-US" sz="1200" dirty="0">
                <a:solidFill>
                  <a:schemeClr val="tx1"/>
                </a:solidFill>
              </a:rPr>
              <a:t>guardrails: 2,012 of 2,012 checks</a:t>
            </a:r>
            <a:endParaRPr lang="en-US" sz="1200" dirty="0"/>
          </a:p>
        </p:txBody>
      </p:sp>
      <p:sp>
        <p:nvSpPr>
          <p:cNvPr id="24" name="text-1080"/>
          <p:cNvSpPr txBox="1"/>
          <p:nvPr/>
        </p:nvSpPr>
        <p:spPr>
          <a:xfrm>
            <a:off x="6766560" y="4736592"/>
            <a:ext cx="4873752" cy="320040"/>
          </a:xfrm>
          <a:prstGeom prst="rect">
            <a:avLst/>
          </a:prstGeom>
          <a:noFill/>
          <a:ln/>
        </p:spPr>
        <p:txBody>
          <a:bodyPr wrap="square" lIns="0" tIns="0" rIns="0" bIns="0" rtlCol="0" anchor="t"/>
          <a:lstStyle/>
          <a:p>
            <a:pPr algn="l" indent="0" marL="0">
              <a:buNone/>
            </a:pPr>
            <a:r>
              <a:rPr lang="en-US" sz="1400" b="1" dirty="0">
                <a:solidFill>
                  <a:schemeClr val="accent4"/>
                </a:solidFill>
              </a:rPr>
              <a:t>Not verified</a:t>
            </a:r>
            <a:endParaRPr lang="en-US" sz="1400" dirty="0"/>
          </a:p>
        </p:txBody>
      </p:sp>
      <p:sp>
        <p:nvSpPr>
          <p:cNvPr id="25" name="icon-bg-x-1081"/>
          <p:cNvSpPr/>
          <p:nvPr/>
        </p:nvSpPr>
        <p:spPr>
          <a:xfrm>
            <a:off x="6766560" y="5148072"/>
            <a:ext cx="292608" cy="292608"/>
          </a:xfrm>
          <a:prstGeom prst="ellipse">
            <a:avLst/>
          </a:prstGeom>
          <a:solidFill>
            <a:schemeClr val="accent4"/>
          </a:solidFill>
          <a:ln/>
        </p:spPr>
        <p:txBody>
          <a:bodyPr/>
          <a:p/>
        </p:txBody>
      </p:sp>
      <p:pic>
        <p:nvPicPr>
          <p:cNvPr id="26" name="icon-x-1082" descr="x">    </p:cNvPr>
          <p:cNvPicPr>
            <a:picLocks noChangeAspect="1"/>
          </p:cNvPicPr>
          <p:nvPr/>
        </p:nvPicPr>
        <p:blipFill>
          <a:blip r:embed="rId6"/>
          <a:stretch>
            <a:fillRect/>
          </a:stretch>
        </p:blipFill>
        <p:spPr>
          <a:xfrm>
            <a:off x="6836786" y="5218298"/>
            <a:ext cx="152156" cy="152156"/>
          </a:xfrm>
          <a:prstGeom prst="rect">
            <a:avLst/>
          </a:prstGeom>
        </p:spPr>
      </p:pic>
      <p:sp>
        <p:nvSpPr>
          <p:cNvPr id="27" name="text-1083"/>
          <p:cNvSpPr txBox="1"/>
          <p:nvPr/>
        </p:nvSpPr>
        <p:spPr>
          <a:xfrm>
            <a:off x="7178040" y="5120640"/>
            <a:ext cx="4462272" cy="347472"/>
          </a:xfrm>
          <a:prstGeom prst="rect">
            <a:avLst/>
          </a:prstGeom>
          <a:noFill/>
          <a:ln/>
        </p:spPr>
        <p:txBody>
          <a:bodyPr wrap="square" lIns="0" tIns="0" rIns="0" bIns="0" rtlCol="0" anchor="ctr"/>
          <a:lstStyle/>
          <a:p>
            <a:pPr algn="l" indent="0" marL="0">
              <a:buNone/>
            </a:pPr>
            <a:r>
              <a:rPr lang="en-US" sz="1200" dirty="0">
                <a:solidFill>
                  <a:schemeClr val="tx1"/>
                </a:solidFill>
              </a:rPr>
              <a:t>real S3 and SES; two replicas of jobs-app</a:t>
            </a:r>
            <a:endParaRPr lang="en-US" sz="1200" dirty="0"/>
          </a:p>
        </p:txBody>
      </p:sp>
      <p:sp>
        <p:nvSpPr>
          <p:cNvPr id="28" name="icon-bg-x-1084"/>
          <p:cNvSpPr/>
          <p:nvPr/>
        </p:nvSpPr>
        <p:spPr>
          <a:xfrm>
            <a:off x="6766560" y="5550408"/>
            <a:ext cx="292608" cy="292608"/>
          </a:xfrm>
          <a:prstGeom prst="ellipse">
            <a:avLst/>
          </a:prstGeom>
          <a:solidFill>
            <a:schemeClr val="accent4"/>
          </a:solidFill>
          <a:ln/>
        </p:spPr>
        <p:txBody>
          <a:bodyPr/>
          <a:p/>
        </p:txBody>
      </p:sp>
      <p:pic>
        <p:nvPicPr>
          <p:cNvPr id="29" name="icon-x-1085" descr="x">    </p:cNvPr>
          <p:cNvPicPr>
            <a:picLocks noChangeAspect="1"/>
          </p:cNvPicPr>
          <p:nvPr/>
        </p:nvPicPr>
        <p:blipFill>
          <a:blip r:embed="rId7"/>
          <a:stretch>
            <a:fillRect/>
          </a:stretch>
        </p:blipFill>
        <p:spPr>
          <a:xfrm>
            <a:off x="6836786" y="5620634"/>
            <a:ext cx="152156" cy="152156"/>
          </a:xfrm>
          <a:prstGeom prst="rect">
            <a:avLst/>
          </a:prstGeom>
        </p:spPr>
      </p:pic>
      <p:sp>
        <p:nvSpPr>
          <p:cNvPr id="30" name="text-1086"/>
          <p:cNvSpPr txBox="1"/>
          <p:nvPr/>
        </p:nvSpPr>
        <p:spPr>
          <a:xfrm>
            <a:off x="7178040" y="5522976"/>
            <a:ext cx="4462272" cy="347472"/>
          </a:xfrm>
          <a:prstGeom prst="rect">
            <a:avLst/>
          </a:prstGeom>
          <a:noFill/>
          <a:ln/>
        </p:spPr>
        <p:txBody>
          <a:bodyPr wrap="square" lIns="0" tIns="0" rIns="0" bIns="0" rtlCol="0" anchor="ctr"/>
          <a:lstStyle/>
          <a:p>
            <a:pPr algn="l" indent="0" marL="0">
              <a:buNone/>
            </a:pPr>
            <a:r>
              <a:rPr lang="en-US" sz="1200" dirty="0">
                <a:solidFill>
                  <a:schemeClr val="tx1"/>
                </a:solidFill>
              </a:rPr>
              <a:t>the apps in a browser; frontend unit tests</a:t>
            </a:r>
            <a:endParaRPr lang="en-US" sz="1200" dirty="0"/>
          </a:p>
        </p:txBody>
      </p:sp>
      <p:sp>
        <p:nvSpPr>
          <p:cNvPr id="31" name="icon-bg-x-1087"/>
          <p:cNvSpPr/>
          <p:nvPr/>
        </p:nvSpPr>
        <p:spPr>
          <a:xfrm>
            <a:off x="6766560" y="5952744"/>
            <a:ext cx="292608" cy="292608"/>
          </a:xfrm>
          <a:prstGeom prst="ellipse">
            <a:avLst/>
          </a:prstGeom>
          <a:solidFill>
            <a:schemeClr val="accent4"/>
          </a:solidFill>
          <a:ln/>
        </p:spPr>
        <p:txBody>
          <a:bodyPr/>
          <a:p/>
        </p:txBody>
      </p:sp>
      <p:pic>
        <p:nvPicPr>
          <p:cNvPr id="32" name="icon-x-1088" descr="x">    </p:cNvPr>
          <p:cNvPicPr>
            <a:picLocks noChangeAspect="1"/>
          </p:cNvPicPr>
          <p:nvPr/>
        </p:nvPicPr>
        <p:blipFill>
          <a:blip r:embed="rId8"/>
          <a:stretch>
            <a:fillRect/>
          </a:stretch>
        </p:blipFill>
        <p:spPr>
          <a:xfrm>
            <a:off x="6836786" y="6022970"/>
            <a:ext cx="152156" cy="152156"/>
          </a:xfrm>
          <a:prstGeom prst="rect">
            <a:avLst/>
          </a:prstGeom>
        </p:spPr>
      </p:pic>
      <p:sp>
        <p:nvSpPr>
          <p:cNvPr id="33" name="text-1089"/>
          <p:cNvSpPr txBox="1"/>
          <p:nvPr/>
        </p:nvSpPr>
        <p:spPr>
          <a:xfrm>
            <a:off x="7178040" y="5925312"/>
            <a:ext cx="4462272" cy="347472"/>
          </a:xfrm>
          <a:prstGeom prst="rect">
            <a:avLst/>
          </a:prstGeom>
          <a:noFill/>
          <a:ln/>
        </p:spPr>
        <p:txBody>
          <a:bodyPr wrap="square" lIns="0" tIns="0" rIns="0" bIns="0" rtlCol="0" anchor="ctr"/>
          <a:lstStyle/>
          <a:p>
            <a:pPr algn="l" indent="0" marL="0">
              <a:buNone/>
            </a:pPr>
            <a:r>
              <a:rPr lang="en-US" sz="1200" dirty="0">
                <a:solidFill>
                  <a:schemeClr val="tx1"/>
                </a:solidFill>
              </a:rPr>
              <a:t>terraform plan</a:t>
            </a:r>
            <a:endParaRPr lang="en-US" sz="12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685800"/>
          </a:xfrm>
          <a:prstGeom prst="rect">
            <a:avLst/>
          </a:prstGeom>
          <a:noFill/>
          <a:ln/>
        </p:spPr>
        <p:txBody>
          <a:bodyPr wrap="square" lIns="0" tIns="0" rIns="0" bIns="0" rtlCol="0" anchor="t"/>
          <a:lstStyle/>
          <a:p>
            <a:pPr algn="l" indent="0" marL="0">
              <a:buNone/>
            </a:pPr>
            <a:r>
              <a:rPr lang="en-US" sz="3200" b="1" dirty="0">
                <a:solidFill>
                  <a:schemeClr val="bg1"/>
                </a:solidFill>
              </a:rPr>
              <a:t>Still open: recommended next steps</a:t>
            </a:r>
            <a:endParaRPr lang="en-US" sz="3200" dirty="0"/>
          </a:p>
        </p:txBody>
      </p:sp>
      <p:sp>
        <p:nvSpPr>
          <p:cNvPr id="3" name="Text 0"/>
          <p:cNvSpPr/>
          <p:nvPr>
            <p:ph idx="101" type="body" hasCustomPrompt="1"/>
          </p:nvPr>
        </p:nvSpPr>
        <p:spPr>
          <a:xfrm>
            <a:off x="548640" y="1051560"/>
            <a:ext cx="11091672" cy="411480"/>
          </a:xfrm>
          <a:prstGeom prst="rect">
            <a:avLst/>
          </a:prstGeom>
          <a:noFill/>
          <a:ln/>
        </p:spPr>
        <p:txBody>
          <a:bodyPr wrap="square" lIns="0" tIns="0" rIns="0" bIns="0" rtlCol="0" anchor="t"/>
          <a:lstStyle/>
          <a:p>
            <a:pPr indent="0" marL="0">
              <a:buNone/>
            </a:pPr>
            <a:r>
              <a:rPr lang="en-US" sz="1500" dirty="0">
                <a:solidFill>
                  <a:schemeClr val="bg2"/>
                </a:solidFill>
              </a:rPr>
              <a:t>What is left after this review, roughly by impact</a:t>
            </a:r>
            <a:endParaRPr lang="en-US" sz="1500" dirty="0"/>
          </a:p>
        </p:txBody>
      </p:sp>
      <p:sp>
        <p:nvSpPr>
          <p:cNvPr id="4" name="box-1090"/>
          <p:cNvSpPr txBox="1"/>
          <p:nvPr/>
        </p:nvSpPr>
        <p:spPr>
          <a:xfrm>
            <a:off x="548640" y="1691640"/>
            <a:ext cx="5454396" cy="932688"/>
          </a:xfrm>
          <a:prstGeom prst="roundRect">
            <a:avLst>
              <a:gd name="adj" fmla="val 7843"/>
            </a:avLst>
          </a:prstGeom>
          <a:solidFill>
            <a:schemeClr val="bg1">
              <a:alpha val="10000"/>
            </a:schemeClr>
          </a:solidFill>
          <a:ln w="12700">
            <a:solidFill>
              <a:schemeClr val="bg2">
                <a:alpha val="30000"/>
              </a:schemeClr>
            </a:solidFill>
            <a:prstDash val="solid"/>
          </a:ln>
        </p:spPr>
        <p:txBody>
          <a:bodyPr wrap="square" lIns="76200" tIns="38100" rIns="76200" bIns="38100" rtlCol="0" anchor="ctr"/>
          <a:lstStyle/>
          <a:p>
            <a:pPr algn="ctr" indent="0" marL="0">
              <a:buNone/>
            </a:pPr>
            <a:endParaRPr lang="en-US" sz="1200" dirty="0"/>
          </a:p>
        </p:txBody>
      </p:sp>
      <p:sp>
        <p:nvSpPr>
          <p:cNvPr id="5" name="text-1091"/>
          <p:cNvSpPr txBox="1"/>
          <p:nvPr/>
        </p:nvSpPr>
        <p:spPr>
          <a:xfrm>
            <a:off x="731520" y="1874520"/>
            <a:ext cx="548640" cy="548640"/>
          </a:xfrm>
          <a:prstGeom prst="rect">
            <a:avLst/>
          </a:prstGeom>
          <a:noFill/>
          <a:ln/>
        </p:spPr>
        <p:txBody>
          <a:bodyPr wrap="square" lIns="0" tIns="0" rIns="0" bIns="0" rtlCol="0" anchor="t"/>
          <a:lstStyle/>
          <a:p>
            <a:pPr algn="l" indent="0" marL="0">
              <a:buNone/>
            </a:pPr>
            <a:r>
              <a:rPr lang="en-US" sz="2200" b="1" dirty="0">
                <a:solidFill>
                  <a:schemeClr val="bg2"/>
                </a:solidFill>
              </a:rPr>
              <a:t>01</a:t>
            </a:r>
            <a:endParaRPr lang="en-US" sz="2200" dirty="0"/>
          </a:p>
        </p:txBody>
      </p:sp>
      <p:sp>
        <p:nvSpPr>
          <p:cNvPr id="6" name="text-1092"/>
          <p:cNvSpPr txBox="1"/>
          <p:nvPr/>
        </p:nvSpPr>
        <p:spPr>
          <a:xfrm>
            <a:off x="1371600" y="1819656"/>
            <a:ext cx="4480560" cy="731520"/>
          </a:xfrm>
          <a:prstGeom prst="rect">
            <a:avLst/>
          </a:prstGeom>
          <a:noFill/>
          <a:ln/>
        </p:spPr>
        <p:txBody>
          <a:bodyPr wrap="square" lIns="0" tIns="0" rIns="0" bIns="0" rtlCol="0" anchor="t"/>
          <a:lstStyle/>
          <a:p>
            <a:pPr algn="l" indent="0" marL="0">
              <a:buNone/>
            </a:pPr>
            <a:r>
              <a:rPr lang="en-US" sz="1450" b="1" dirty="0">
                <a:solidFill>
                  <a:schemeClr val="bg1"/>
                </a:solidFill>
              </a:rPr>
              <a:t>Rotate the leaked JWT secret</a:t>
            </a:r>
            <a:endParaRPr lang="en-US" sz="1400" dirty="0"/>
          </a:p>
          <a:p>
            <a:pPr algn="l" indent="0" marL="0">
              <a:buNone/>
            </a:pPr>
            <a:r>
              <a:rPr lang="en-US" sz="1200" dirty="0">
                <a:solidFill>
                  <a:schemeClr val="bg2"/>
                </a:solidFill>
              </a:rPr>
              <a:t>every .env and environment still set to the old .env.example value</a:t>
            </a:r>
            <a:endParaRPr lang="en-US" sz="1400" dirty="0"/>
          </a:p>
        </p:txBody>
      </p:sp>
      <p:sp>
        <p:nvSpPr>
          <p:cNvPr id="7" name="box-1093"/>
          <p:cNvSpPr txBox="1"/>
          <p:nvPr/>
        </p:nvSpPr>
        <p:spPr>
          <a:xfrm>
            <a:off x="6185916" y="1691640"/>
            <a:ext cx="5454396" cy="932688"/>
          </a:xfrm>
          <a:prstGeom prst="roundRect">
            <a:avLst>
              <a:gd name="adj" fmla="val 7843"/>
            </a:avLst>
          </a:prstGeom>
          <a:solidFill>
            <a:schemeClr val="bg1">
              <a:alpha val="10000"/>
            </a:schemeClr>
          </a:solidFill>
          <a:ln w="12700">
            <a:solidFill>
              <a:schemeClr val="bg2">
                <a:alpha val="30000"/>
              </a:schemeClr>
            </a:solidFill>
            <a:prstDash val="solid"/>
          </a:ln>
        </p:spPr>
        <p:txBody>
          <a:bodyPr wrap="square" lIns="76200" tIns="38100" rIns="76200" bIns="38100" rtlCol="0" anchor="ctr"/>
          <a:lstStyle/>
          <a:p>
            <a:pPr algn="ctr" indent="0" marL="0">
              <a:buNone/>
            </a:pPr>
            <a:endParaRPr lang="en-US" sz="1200" dirty="0"/>
          </a:p>
        </p:txBody>
      </p:sp>
      <p:sp>
        <p:nvSpPr>
          <p:cNvPr id="8" name="text-1094"/>
          <p:cNvSpPr txBox="1"/>
          <p:nvPr/>
        </p:nvSpPr>
        <p:spPr>
          <a:xfrm>
            <a:off x="6368796" y="1874520"/>
            <a:ext cx="548640" cy="548640"/>
          </a:xfrm>
          <a:prstGeom prst="rect">
            <a:avLst/>
          </a:prstGeom>
          <a:noFill/>
          <a:ln/>
        </p:spPr>
        <p:txBody>
          <a:bodyPr wrap="square" lIns="0" tIns="0" rIns="0" bIns="0" rtlCol="0" anchor="t"/>
          <a:lstStyle/>
          <a:p>
            <a:pPr algn="l" indent="0" marL="0">
              <a:buNone/>
            </a:pPr>
            <a:r>
              <a:rPr lang="en-US" sz="2200" b="1" dirty="0">
                <a:solidFill>
                  <a:schemeClr val="bg2"/>
                </a:solidFill>
              </a:rPr>
              <a:t>02</a:t>
            </a:r>
            <a:endParaRPr lang="en-US" sz="2200" dirty="0"/>
          </a:p>
        </p:txBody>
      </p:sp>
      <p:sp>
        <p:nvSpPr>
          <p:cNvPr id="9" name="text-1095"/>
          <p:cNvSpPr txBox="1"/>
          <p:nvPr/>
        </p:nvSpPr>
        <p:spPr>
          <a:xfrm>
            <a:off x="7008876" y="1819656"/>
            <a:ext cx="4480560" cy="731520"/>
          </a:xfrm>
          <a:prstGeom prst="rect">
            <a:avLst/>
          </a:prstGeom>
          <a:noFill/>
          <a:ln/>
        </p:spPr>
        <p:txBody>
          <a:bodyPr wrap="square" lIns="0" tIns="0" rIns="0" bIns="0" rtlCol="0" anchor="t"/>
          <a:lstStyle/>
          <a:p>
            <a:pPr algn="l" indent="0" marL="0">
              <a:buNone/>
            </a:pPr>
            <a:r>
              <a:rPr lang="en-US" sz="1450" b="1" dirty="0">
                <a:solidFill>
                  <a:schemeClr val="bg1"/>
                </a:solidFill>
              </a:rPr>
              <a:t>Set the deploy prerequisites</a:t>
            </a:r>
            <a:endParaRPr lang="en-US" sz="1400" dirty="0"/>
          </a:p>
          <a:p>
            <a:pPr algn="l" indent="0" marL="0">
              <a:buNone/>
            </a:pPr>
            <a:r>
              <a:rPr lang="en-US" sz="1200" dirty="0">
                <a:solidFill>
                  <a:schemeClr val="bg2"/>
                </a:solidFill>
              </a:rPr>
              <a:t>SES and SMTP, MEDIA_BUCKET, DOCUMENTS_BUCKET, IRSA role ARNs</a:t>
            </a:r>
            <a:endParaRPr lang="en-US" sz="1400" dirty="0"/>
          </a:p>
        </p:txBody>
      </p:sp>
      <p:sp>
        <p:nvSpPr>
          <p:cNvPr id="10" name="box-1096"/>
          <p:cNvSpPr txBox="1"/>
          <p:nvPr/>
        </p:nvSpPr>
        <p:spPr>
          <a:xfrm>
            <a:off x="548640" y="2807208"/>
            <a:ext cx="5454396" cy="932688"/>
          </a:xfrm>
          <a:prstGeom prst="roundRect">
            <a:avLst>
              <a:gd name="adj" fmla="val 7843"/>
            </a:avLst>
          </a:prstGeom>
          <a:solidFill>
            <a:schemeClr val="bg1">
              <a:alpha val="10000"/>
            </a:schemeClr>
          </a:solidFill>
          <a:ln w="12700">
            <a:solidFill>
              <a:schemeClr val="bg2">
                <a:alpha val="30000"/>
              </a:schemeClr>
            </a:solidFill>
            <a:prstDash val="solid"/>
          </a:ln>
        </p:spPr>
        <p:txBody>
          <a:bodyPr wrap="square" lIns="76200" tIns="38100" rIns="76200" bIns="38100" rtlCol="0" anchor="ctr"/>
          <a:lstStyle/>
          <a:p>
            <a:pPr algn="ctr" indent="0" marL="0">
              <a:buNone/>
            </a:pPr>
            <a:endParaRPr lang="en-US" sz="1200" dirty="0"/>
          </a:p>
        </p:txBody>
      </p:sp>
      <p:sp>
        <p:nvSpPr>
          <p:cNvPr id="11" name="text-1097"/>
          <p:cNvSpPr txBox="1"/>
          <p:nvPr/>
        </p:nvSpPr>
        <p:spPr>
          <a:xfrm>
            <a:off x="731520" y="2990088"/>
            <a:ext cx="548640" cy="548640"/>
          </a:xfrm>
          <a:prstGeom prst="rect">
            <a:avLst/>
          </a:prstGeom>
          <a:noFill/>
          <a:ln/>
        </p:spPr>
        <p:txBody>
          <a:bodyPr wrap="square" lIns="0" tIns="0" rIns="0" bIns="0" rtlCol="0" anchor="t"/>
          <a:lstStyle/>
          <a:p>
            <a:pPr algn="l" indent="0" marL="0">
              <a:buNone/>
            </a:pPr>
            <a:r>
              <a:rPr lang="en-US" sz="2200" b="1" dirty="0">
                <a:solidFill>
                  <a:schemeClr val="bg2"/>
                </a:solidFill>
              </a:rPr>
              <a:t>03</a:t>
            </a:r>
            <a:endParaRPr lang="en-US" sz="2200" dirty="0"/>
          </a:p>
        </p:txBody>
      </p:sp>
      <p:sp>
        <p:nvSpPr>
          <p:cNvPr id="12" name="text-1098"/>
          <p:cNvSpPr txBox="1"/>
          <p:nvPr/>
        </p:nvSpPr>
        <p:spPr>
          <a:xfrm>
            <a:off x="1371600" y="2935224"/>
            <a:ext cx="4480560" cy="731520"/>
          </a:xfrm>
          <a:prstGeom prst="rect">
            <a:avLst/>
          </a:prstGeom>
          <a:noFill/>
          <a:ln/>
        </p:spPr>
        <p:txBody>
          <a:bodyPr wrap="square" lIns="0" tIns="0" rIns="0" bIns="0" rtlCol="0" anchor="t"/>
          <a:lstStyle/>
          <a:p>
            <a:pPr algn="l" indent="0" marL="0">
              <a:buNone/>
            </a:pPr>
            <a:r>
              <a:rPr lang="en-US" sz="1450" b="1" dirty="0">
                <a:solidFill>
                  <a:schemeClr val="bg1"/>
                </a:solidFill>
              </a:rPr>
              <a:t>Provider online / offline</a:t>
            </a:r>
            <a:endParaRPr lang="en-US" sz="1400" dirty="0"/>
          </a:p>
          <a:p>
            <a:pPr algn="l" indent="0" marL="0">
              <a:buNone/>
            </a:pPr>
            <a:r>
              <a:rPr lang="en-US" sz="1200" dirty="0">
                <a:solidFill>
                  <a:schemeClr val="bg2"/>
                </a:solidFill>
              </a:rPr>
              <a:t>idle providers hold an offer wave for the full 60 s window</a:t>
            </a:r>
            <a:endParaRPr lang="en-US" sz="1400" dirty="0"/>
          </a:p>
        </p:txBody>
      </p:sp>
      <p:sp>
        <p:nvSpPr>
          <p:cNvPr id="13" name="box-1099"/>
          <p:cNvSpPr txBox="1"/>
          <p:nvPr/>
        </p:nvSpPr>
        <p:spPr>
          <a:xfrm>
            <a:off x="6185916" y="2807208"/>
            <a:ext cx="5454396" cy="932688"/>
          </a:xfrm>
          <a:prstGeom prst="roundRect">
            <a:avLst>
              <a:gd name="adj" fmla="val 7843"/>
            </a:avLst>
          </a:prstGeom>
          <a:solidFill>
            <a:schemeClr val="bg1">
              <a:alpha val="10000"/>
            </a:schemeClr>
          </a:solidFill>
          <a:ln w="12700">
            <a:solidFill>
              <a:schemeClr val="bg2">
                <a:alpha val="30000"/>
              </a:schemeClr>
            </a:solidFill>
            <a:prstDash val="solid"/>
          </a:ln>
        </p:spPr>
        <p:txBody>
          <a:bodyPr wrap="square" lIns="76200" tIns="38100" rIns="76200" bIns="38100" rtlCol="0" anchor="ctr"/>
          <a:lstStyle/>
          <a:p>
            <a:pPr algn="ctr" indent="0" marL="0">
              <a:buNone/>
            </a:pPr>
            <a:endParaRPr lang="en-US" sz="1200" dirty="0"/>
          </a:p>
        </p:txBody>
      </p:sp>
      <p:sp>
        <p:nvSpPr>
          <p:cNvPr id="14" name="text-1100"/>
          <p:cNvSpPr txBox="1"/>
          <p:nvPr/>
        </p:nvSpPr>
        <p:spPr>
          <a:xfrm>
            <a:off x="6368796" y="2990088"/>
            <a:ext cx="548640" cy="548640"/>
          </a:xfrm>
          <a:prstGeom prst="rect">
            <a:avLst/>
          </a:prstGeom>
          <a:noFill/>
          <a:ln/>
        </p:spPr>
        <p:txBody>
          <a:bodyPr wrap="square" lIns="0" tIns="0" rIns="0" bIns="0" rtlCol="0" anchor="t"/>
          <a:lstStyle/>
          <a:p>
            <a:pPr algn="l" indent="0" marL="0">
              <a:buNone/>
            </a:pPr>
            <a:r>
              <a:rPr lang="en-US" sz="2200" b="1" dirty="0">
                <a:solidFill>
                  <a:schemeClr val="bg2"/>
                </a:solidFill>
              </a:rPr>
              <a:t>04</a:t>
            </a:r>
            <a:endParaRPr lang="en-US" sz="2200" dirty="0"/>
          </a:p>
        </p:txBody>
      </p:sp>
      <p:sp>
        <p:nvSpPr>
          <p:cNvPr id="15" name="text-1101"/>
          <p:cNvSpPr txBox="1"/>
          <p:nvPr/>
        </p:nvSpPr>
        <p:spPr>
          <a:xfrm>
            <a:off x="7008876" y="2935224"/>
            <a:ext cx="4480560" cy="731520"/>
          </a:xfrm>
          <a:prstGeom prst="rect">
            <a:avLst/>
          </a:prstGeom>
          <a:noFill/>
          <a:ln/>
        </p:spPr>
        <p:txBody>
          <a:bodyPr wrap="square" lIns="0" tIns="0" rIns="0" bIns="0" rtlCol="0" anchor="t"/>
          <a:lstStyle/>
          <a:p>
            <a:pPr algn="l" indent="0" marL="0">
              <a:buNone/>
            </a:pPr>
            <a:r>
              <a:rPr lang="en-US" sz="1450" b="1" dirty="0">
                <a:solidFill>
                  <a:schemeClr val="bg1"/>
                </a:solidFill>
              </a:rPr>
              <a:t>Size the provider rate limit</a:t>
            </a:r>
            <a:endParaRPr lang="en-US" sz="1400" dirty="0"/>
          </a:p>
          <a:p>
            <a:pPr algn="l" indent="0" marL="0">
              <a:buNone/>
            </a:pPr>
            <a:r>
              <a:rPr lang="en-US" sz="1200" dirty="0">
                <a:solidFill>
                  <a:schemeClr val="bg2"/>
                </a:solidFill>
              </a:rPr>
              <a:t>busy providers reached 60 requests a minute under load</a:t>
            </a:r>
            <a:endParaRPr lang="en-US" sz="1400" dirty="0"/>
          </a:p>
        </p:txBody>
      </p:sp>
      <p:sp>
        <p:nvSpPr>
          <p:cNvPr id="16" name="box-1102"/>
          <p:cNvSpPr txBox="1"/>
          <p:nvPr/>
        </p:nvSpPr>
        <p:spPr>
          <a:xfrm>
            <a:off x="548640" y="3922776"/>
            <a:ext cx="5454396" cy="932688"/>
          </a:xfrm>
          <a:prstGeom prst="roundRect">
            <a:avLst>
              <a:gd name="adj" fmla="val 7843"/>
            </a:avLst>
          </a:prstGeom>
          <a:solidFill>
            <a:schemeClr val="bg1">
              <a:alpha val="10000"/>
            </a:schemeClr>
          </a:solidFill>
          <a:ln w="12700">
            <a:solidFill>
              <a:schemeClr val="bg2">
                <a:alpha val="30000"/>
              </a:schemeClr>
            </a:solidFill>
            <a:prstDash val="solid"/>
          </a:ln>
        </p:spPr>
        <p:txBody>
          <a:bodyPr wrap="square" lIns="76200" tIns="38100" rIns="76200" bIns="38100" rtlCol="0" anchor="ctr"/>
          <a:lstStyle/>
          <a:p>
            <a:pPr algn="ctr" indent="0" marL="0">
              <a:buNone/>
            </a:pPr>
            <a:endParaRPr lang="en-US" sz="1200" dirty="0"/>
          </a:p>
        </p:txBody>
      </p:sp>
      <p:sp>
        <p:nvSpPr>
          <p:cNvPr id="17" name="text-1103"/>
          <p:cNvSpPr txBox="1"/>
          <p:nvPr/>
        </p:nvSpPr>
        <p:spPr>
          <a:xfrm>
            <a:off x="731520" y="4105656"/>
            <a:ext cx="548640" cy="548640"/>
          </a:xfrm>
          <a:prstGeom prst="rect">
            <a:avLst/>
          </a:prstGeom>
          <a:noFill/>
          <a:ln/>
        </p:spPr>
        <p:txBody>
          <a:bodyPr wrap="square" lIns="0" tIns="0" rIns="0" bIns="0" rtlCol="0" anchor="t"/>
          <a:lstStyle/>
          <a:p>
            <a:pPr algn="l" indent="0" marL="0">
              <a:buNone/>
            </a:pPr>
            <a:r>
              <a:rPr lang="en-US" sz="2200" b="1" dirty="0">
                <a:solidFill>
                  <a:schemeClr val="bg2"/>
                </a:solidFill>
              </a:rPr>
              <a:t>05</a:t>
            </a:r>
            <a:endParaRPr lang="en-US" sz="2200" dirty="0"/>
          </a:p>
        </p:txBody>
      </p:sp>
      <p:sp>
        <p:nvSpPr>
          <p:cNvPr id="18" name="text-1104"/>
          <p:cNvSpPr txBox="1"/>
          <p:nvPr/>
        </p:nvSpPr>
        <p:spPr>
          <a:xfrm>
            <a:off x="1371600" y="4050792"/>
            <a:ext cx="4480560" cy="731520"/>
          </a:xfrm>
          <a:prstGeom prst="rect">
            <a:avLst/>
          </a:prstGeom>
          <a:noFill/>
          <a:ln/>
        </p:spPr>
        <p:txBody>
          <a:bodyPr wrap="square" lIns="0" tIns="0" rIns="0" bIns="0" rtlCol="0" anchor="t"/>
          <a:lstStyle/>
          <a:p>
            <a:pPr algn="l" indent="0" marL="0">
              <a:buNone/>
            </a:pPr>
            <a:r>
              <a:rPr lang="en-US" sz="1450" b="1" dirty="0">
                <a:solidFill>
                  <a:schemeClr val="bg1"/>
                </a:solidFill>
              </a:rPr>
              <a:t>Push notifications</a:t>
            </a:r>
            <a:endParaRPr lang="en-US" sz="1400" dirty="0"/>
          </a:p>
          <a:p>
            <a:pPr algn="l" indent="0" marL="0">
              <a:buNone/>
            </a:pPr>
            <a:r>
              <a:rPr lang="en-US" sz="1200" dirty="0">
                <a:solidFill>
                  <a:schemeClr val="bg2"/>
                </a:solidFill>
              </a:rPr>
              <a:t>register device tokens in the apps and send them</a:t>
            </a:r>
            <a:endParaRPr lang="en-US" sz="1400" dirty="0"/>
          </a:p>
        </p:txBody>
      </p:sp>
      <p:sp>
        <p:nvSpPr>
          <p:cNvPr id="19" name="box-1105"/>
          <p:cNvSpPr txBox="1"/>
          <p:nvPr/>
        </p:nvSpPr>
        <p:spPr>
          <a:xfrm>
            <a:off x="6185916" y="3922776"/>
            <a:ext cx="5454396" cy="932688"/>
          </a:xfrm>
          <a:prstGeom prst="roundRect">
            <a:avLst>
              <a:gd name="adj" fmla="val 7843"/>
            </a:avLst>
          </a:prstGeom>
          <a:solidFill>
            <a:schemeClr val="bg1">
              <a:alpha val="10000"/>
            </a:schemeClr>
          </a:solidFill>
          <a:ln w="12700">
            <a:solidFill>
              <a:schemeClr val="bg2">
                <a:alpha val="30000"/>
              </a:schemeClr>
            </a:solidFill>
            <a:prstDash val="solid"/>
          </a:ln>
        </p:spPr>
        <p:txBody>
          <a:bodyPr wrap="square" lIns="76200" tIns="38100" rIns="76200" bIns="38100" rtlCol="0" anchor="ctr"/>
          <a:lstStyle/>
          <a:p>
            <a:pPr algn="ctr" indent="0" marL="0">
              <a:buNone/>
            </a:pPr>
            <a:endParaRPr lang="en-US" sz="1200" dirty="0"/>
          </a:p>
        </p:txBody>
      </p:sp>
      <p:sp>
        <p:nvSpPr>
          <p:cNvPr id="20" name="text-1106"/>
          <p:cNvSpPr txBox="1"/>
          <p:nvPr/>
        </p:nvSpPr>
        <p:spPr>
          <a:xfrm>
            <a:off x="6368796" y="4105656"/>
            <a:ext cx="548640" cy="548640"/>
          </a:xfrm>
          <a:prstGeom prst="rect">
            <a:avLst/>
          </a:prstGeom>
          <a:noFill/>
          <a:ln/>
        </p:spPr>
        <p:txBody>
          <a:bodyPr wrap="square" lIns="0" tIns="0" rIns="0" bIns="0" rtlCol="0" anchor="t"/>
          <a:lstStyle/>
          <a:p>
            <a:pPr algn="l" indent="0" marL="0">
              <a:buNone/>
            </a:pPr>
            <a:r>
              <a:rPr lang="en-US" sz="2200" b="1" dirty="0">
                <a:solidFill>
                  <a:schemeClr val="bg2"/>
                </a:solidFill>
              </a:rPr>
              <a:t>06</a:t>
            </a:r>
            <a:endParaRPr lang="en-US" sz="2200" dirty="0"/>
          </a:p>
        </p:txBody>
      </p:sp>
      <p:sp>
        <p:nvSpPr>
          <p:cNvPr id="21" name="text-1107"/>
          <p:cNvSpPr txBox="1"/>
          <p:nvPr/>
        </p:nvSpPr>
        <p:spPr>
          <a:xfrm>
            <a:off x="7008876" y="4050792"/>
            <a:ext cx="4480560" cy="731520"/>
          </a:xfrm>
          <a:prstGeom prst="rect">
            <a:avLst/>
          </a:prstGeom>
          <a:noFill/>
          <a:ln/>
        </p:spPr>
        <p:txBody>
          <a:bodyPr wrap="square" lIns="0" tIns="0" rIns="0" bIns="0" rtlCol="0" anchor="t"/>
          <a:lstStyle/>
          <a:p>
            <a:pPr algn="l" indent="0" marL="0">
              <a:buNone/>
            </a:pPr>
            <a:r>
              <a:rPr lang="en-US" sz="1450" b="1" dirty="0">
                <a:solidFill>
                  <a:schemeClr val="bg1"/>
                </a:solidFill>
              </a:rPr>
              <a:t>Refunds debit the provider</a:t>
            </a:r>
            <a:endParaRPr lang="en-US" sz="1400" dirty="0"/>
          </a:p>
          <a:p>
            <a:pPr algn="l" indent="0" marL="0">
              <a:buNone/>
            </a:pPr>
            <a:r>
              <a:rPr lang="en-US" sz="1200" dirty="0">
                <a:solidFill>
                  <a:schemeClr val="bg2"/>
                </a:solidFill>
              </a:rPr>
              <a:t>a refund leaves the provider earning in place</a:t>
            </a:r>
            <a:endParaRPr lang="en-US" sz="1400" dirty="0"/>
          </a:p>
        </p:txBody>
      </p:sp>
      <p:sp>
        <p:nvSpPr>
          <p:cNvPr id="22" name="box-1108"/>
          <p:cNvSpPr txBox="1"/>
          <p:nvPr/>
        </p:nvSpPr>
        <p:spPr>
          <a:xfrm>
            <a:off x="548640" y="5038344"/>
            <a:ext cx="5454396" cy="932688"/>
          </a:xfrm>
          <a:prstGeom prst="roundRect">
            <a:avLst>
              <a:gd name="adj" fmla="val 7843"/>
            </a:avLst>
          </a:prstGeom>
          <a:solidFill>
            <a:schemeClr val="bg1">
              <a:alpha val="10000"/>
            </a:schemeClr>
          </a:solidFill>
          <a:ln w="12700">
            <a:solidFill>
              <a:schemeClr val="bg2">
                <a:alpha val="30000"/>
              </a:schemeClr>
            </a:solidFill>
            <a:prstDash val="solid"/>
          </a:ln>
        </p:spPr>
        <p:txBody>
          <a:bodyPr wrap="square" lIns="76200" tIns="38100" rIns="76200" bIns="38100" rtlCol="0" anchor="ctr"/>
          <a:lstStyle/>
          <a:p>
            <a:pPr algn="ctr" indent="0" marL="0">
              <a:buNone/>
            </a:pPr>
            <a:endParaRPr lang="en-US" sz="1200" dirty="0"/>
          </a:p>
        </p:txBody>
      </p:sp>
      <p:sp>
        <p:nvSpPr>
          <p:cNvPr id="23" name="text-1109"/>
          <p:cNvSpPr txBox="1"/>
          <p:nvPr/>
        </p:nvSpPr>
        <p:spPr>
          <a:xfrm>
            <a:off x="731520" y="5221224"/>
            <a:ext cx="548640" cy="548640"/>
          </a:xfrm>
          <a:prstGeom prst="rect">
            <a:avLst/>
          </a:prstGeom>
          <a:noFill/>
          <a:ln/>
        </p:spPr>
        <p:txBody>
          <a:bodyPr wrap="square" lIns="0" tIns="0" rIns="0" bIns="0" rtlCol="0" anchor="t"/>
          <a:lstStyle/>
          <a:p>
            <a:pPr algn="l" indent="0" marL="0">
              <a:buNone/>
            </a:pPr>
            <a:r>
              <a:rPr lang="en-US" sz="2200" b="1" dirty="0">
                <a:solidFill>
                  <a:schemeClr val="bg2"/>
                </a:solidFill>
              </a:rPr>
              <a:t>07</a:t>
            </a:r>
            <a:endParaRPr lang="en-US" sz="2200" dirty="0"/>
          </a:p>
        </p:txBody>
      </p:sp>
      <p:sp>
        <p:nvSpPr>
          <p:cNvPr id="24" name="text-1110"/>
          <p:cNvSpPr txBox="1"/>
          <p:nvPr/>
        </p:nvSpPr>
        <p:spPr>
          <a:xfrm>
            <a:off x="1371600" y="5166360"/>
            <a:ext cx="4480560" cy="731520"/>
          </a:xfrm>
          <a:prstGeom prst="rect">
            <a:avLst/>
          </a:prstGeom>
          <a:noFill/>
          <a:ln/>
        </p:spPr>
        <p:txBody>
          <a:bodyPr wrap="square" lIns="0" tIns="0" rIns="0" bIns="0" rtlCol="0" anchor="t"/>
          <a:lstStyle/>
          <a:p>
            <a:pPr algn="l" indent="0" marL="0">
              <a:buNone/>
            </a:pPr>
            <a:r>
              <a:rPr lang="en-US" sz="1450" b="1" dirty="0">
                <a:solidFill>
                  <a:schemeClr val="bg1"/>
                </a:solidFill>
              </a:rPr>
              <a:t>Store invoice PDFs</a:t>
            </a:r>
            <a:endParaRPr lang="en-US" sz="1400" dirty="0"/>
          </a:p>
          <a:p>
            <a:pPr algn="l" indent="0" marL="0">
              <a:buNone/>
            </a:pPr>
            <a:r>
              <a:rPr lang="en-US" sz="1200" dirty="0">
                <a:solidFill>
                  <a:schemeClr val="bg2"/>
                </a:solidFill>
              </a:rPr>
              <a:t>in S3, like photos and documents; in memory today</a:t>
            </a:r>
            <a:endParaRPr lang="en-US" sz="1400" dirty="0"/>
          </a:p>
        </p:txBody>
      </p:sp>
      <p:sp>
        <p:nvSpPr>
          <p:cNvPr id="25" name="box-1111"/>
          <p:cNvSpPr txBox="1"/>
          <p:nvPr/>
        </p:nvSpPr>
        <p:spPr>
          <a:xfrm>
            <a:off x="6185916" y="5038344"/>
            <a:ext cx="5454396" cy="932688"/>
          </a:xfrm>
          <a:prstGeom prst="roundRect">
            <a:avLst>
              <a:gd name="adj" fmla="val 7843"/>
            </a:avLst>
          </a:prstGeom>
          <a:solidFill>
            <a:schemeClr val="bg1">
              <a:alpha val="10000"/>
            </a:schemeClr>
          </a:solidFill>
          <a:ln w="12700">
            <a:solidFill>
              <a:schemeClr val="bg2">
                <a:alpha val="30000"/>
              </a:schemeClr>
            </a:solidFill>
            <a:prstDash val="solid"/>
          </a:ln>
        </p:spPr>
        <p:txBody>
          <a:bodyPr wrap="square" lIns="76200" tIns="38100" rIns="76200" bIns="38100" rtlCol="0" anchor="ctr"/>
          <a:lstStyle/>
          <a:p>
            <a:pPr algn="ctr" indent="0" marL="0">
              <a:buNone/>
            </a:pPr>
            <a:endParaRPr lang="en-US" sz="1200" dirty="0"/>
          </a:p>
        </p:txBody>
      </p:sp>
      <p:sp>
        <p:nvSpPr>
          <p:cNvPr id="26" name="text-1112"/>
          <p:cNvSpPr txBox="1"/>
          <p:nvPr/>
        </p:nvSpPr>
        <p:spPr>
          <a:xfrm>
            <a:off x="6368796" y="5221224"/>
            <a:ext cx="548640" cy="548640"/>
          </a:xfrm>
          <a:prstGeom prst="rect">
            <a:avLst/>
          </a:prstGeom>
          <a:noFill/>
          <a:ln/>
        </p:spPr>
        <p:txBody>
          <a:bodyPr wrap="square" lIns="0" tIns="0" rIns="0" bIns="0" rtlCol="0" anchor="t"/>
          <a:lstStyle/>
          <a:p>
            <a:pPr algn="l" indent="0" marL="0">
              <a:buNone/>
            </a:pPr>
            <a:r>
              <a:rPr lang="en-US" sz="2200" b="1" dirty="0">
                <a:solidFill>
                  <a:schemeClr val="bg2"/>
                </a:solidFill>
              </a:rPr>
              <a:t>08</a:t>
            </a:r>
            <a:endParaRPr lang="en-US" sz="2200" dirty="0"/>
          </a:p>
        </p:txBody>
      </p:sp>
      <p:sp>
        <p:nvSpPr>
          <p:cNvPr id="27" name="text-1113"/>
          <p:cNvSpPr txBox="1"/>
          <p:nvPr/>
        </p:nvSpPr>
        <p:spPr>
          <a:xfrm>
            <a:off x="7008876" y="5166360"/>
            <a:ext cx="4480560" cy="731520"/>
          </a:xfrm>
          <a:prstGeom prst="rect">
            <a:avLst/>
          </a:prstGeom>
          <a:noFill/>
          <a:ln/>
        </p:spPr>
        <p:txBody>
          <a:bodyPr wrap="square" lIns="0" tIns="0" rIns="0" bIns="0" rtlCol="0" anchor="t"/>
          <a:lstStyle/>
          <a:p>
            <a:pPr algn="l" indent="0" marL="0">
              <a:buNone/>
            </a:pPr>
            <a:r>
              <a:rPr lang="en-US" sz="1450" b="1" dirty="0">
                <a:solidFill>
                  <a:schemeClr val="bg1"/>
                </a:solidFill>
              </a:rPr>
              <a:t>Real S3, SES, two chat nodes</a:t>
            </a:r>
            <a:endParaRPr lang="en-US" sz="1400" dirty="0"/>
          </a:p>
          <a:p>
            <a:pPr algn="l" indent="0" marL="0">
              <a:buNone/>
            </a:pPr>
            <a:r>
              <a:rPr lang="en-US" sz="1200" dirty="0">
                <a:solidFill>
                  <a:schemeClr val="bg2"/>
                </a:solidFill>
              </a:rPr>
              <a:t>and terraform plan: not run in this review</a:t>
            </a:r>
            <a:endParaRPr lang="en-US" sz="1400" dirty="0"/>
          </a:p>
        </p:txBody>
      </p:sp>
      <p:sp>
        <p:nvSpPr>
          <p:cNvPr id="25" name="Slide Number Placeholder 0"/>
          <p:cNvSpPr>
            <a:spLocks noGrp="1"/>
          </p:cNvSpPr>
          <p:nvPr>
            <p:ph type="sldNum" sz="quarter" idx="4294967295"/>
          </p:nvPr>
        </p:nvSpPr>
        <p:spPr>
          <a:xfrm>
            <a:off x="1118311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changed on 30 October 2026</a:t>
            </a:r>
          </a:p>
        </p:txBody>
      </p:sp>
      <p:sp>
        <p:nvSpPr>
          <p:cNvPr id="3" name="Text Placeholder 2"/>
          <p:cNvSpPr>
            <a:spLocks noGrp="1"/>
          </p:cNvSpPr>
          <p:nvPr>
            <p:ph type="body" idx="101"/>
          </p:nvPr>
        </p:nvSpPr>
        <p:spPr/>
        <p:txBody>
          <a:bodyPr/>
          <a:lstStyle/>
          <a:p>
            <a:r>
              <a:t>Security review, the reviews engine and naming: what this deck does not show yet</a:t>
            </a:r>
          </a:p>
        </p:txBody>
      </p:sp>
      <p:sp>
        <p:nvSpPr>
          <p:cNvPr id="4" name="Rounded Rectangle 3"/>
          <p:cNvSpPr/>
          <p:nvPr/>
        </p:nvSpPr>
        <p:spPr>
          <a:xfrm>
            <a:off x="548640" y="1600200"/>
            <a:ext cx="5440680" cy="224028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4983480" cy="1965960"/>
          </a:xfrm>
          <a:prstGeom prst="rect">
            <a:avLst/>
          </a:prstGeom>
          <a:noFill/>
        </p:spPr>
        <p:txBody>
          <a:bodyPr wrap="square" anchor="t">
            <a:spAutoFit/>
          </a:bodyPr>
          <a:lstStyle/>
          <a:p>
            <a:r>
              <a:rPr sz="1700" b="1">
                <a:solidFill>
                  <a:srgbClr val="1D2939"/>
                </a:solidFill>
              </a:rPr>
              <a:t>Security review</a:t>
            </a:r>
          </a:p>
          <a:p>
            <a:pPr>
              <a:spcBef>
                <a:spcPts val="400"/>
              </a:spcBef>
            </a:pPr>
            <a:r>
              <a:rPr sz="1300">
                <a:solidFill>
                  <a:srgbClr val="344054"/>
                </a:solidFill>
              </a:rPr>
              <a:t>•  Web sessions: refresh token in an HttpOnly, Secure, SameSite=Strict cookie</a:t>
            </a:r>
          </a:p>
          <a:p>
            <a:pPr>
              <a:spcBef>
                <a:spcPts val="400"/>
              </a:spcBef>
            </a:pPr>
            <a:r>
              <a:rPr sz="1300">
                <a:solidFill>
                  <a:srgbClr val="344054"/>
                </a:solidFill>
              </a:rPr>
              <a:t>•  Passwords: 10+ characters, letter and digit; common, sequence and personal ones refused</a:t>
            </a:r>
          </a:p>
          <a:p>
            <a:pPr>
              <a:spcBef>
                <a:spcPts val="400"/>
              </a:spcBef>
            </a:pPr>
            <a:r>
              <a:rPr sz="1300">
                <a:solidFill>
                  <a:srgbClr val="344054"/>
                </a:solidFill>
              </a:rPr>
              <a:t>•  Rate limits keyed on Railway’s X-Real-IP; https-only image links; masked query strings in logs</a:t>
            </a:r>
          </a:p>
          <a:p>
            <a:pPr>
              <a:spcBef>
                <a:spcPts val="400"/>
              </a:spcBef>
            </a:pPr>
            <a:r>
              <a:rPr sz="1300">
                <a:solidFill>
                  <a:srgbClr val="344054"/>
                </a:solidFill>
              </a:rPr>
              <a:t>•  npm audit: 0 vulnerabilities in all three apps</a:t>
            </a:r>
          </a:p>
        </p:txBody>
      </p:sp>
      <p:sp>
        <p:nvSpPr>
          <p:cNvPr id="6" name="Rounded Rectangle 5"/>
          <p:cNvSpPr/>
          <p:nvPr/>
        </p:nvSpPr>
        <p:spPr>
          <a:xfrm>
            <a:off x="6217920" y="1600200"/>
            <a:ext cx="5440680" cy="224028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737360"/>
            <a:ext cx="4983480" cy="1965960"/>
          </a:xfrm>
          <a:prstGeom prst="rect">
            <a:avLst/>
          </a:prstGeom>
          <a:noFill/>
        </p:spPr>
        <p:txBody>
          <a:bodyPr wrap="square" anchor="t">
            <a:spAutoFit/>
          </a:bodyPr>
          <a:lstStyle/>
          <a:p>
            <a:r>
              <a:rPr sz="1700" b="1">
                <a:solidFill>
                  <a:srgbClr val="1D2939"/>
                </a:solidFill>
              </a:rPr>
              <a:t>Reviews engine</a:t>
            </a:r>
          </a:p>
          <a:p>
            <a:pPr>
              <a:spcBef>
                <a:spcPts val="400"/>
              </a:spcBef>
            </a:pPr>
            <a:r>
              <a:rPr sz="1300">
                <a:solidFill>
                  <a:srgbClr val="344054"/>
                </a:solidFill>
              </a:rPr>
              <a:t>•  Review prompt after payment, one reminder after 24 h (ReviewReminder: 14 event types now)</a:t>
            </a:r>
          </a:p>
          <a:p>
            <a:pPr>
              <a:spcBef>
                <a:spcPts val="400"/>
              </a:spcBef>
            </a:pPr>
            <a:r>
              <a:rPr sz="1300">
                <a:solidFill>
                  <a:srgbClr val="344054"/>
                </a:solidFill>
              </a:rPr>
              <a:t>•  Public page per verified worker: /public/workers/{id} and its reviews</a:t>
            </a:r>
          </a:p>
          <a:p>
            <a:pPr>
              <a:spcBef>
                <a:spcPts val="400"/>
              </a:spcBef>
            </a:pPr>
            <a:r>
              <a:rPr sz="1300">
                <a:solidFill>
                  <a:srgbClr val="344054"/>
                </a:solidFill>
              </a:rPr>
              <a:t>•  Workers reply to reviews; share-my-profile card in the partner app</a:t>
            </a:r>
          </a:p>
          <a:p>
            <a:pPr>
              <a:spcBef>
                <a:spcPts val="400"/>
              </a:spcBef>
            </a:pPr>
            <a:r>
              <a:rPr sz="1300">
                <a:solidFill>
                  <a:srgbClr val="344054"/>
                </a:solidFill>
              </a:rPr>
              <a:t>•  Booking-flow CI now covers prompt, moderation, public page and reply</a:t>
            </a:r>
          </a:p>
        </p:txBody>
      </p:sp>
      <p:sp>
        <p:nvSpPr>
          <p:cNvPr id="8" name="Rounded Rectangle 7"/>
          <p:cNvSpPr/>
          <p:nvPr/>
        </p:nvSpPr>
        <p:spPr>
          <a:xfrm>
            <a:off x="548640" y="4069080"/>
            <a:ext cx="5440680" cy="224028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206240"/>
            <a:ext cx="4983480" cy="1965960"/>
          </a:xfrm>
          <a:prstGeom prst="rect">
            <a:avLst/>
          </a:prstGeom>
          <a:noFill/>
        </p:spPr>
        <p:txBody>
          <a:bodyPr wrap="square" anchor="t">
            <a:spAutoFit/>
          </a:bodyPr>
          <a:lstStyle/>
          <a:p>
            <a:r>
              <a:rPr sz="1700" b="1">
                <a:solidFill>
                  <a:srgbClr val="1D2939"/>
                </a:solidFill>
              </a:rPr>
              <a:t>Names used everywhere</a:t>
            </a:r>
          </a:p>
          <a:p>
            <a:pPr>
              <a:spcBef>
                <a:spcPts val="400"/>
              </a:spcBef>
            </a:pPr>
            <a:r>
              <a:rPr sz="1300">
                <a:solidFill>
                  <a:srgbClr val="344054"/>
                </a:solidFill>
              </a:rPr>
              <a:t>•  Apps: Ji-Hajoor (customers), Ji-Hajoor Pro (workers), Ji-Hajoor Admin (staff, My agency)</a:t>
            </a:r>
          </a:p>
          <a:p>
            <a:pPr>
              <a:spcBef>
                <a:spcPts val="400"/>
              </a:spcBef>
            </a:pPr>
            <a:r>
              <a:rPr sz="1300">
                <a:solidFill>
                  <a:srgbClr val="344054"/>
                </a:solidFill>
              </a:rPr>
              <a:t>•  People: customer, worker (Provider in code), agency (Tenant in code)</a:t>
            </a:r>
          </a:p>
          <a:p>
            <a:pPr>
              <a:spcBef>
                <a:spcPts val="400"/>
              </a:spcBef>
            </a:pPr>
            <a:r>
              <a:rPr sz="1300">
                <a:solidFill>
                  <a:srgbClr val="344054"/>
                </a:solidFill>
              </a:rPr>
              <a:t>•  Agencies invite workers; agency share 0–50% of the worker’s net</a:t>
            </a:r>
          </a:p>
        </p:txBody>
      </p:sp>
      <p:sp>
        <p:nvSpPr>
          <p:cNvPr id="10" name="Rounded Rectangle 9"/>
          <p:cNvSpPr/>
          <p:nvPr/>
        </p:nvSpPr>
        <p:spPr>
          <a:xfrm>
            <a:off x="6217920" y="4069080"/>
            <a:ext cx="5440680" cy="224028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206240"/>
            <a:ext cx="4983480" cy="1965960"/>
          </a:xfrm>
          <a:prstGeom prst="rect">
            <a:avLst/>
          </a:prstGeom>
          <a:noFill/>
        </p:spPr>
        <p:txBody>
          <a:bodyPr wrap="square" anchor="t">
            <a:spAutoFit/>
          </a:bodyPr>
          <a:lstStyle/>
          <a:p>
            <a:r>
              <a:rPr sz="1700" b="1">
                <a:solidFill>
                  <a:srgbClr val="1D2939"/>
                </a:solidFill>
              </a:rPr>
              <a:t>Read next</a:t>
            </a:r>
          </a:p>
          <a:p>
            <a:pPr>
              <a:spcBef>
                <a:spcPts val="400"/>
              </a:spcBef>
            </a:pPr>
            <a:r>
              <a:rPr sz="1300">
                <a:solidFill>
                  <a:srgbClr val="344054"/>
                </a:solidFill>
              </a:rPr>
              <a:t>•  JiHajoor_Tech_Stack.pptx: current stack and security state</a:t>
            </a:r>
          </a:p>
          <a:p>
            <a:pPr>
              <a:spcBef>
                <a:spcPts val="400"/>
              </a:spcBef>
            </a:pPr>
            <a:r>
              <a:rPr sz="1300">
                <a:solidFill>
                  <a:srgbClr val="344054"/>
                </a:solidFill>
              </a:rPr>
              <a:t>•  JiHajoor_Pitch_Deck, Revenue_Model, Brand_and_Marketing</a:t>
            </a:r>
          </a:p>
          <a:p>
            <a:pPr>
              <a:spcBef>
                <a:spcPts val="400"/>
              </a:spcBef>
            </a:pPr>
            <a:r>
              <a:rPr sz="1300">
                <a:solidFill>
                  <a:srgbClr val="344054"/>
                </a:solidFill>
              </a:rPr>
              <a:t>•  User guides: docs/guides/; PDFs in docs/pdf/</a:t>
            </a:r>
          </a:p>
          <a:p>
            <a:pPr>
              <a:spcBef>
                <a:spcPts val="400"/>
              </a:spcBef>
            </a:pPr>
            <a:r>
              <a:rPr sz="1300">
                <a:solidFill>
                  <a:srgbClr val="344054"/>
                </a:solidFill>
              </a:rPr>
              <a:t>•  Security findings later in this deck show their state on 18 October</a:t>
            </a:r>
          </a:p>
        </p:txBody>
      </p:sp>
    </p:spTree>
  </p:cSld>
  <p:clrMapOvr>
    <a:masterClrMapping/>
  </p:clrMapOvr>
</p:sld>
</file>

<file path=ppt/theme/theme1.xml><?xml version="1.0" encoding="utf-8"?>
<a:theme xmlns:a="http://schemas.openxmlformats.org/drawingml/2006/main" name="Ji-Hajoor">
  <a:themeElements>
    <a:clrScheme name="Ji-Hajoor">
      <a:dk1>
        <a:srgbClr val="0F172A"/>
      </a:dk1>
      <a:lt1>
        <a:srgbClr val="FFFFFF"/>
      </a:lt1>
      <a:dk2>
        <a:srgbClr val="134E4A"/>
      </a:dk2>
      <a:lt2>
        <a:srgbClr val="E2E8F0"/>
      </a:lt2>
      <a:accent1>
        <a:srgbClr val="0F766E"/>
      </a:accent1>
      <a:accent2>
        <a:srgbClr val="B45309"/>
      </a:accent2>
      <a:accent3>
        <a:srgbClr val="7C3AED"/>
      </a:accent3>
      <a:accent4>
        <a:srgbClr val="BE123C"/>
      </a:accent4>
      <a:accent5>
        <a:srgbClr val="0369A1"/>
      </a:accent5>
      <a:accent6>
        <a:srgbClr val="64748B"/>
      </a:accent6>
      <a:hlink>
        <a:srgbClr val="0F766E"/>
      </a:hlink>
      <a:folHlink>
        <a:srgbClr val="115E59"/>
      </a:folHlink>
    </a:clrScheme>
    <a:fontScheme name="Ji-Hajoo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Ji-Hajoor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Ji-Hajoor platform architecture</dc:title>
  <dc:subject>PptxGenJS Presentation</dc:subject>
  <dc:creator>Ji-Hajoor engineering</dc:creator>
  <cp:lastModifiedBy>Ji-Hajoor engineering</cp:lastModifiedBy>
  <cp:revision>1</cp:revision>
  <dcterms:created xsi:type="dcterms:W3CDTF">2026-10-18T15:11:45Z</dcterms:created>
  <dcterms:modified xsi:type="dcterms:W3CDTF">2026-10-18T15:11:45Z</dcterms:modified>
</cp:coreProperties>
</file>